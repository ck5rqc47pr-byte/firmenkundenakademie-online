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 – nicht für Teilnehmer sichtbar)</a:t>
            </a:r>
          </a:p>
          <a:p>
            <a:r>
              <a:t>Zu Aufgabe 1:</a:t>
            </a:r>
          </a:p>
          <a:p>
            <a:r>
              <a:t>IfM Bonn: ✓ KMU – 8 Beschäftigte &lt; 500, 1,8 Mio. EUR &lt; 50 Mio. EUR; inhabergeführt (Sabine Bergmann = Eigentümerin und Geschäftsführerin)</a:t>
            </a:r>
          </a:p>
          <a:p>
            <a:r>
              <a:t>EU: Kleinunternehmen – &lt; 50 Beschäftigte, &lt; 10 Mio. EUR Umsatz; damit förderberechtigt für KfW-Kleinunternehmerkredite und EU-Strukturfonds</a:t>
            </a:r>
          </a:p>
          <a:p>
            <a:r>
              <a:t>Zu Aufgabe 2:</a:t>
            </a:r>
          </a:p>
          <a:p>
            <a:r>
              <a:t>Branchenprofil A (Handwerk), speziell Tischlerhandwerk / Holzgewerbe (WZ 16.29)</a:t>
            </a:r>
          </a:p>
          <a:p>
            <a:r>
              <a:t>Risikofelder: (1) Inhaberabhängigkeit – Sabine Bergmann ist die einzige Führungskraft, kein Vertretungskonzept erkennbar; (2) Klumpenrisiko – bei 1,8 Mio. EUR Umsatz und 8 Mitarbeitern ist anzunehmen, dass wenige Großkunden dominieren; (3) Working-Capital-/Liquiditätsrisiko – Kontokorrentlinie bereits zu 71 % ausgeschöpft + laufender Investitionskredit; ein weiterer Kredit erhöht den Schuldendienst und engt den Liquiditätspuffer weiter ein; (4) Fachkräfterisiko – 3 von 8 Mitarbeitern sind Azubis, Abgang eines Gesellen = sofortige massive Kapazitätseinbuße; im Holzhandwerk 2025 das drängendste operative Risiko; (Nachfolgehinweis: Zwar 2020 vollzogen, aber Vater könnte noch informal eingebunden sein – dies als Gesprächspunkt vormerken, kein eigenständiges Hauptrisikofeld)</a:t>
            </a:r>
          </a:p>
          <a:p>
            <a:r>
              <a:t>Zu Aufgabe 4:</a:t>
            </a:r>
          </a:p>
          <a:p>
            <a:r>
              <a:t>Frage 1: Warum ist die KK-Linie so stark ausgeschöpft – strukturell (saisonale Spitze?) oder dauerhaft?</a:t>
            </a:r>
          </a:p>
          <a:p>
            <a:r>
              <a:t>Frage 2: Reicht die Linie in ihrer aktuellen Höhe noch, wenn der neue Kredit läuft und die Jahresrate hinzukommt?</a:t>
            </a:r>
          </a:p>
          <a:p>
            <a:r>
              <a:t>Frage 3: Müsste vor dem Investitionskredit erst die KK-Linie erhöht oder der KK-Saldo reduziert werden?</a:t>
            </a:r>
          </a:p>
          <a:p>
            <a:r>
              <a:t>Reihenfolge: Erst KK-Situation klären (Gespräch über aktuelle Liquiditätslage), dann Tragfähigkeitsrechnung, dann Kreditgespräch. Wer zuerst den Investitionskredit bewilligt, riskiert eine Liquiditätsfalle.</a:t>
            </a:r>
          </a:p>
          <a:p>
            <a:r>
              <a:t>Zu Aufgabe 3:</a:t>
            </a:r>
          </a:p>
          <a:p>
            <a:r>
              <a:t>Beispiel-Formulierungen:</a:t>
            </a:r>
          </a:p>
          <a:p>
            <a:r>
              <a:t>1. "Frau Bergmann, Sie bauen Möbel und Innenausbauten – haben Sie eher Privat- oder Gewerbekunden, und was macht bei Ihnen das bessere Geschäft?"</a:t>
            </a:r>
          </a:p>
          <a:p>
            <a:r>
              <a:t>2. "Ihre größten Auftraggeber – gibt es da 2–3 Kunden, auf die ein großer Teil des Umsatzes entfällt?"</a:t>
            </a:r>
          </a:p>
          <a:p>
            <a:r>
              <a:t>3. "Was ist gerade Ihr größtes Thema für die nächsten 12 Monate – ist es die Maschine, oder gibt es da noch mehr?"</a:t>
            </a:r>
          </a:p>
          <a:p>
            <a:r>
              <a:t>4. "Wie haben Sie bisher größere Investitionen finanziert – eher aus eigener Kraft oder mit Bankunterstützung?"</a:t>
            </a:r>
          </a:p>
          <a:p>
            <a:r>
              <a:t>5. "Frau Bergmann, ich frage Sie etwas, das viele selten durchdenken: Was würde passieren, wenn Sie 6 Monate krankheitsbedingt ausfallen würden – wer würde den Betrieb führen?"</a:t>
            </a:r>
          </a:p>
          <a:p>
            <a:r>
              <a:t>Erwartete Antwort auf Frage 5: "Das wäre schwierig. Ich bin für alles zuständig – Kundenakquise, Auftragsplanung, die Maschinen kenne ich alle. Mein Mann könnte vielleicht einspringen, aber der hat einen anderen Job." → Beratungsopportunität: Schlüsselpersonenversicherung (R+V), ggf. Geschäftsführer-Krankengeldabsicherung.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Branchenwissen für den Firmenkundenberater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ZENTRALEN KMU-DEFINITIONEN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deutschen Bankpraxis begegnen Berater zwei unterschiedlichen KMU-Definitionen, die für unterschiedliche Zwecke relevant sind.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IfM-Bonn-Definition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Institut für Mittelstandsforschung Bonn (IfM Bonn) definiert KMU quantitativ und qualitativ (IfM Bonn, 2024 ). Die Definition unterscheidet zwei Unternehmensgrößen: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(Es müssen Mitarbeiterzahl UND Umsatz die Schwellenwerte erfüllen; IfM Bonn, 2024 )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EU-Definition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Europäische Kommission (2020 ) unterscheidet drei Unternehmensgrößen, die für EU-Förderprogramme und KfW-Finanzierungsprodukte unmittelbar relevant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müssen Mitarbeiterzahl UND (Umsatz ODER Bilanzsumme) die jeweiligen Schwellenwerte erfüllen (Europäische Kommission, 2020 ).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Praktische Relevanz der Unterscheidung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VOLKSWIRTSCHAFTLICHE BEDEUTUNG VON KMU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FINANZIERUNGSSTRUKTUR: KMU VS. GROSSUNTERNEHMEN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Finanzierungsstruktur von KMU unterscheidet sich strukturell von der großer Unternehmen. Diese Unterschiede zu kennen, ist die Grundlage jeder fundierten Kreditanalyse.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Eigenkapitalquoten: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Finanzierungsquellen: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KMU finanzieren sich typischerweise durch drei Hauptquellen: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GRUNDPRINZIP: ZAHLEN BRAUCHEN KONTEXT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VIER BRANCHENPROFILE FÜR DEN BERATUNGSALLTAG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Branchenprofil A – Handwerk (z.B. Schreiner, Maler, Sanitär, Bäcker)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Handwerk ist der typischste KMU-Sektor im süddeutschen VR-Kundenbestand. Charakteristisch: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Branchenprofil B – Produzierendes Gewerbe / Maschinenbau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FINANZDATEN (FIKTIV, PLAUSIBEL FÜR HOLZHANDWERK)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1 – Klassifizierung (LZ-1):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2 – Typologisierung und Risikofelder (LZ-2/LZ-3):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3 – 5-Fragen-Schema anwenden (LZ-4):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