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notesMaster" Target="notesMasters/notesMaster1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Agenda aus dem Ablaufplan (Sektion 3.1). Timing und Pausen siehe Trainerhandbuch.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Einstieg: das Hausbank-Prinzip beruht auf Vertrauen – der Berater kennt den Menschen hinter der Bilanz.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Fünf KMU-Grundkategorien und die volkswirtschaftliche Bedeutung als Rückgrat der Region.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Jedes Risikofeld ist zugleich eine Beratungsopportunität: aus der Risikoanalyse folgt der Verbundimpuls (z. B. R+V Schlüsselpersonenversicherung) – empfohlen, nicht verkauft.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Das 5-Fragen-Schema als niederschwelliger Einstieg – anwendbar auch ohne tiefe Branchenkenntnis.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Die Zahlen sind branchentypisch unauffällig – das Risiko liegt in der Struktur (8 MA, inhabergeführt): Schlüsselperson und Nachfolge.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AB-1 Musterlösung (Trainer-Version)</a:t>
            </a:r>
          </a:p>
          <a:p>
            <a:r>
              <a:t>Bergmann: solide Kennzahlen, aber klassisches Schlüsselpersonen- und Nachfolgerisiko bei 8 MA. Beratungsopportunität: Schlüsselpersonen-/BU-Absicherung (R+V) aus der Risikoanalyse heraus.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Überleitung zum Profilbogen (AB-2) und Transfer.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Selbstcheck und Profilbogen als Transferanker.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F2C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D9C0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201168"/>
            <a:ext cx="10817352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800">
                <a:solidFill>
                  <a:srgbClr val="C8D2E6"/>
                </a:solidFill>
                <a:latin typeface="Consolas"/>
              </a:rPr>
              <a:t>FKB CAMPUS  ·  FIRMENKUNDENAKADEMIE  ·  M06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1828800"/>
            <a:ext cx="10817352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600" b="1" i="0">
                <a:solidFill>
                  <a:srgbClr val="FFFFFF"/>
                </a:solidFill>
                <a:latin typeface="Arial"/>
              </a:rPr>
              <a:t>KMU-Kompetenz Grundlagen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3977639"/>
            <a:ext cx="10817352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0" i="1">
                <a:solidFill>
                  <a:srgbClr val="BECDE6"/>
                </a:solidFill>
                <a:latin typeface="Arial"/>
              </a:rPr>
              <a:t>Branchenwissen für den Firmenkundenberater</a:t>
            </a:r>
          </a:p>
        </p:txBody>
      </p:sp>
      <p:sp>
        <p:nvSpPr>
          <p:cNvPr id="7" name="Rectangle 6"/>
          <p:cNvSpPr/>
          <p:nvPr/>
        </p:nvSpPr>
        <p:spPr>
          <a:xfrm>
            <a:off x="685800" y="5029200"/>
            <a:ext cx="10817352" cy="127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85800" y="5193792"/>
            <a:ext cx="3605784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>
                <a:solidFill>
                  <a:srgbClr val="A0B4D2"/>
                </a:solidFill>
                <a:latin typeface="Consolas"/>
              </a:rPr>
              <a:t>KOMPETENZFELD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5394960"/>
            <a:ext cx="3605784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  <a:latin typeface="Arial"/>
              </a:rPr>
              <a:t>K-02 Branchenwissen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291584" y="5193792"/>
            <a:ext cx="3605784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>
                <a:solidFill>
                  <a:srgbClr val="A0B4D2"/>
                </a:solidFill>
                <a:latin typeface="Consolas"/>
              </a:rPr>
              <a:t>KOMPETENZSTUFE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291584" y="5394960"/>
            <a:ext cx="3605784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  <a:latin typeface="Arial"/>
              </a:rPr>
              <a:t>Berater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897368" y="5193792"/>
            <a:ext cx="3605784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>
                <a:solidFill>
                  <a:srgbClr val="A0B4D2"/>
                </a:solidFill>
                <a:latin typeface="Consolas"/>
              </a:rPr>
              <a:t>VERSION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897368" y="5394960"/>
            <a:ext cx="3605784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  <a:latin typeface="Arial"/>
              </a:rPr>
              <a:t>v1.0</a:t>
            </a:r>
          </a:p>
        </p:txBody>
      </p:sp>
      <p:sp>
        <p:nvSpPr>
          <p:cNvPr id="14" name="Rectangle 13"/>
          <p:cNvSpPr/>
          <p:nvPr/>
        </p:nvSpPr>
        <p:spPr>
          <a:xfrm>
            <a:off x="0" y="6510528"/>
            <a:ext cx="12188952" cy="347472"/>
          </a:xfrm>
          <a:prstGeom prst="rect">
            <a:avLst/>
          </a:prstGeom>
          <a:solidFill>
            <a:srgbClr val="0A19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85800" y="6583680"/>
            <a:ext cx="5408676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>
                <a:solidFill>
                  <a:srgbClr val="96A5BE"/>
                </a:solidFill>
                <a:latin typeface="Consolas"/>
              </a:rPr>
              <a:t>FKB Campus  ·  2026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094476" y="6583680"/>
            <a:ext cx="5408676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700">
                <a:solidFill>
                  <a:srgbClr val="96A5BE"/>
                </a:solidFill>
                <a:latin typeface="Consolas"/>
              </a:rPr>
              <a:t>Trainer-Präsentation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EDED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50292"/>
          </a:xfrm>
          <a:prstGeom prst="rect">
            <a:avLst/>
          </a:prstGeom>
          <a:solidFill>
            <a:srgbClr val="1F2C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109728"/>
            <a:ext cx="10817352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50">
                <a:solidFill>
                  <a:srgbClr val="78808C"/>
                </a:solidFill>
                <a:latin typeface="Consolas"/>
              </a:rPr>
              <a:t>ÜBERBLICK  ·  M06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1234440"/>
            <a:ext cx="12188952" cy="12700"/>
          </a:xfrm>
          <a:prstGeom prst="rect">
            <a:avLst/>
          </a:prstGeom>
          <a:solidFill>
            <a:srgbClr val="D8DF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85800" y="502920"/>
            <a:ext cx="10817352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1F2C56"/>
                </a:solidFill>
                <a:latin typeface="Arial"/>
              </a:rPr>
              <a:t>Worum geht es heute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1737360"/>
            <a:ext cx="9720072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1700">
                <a:solidFill>
                  <a:srgbClr val="3D5466"/>
                </a:solidFill>
                <a:latin typeface="Arial"/>
              </a:rPr>
              <a:t>Der Mittelstand ist das Rückgrat des Firmenkundengeschäfts – und tickt anders als Konzern oder Privatkunde.</a:t>
            </a:r>
          </a:p>
          <a:p>
            <a:pPr>
              <a:spcAft>
                <a:spcPts val="1200"/>
              </a:spcAft>
            </a:pPr>
            <a:r>
              <a:rPr sz="1700">
                <a:solidFill>
                  <a:srgbClr val="3D5466"/>
                </a:solidFill>
                <a:latin typeface="Arial"/>
              </a:rPr>
              <a:t>Sie lernen KMU-Definitionen, Finanzierungsmuster und typische Risikofelder kennen und wenden ein 5-Fragen-Schema zur schnellen Kundeneinordnung an.</a:t>
            </a:r>
          </a:p>
          <a:p>
            <a:pPr>
              <a:spcAft>
                <a:spcPts val="1200"/>
              </a:spcAft>
            </a:pPr>
            <a:r>
              <a:rPr sz="1700">
                <a:solidFill>
                  <a:srgbClr val="3D5466"/>
                </a:solidFill>
                <a:latin typeface="Arial"/>
              </a:rPr>
              <a:t>Danach verstehen Sie die Logik Ihrer KMU-Kunden und stellen im Erstgespräch die richtigen Fragen.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510528"/>
            <a:ext cx="12188952" cy="347472"/>
          </a:xfrm>
          <a:prstGeom prst="rect">
            <a:avLst/>
          </a:prstGeom>
          <a:solidFill>
            <a:srgbClr val="0A19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85800" y="6583680"/>
            <a:ext cx="6490411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>
                <a:solidFill>
                  <a:srgbClr val="A0B4D2"/>
                </a:solidFill>
                <a:latin typeface="Consolas"/>
              </a:rPr>
              <a:t>FKB Campus  ·  M06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EDED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50292"/>
          </a:xfrm>
          <a:prstGeom prst="rect">
            <a:avLst/>
          </a:prstGeom>
          <a:solidFill>
            <a:srgbClr val="1F2C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109728"/>
            <a:ext cx="10817352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50">
                <a:solidFill>
                  <a:srgbClr val="78808C"/>
                </a:solidFill>
                <a:latin typeface="Consolas"/>
              </a:rPr>
              <a:t>LERNZIELE  ·  M06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1234440"/>
            <a:ext cx="12188952" cy="12700"/>
          </a:xfrm>
          <a:prstGeom prst="rect">
            <a:avLst/>
          </a:prstGeom>
          <a:solidFill>
            <a:srgbClr val="D8DF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85800" y="502920"/>
            <a:ext cx="10817352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1F2C56"/>
                </a:solidFill>
                <a:latin typeface="Arial"/>
              </a:rPr>
              <a:t>Was Sie heute mitnehmen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1371600"/>
            <a:ext cx="10817352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spcAft>
                <a:spcPts val="200"/>
              </a:spcAft>
            </a:pPr>
            <a:r>
              <a:rPr sz="1400">
                <a:solidFill>
                  <a:srgbClr val="3D5466"/>
                </a:solidFill>
                <a:latin typeface="Arial"/>
              </a:rPr>
              <a:t>▸  Schwellenwerte der IfM-Bonn- und EU-KMU-Definition korrekt nennen und aufzählen</a:t>
            </a:r>
          </a:p>
          <a:p>
            <a:pPr>
              <a:spcBef>
                <a:spcPts val="800"/>
              </a:spcBef>
              <a:spcAft>
                <a:spcPts val="200"/>
              </a:spcAft>
            </a:pPr>
            <a:r>
              <a:rPr sz="1400">
                <a:solidFill>
                  <a:srgbClr val="3D5466"/>
                </a:solidFill>
                <a:latin typeface="Arial"/>
              </a:rPr>
              <a:t>▸  Volkswirtschaftliche Bedeutung von KMU in Deutschland erläutern und Hausbank-Beziehung erklären</a:t>
            </a:r>
          </a:p>
          <a:p>
            <a:pPr>
              <a:spcBef>
                <a:spcPts val="800"/>
              </a:spcBef>
              <a:spcAft>
                <a:spcPts val="200"/>
              </a:spcAft>
            </a:pPr>
            <a:r>
              <a:rPr sz="1400">
                <a:solidFill>
                  <a:srgbClr val="3D5466"/>
                </a:solidFill>
                <a:latin typeface="Arial"/>
              </a:rPr>
              <a:t>▸  Typische Finanzierungsmuster, EK-Strukturen und Risikofelder von KMU beschreiben und abgrenzen</a:t>
            </a:r>
          </a:p>
          <a:p>
            <a:pPr>
              <a:spcBef>
                <a:spcPts val="800"/>
              </a:spcBef>
              <a:spcAft>
                <a:spcPts val="200"/>
              </a:spcAft>
            </a:pPr>
            <a:r>
              <a:rPr sz="1400">
                <a:solidFill>
                  <a:srgbClr val="3D5466"/>
                </a:solidFill>
                <a:latin typeface="Arial"/>
              </a:rPr>
              <a:t>▸  Einen KMU-Kunden anhand des strukturierten 5-Fragen-Schemas einordnen und Branchencharakteristika zuordnen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510528"/>
            <a:ext cx="12188952" cy="347472"/>
          </a:xfrm>
          <a:prstGeom prst="rect">
            <a:avLst/>
          </a:prstGeom>
          <a:solidFill>
            <a:srgbClr val="0A19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85800" y="6583680"/>
            <a:ext cx="6490411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>
                <a:solidFill>
                  <a:srgbClr val="A0B4D2"/>
                </a:solidFill>
                <a:latin typeface="Consolas"/>
              </a:rPr>
              <a:t>FKB Campus  ·  M06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EDED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50292"/>
          </a:xfrm>
          <a:prstGeom prst="rect">
            <a:avLst/>
          </a:prstGeom>
          <a:solidFill>
            <a:srgbClr val="1F2C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109728"/>
            <a:ext cx="10817352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50">
                <a:solidFill>
                  <a:srgbClr val="78808C"/>
                </a:solidFill>
                <a:latin typeface="Consolas"/>
              </a:rPr>
              <a:t>AGENDA  ·  M06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1234440"/>
            <a:ext cx="12188952" cy="12700"/>
          </a:xfrm>
          <a:prstGeom prst="rect">
            <a:avLst/>
          </a:prstGeom>
          <a:solidFill>
            <a:srgbClr val="D8DF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85800" y="502920"/>
            <a:ext cx="10817352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1F2C56"/>
                </a:solidFill>
                <a:latin typeface="Arial"/>
              </a:rPr>
              <a:t>So läuft das Modul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1463040"/>
            <a:ext cx="10817352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700"/>
              </a:spcBef>
              <a:spcAft>
                <a:spcPts val="100"/>
              </a:spcAft>
            </a:pPr>
            <a:r>
              <a:rPr sz="1200">
                <a:solidFill>
                  <a:srgbClr val="78808C"/>
                </a:solidFill>
                <a:latin typeface="Consolas"/>
              </a:rPr>
              <a:t>00:00–00:05 </a:t>
            </a:r>
            <a:r>
              <a:rPr sz="1500" b="1">
                <a:solidFill>
                  <a:srgbClr val="3D5466"/>
                </a:solidFill>
                <a:latin typeface="Arial"/>
              </a:rPr>
              <a:t>  Begrüßung</a:t>
            </a:r>
            <a:r>
              <a:rPr sz="1200">
                <a:solidFill>
                  <a:srgbClr val="78808C"/>
                </a:solidFill>
                <a:latin typeface="Arial"/>
              </a:rPr>
              <a:t>  ·  Plenum</a:t>
            </a:r>
          </a:p>
          <a:p>
            <a:pPr>
              <a:spcBef>
                <a:spcPts val="700"/>
              </a:spcBef>
              <a:spcAft>
                <a:spcPts val="100"/>
              </a:spcAft>
            </a:pPr>
            <a:r>
              <a:rPr sz="1200">
                <a:solidFill>
                  <a:srgbClr val="78808C"/>
                </a:solidFill>
                <a:latin typeface="Consolas"/>
              </a:rPr>
              <a:t>00:05–00:15 </a:t>
            </a:r>
            <a:r>
              <a:rPr sz="1500" b="1">
                <a:solidFill>
                  <a:srgbClr val="3D5466"/>
                </a:solidFill>
                <a:latin typeface="Arial"/>
              </a:rPr>
              <a:t>  Wissensaktivierung</a:t>
            </a:r>
            <a:r>
              <a:rPr sz="1200">
                <a:solidFill>
                  <a:srgbClr val="78808C"/>
                </a:solidFill>
                <a:latin typeface="Arial"/>
              </a:rPr>
              <a:t>  ·  Reihum-Abfrage</a:t>
            </a:r>
          </a:p>
          <a:p>
            <a:pPr>
              <a:spcBef>
                <a:spcPts val="700"/>
              </a:spcBef>
              <a:spcAft>
                <a:spcPts val="100"/>
              </a:spcAft>
            </a:pPr>
            <a:r>
              <a:rPr sz="1200">
                <a:solidFill>
                  <a:srgbClr val="78808C"/>
                </a:solidFill>
                <a:latin typeface="Consolas"/>
              </a:rPr>
              <a:t>00:15–00:30 </a:t>
            </a:r>
            <a:r>
              <a:rPr sz="1500" b="1">
                <a:solidFill>
                  <a:srgbClr val="3D5466"/>
                </a:solidFill>
                <a:latin typeface="Arial"/>
              </a:rPr>
              <a:t>  Input KMU-Definitionen</a:t>
            </a:r>
            <a:r>
              <a:rPr sz="1200">
                <a:solidFill>
                  <a:srgbClr val="78808C"/>
                </a:solidFill>
                <a:latin typeface="Arial"/>
              </a:rPr>
              <a:t>  ·  Vortrag + Diskussion</a:t>
            </a:r>
          </a:p>
          <a:p>
            <a:pPr>
              <a:spcBef>
                <a:spcPts val="700"/>
              </a:spcBef>
              <a:spcAft>
                <a:spcPts val="100"/>
              </a:spcAft>
            </a:pPr>
            <a:r>
              <a:rPr sz="1200">
                <a:solidFill>
                  <a:srgbClr val="78808C"/>
                </a:solidFill>
                <a:latin typeface="Consolas"/>
              </a:rPr>
              <a:t>00:30–00:45 </a:t>
            </a:r>
            <a:r>
              <a:rPr sz="1500" b="1">
                <a:solidFill>
                  <a:srgbClr val="3D5466"/>
                </a:solidFill>
                <a:latin typeface="Arial"/>
              </a:rPr>
              <a:t>  Input Hausbank-Prinzip</a:t>
            </a:r>
            <a:r>
              <a:rPr sz="1200">
                <a:solidFill>
                  <a:srgbClr val="78808C"/>
                </a:solidFill>
                <a:latin typeface="Arial"/>
              </a:rPr>
              <a:t>  ·  Vortrag + Fragen</a:t>
            </a:r>
          </a:p>
          <a:p>
            <a:pPr>
              <a:spcBef>
                <a:spcPts val="700"/>
              </a:spcBef>
              <a:spcAft>
                <a:spcPts val="100"/>
              </a:spcAft>
            </a:pPr>
            <a:r>
              <a:rPr sz="1200">
                <a:solidFill>
                  <a:srgbClr val="78808C"/>
                </a:solidFill>
                <a:latin typeface="Consolas"/>
              </a:rPr>
              <a:t>00:45–01:20 </a:t>
            </a:r>
            <a:r>
              <a:rPr sz="1500" b="1">
                <a:solidFill>
                  <a:srgbClr val="3D5466"/>
                </a:solidFill>
                <a:latin typeface="Arial"/>
              </a:rPr>
              <a:t>  Fallarbeit Bergmann Holzmanufaktur</a:t>
            </a:r>
            <a:r>
              <a:rPr sz="1200">
                <a:solidFill>
                  <a:srgbClr val="78808C"/>
                </a:solidFill>
                <a:latin typeface="Arial"/>
              </a:rPr>
              <a:t>  ·  Einzel- + Gruppenarbeit</a:t>
            </a:r>
          </a:p>
          <a:p>
            <a:pPr>
              <a:spcBef>
                <a:spcPts val="700"/>
              </a:spcBef>
              <a:spcAft>
                <a:spcPts val="100"/>
              </a:spcAft>
            </a:pPr>
            <a:r>
              <a:rPr sz="1200">
                <a:solidFill>
                  <a:srgbClr val="78808C"/>
                </a:solidFill>
                <a:latin typeface="Consolas"/>
              </a:rPr>
              <a:t>01:20–01:35 </a:t>
            </a:r>
            <a:r>
              <a:rPr sz="1500" b="1">
                <a:solidFill>
                  <a:srgbClr val="3D5466"/>
                </a:solidFill>
                <a:latin typeface="Arial"/>
              </a:rPr>
              <a:t>  Plenumsdiskussion</a:t>
            </a:r>
            <a:r>
              <a:rPr sz="1200">
                <a:solidFill>
                  <a:srgbClr val="78808C"/>
                </a:solidFill>
                <a:latin typeface="Arial"/>
              </a:rPr>
              <a:t>  ·  Moderierte Diskussion</a:t>
            </a:r>
          </a:p>
          <a:p>
            <a:pPr>
              <a:spcBef>
                <a:spcPts val="700"/>
              </a:spcBef>
              <a:spcAft>
                <a:spcPts val="100"/>
              </a:spcAft>
            </a:pPr>
            <a:r>
              <a:rPr sz="1200">
                <a:solidFill>
                  <a:srgbClr val="78808C"/>
                </a:solidFill>
                <a:latin typeface="Consolas"/>
              </a:rPr>
              <a:t>01:35–01:45 </a:t>
            </a:r>
            <a:r>
              <a:rPr sz="1500" b="1">
                <a:solidFill>
                  <a:srgbClr val="3D5466"/>
                </a:solidFill>
                <a:latin typeface="Arial"/>
              </a:rPr>
              <a:t>  Transfer &amp; Abschluss</a:t>
            </a:r>
            <a:r>
              <a:rPr sz="1200">
                <a:solidFill>
                  <a:srgbClr val="78808C"/>
                </a:solidFill>
                <a:latin typeface="Arial"/>
              </a:rPr>
              <a:t>  ·  Plenum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510528"/>
            <a:ext cx="12188952" cy="347472"/>
          </a:xfrm>
          <a:prstGeom prst="rect">
            <a:avLst/>
          </a:prstGeom>
          <a:solidFill>
            <a:srgbClr val="0A19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85800" y="6583680"/>
            <a:ext cx="6490411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>
                <a:solidFill>
                  <a:srgbClr val="A0B4D2"/>
                </a:solidFill>
                <a:latin typeface="Consolas"/>
              </a:rPr>
              <a:t>FKB Campus  ·  M06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EDED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50292"/>
          </a:xfrm>
          <a:prstGeom prst="rect">
            <a:avLst/>
          </a:prstGeom>
          <a:solidFill>
            <a:srgbClr val="1F2C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109728"/>
            <a:ext cx="10817352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50">
                <a:solidFill>
                  <a:srgbClr val="78808C"/>
                </a:solidFill>
                <a:latin typeface="Consolas"/>
              </a:rPr>
              <a:t>M06  ·  INHALT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1234440"/>
            <a:ext cx="12188952" cy="12700"/>
          </a:xfrm>
          <a:prstGeom prst="rect">
            <a:avLst/>
          </a:prstGeom>
          <a:solidFill>
            <a:srgbClr val="D8DF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85800" y="502920"/>
            <a:ext cx="36576" cy="658368"/>
          </a:xfrm>
          <a:prstGeom prst="rect">
            <a:avLst/>
          </a:prstGeom>
          <a:solidFill>
            <a:srgbClr val="D9C0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13816" y="502920"/>
            <a:ext cx="10634472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1F2C56"/>
                </a:solidFill>
                <a:latin typeface="Arial"/>
              </a:rPr>
              <a:t>Unternehmen und Unternehmer sind nicht zu trennen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1417320"/>
            <a:ext cx="10817352" cy="4892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marL="177800" indent="-177800">
              <a:spcBef>
                <a:spcPts val="600"/>
              </a:spcBef>
              <a:spcAft>
                <a:spcPts val="200"/>
              </a:spcAft>
            </a:pPr>
            <a:r>
              <a:rPr sz="1200" i="1">
                <a:solidFill>
                  <a:srgbClr val="3D5466"/>
                </a:solidFill>
                <a:latin typeface="Arial"/>
              </a:rPr>
              <a:t>→  Beim Mittelständler sind Unternehmen und Unternehmer nicht zu trennen – wer den Menschen nicht versteht, versteht das Kreditrisiko nicht.</a:t>
            </a:r>
          </a:p>
          <a:p>
            <a:pPr marL="190500" indent="-190500">
              <a:spcBef>
                <a:spcPts val="400"/>
              </a:spcBef>
              <a:spcAft>
                <a:spcPts val="200"/>
              </a:spcAft>
            </a:pPr>
            <a:r>
              <a:rPr sz="1300">
                <a:solidFill>
                  <a:srgbClr val="3D5466"/>
                </a:solidFill>
                <a:latin typeface="Arial"/>
              </a:rPr>
              <a:t>▸  Eigentum, Leitung und Haftung liegen in einer Hand.</a:t>
            </a:r>
          </a:p>
          <a:p>
            <a:pPr marL="190500" indent="-190500">
              <a:spcBef>
                <a:spcPts val="400"/>
              </a:spcBef>
              <a:spcAft>
                <a:spcPts val="200"/>
              </a:spcAft>
            </a:pPr>
            <a:r>
              <a:rPr sz="1300">
                <a:solidFill>
                  <a:srgbClr val="3D5466"/>
                </a:solidFill>
                <a:latin typeface="Arial"/>
              </a:rPr>
              <a:t>▸  Die Person des Inhabers ist zugleich größtes Asset und größtes Risiko.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6510528"/>
            <a:ext cx="12188952" cy="347472"/>
          </a:xfrm>
          <a:prstGeom prst="rect">
            <a:avLst/>
          </a:prstGeom>
          <a:solidFill>
            <a:srgbClr val="0A19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85800" y="6583680"/>
            <a:ext cx="6490411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>
                <a:solidFill>
                  <a:srgbClr val="A0B4D2"/>
                </a:solidFill>
                <a:latin typeface="Consolas"/>
              </a:rPr>
              <a:t>FKB Campus  ·  M06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EDED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50292"/>
          </a:xfrm>
          <a:prstGeom prst="rect">
            <a:avLst/>
          </a:prstGeom>
          <a:solidFill>
            <a:srgbClr val="1F2C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109728"/>
            <a:ext cx="10817352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50">
                <a:solidFill>
                  <a:srgbClr val="78808C"/>
                </a:solidFill>
                <a:latin typeface="Consolas"/>
              </a:rPr>
              <a:t>M06  ·  INHALT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1234440"/>
            <a:ext cx="12188952" cy="12700"/>
          </a:xfrm>
          <a:prstGeom prst="rect">
            <a:avLst/>
          </a:prstGeom>
          <a:solidFill>
            <a:srgbClr val="D8DF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85800" y="502920"/>
            <a:ext cx="36576" cy="658368"/>
          </a:xfrm>
          <a:prstGeom prst="rect">
            <a:avLst/>
          </a:prstGeom>
          <a:solidFill>
            <a:srgbClr val="D9C0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13816" y="502920"/>
            <a:ext cx="10634472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1F2C56"/>
                </a:solidFill>
                <a:latin typeface="Arial"/>
              </a:rPr>
              <a:t>Was ist ein KMU? Zwei Definitionen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1417320"/>
            <a:ext cx="10817352" cy="4892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marL="177800" indent="-177800">
              <a:spcBef>
                <a:spcPts val="600"/>
              </a:spcBef>
              <a:spcAft>
                <a:spcPts val="200"/>
              </a:spcAft>
            </a:pPr>
            <a:r>
              <a:rPr sz="1200" i="1">
                <a:solidFill>
                  <a:srgbClr val="3D5466"/>
                </a:solidFill>
                <a:latin typeface="Arial"/>
              </a:rPr>
              <a:t>→  KMU ist nicht gleich KMU – die EU-Definition und die HGB-Größenklassen fassen unterschiedlich ab.</a:t>
            </a:r>
          </a:p>
          <a:p>
            <a:pPr marL="190500" indent="-190500">
              <a:spcBef>
                <a:spcPts val="400"/>
              </a:spcBef>
              <a:spcAft>
                <a:spcPts val="200"/>
              </a:spcAft>
            </a:pPr>
            <a:r>
              <a:rPr sz="1300">
                <a:solidFill>
                  <a:srgbClr val="3D5466"/>
                </a:solidFill>
                <a:latin typeface="Arial"/>
              </a:rPr>
              <a:t>▸  EU-Empfehlung: Mitarbeiter, Umsatz, Bilanzsumme.</a:t>
            </a:r>
          </a:p>
          <a:p>
            <a:pPr marL="190500" indent="-190500">
              <a:spcBef>
                <a:spcPts val="400"/>
              </a:spcBef>
              <a:spcAft>
                <a:spcPts val="200"/>
              </a:spcAft>
            </a:pPr>
            <a:r>
              <a:rPr sz="1300">
                <a:solidFill>
                  <a:srgbClr val="3D5466"/>
                </a:solidFill>
                <a:latin typeface="Arial"/>
              </a:rPr>
              <a:t>▸  HGB § 267: Größenklassen mit Rechtsfolgen für Offenlegung und Prüfung.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6510528"/>
            <a:ext cx="12188952" cy="347472"/>
          </a:xfrm>
          <a:prstGeom prst="rect">
            <a:avLst/>
          </a:prstGeom>
          <a:solidFill>
            <a:srgbClr val="0A19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85800" y="6583680"/>
            <a:ext cx="6490411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>
                <a:solidFill>
                  <a:srgbClr val="A0B4D2"/>
                </a:solidFill>
                <a:latin typeface="Consolas"/>
              </a:rPr>
              <a:t>FKB Campus  ·  M06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50292"/>
          </a:xfrm>
          <a:prstGeom prst="rect">
            <a:avLst/>
          </a:prstGeom>
          <a:solidFill>
            <a:srgbClr val="1F2C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109728"/>
            <a:ext cx="10817352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50">
                <a:solidFill>
                  <a:srgbClr val="78808C"/>
                </a:solidFill>
                <a:latin typeface="Consolas"/>
              </a:rPr>
              <a:t>M06  ·  SCHAUBILD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502920"/>
            <a:ext cx="10817352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1F2C56"/>
                </a:solidFill>
                <a:latin typeface="Arial"/>
              </a:rPr>
              <a:t>Zwei KMU-Definitionen im Vergleich</a:t>
            </a:r>
          </a:p>
        </p:txBody>
      </p:sp>
      <p:sp>
        <p:nvSpPr>
          <p:cNvPr id="6" name="Rectangle 5"/>
          <p:cNvSpPr/>
          <p:nvPr/>
        </p:nvSpPr>
        <p:spPr>
          <a:xfrm>
            <a:off x="685800" y="1143000"/>
            <a:ext cx="10817352" cy="25400"/>
          </a:xfrm>
          <a:prstGeom prst="rect">
            <a:avLst/>
          </a:prstGeom>
          <a:solidFill>
            <a:srgbClr val="D9C0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03489" y="1325880"/>
            <a:ext cx="7581973" cy="4937760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0" y="6510528"/>
            <a:ext cx="12188952" cy="347472"/>
          </a:xfrm>
          <a:prstGeom prst="rect">
            <a:avLst/>
          </a:prstGeom>
          <a:solidFill>
            <a:srgbClr val="0A19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85800" y="6583680"/>
            <a:ext cx="6490411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>
                <a:solidFill>
                  <a:srgbClr val="A0B4D2"/>
                </a:solidFill>
                <a:latin typeface="Consolas"/>
              </a:rPr>
              <a:t>FKB Campus  ·  M06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176211" y="6583680"/>
            <a:ext cx="432694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700">
                <a:solidFill>
                  <a:srgbClr val="A0B4D2"/>
                </a:solidFill>
                <a:latin typeface="Consolas"/>
              </a:rPr>
              <a:t>Schaubild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EDED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50292"/>
          </a:xfrm>
          <a:prstGeom prst="rect">
            <a:avLst/>
          </a:prstGeom>
          <a:solidFill>
            <a:srgbClr val="1F2C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109728"/>
            <a:ext cx="10817352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50">
                <a:solidFill>
                  <a:srgbClr val="78808C"/>
                </a:solidFill>
                <a:latin typeface="Consolas"/>
              </a:rPr>
              <a:t>M06  ·  INHALT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1234440"/>
            <a:ext cx="12188952" cy="12700"/>
          </a:xfrm>
          <a:prstGeom prst="rect">
            <a:avLst/>
          </a:prstGeom>
          <a:solidFill>
            <a:srgbClr val="D8DF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85800" y="502920"/>
            <a:ext cx="36576" cy="658368"/>
          </a:xfrm>
          <a:prstGeom prst="rect">
            <a:avLst/>
          </a:prstGeom>
          <a:solidFill>
            <a:srgbClr val="D9C0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13816" y="502920"/>
            <a:ext cx="10634472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1F2C56"/>
                </a:solidFill>
                <a:latin typeface="Arial"/>
              </a:rPr>
              <a:t>Vier zentrale Risikofelder inhabergeführter KMU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1417320"/>
            <a:ext cx="10817352" cy="4892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marL="177800" indent="-177800">
              <a:spcBef>
                <a:spcPts val="600"/>
              </a:spcBef>
              <a:spcAft>
                <a:spcPts val="200"/>
              </a:spcAft>
            </a:pPr>
            <a:r>
              <a:rPr sz="1200" i="1">
                <a:solidFill>
                  <a:srgbClr val="3D5466"/>
                </a:solidFill>
                <a:latin typeface="Arial"/>
              </a:rPr>
              <a:t>→  Die typischen KMU-Risiken stehen selten in der Bilanz – sie liegen in der Person und der Struktur.</a:t>
            </a:r>
          </a:p>
          <a:p>
            <a:pPr marL="190500" indent="-190500">
              <a:spcBef>
                <a:spcPts val="400"/>
              </a:spcBef>
              <a:spcAft>
                <a:spcPts val="200"/>
              </a:spcAft>
            </a:pPr>
            <a:r>
              <a:rPr sz="1300">
                <a:solidFill>
                  <a:srgbClr val="3D5466"/>
                </a:solidFill>
                <a:latin typeface="Arial"/>
              </a:rPr>
              <a:t>▸  Inhaberabhängigkeit / Schlüsselpersonenrisiko: die Person als Single Point of Failure.</a:t>
            </a:r>
          </a:p>
          <a:p>
            <a:pPr marL="190500" indent="-190500">
              <a:spcBef>
                <a:spcPts val="400"/>
              </a:spcBef>
              <a:spcAft>
                <a:spcPts val="200"/>
              </a:spcAft>
            </a:pPr>
            <a:r>
              <a:rPr sz="1300">
                <a:solidFill>
                  <a:srgbClr val="3D5466"/>
                </a:solidFill>
                <a:latin typeface="Arial"/>
              </a:rPr>
              <a:t>▸  Klumpenrisiko: Abhängigkeit von wenigen Kunden oder Lieferanten.</a:t>
            </a:r>
          </a:p>
          <a:p>
            <a:pPr marL="190500" indent="-190500">
              <a:spcBef>
                <a:spcPts val="400"/>
              </a:spcBef>
              <a:spcAft>
                <a:spcPts val="200"/>
              </a:spcAft>
            </a:pPr>
            <a:r>
              <a:rPr sz="1300">
                <a:solidFill>
                  <a:srgbClr val="3D5466"/>
                </a:solidFill>
                <a:latin typeface="Arial"/>
              </a:rPr>
              <a:t>▸  Nachfolgerisiko und dünne Eigenkapitaldecke runden das Bild.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6510528"/>
            <a:ext cx="12188952" cy="347472"/>
          </a:xfrm>
          <a:prstGeom prst="rect">
            <a:avLst/>
          </a:prstGeom>
          <a:solidFill>
            <a:srgbClr val="0A19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85800" y="6583680"/>
            <a:ext cx="6490411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>
                <a:solidFill>
                  <a:srgbClr val="A0B4D2"/>
                </a:solidFill>
                <a:latin typeface="Consolas"/>
              </a:rPr>
              <a:t>FKB Campus  ·  M06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F2C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2377440"/>
            <a:ext cx="1081735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>
                <a:solidFill>
                  <a:srgbClr val="D9C089"/>
                </a:solidFill>
                <a:latin typeface="Consolas"/>
              </a:rPr>
              <a:t>WERKZEUG</a:t>
            </a:r>
          </a:p>
        </p:txBody>
      </p:sp>
      <p:sp>
        <p:nvSpPr>
          <p:cNvPr id="4" name="Rectangle 3"/>
          <p:cNvSpPr/>
          <p:nvPr/>
        </p:nvSpPr>
        <p:spPr>
          <a:xfrm>
            <a:off x="685800" y="2788920"/>
            <a:ext cx="548640" cy="38100"/>
          </a:xfrm>
          <a:prstGeom prst="rect">
            <a:avLst/>
          </a:prstGeom>
          <a:solidFill>
            <a:srgbClr val="D9C0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85800" y="3017520"/>
            <a:ext cx="10817352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000" b="1" i="0">
                <a:solidFill>
                  <a:srgbClr val="FFFFFF"/>
                </a:solidFill>
                <a:latin typeface="Arial"/>
              </a:rPr>
              <a:t>Einstieg in die Branchenanalyse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4480560"/>
            <a:ext cx="8653881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C8D2E6"/>
                </a:solidFill>
                <a:latin typeface="Arial"/>
              </a:rPr>
              <a:t>Zahlen in den Branchenkontext stellen – mit dem 5-Fragen-Schema.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6355080"/>
            <a:ext cx="10817352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>
                <a:solidFill>
                  <a:srgbClr val="8CA0C3"/>
                </a:solidFill>
                <a:latin typeface="Consolas"/>
              </a:rPr>
              <a:t>FKB Campus  ·  M06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EDED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50292"/>
          </a:xfrm>
          <a:prstGeom prst="rect">
            <a:avLst/>
          </a:prstGeom>
          <a:solidFill>
            <a:srgbClr val="1F2C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109728"/>
            <a:ext cx="10817352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50">
                <a:solidFill>
                  <a:srgbClr val="78808C"/>
                </a:solidFill>
                <a:latin typeface="Consolas"/>
              </a:rPr>
              <a:t>M06  ·  INHALT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1234440"/>
            <a:ext cx="12188952" cy="12700"/>
          </a:xfrm>
          <a:prstGeom prst="rect">
            <a:avLst/>
          </a:prstGeom>
          <a:solidFill>
            <a:srgbClr val="D8DF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85800" y="502920"/>
            <a:ext cx="36576" cy="658368"/>
          </a:xfrm>
          <a:prstGeom prst="rect">
            <a:avLst/>
          </a:prstGeom>
          <a:solidFill>
            <a:srgbClr val="D9C0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13816" y="502920"/>
            <a:ext cx="10634472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1F2C56"/>
                </a:solidFill>
                <a:latin typeface="Arial"/>
              </a:rPr>
              <a:t>Zahlen brauchen Kontext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1417320"/>
            <a:ext cx="10817352" cy="4892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marL="177800" indent="-177800">
              <a:spcBef>
                <a:spcPts val="600"/>
              </a:spcBef>
              <a:spcAft>
                <a:spcPts val="200"/>
              </a:spcAft>
            </a:pPr>
            <a:r>
              <a:rPr sz="1200" i="1">
                <a:solidFill>
                  <a:srgbClr val="3D5466"/>
                </a:solidFill>
                <a:latin typeface="Arial"/>
              </a:rPr>
              <a:t>→  Eine Kennzahl ohne Branchenkontext ist eine Zahl ohne Bedeutung – erst der Vergleich macht sie zur Aussage.</a:t>
            </a:r>
          </a:p>
          <a:p>
            <a:pPr marL="190500" indent="-190500">
              <a:spcBef>
                <a:spcPts val="400"/>
              </a:spcBef>
              <a:spcAft>
                <a:spcPts val="200"/>
              </a:spcAft>
            </a:pPr>
            <a:r>
              <a:rPr sz="1300">
                <a:solidFill>
                  <a:srgbClr val="3D5466"/>
                </a:solidFill>
                <a:latin typeface="Arial"/>
              </a:rPr>
              <a:t>▸  Vier Branchenprofile für den Beratungsalltag als Orientierung.</a:t>
            </a:r>
          </a:p>
          <a:p>
            <a:pPr marL="190500" indent="-190500">
              <a:spcBef>
                <a:spcPts val="400"/>
              </a:spcBef>
              <a:spcAft>
                <a:spcPts val="200"/>
              </a:spcAft>
            </a:pPr>
            <a:r>
              <a:rPr sz="1300">
                <a:solidFill>
                  <a:srgbClr val="3D5466"/>
                </a:solidFill>
                <a:latin typeface="Arial"/>
              </a:rPr>
              <a:t>▸  Das 5-Fragen-Schema strukturiert den Analyseeinstieg in jedes KMU-Gespräch.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6510528"/>
            <a:ext cx="12188952" cy="347472"/>
          </a:xfrm>
          <a:prstGeom prst="rect">
            <a:avLst/>
          </a:prstGeom>
          <a:solidFill>
            <a:srgbClr val="0A19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85800" y="6583680"/>
            <a:ext cx="6490411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>
                <a:solidFill>
                  <a:srgbClr val="A0B4D2"/>
                </a:solidFill>
                <a:latin typeface="Consolas"/>
              </a:rPr>
              <a:t>FKB Campus  ·  M06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50292"/>
          </a:xfrm>
          <a:prstGeom prst="rect">
            <a:avLst/>
          </a:prstGeom>
          <a:solidFill>
            <a:srgbClr val="1F2C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109728"/>
            <a:ext cx="10817352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50">
                <a:solidFill>
                  <a:srgbClr val="78808C"/>
                </a:solidFill>
                <a:latin typeface="Consolas"/>
              </a:rPr>
              <a:t>M06  ·  SCHAUBILD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502920"/>
            <a:ext cx="10817352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1F2C56"/>
                </a:solidFill>
                <a:latin typeface="Arial"/>
              </a:rPr>
              <a:t>Das 5-Fragen-Schema für den KMU-Beratungseinstieg</a:t>
            </a:r>
          </a:p>
        </p:txBody>
      </p:sp>
      <p:sp>
        <p:nvSpPr>
          <p:cNvPr id="6" name="Rectangle 5"/>
          <p:cNvSpPr/>
          <p:nvPr/>
        </p:nvSpPr>
        <p:spPr>
          <a:xfrm>
            <a:off x="685800" y="1143000"/>
            <a:ext cx="10817352" cy="25400"/>
          </a:xfrm>
          <a:prstGeom prst="rect">
            <a:avLst/>
          </a:prstGeom>
          <a:solidFill>
            <a:srgbClr val="D9C0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03489" y="1325880"/>
            <a:ext cx="7581973" cy="4937760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0" y="6510528"/>
            <a:ext cx="12188952" cy="347472"/>
          </a:xfrm>
          <a:prstGeom prst="rect">
            <a:avLst/>
          </a:prstGeom>
          <a:solidFill>
            <a:srgbClr val="0A19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85800" y="6583680"/>
            <a:ext cx="6490411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>
                <a:solidFill>
                  <a:srgbClr val="A0B4D2"/>
                </a:solidFill>
                <a:latin typeface="Consolas"/>
              </a:rPr>
              <a:t>FKB Campus  ·  M06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176211" y="6583680"/>
            <a:ext cx="432694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700">
                <a:solidFill>
                  <a:srgbClr val="A0B4D2"/>
                </a:solidFill>
                <a:latin typeface="Consolas"/>
              </a:rPr>
              <a:t>Schaubild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F2C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2377440"/>
            <a:ext cx="1081735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>
                <a:solidFill>
                  <a:srgbClr val="D9C089"/>
                </a:solidFill>
                <a:latin typeface="Consolas"/>
              </a:rPr>
              <a:t>FALLARBEIT</a:t>
            </a:r>
          </a:p>
        </p:txBody>
      </p:sp>
      <p:sp>
        <p:nvSpPr>
          <p:cNvPr id="4" name="Rectangle 3"/>
          <p:cNvSpPr/>
          <p:nvPr/>
        </p:nvSpPr>
        <p:spPr>
          <a:xfrm>
            <a:off x="685800" y="2788920"/>
            <a:ext cx="548640" cy="38100"/>
          </a:xfrm>
          <a:prstGeom prst="rect">
            <a:avLst/>
          </a:prstGeom>
          <a:solidFill>
            <a:srgbClr val="D9C0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85800" y="3017520"/>
            <a:ext cx="10817352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000" b="1" i="0">
                <a:solidFill>
                  <a:srgbClr val="FFFFFF"/>
                </a:solidFill>
                <a:latin typeface="Arial"/>
              </a:rPr>
              <a:t>Praxiscase Bergmann Holzmanufaktur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4480560"/>
            <a:ext cx="8653881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C8D2E6"/>
                </a:solidFill>
                <a:latin typeface="Arial"/>
              </a:rPr>
              <a:t>Die KMU-Perspektive auf einen echten Handwerksbetrieb anwenden.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6355080"/>
            <a:ext cx="10817352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>
                <a:solidFill>
                  <a:srgbClr val="8CA0C3"/>
                </a:solidFill>
                <a:latin typeface="Consolas"/>
              </a:rPr>
              <a:t>FKB Campus  ·  M06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50292"/>
          </a:xfrm>
          <a:prstGeom prst="rect">
            <a:avLst/>
          </a:prstGeom>
          <a:solidFill>
            <a:srgbClr val="1F2C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109728"/>
            <a:ext cx="10817352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50">
                <a:solidFill>
                  <a:srgbClr val="78808C"/>
                </a:solidFill>
                <a:latin typeface="Consolas"/>
              </a:rPr>
              <a:t>M06  ·  ÜBERSICHT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502920"/>
            <a:ext cx="10817352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1F2C56"/>
                </a:solidFill>
                <a:latin typeface="Arial"/>
              </a:rPr>
              <a:t>Bergmann Holzmanufaktur: Kennzahlen im Branchenvergleich</a:t>
            </a:r>
          </a:p>
        </p:txBody>
      </p:sp>
      <p:sp>
        <p:nvSpPr>
          <p:cNvPr id="6" name="Rectangle 5"/>
          <p:cNvSpPr/>
          <p:nvPr/>
        </p:nvSpPr>
        <p:spPr>
          <a:xfrm>
            <a:off x="685800" y="1143000"/>
            <a:ext cx="10817352" cy="25400"/>
          </a:xfrm>
          <a:prstGeom prst="rect">
            <a:avLst/>
          </a:prstGeom>
          <a:solidFill>
            <a:srgbClr val="D9C0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685800" y="1417320"/>
          <a:ext cx="10817352" cy="1920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05784"/>
                <a:gridCol w="3605784"/>
                <a:gridCol w="3605784"/>
              </a:tblGrid>
              <a:tr h="384048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Arial"/>
                        </a:rPr>
                        <a:t>Kennzahl</a:t>
                      </a:r>
                    </a:p>
                  </a:txBody>
                  <a:tcPr>
                    <a:solidFill>
                      <a:srgbClr val="1F2C5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Arial"/>
                        </a:rPr>
                        <a:t>Wert 2025</a:t>
                      </a:r>
                    </a:p>
                  </a:txBody>
                  <a:tcPr>
                    <a:solidFill>
                      <a:srgbClr val="1F2C5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Arial"/>
                        </a:rPr>
                        <a:t>Branchenwert</a:t>
                      </a:r>
                    </a:p>
                  </a:txBody>
                  <a:tcPr>
                    <a:solidFill>
                      <a:srgbClr val="1F2C56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3D5466"/>
                          </a:solidFill>
                          <a:latin typeface="Arial"/>
                        </a:rPr>
                        <a:t>Jahresumsatz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3D5466"/>
                          </a:solidFill>
                          <a:latin typeface="Arial"/>
                        </a:rPr>
                        <a:t>1,8 Mio. EUR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3D5466"/>
                          </a:solidFill>
                          <a:latin typeface="Arial"/>
                        </a:rPr>
                        <a:t>—</a:t>
                      </a:r>
                    </a:p>
                  </a:txBody>
                  <a:tcPr/>
                </a:tc>
              </a:tr>
              <a:tr h="384048"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3D5466"/>
                          </a:solidFill>
                          <a:latin typeface="Arial"/>
                        </a:rPr>
                        <a:t>Beschäftigte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3D5466"/>
                          </a:solidFill>
                          <a:latin typeface="Arial"/>
                        </a:rPr>
                        <a:t>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3D5466"/>
                          </a:solidFill>
                          <a:latin typeface="Arial"/>
                        </a:rPr>
                        <a:t>—</a:t>
                      </a:r>
                    </a:p>
                  </a:txBody>
                  <a:tcPr/>
                </a:tc>
              </a:tr>
              <a:tr h="384048"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3D5466"/>
                          </a:solidFill>
                          <a:latin typeface="Arial"/>
                        </a:rPr>
                        <a:t>Eigenkapitalquote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3D5466"/>
                          </a:solidFill>
                          <a:latin typeface="Arial"/>
                        </a:rPr>
                        <a:t>21 %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3D5466"/>
                          </a:solidFill>
                          <a:latin typeface="Arial"/>
                        </a:rPr>
                        <a:t>Ø 18–24 %</a:t>
                      </a:r>
                    </a:p>
                  </a:txBody>
                  <a:tcPr/>
                </a:tc>
              </a:tr>
              <a:tr h="384048"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3D5466"/>
                          </a:solidFill>
                          <a:latin typeface="Arial"/>
                        </a:rPr>
                        <a:t>Umsatzrendite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3D5466"/>
                          </a:solidFill>
                          <a:latin typeface="Arial"/>
                        </a:rPr>
                        <a:t>5,2 %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3D5466"/>
                          </a:solidFill>
                          <a:latin typeface="Arial"/>
                        </a:rPr>
                        <a:t>Ø 4–7 %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8" name="Rectangle 7"/>
          <p:cNvSpPr/>
          <p:nvPr/>
        </p:nvSpPr>
        <p:spPr>
          <a:xfrm>
            <a:off x="0" y="6510528"/>
            <a:ext cx="12188952" cy="347472"/>
          </a:xfrm>
          <a:prstGeom prst="rect">
            <a:avLst/>
          </a:prstGeom>
          <a:solidFill>
            <a:srgbClr val="0A19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85800" y="6583680"/>
            <a:ext cx="6490411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>
                <a:solidFill>
                  <a:srgbClr val="A0B4D2"/>
                </a:solidFill>
                <a:latin typeface="Consolas"/>
              </a:rPr>
              <a:t>FKB Campus  ·  M06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176211" y="6583680"/>
            <a:ext cx="432694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700">
                <a:solidFill>
                  <a:srgbClr val="A0B4D2"/>
                </a:solidFill>
                <a:latin typeface="Consolas"/>
              </a:rPr>
              <a:t>Übersicht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EDED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50292"/>
          </a:xfrm>
          <a:prstGeom prst="rect">
            <a:avLst/>
          </a:prstGeom>
          <a:solidFill>
            <a:srgbClr val="1F2C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109728"/>
            <a:ext cx="10817352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50">
                <a:solidFill>
                  <a:srgbClr val="78808C"/>
                </a:solidFill>
                <a:latin typeface="Consolas"/>
              </a:rPr>
              <a:t>M06  ·  ARBEITSBLATT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1234440"/>
            <a:ext cx="12188952" cy="12700"/>
          </a:xfrm>
          <a:prstGeom prst="rect">
            <a:avLst/>
          </a:prstGeom>
          <a:solidFill>
            <a:srgbClr val="D8DF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85800" y="502920"/>
            <a:ext cx="36576" cy="658368"/>
          </a:xfrm>
          <a:prstGeom prst="rect">
            <a:avLst/>
          </a:prstGeom>
          <a:solidFill>
            <a:srgbClr val="D9C0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13816" y="502920"/>
            <a:ext cx="10634472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1F2C56"/>
                </a:solidFill>
                <a:latin typeface="Arial"/>
              </a:rPr>
              <a:t>Praxiscase Bergmann bearbeiten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1554480"/>
            <a:ext cx="10817352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90500" indent="-190500">
              <a:spcBef>
                <a:spcPts val="400"/>
              </a:spcBef>
              <a:spcAft>
                <a:spcPts val="200"/>
              </a:spcAft>
            </a:pPr>
            <a:r>
              <a:rPr sz="1400">
                <a:solidFill>
                  <a:srgbClr val="3D5466"/>
                </a:solidFill>
                <a:latin typeface="Arial"/>
              </a:rPr>
              <a:t>▸  Analysieren Sie die Bergmann Holzmanufaktur mit dem 5-Fragen-Schema (AB-1).</a:t>
            </a:r>
          </a:p>
          <a:p>
            <a:pPr marL="190500" indent="-190500">
              <a:spcBef>
                <a:spcPts val="400"/>
              </a:spcBef>
              <a:spcAft>
                <a:spcPts val="200"/>
              </a:spcAft>
            </a:pPr>
            <a:r>
              <a:rPr sz="1400">
                <a:solidFill>
                  <a:srgbClr val="3D5466"/>
                </a:solidFill>
                <a:latin typeface="Arial"/>
              </a:rPr>
              <a:t>▸  Ordnen Sie die Kennzahlen in den Branchenkontext ein.</a:t>
            </a:r>
          </a:p>
          <a:p>
            <a:pPr marL="190500" indent="-190500">
              <a:spcBef>
                <a:spcPts val="400"/>
              </a:spcBef>
              <a:spcAft>
                <a:spcPts val="200"/>
              </a:spcAft>
            </a:pPr>
            <a:r>
              <a:rPr sz="1400">
                <a:solidFill>
                  <a:srgbClr val="3D5466"/>
                </a:solidFill>
                <a:latin typeface="Arial"/>
              </a:rPr>
              <a:t>▸  Identifizieren Sie die strukturellen Risiken und den passenden Verbundimpuls.</a:t>
            </a:r>
          </a:p>
        </p:txBody>
      </p:sp>
      <p:sp>
        <p:nvSpPr>
          <p:cNvPr id="9" name="Rectangle 8"/>
          <p:cNvSpPr/>
          <p:nvPr/>
        </p:nvSpPr>
        <p:spPr>
          <a:xfrm>
            <a:off x="685800" y="5486400"/>
            <a:ext cx="10817352" cy="640080"/>
          </a:xfrm>
          <a:prstGeom prst="rect">
            <a:avLst/>
          </a:prstGeom>
          <a:solidFill>
            <a:srgbClr val="1F2C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68680" y="5596128"/>
            <a:ext cx="1045159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Arial"/>
              </a:rPr>
              <a:t>→  Bearbeitung im Teilnehmer-Workbook (Arbeitsblatt mit Ausfüllfeldern)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510528"/>
            <a:ext cx="12188952" cy="347472"/>
          </a:xfrm>
          <a:prstGeom prst="rect">
            <a:avLst/>
          </a:prstGeom>
          <a:solidFill>
            <a:srgbClr val="0A19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85800" y="6583680"/>
            <a:ext cx="6490411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>
                <a:solidFill>
                  <a:srgbClr val="A0B4D2"/>
                </a:solidFill>
                <a:latin typeface="Consolas"/>
              </a:rPr>
              <a:t>FKB Campus  ·  M06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EDED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50292"/>
          </a:xfrm>
          <a:prstGeom prst="rect">
            <a:avLst/>
          </a:prstGeom>
          <a:solidFill>
            <a:srgbClr val="1F2C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109728"/>
            <a:ext cx="10817352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50">
                <a:solidFill>
                  <a:srgbClr val="78808C"/>
                </a:solidFill>
                <a:latin typeface="Consolas"/>
              </a:rPr>
              <a:t>M06  ·  INHALT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1234440"/>
            <a:ext cx="12188952" cy="12700"/>
          </a:xfrm>
          <a:prstGeom prst="rect">
            <a:avLst/>
          </a:prstGeom>
          <a:solidFill>
            <a:srgbClr val="D8DF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85800" y="502920"/>
            <a:ext cx="36576" cy="658368"/>
          </a:xfrm>
          <a:prstGeom prst="rect">
            <a:avLst/>
          </a:prstGeom>
          <a:solidFill>
            <a:srgbClr val="D9C0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13816" y="502920"/>
            <a:ext cx="10634472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1F2C56"/>
                </a:solidFill>
                <a:latin typeface="Arial"/>
              </a:rPr>
              <a:t>Prinzip dieses Moduls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1417320"/>
            <a:ext cx="10817352" cy="4892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marL="177800" indent="-177800">
              <a:spcBef>
                <a:spcPts val="600"/>
              </a:spcBef>
              <a:spcAft>
                <a:spcPts val="200"/>
              </a:spcAft>
            </a:pPr>
            <a:r>
              <a:rPr sz="1200" i="1">
                <a:solidFill>
                  <a:srgbClr val="3D5466"/>
                </a:solidFill>
                <a:latin typeface="Arial"/>
              </a:rPr>
              <a:t>→  Beim Mittelständler sind Unternehmen und Unternehmer nicht zu trennen.</a:t>
            </a:r>
          </a:p>
          <a:p>
            <a:pPr marL="190500" indent="-190500">
              <a:spcBef>
                <a:spcPts val="400"/>
              </a:spcBef>
              <a:spcAft>
                <a:spcPts val="200"/>
              </a:spcAft>
            </a:pPr>
            <a:r>
              <a:rPr sz="1300">
                <a:solidFill>
                  <a:srgbClr val="3D5466"/>
                </a:solidFill>
                <a:latin typeface="Arial"/>
              </a:rPr>
              <a:t>▸  Eigentum, Leitung und Haftung liegen in einer Hand – wer den Menschen nicht versteht, versteht das Kreditrisiko nicht.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6510528"/>
            <a:ext cx="12188952" cy="347472"/>
          </a:xfrm>
          <a:prstGeom prst="rect">
            <a:avLst/>
          </a:prstGeom>
          <a:solidFill>
            <a:srgbClr val="0A19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85800" y="6583680"/>
            <a:ext cx="6490411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>
                <a:solidFill>
                  <a:srgbClr val="A0B4D2"/>
                </a:solidFill>
                <a:latin typeface="Consolas"/>
              </a:rPr>
              <a:t>FKB Campus  ·  M06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EDED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50292"/>
          </a:xfrm>
          <a:prstGeom prst="rect">
            <a:avLst/>
          </a:prstGeom>
          <a:solidFill>
            <a:srgbClr val="1F2C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109728"/>
            <a:ext cx="10817352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50">
                <a:solidFill>
                  <a:srgbClr val="78808C"/>
                </a:solidFill>
                <a:latin typeface="Consolas"/>
              </a:rPr>
              <a:t>M06  ·  INHALT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1234440"/>
            <a:ext cx="12188952" cy="12700"/>
          </a:xfrm>
          <a:prstGeom prst="rect">
            <a:avLst/>
          </a:prstGeom>
          <a:solidFill>
            <a:srgbClr val="D8DF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85800" y="502920"/>
            <a:ext cx="36576" cy="658368"/>
          </a:xfrm>
          <a:prstGeom prst="rect">
            <a:avLst/>
          </a:prstGeom>
          <a:solidFill>
            <a:srgbClr val="D9C0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13816" y="502920"/>
            <a:ext cx="10634472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1F2C56"/>
                </a:solidFill>
                <a:latin typeface="Arial"/>
              </a:rPr>
              <a:t>Reflexion und Selbstcheck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1417320"/>
            <a:ext cx="10817352" cy="4892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marL="190500" indent="-190500">
              <a:spcBef>
                <a:spcPts val="400"/>
              </a:spcBef>
              <a:spcAft>
                <a:spcPts val="200"/>
              </a:spcAft>
            </a:pPr>
            <a:r>
              <a:rPr sz="1300">
                <a:solidFill>
                  <a:srgbClr val="3D5466"/>
                </a:solidFill>
                <a:latin typeface="Arial"/>
              </a:rPr>
              <a:t>▸  Bei welchem Ihrer KMU-Kunden hängt das Geschäft an einer einzigen Person?</a:t>
            </a:r>
          </a:p>
          <a:p>
            <a:pPr marL="190500" indent="-190500">
              <a:spcBef>
                <a:spcPts val="400"/>
              </a:spcBef>
              <a:spcAft>
                <a:spcPts val="200"/>
              </a:spcAft>
            </a:pPr>
            <a:r>
              <a:rPr sz="1300">
                <a:solidFill>
                  <a:srgbClr val="3D5466"/>
                </a:solidFill>
                <a:latin typeface="Arial"/>
              </a:rPr>
              <a:t>▸  Welches strukturelle Risiko haben Sie zuletzt in der Bilanz gesucht, statt im Gespräch?</a:t>
            </a:r>
          </a:p>
          <a:p>
            <a:pPr marL="190500" indent="-190500">
              <a:spcBef>
                <a:spcPts val="400"/>
              </a:spcBef>
              <a:spcAft>
                <a:spcPts val="200"/>
              </a:spcAft>
            </a:pPr>
            <a:r>
              <a:rPr sz="1300">
                <a:solidFill>
                  <a:srgbClr val="3D5466"/>
                </a:solidFill>
                <a:latin typeface="Arial"/>
              </a:rPr>
              <a:t>▸  Wie sprechen Sie eine Schlüsselpersonen-Absicherung an, ohne zu verkaufen?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6510528"/>
            <a:ext cx="12188952" cy="347472"/>
          </a:xfrm>
          <a:prstGeom prst="rect">
            <a:avLst/>
          </a:prstGeom>
          <a:solidFill>
            <a:srgbClr val="0A19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85800" y="6583680"/>
            <a:ext cx="6490411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>
                <a:solidFill>
                  <a:srgbClr val="A0B4D2"/>
                </a:solidFill>
                <a:latin typeface="Consolas"/>
              </a:rPr>
              <a:t>FKB Campus  ·  M06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