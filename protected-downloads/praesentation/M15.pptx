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 Markt vs. Segment als erster Punkt (2 Min). Wettbewerbsstrategie nach Porter, strategische Segmentierung.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Markt vs. Segment sauber trennen – das ist die Grundlage jeder Priorisierung.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Live-Demo agree: Branchenfilter WZ-2008 → Umsatzklassen-Report; Schätzung Ertragspotenzial.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Marktpotenzial-Schätzer und Segmentierungsraster einführen (AB-1).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Gewichtete Summe ergibt die Priorität. Das Primärsegment ist das mit dem höchsten Score – nicht das größte.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Stille Einzelarbeit (30 Min.) + Check-in: „Wer hat sein Primärsegment definiert?"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Praxisbeispiele je Kanal; die Jahresplanung verknüpft Kanäle mit Zielgrößen.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Stille Einzelarbeit. Das Wertversprechen muss für das Segment relevant und von Wettbewerbern unterscheidbar sein.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Einzelarbeit + Konsolidierung. Der Plan wird mit der Führungskraft besprochen – das ist Teil der Commitment-Karte.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zur Commitment-Karte und zum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Commitment-Karte mit zwei verbindlichen Fragen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Marktbearbeitungsstrategie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Wer jeden Kunden gleich bedient, verzettelt seine Marktbearbeitung.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Strategieworkshop segmentieren Sie Ihren Markt, analysieren Wettbewerb und eigene Stärken (Porter, SWOT) und entwickeln einen konkreten Maßnahmenplan.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haben Sie eine priorisierte Marktbearbeitungsstrategie für Ihr Geschäftsgebiet – mit Meilensteinen und Zielgrößen.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Marktpotenzial in einem selbstgewählten Zielsegment analysieren und adressierbare Neukunden-Opportunitäten 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Wettbewerbsposition der eigenen Bank im Zielsegment anhand von Stärken, Schwächen und Differenzierungspotenzialen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Marktbearbeitungsstrategie mit Zielkunden-Kriterien, Wertversprechen und Anspracheansatz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Eignung verschiedener Neukundenansprache-Kanäle für das Zielsegment bewerten und die zwei effektivsten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strukturierten Jahresplan mit Zielgrößen, Maßnahmen und Meilensteinen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Orientierung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Warm-up: „Mein Markt"</a:t>
            </a:r>
            <a:r>
              <a:rPr sz="900">
                <a:solidFill>
                  <a:srgbClr val="78808C"/>
                </a:solidFill>
                <a:latin typeface="Arial"/>
              </a:rPr>
              <a:t>  ·  2er-Austausch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Werkzeug-Einführung</a:t>
            </a:r>
            <a:r>
              <a:rPr sz="900">
                <a:solidFill>
                  <a:srgbClr val="78808C"/>
                </a:solidFill>
                <a:latin typeface="Arial"/>
              </a:rPr>
              <a:t>  ·  Demonstration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I: Marktanalyse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 + Check-in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Praxisbeispiele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II: Strategieentwicklung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III: Jahresplan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Peer-Präsentation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Galerie-Runde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Konsolidierung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09:35–10:15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Theorie-Block I: Markt &amp; 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Markt von Segment unterscheiden und die eigene Wettbewerbsstrategie schärfen.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Vom reaktiven zum strategischen Vertrieb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Wer jeden Kunden gleich bedient, verzettelt seinen Markt – Fokus ist die Strategie.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Reaktiver Vertrieb wartet auf Anfragen; strategischer Vertrieb wählt sein Zielsegment bewusst.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priorisiertes Segment mit klarem Wertversprechen schlägt die Gießkanne.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Strategie-Landkarte der Marktbearbeitung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Wettbewerbskräfte im Zielmarkt (Five Forces)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Segmentierung: nach welchen Kriterien?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 gutes Segment ist erreichbar, ertragsstark und zu Ihnen passend – nicht einfach nur groß.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Kriterien: Branche (WZ-2008), Region, Umsatzgröße, Bedarfsprofil.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 liefert die Datenbasis: Branchenfilter, Umsatzklassen-Report, Ertragspotenzial.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10:15–11:50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Werkzeug &amp; Einzelarbeit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Das eigene Zielsegment mit dem Scoring-Modell priorisieren.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Segmente priorisieren mit dem Scoring-Modell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Priorisierung macht die Auswahl nachvollziehbar – nicht das Bauchgefühl entscheidet, sondern ein transparentes Scoring.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 Segment: Marktgröße, Ertragspotenzial, Wettbewerbsposition, strategische Passung bewerten.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adressierbare Markt (SAM) grenzt das realistisch erreichbare Potenzial 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Scoring-Modell zur Segmentpriorisierung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Gewicht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 1–5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Marktgröße / Potenzial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Ertragspotenzial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Wettbewerbsposition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Strategische Passung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M15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Marktanalyse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Analysieren Sie Ihr Zielsegment nach Branche, Region und Größe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Priorisieren Sie mit dem Scoring-Modell und definieren Sie Ihr Primärsegment.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Schätzen Sie den adressierbaren Markt und das Ertragspotenzial.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13:10–14:45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Theorie-Block II &amp; 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Strategische Optionen kennen und das eigene Wertversprechen formulieren.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Strategische Optionen für VR-Banken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richtige Kanal folgt aus dem Segment – Empfehlung, Kammer, Messe und Digital wirken je nach Zielgruppe unterschiedlich.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Neukundenkanäle: Empfehlungsmanagement, Kammern/Verbände, Messen, digitale Ansprache.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Empfehlungsmanagement systematisieren: aus zufriedenen Kunden werden Multiplikatoren.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M15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Wertversprechen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Entwickeln Sie Ihre Marktbearbeitungsstrategie: Zielsegment, Wertversprechen, Top-3-Maßnahmen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Formulieren Sie ein Wertversprechen, das den konkreten Nutzen für das Segment benennt.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Wählen Sie die passenden Kanäle für Ihr Primärsegment.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15:00–16:50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Einzelarbeit III: Jahresplan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Strategie in einen verbindlichen Jahresplan überführen.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M15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Marktbearbeitungs-Jahresplan erstellen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Erstellen Sie Ihren Jahresplan: Zielgrößen, Maßnahmen, Meilensteine, Kontrollpunkte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Verankern Sie je Quartal konkrete Aktivitäten und messbare Zwischenziele.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Überarbeiten Sie den Plan nach dem Peer-Feedback (Konsolidierung).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Wer jeden Kunden gleich bedient, verzettelt seinen Markt.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priorisiertes Zielsegment mit klarem Wertversprechen schlägt die Gießkanne – Fokus ist die Strategie.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ist Ihre erste Aktion in den nächsten 7 Tagen?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Bis wann sprechen Sie mit Ihrer Führungskraft über Ihren Jahresplan? (Datum)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Welches Segment haben Sie bisher aus Gewohnheit bedient, obwohl es nicht Ihr Primärsegment ist?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