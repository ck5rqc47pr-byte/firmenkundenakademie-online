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Trainer-Hinweis: Für die Jahresplanung rechnen wir konservativ mit 15–20 %, damit keine unrealistischen Ziele entstehen. 33 % sind möglich bei sehr qualifizierten Verbundpartner-Leads – als Planungsbasis aber zu optimistisch.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Marktbearbeitungsstrategie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Zielsegmente definieren, Marktpotenziale analysieren und eine eigene Vertriebsstrategie entwickeln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K-04 Vertrieb &amp; Ertragsoptimierung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Strategischer 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Wer jeden Kunden gleich bedient, verzettelt seine Marktbearbeitung.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Strategieworkshop segmentieren Sie Ihren Markt, analysieren Wettbewerb und eigene Stärken (Porter, SWOT) und entwickeln einen konkreten Maßnahmenplan.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haben Sie eine priorisierte Marktbearbeitungsstrategie für Ihr Geschäftsgebiet – mit Meilensteinen und Zielgrößen.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Das Marktpotenzial in einem selbstgewählten Zielsegment analysieren und adressierbare Neukunden-Opportunitäten schätzen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Wettbewerbsposition der eigenen Bank im Zielsegment anhand von Stärken, Schwächen und Differenzierungspotenzialen bewerten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Marktbearbeitungsstrategie mit Zielkunden-Kriterien, Wertversprechen und Anspracheansatz entwickeln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Eignung verschiedener Neukundenansprache-Kanäle für das Zielsegment bewerten und die zwei effektivsten wählen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Einen strukturierten Jahresplan mit Zielgrößen, Maßnahmen und Meilensteinen erstellen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09:00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Begrüßung &amp; Orientierung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09:15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Warm-up: „Mein Markt"</a:t>
            </a:r>
            <a:r>
              <a:rPr sz="900">
                <a:solidFill>
                  <a:srgbClr val="78808C"/>
                </a:solidFill>
                <a:latin typeface="Arial"/>
              </a:rPr>
              <a:t>  ·  2er-Austausch +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09:35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Theorie-Block I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Diskussion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10:15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Werkzeug-Einführung</a:t>
            </a:r>
            <a:r>
              <a:rPr sz="900">
                <a:solidFill>
                  <a:srgbClr val="78808C"/>
                </a:solidFill>
                <a:latin typeface="Arial"/>
              </a:rPr>
              <a:t>  ·  Demonstration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10:35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10:50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Einzelarbeit I: Marktanalyse</a:t>
            </a:r>
            <a:r>
              <a:rPr sz="900">
                <a:solidFill>
                  <a:srgbClr val="78808C"/>
                </a:solidFill>
                <a:latin typeface="Arial"/>
              </a:rPr>
              <a:t>  ·  Stille Einzelarbeit + Check-in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11:50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Partnercheck</a:t>
            </a:r>
            <a:r>
              <a:rPr sz="900">
                <a:solidFill>
                  <a:srgbClr val="78808C"/>
                </a:solidFill>
                <a:latin typeface="Arial"/>
              </a:rPr>
              <a:t>  ·  Partnerarbeit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12:10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Mittagspause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13:10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Theorie-Block II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Praxisbeispiele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13:45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Einzelarbeit II: Strategieentwicklung</a:t>
            </a:r>
            <a:r>
              <a:rPr sz="900">
                <a:solidFill>
                  <a:srgbClr val="78808C"/>
                </a:solidFill>
                <a:latin typeface="Arial"/>
              </a:rPr>
              <a:t>  ·  Stille 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14:45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15:00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Einzelarbeit III: Jahresplan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15:40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Peer-Präsentation</a:t>
            </a:r>
            <a:r>
              <a:rPr sz="900">
                <a:solidFill>
                  <a:srgbClr val="78808C"/>
                </a:solidFill>
                <a:latin typeface="Arial"/>
              </a:rPr>
              <a:t>  ·  Galerie-Runde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16:50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Konsolidierung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17:10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Abschluss &amp; Transfer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17:25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Feedbackbogen</a:t>
            </a:r>
            <a:r>
              <a:rPr sz="900">
                <a:solidFill>
                  <a:srgbClr val="78808C"/>
                </a:solidFill>
                <a:latin typeface="Arial"/>
              </a:rPr>
              <a:t>  ·  Einzeln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17:30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Ende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Vom reaktiven zum strategischen Vertrieb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Eine Marktbearbeitungsstrategie beantwortet vier Fragen: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Wen? – Welches Kundensegment bearbeite ich mit Priorität?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Womit? – Was ist mein Wertversprechen für dieses Segment?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Wie? – Über welche Kanäle und Maßnahmen erreiche ich diese Kunden?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Wann? – Welche Meilensteine und Zielgrößen setze ich uns?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4.2 Marktsegmentierung im Firmenkundengeschäft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Strategie-Landkarte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Five-Forces-Modell nach Porter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Segmentierungskriterien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 jeder Firmenkunde ist gleich attraktiv. Eine sinnvolle Segmentierung kombiniert mehrere Kriterien: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Empfehlung: Wählen Sie maximal zwei Primärsegmente. Breite schlägt Tiefe nur in sehr seltenen Fällen.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Das Scoring-Modell zur Segmentpriorisierung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 einfaches Scoring-Modell hilft bei der Auswahl des Primärsegments: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Bewertung je Kriterium: 1 (schwach) bis 5 (sehr stark).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4.3 Marktpotenzialanalyse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Das Scoring-Modell zur Segmentpriorisierung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470"/>
                <a:gridCol w="2163470"/>
                <a:gridCol w="2163470"/>
                <a:gridCol w="2163470"/>
                <a:gridCol w="2163472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Kriterium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Gewichtung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Segment A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Segment B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Segment C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Marktgröße (Anzahl Unternehmen in Region)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Durchschnittlicher Ertragspotenzial (DB)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Eigene Expertise/Stärke in diesem Segment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Wettbewerbsintensität (gering = gut)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Gesamtscore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100 %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Wie groß ist mein adressierbarer Markt?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Vor dem strategischen Einstieg in ein Segment steht die Potenzialschätzung. Die Frage: Wie viele Unternehmen im Zielsegment gibt es in meiner Region, und wie viele davon betreuen wir noch nicht?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Datenquellen für die Potenzialschätzung: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Vereinfachte Potenzialrechnung: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Zielunternehmen in Region: X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Davon bereits Kunden: Y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Adressierbares Neukundenpotenzial: X − Y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Realistisch erreichbar in 12 Monaten (Marktdurchdringungsrate 2–5 %): Z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Praxistipp: Unterschätzen Sie die bestehenden Daten in agree nicht. Eine saubere Branchencodierung und ein aktuelles CRM sind die Basis jeder Potenzialanalyse.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4.4 Strategische Positionierung: Stärken-Schwächen vs. Wettbewerb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Wertversprechen formulieren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Wertversprechen (Value Proposition) beantwortet: Warum sollte ein Unternehmen aus meinem Zielsegment zu uns wechseln – oder bleiben?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 wirksames Wertversprechen im Firmenkundengeschäft ist: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Spezifisch (nicht „wir sind die beste Bank"): „Für Handwerksbetriebe in der Region sind wir der Partner, der Finanzierungsentscheidungen in 48 Stunden trifft."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Belegbar: Konkrete Referenzen, Bearbeitungszeiten, Verbundpartner-Einbindung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Differenzierend: Was kann ich, was die Sparkasse oder Commerzbank nicht kann?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4.5 Neukundenansprache: Kanäle und Maßnahmen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Empfehlungsmanagement systematisieren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Empfehlungen entstehen nicht zufällig. Ein aktives Empfehlungsmanagement umfasst: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Identifizieren: Welche meiner Bestandskunden sind Meinungsführer in ihrem Branchenumfeld?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Beziehung vertiefen: Diese Kunden erhalten besondere Aufmerksamkeit – nicht wegen der Empfehlung, sondern wegen ihres Werts.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Aktiv bitten: Am Ende eines erfolgreichen Gesprächs: „Gibt es Unternehmen in Ihrem Umfeld, die unsere Zusammenarbeit kennenlernen sollten?"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Danken und schließen: Rückmeldung geben, ob der Kontakt erfolgreich war.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4.6 Praxiscase: Thomas Gruber entwickelt seine Strategie für den Agrar-Markt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Thomas entwickelt seine Marktbearbeitungsstrategie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Schritt 1: Segmentpriorisierung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Schritt 2: Marktpotenzial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Schritt 3: Wertversprechen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„Für landwirtschaftliche Betriebe in [Region] sind wir der Agrar-Spezialist der VR-Bank: schnelle Investitionsfinanzierungen, GAP-Expertise und ein Netzwerk in die wichtigsten Branchenverbände."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Segmentpriorisierung – Scoring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Meine drei Kandidatensegmente: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Arbeitsblatt A: Segmentpriorisierung – Scoring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470"/>
                <a:gridCol w="2163470"/>
                <a:gridCol w="2163470"/>
                <a:gridCol w="2163470"/>
                <a:gridCol w="2163472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Kriterium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Gewichtung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Segment 1: _____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Segment 2: _____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Segment 3: _____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Marktgröße in Region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Ertragspotenzial (DB)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Eigene Stärke/Expertise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Wettbewerbsintensität (inv.)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Gesamtscore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B: Marktbearbeitungs-Jahresplan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Mein Wertversprechen (in einem Satz):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Arbeitsblatt B: Marktbearbeitungs-Jahresplan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470"/>
                <a:gridCol w="2163470"/>
                <a:gridCol w="2163470"/>
                <a:gridCol w="2163470"/>
                <a:gridCol w="2163472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Quartal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Maßnahme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Kanal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Ziel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Messgröße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Q1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Q2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Q3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Q4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