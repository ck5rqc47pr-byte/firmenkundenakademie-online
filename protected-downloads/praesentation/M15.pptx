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Für die Jahresplanung rechnen wir konservativ mit 15–20 %, damit keine unrealistischen Ziele entstehen. 33 % sind möglich bei sehr qualifizierten Verbundpartner-Leads – als Planungsbasis aber zu optimistisch.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Marktbearbeitungsstrategie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Marktpotenzial in einem selbstgewählten Zielsegment analysieren und adressierbare Neukunden-Opportunitäten 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Wettbewerbsposition der eigenen Bank im Zielsegment anhand von Stärken, Schwächen und Differenzierungspotenzialen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Marktbearbeitungsstrategie mit Zielkunden-Kriterien, Wertversprechen und Anspracheansatz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Eignung verschiedener Neukundenansprache-Kanäle für das Zielsegment bewerten und die zwei effektivsten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strukturierten Jahresplan mit Zielgrößen, Maßnahmen und Meilensteinen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Vom reaktiven zum strategischen Vertrieb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Segmentierungskriterien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Das Scoring-Modell zur Segmentpriorisierung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Wie groß ist mein adressierbarer Markt?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SWOT im Firmenkundensegment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Wertversprechen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07   Welche Kanäle funktionieren wirklich?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08   Empfehlungsmanagement systematisieren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09   Arbeitsblatt A: Segmentpriorisierung – Scoring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10   Arbeitsblatt B: Marktbearbeitungs-Jahresplan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reaktiven zum strategischen Vertrieb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Marktbearbeitungsstrategie beantwortet vier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Wen? – Welches Kundensegment bearbeite ich mit Priorität?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Womit? – Was ist mein Wertversprechen für dieses Segment?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Wie? – Über welche Kanäle und Maßnahmen erreiche ich diese 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Wann? – Welche Meilensteine und Zielgrößen setze ich uns?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Marktsegmentierung im Firmenkundengeschäft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Strategie-Landkarte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Segmentierungskriterien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jeder Firmenkunde ist gleich attraktiv. Eine sinnvolle Segmentierung kombiniert mehrere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Empfehlung: Wählen Sie maximal zwei Primärsegmente. Breite schlägt Tiefe nur in sehr seltenen Fällen.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einfaches Scoring-Modell hilft bei der Auswahl des Primärsegments: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 je Kriterium: 1 (schwach) bis 5 (sehr stark).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Marktpotenzialanalyse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Wie groß ist mein adressierbarer Markt?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strategischen Einstieg in ein Segment steht die Potenzialschätzung. Die Frage: Wie viele Unternehmen im Zielsegment gibt es in meiner Region, und wie viele davon betreuen wir noch nicht?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Datenquellen für die Potenzialschätzung: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Vereinfachte Potenzialrechnung: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Zielunternehmen in Region: 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Davon bereits Kunden: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Adressierbares Neukundenpotenzial: X −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Realistisch erreichbar in 12 Monaten (Marktdurchdringungsrate 2–5 %): Z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Unterschätzen Sie die bestehenden Daten in agree nicht. Eine saubere Branchencodierung und ein aktuelles CRM sind die Basis jeder Potenzialanalyse.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Strategische Positionierung: Stärken-Schwächen vs. Wettbewerb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SWOT im Firmenkundensegment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Wertversprechen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Wertversprechen (Value Proposition) beantwortet: Warum sollte ein Unternehmen aus meinem Zielsegment zu uns wechseln – oder bleiben?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wirksames Wertversprechen im Firmenkundengeschäft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Spezifisch (nicht „wir sind die beste Bank"): „Für Handwerksbetriebe in der Region sind wir der Partner, der Finanzierungsentscheidungen in 48 Stunden trifft."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Belegbar: Konkrete Referenzen, Bearbeitungszeiten, Verbundpartner-Einbindung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Differenzierend: Was kann ich, was die Sparkasse oder Commerzbank nicht kann?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Neukundenansprache: Kanäle und Maßnahmen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Welche Kanäle funktionieren wirklich?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Empfehlungsmanagement systematisieren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Empfehlungen entstehen nicht zufällig. Ein aktives Empfehlungsmanagement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Identifizieren: Welche meiner Bestandskunden sind Meinungsführer in ihrem Branchenumfeld?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Beziehung vertiefen: Diese Kunden erhalten besondere Aufmerksamkeit – nicht wegen der Empfehlung, sondern wegen ihres Werts.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 bitten: Am Ende eines erfolgreichen Gesprächs: „Gibt es Unternehmen in Ihrem Umfeld, die unsere Zusammenarbeit kennenlernen sollten?"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Danken und schließen: Rückmeldung geben, ob der Kontakt erfolgreich war.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4.6 Praxiscase: Thomas Gruber entwickelt seine Strategie für den Agrar-Markt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Thomas entwickelt seine Marktbearbeitungsstrategie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1: Segmentpriorisierung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2: Marktpotenzial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3: Wertversprechen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„Für landwirtschaftliche Betriebe in [Region] sind wir der Agrar-Spezialist der VR-Bank: schnelle Investitionsfinanzierungen, GAP-Expertise und ein Netzwerk in die wichtigsten Branchenverbände."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Segmentpriorisierung –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drei Kandidatensegmente: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Marktbearbeitungs-Jahresplan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Wertversprechen (in einem Satz):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