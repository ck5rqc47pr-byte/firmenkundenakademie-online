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aus dem Ablaufplan (Sektion 3.1). Timing und Pausen siehe Trainerhandbuch.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Tagesagenda + Lernziele zeigen; Klarstellung sofort am Anfang setzen ("Kreditrisiko, kein Klimaschutz").</a:t>
            </a:r>
          </a:p>
          <a:p>
            <a:r>
              <a:t>Blitzlicht-Frage auf Flipchart – Schlüsselbegriffe sammeln, nicht auswerten; diese greifen Sie in Theorie I auf.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 Wort "ESG" kann im Kundengespräch vermieden werden – der Inhalt (Energiekosten, Flottenalter, Investitionsplan) ist trotzdem relevant.</a:t>
            </a:r>
          </a:p>
          <a:p>
            <a:r>
              <a:t>Wer das früh verankert, verhindert die häufigsten Einwände später.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Wirkungsweg live auf Flipchart mitzeichnen – auch wenn SVG vorhanden. Das betont die Kausalität.</a:t>
            </a:r>
          </a:p>
          <a:p>
            <a:r>
              <a:t>Alle 15 Minuten eine Aktivierungsfrage einbauen (Beispiele in Sec 3.3).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Für den Mittelstand dominieren regulatorische und Marktrisiken. Physische Risiken bei standortgefährdeten Betrieben.</a:t>
            </a:r>
          </a:p>
          <a:p>
            <a:r>
              <a:t>TCFD-Quelle nicht in die Tiefe – Systematik als Orientierungsraster genügt.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Diese Abgrenzung ist das didaktische Fundament; wenn Teilnehmer das verstehen, verstehen sie das Modul.</a:t>
            </a:r>
          </a:p>
          <a:p>
            <a:r>
              <a:t>{'Formulierungsvorschlag für M04-Vertraute': 'Was M04 zeigt, ist heute schon sichtbar. Was M26 zeigt, ist im Jahresabschluss 2025 noch nicht abgebildet.'}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BaFin-Vorbehalt aktiv ansprechen, BEVOR ein TN ihn als Einwand bringt (kostet sonst doppelt so viel Zeit).</a:t>
            </a:r>
          </a:p>
          <a:p>
            <a:r>
              <a:t>Formulierungsvorschlag für EBA/MaRisk-Trennung in Sec 3.3 nutzen.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EBA/GL und MaRisk-Novelle sauber trennen. Den Vorbehalt nicht leugnen, aber einordnen.</a:t>
            </a:r>
          </a:p>
          <a:p>
            <a:r>
              <a:t>Prinzipienorientiert heißt nicht: nicht anwendbar. Es heißt: auf eine zur Bank passende Art.</a:t>
            </a:r>
          </a:p>
          <a:p>
            <a:r>
              <a:t>ACHTUNG Stolperfalle: Der Zehn-Jahres-Mindesthorizont und die Methodenkombination standen in der KONSULTATIONSfassung und wurden final GESTRICHEN. Nicht sagen 'MaRisk verlangt zehn Jahre'. Viel Fachpresse aus Frühjahr 2026 ist überholt.</a:t>
            </a:r>
          </a:p>
          <a:p>
            <a:r>
              <a:t>Der Zehn-Jahres-Horizont in M26 ist oekonomisch begruendet (Kreditlaufzeit + Wirkungsdaten der Transformationspolitik), nicht regulatorisch – und das ist das staerkere Argument.</a:t>
            </a:r>
          </a:p>
          <a:p>
            <a:r>
              <a:t>CSRD-Hinweis entlastet die TN; nimmt das Argument 'das ist für Konzerne' aus dem Raum.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Kurzbeschreibung des Instruments (kein Fragebogen für den Kunden; 12 Fragen im Jahresgespräch).</a:t>
            </a:r>
          </a:p>
          <a:p>
            <a:r>
              <a:t>Gruppen à 4–5 Personen; je eine erfahrene Person pro Gruppe.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Abgrenzung zur M04-Ampel nochmals kurz wiederholen.</a:t>
            </a:r>
          </a:p>
          <a:p>
            <a:r>
              <a:t>Die Obergrenze bewusst kommunizieren – das nimmt Einwand 2 ("noch ein Fragebogen") vorweg.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Keine Ampel (das ist M04), sondern Szenariourteil.</a:t>
            </a:r>
          </a:p>
          <a:p>
            <a:r>
              <a:t>Erhöhtes Signal bedeutet nicht automatisch Ablehnung – es bedeutet Analyse.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 Raum bewegen, nach 15 Min. Zwischenansage ("Erste 6 Indikatoren fertig? Weiter zu 7–12").</a:t>
            </a:r>
          </a:p>
          <a:p>
            <a:r>
              <a:t>Greenwashing-Anker (Euro-5 → Euro-6) für Plenumsauswertung I aufsparen – dort maximale Wirkung.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Gruppen in Reihenfolge Fertigstellung; bei Übereinstimmung Begründungen vergleichen, nicht nur Zonen.</a:t>
            </a:r>
          </a:p>
          <a:p>
            <a:r>
              <a:t>Greenwashing-Anker einbauen (siehe Sec 3.3 Formulierungsvorschlag).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{'Kurzcheck-Ergebnis im Fall': '7 von 12 erhöhte Signale → Zone "Erhöht".'}</a:t>
            </a:r>
          </a:p>
          <a:p>
            <a:r>
              <a:t>{'Kritische Indikatoren': 'Fuhrpark (61 % Euro 5), keine Planung, Kraftstoffabhängigkeit, keine Koordinationsperson, keine 5-Jahres-Investitionsplanung.'}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Schuldendienst-Basis 384.000 EUR (Tilgung 312.000 + Zins 72.000). Mautkosten sind Betriebsaufwand – NICHT in den Schuldendienst rechnen.</a:t>
            </a:r>
          </a:p>
          <a:p>
            <a:r>
              <a:t>DSCR-Mindestpuffer intern 1,20. Szenario B 1,38 = darstellbar; Szenario C 1,18 = zu knapp.</a:t>
            </a:r>
          </a:p>
          <a:p>
            <a:r>
              <a:t>{'Szenario B bewusst konservativ': 'Kraftstoff-/Wartungseinsparung durch neue Fahrzeuge nicht angesetzt.'}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Nach 10 Min. Ansage ("Mehrkosten Szenario A fertig? Dann DSCR berechnen").</a:t>
            </a:r>
          </a:p>
          <a:p>
            <a:r>
              <a:t>{'Rechnerfehler-Prävention aktiv ansagen': 'Mautkosten sind Betriebsaufwand, stecken im EBITDA, gehören nicht in den Schuldendienst.'}</a:t>
            </a:r>
          </a:p>
          <a:p>
            <a:r>
              <a:t>Nach 25 Min. Ansage ("Wer Szenario B fertig hat – Empfehlung formulieren. Szenario C ist optional").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Musterlösung als "einen vertretbaren Weg" präsentieren; fachlich korrekte Abweichungen würdigen.</a:t>
            </a:r>
          </a:p>
          <a:p>
            <a:r>
              <a:t>{'Lehrpunkt (a)': 'Mautkosten im Schuldendienst = Doppelansatz.'}</a:t>
            </a:r>
          </a:p>
          <a:p>
            <a:r>
              <a:t>{'Lehrpunkt (b)': 'Haftungsfreistellung entlastet Hausbank, nicht Kunden; DSCR des Kunden unverändert.'}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 ist der Greenwashing-Anker aus Plenumsauswertung I – hier als Merksatz abschließend formulieren.</a:t>
            </a:r>
          </a:p>
          <a:p>
            <a:r>
              <a:t>{'Nicht normativ – sondern als Beratungsqualitäts-Argument': 'wer das falsch macht, verliert Glaubwürdigkeit.'}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Dieser Merksatz nimmt die Befürchtung "noch mehr Bürokratie" aus dem Raum.</a:t>
            </a:r>
          </a:p>
          <a:p>
            <a:r>
              <a:t>Der ESG-Kurzcheck ist kein Kontrollbogen, sondern ein Akquiseinstrument für Investitionsfinanzierungen.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Reflexionsfragen 1–2 im Plenum; Transferaufgabe (drei eigene Kunden, vier Wochen) kurz vorstellen.</a:t>
            </a:r>
          </a:p>
          <a:p>
            <a:r>
              <a:t>Feedbackbogen ausfüllen lassen; Hinweis auf Vertiefungsliteratur und Folgemodule (M03, M12, M13).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Keine Vollrunde – wer möchte, antwortet; Stille ist auch Reflexion.</a:t>
            </a:r>
          </a:p>
          <a:p>
            <a:r>
              <a:t>{'Transferauftrag ankündigen': 'Drei Kunden mit ESG-Kurzcheck vorbereiten, Ergebnis in vier Wochen dokumentieren.'}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817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C8D2E6"/>
                </a:solidFill>
                <a:latin typeface="Consolas"/>
              </a:rPr>
              <a:t>FKB CAMPUS  ·  FIRMENKUNDENAKADEMIE  ·  M26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ESG im Kreditgeschäft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BECDE6"/>
                </a:solidFill>
                <a:latin typeface="Arial"/>
              </a:rPr>
              <a:t>Transformationsrisiko bewerten, Transformation finanzieren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029200"/>
            <a:ext cx="10817352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KOMPETENZFELD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K-01 Finanzanalyse &amp; Kreditexpertise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1584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KOMPETENZSTUFE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1584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Sparringspartner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7368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7368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v1.0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96A5BE"/>
                </a:solidFill>
                <a:latin typeface="Consolas"/>
              </a:rPr>
              <a:t>FKB Campus  ·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4476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96A5BE"/>
                </a:solidFill>
                <a:latin typeface="Consolas"/>
              </a:rPr>
              <a:t>Trainer-Präsentation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ÜBERBLICK  ·  M26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Worum geht es heute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97200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CO₂-Maut, Energiekosten, Flottenumstellung: Transformationsrisiken verändern Cashflows – und damit die Kapitaldienstfähigkeit Ihrer Kunden.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Sie lernen, diese Risiken mit einem strukturierten ESG-Kurzcheck im Jahresgespräch zu erheben, über einen Zehn-Jahres-Horizont zu beurteilen und daraus einen konkreten Finanzierungsimpuls abzuleiten.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M26 liefert dazu ein zusätzliches Feld in der Kreditakte – kein zweites Votumsverfahren.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LERNZIELE  ·  M26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Was Sie heute mitnehmen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8173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Physische Risiken und Transitionsrisiken unterscheiden und an je zwei Beispielen aus dem eigenen Kundenportfolio erläutern, warum ESG im Firmenkundengeschäft ein Kreditrisiko- und kein Berichtsthema ist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Den regulatorischen Rahmen (§ 26c KWG, MaRisk) der eigenen Rolle zuordnen und benennen, welche Informationen der Berater in die Kreditakte einbringen muss – und welche nicht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Einen ESG-Kurzcheck (10–12 Indikatoren) auf einen KMU-Praxisfall anwenden und die Antworten in eine Risikoeinschätzung überführen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Das Transformationsrisiko eines Geschäftsmodells über einen Zehn-Jahres-Horizont analysieren und die Wirkung auf die künftige Kapitaldienstfähigkeit ableiten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Aus dem Befund einen konkreten Finanzierungs- oder Förderimpuls (KfW über das Hausbankprinzip) ableiten und gegen bloßes Greenwashing abgrenzen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AGENDA  ·  M26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So läuft das Modul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108173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08:00–08:10 </a:t>
            </a:r>
            <a:r>
              <a:rPr sz="1200" b="1">
                <a:solidFill>
                  <a:srgbClr val="3D5466"/>
                </a:solidFill>
                <a:latin typeface="Arial"/>
              </a:rPr>
              <a:t>  Einstieg: Kreditrisiko, kein Klimaschutz</a:t>
            </a:r>
            <a:r>
              <a:rPr sz="900">
                <a:solidFill>
                  <a:srgbClr val="78808C"/>
                </a:solidFill>
                <a:latin typeface="Arial"/>
              </a:rPr>
              <a:t>  ·  Plenum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08:10–08:25 </a:t>
            </a:r>
            <a:r>
              <a:rPr sz="1200" b="1">
                <a:solidFill>
                  <a:srgbClr val="3D5466"/>
                </a:solidFill>
                <a:latin typeface="Arial"/>
              </a:rPr>
              <a:t>  Aktivierung: ESG im eigenen Portfolio</a:t>
            </a:r>
            <a:r>
              <a:rPr sz="900">
                <a:solidFill>
                  <a:srgbClr val="78808C"/>
                </a:solidFill>
                <a:latin typeface="Arial"/>
              </a:rPr>
              <a:t>  ·  Rundgespräch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08:25–08:55 </a:t>
            </a:r>
            <a:r>
              <a:rPr sz="1200" b="1">
                <a:solidFill>
                  <a:srgbClr val="3D5466"/>
                </a:solidFill>
                <a:latin typeface="Arial"/>
              </a:rPr>
              <a:t>  Theorie I: Risikoklassen und Wirkungsweg</a:t>
            </a:r>
            <a:r>
              <a:rPr sz="900">
                <a:solidFill>
                  <a:srgbClr val="78808C"/>
                </a:solidFill>
                <a:latin typeface="Arial"/>
              </a:rPr>
              <a:t>  ·  Vortrag + Diskussion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08:55–09:25 </a:t>
            </a:r>
            <a:r>
              <a:rPr sz="1200" b="1">
                <a:solidFill>
                  <a:srgbClr val="3D5466"/>
                </a:solidFill>
                <a:latin typeface="Arial"/>
              </a:rPr>
              <a:t>  Theorie II: Regulatorischer Rahmen</a:t>
            </a:r>
            <a:r>
              <a:rPr sz="900">
                <a:solidFill>
                  <a:srgbClr val="78808C"/>
                </a:solidFill>
                <a:latin typeface="Arial"/>
              </a:rPr>
              <a:t>  ·  Vortrag + Diskussion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09:25–09:40 </a:t>
            </a:r>
            <a:r>
              <a:rPr sz="1200" b="1">
                <a:solidFill>
                  <a:srgbClr val="3D5466"/>
                </a:solidFill>
                <a:latin typeface="Arial"/>
              </a:rPr>
              <a:t>  Überleitung am Fall: Zeithorizont-Sprung + Briefing</a:t>
            </a:r>
            <a:r>
              <a:rPr sz="900">
                <a:solidFill>
                  <a:srgbClr val="78808C"/>
                </a:solidFill>
                <a:latin typeface="Arial"/>
              </a:rPr>
              <a:t>  ·  Moderierte Plenumsentwicklung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09:40–10:30 </a:t>
            </a:r>
            <a:r>
              <a:rPr sz="1200" b="1">
                <a:solidFill>
                  <a:srgbClr val="3D5466"/>
                </a:solidFill>
                <a:latin typeface="Arial"/>
              </a:rPr>
              <a:t>  Pause + Gruppenarbeit I: ESG-Kurzcheck (AB-1)</a:t>
            </a:r>
            <a:r>
              <a:rPr sz="900">
                <a:solidFill>
                  <a:srgbClr val="78808C"/>
                </a:solidFill>
                <a:latin typeface="Arial"/>
              </a:rPr>
              <a:t>  ·  Kleingruppenarbeit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10:30–11:00 </a:t>
            </a:r>
            <a:r>
              <a:rPr sz="1200" b="1">
                <a:solidFill>
                  <a:srgbClr val="3D5466"/>
                </a:solidFill>
                <a:latin typeface="Arial"/>
              </a:rPr>
              <a:t>  Auswertung I: Kurzcheck und Greenwashing-Anker</a:t>
            </a:r>
            <a:r>
              <a:rPr sz="900">
                <a:solidFill>
                  <a:srgbClr val="78808C"/>
                </a:solidFill>
                <a:latin typeface="Arial"/>
              </a:rPr>
              <a:t>  ·  Präsentation + Trainerinput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11:00–11:40 </a:t>
            </a:r>
            <a:r>
              <a:rPr sz="1200" b="1">
                <a:solidFill>
                  <a:srgbClr val="3D5466"/>
                </a:solidFill>
                <a:latin typeface="Arial"/>
              </a:rPr>
              <a:t>  Gruppenarbeit II: DSCR-Szenarien (AB-2)</a:t>
            </a:r>
            <a:r>
              <a:rPr sz="900">
                <a:solidFill>
                  <a:srgbClr val="78808C"/>
                </a:solidFill>
                <a:latin typeface="Arial"/>
              </a:rPr>
              <a:t>  ·  Kleingruppenarbeit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11:40–12:05 </a:t>
            </a:r>
            <a:r>
              <a:rPr sz="1200" b="1">
                <a:solidFill>
                  <a:srgbClr val="3D5466"/>
                </a:solidFill>
                <a:latin typeface="Arial"/>
              </a:rPr>
              <a:t>  Auswertung II: Musterlösung und typische Rechenfehler</a:t>
            </a:r>
            <a:r>
              <a:rPr sz="900">
                <a:solidFill>
                  <a:srgbClr val="78808C"/>
                </a:solidFill>
                <a:latin typeface="Arial"/>
              </a:rPr>
              <a:t>  ·  Präsentation + Trainerinput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12:05–12:15 </a:t>
            </a:r>
            <a:r>
              <a:rPr sz="1200" b="1">
                <a:solidFill>
                  <a:srgbClr val="3D5466"/>
                </a:solidFill>
                <a:latin typeface="Arial"/>
              </a:rPr>
              <a:t>  Reflexion und Transferauftrag</a:t>
            </a:r>
            <a:r>
              <a:rPr sz="900">
                <a:solidFill>
                  <a:srgbClr val="78808C"/>
                </a:solidFill>
                <a:latin typeface="Arial"/>
              </a:rPr>
              <a:t>  ·  Plenum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12:15–12:20 </a:t>
            </a:r>
            <a:r>
              <a:rPr sz="1200" b="1">
                <a:solidFill>
                  <a:srgbClr val="3D5466"/>
                </a:solidFill>
                <a:latin typeface="Arial"/>
              </a:rPr>
              <a:t>  Abschluss und Feedback</a:t>
            </a:r>
            <a:r>
              <a:rPr sz="900">
                <a:solidFill>
                  <a:srgbClr val="78808C"/>
                </a:solidFill>
                <a:latin typeface="Arial"/>
              </a:rPr>
              <a:t>  ·  Plenum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08:00–08:25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Einstieg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Kreditrisikofokus setzen – nicht Klimaschutz; Alltagsbeispiele sichtbar machen.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M26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M26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ESG ist kein Klimaschutz-Thema – es ist ein Cashflow-Thema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Physische Risiken und Transitionsrisiken verändern Cashflows.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Veränderte Cashflows gefährden die Kapitaldienstfähigkeit.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Argument ist ökonomisch, nicht normativ.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08:25–09:15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Theorie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Zwei Risikoklassen unterscheiden; Wirkungsweg vom ESG-Ereignis zur Kapitaldienstfähigkeit lückenlos nachvollziehen.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M26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M26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Zwei Risikoklassen – zwei Analysepfade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5784"/>
                <a:gridCol w="3605784"/>
                <a:gridCol w="3605784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Risikoklasse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Entstehung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Mittelstandsbeispiel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Physisch – akut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Extremwetterereignis (Überschwemmung, Hagel)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Produktionsausfall bei Hochwasser; +30 % PD in Folgejahren (JRC 2023)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Physisch – chronisch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Dauerhafte Klimaverschiebung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Ertragserosion in Lebensmittelverarbeitung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Transition – Policy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CO₂-Regulierung, Mautdifferenzierung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Euro-5-Mautzuschlag ab 2027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Transition – Markt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Einkaufsrichtlinien der Abnehmer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Abnehmer mit CO₂-Zielen beendet Lieferantenvertrag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M26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ESG-Ereignis → Cashflow → Kapitaldienstfähigkeit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489" y="1325880"/>
            <a:ext cx="7581973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M26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M04 fragt 12 Monate – M26 fragt 10 Jahre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M04 – Ampel auf Liquiditätsengpass (6–18 Monate).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M26 – Szenariourteil auf Geschäftsmodell-Tragfähigkeit (10 Jahre).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ESG-Kurzcheck speist M04-Ampel; ersetzt sie nicht.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Sprung ist qualitativ, nicht nur zeitlich.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09:15–09:45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Theorie 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Den eigenen regulatorischen Anker kennen; Einwände zur Größenschwelle sauber beantworten.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M26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M26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MaRisk trägt das Thema – nicht CSRD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§ 26c KWG – gesetzlicher Anker für alle Institute.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9. MaRisk-Novelle setzt § 26c um – final seit 30.06.2026 (Rundschreiben 06/2026).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Klimaszenarioanalysen über langen Zeithorizont; Ausgestaltung offen, Begründung Pflicht.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EBA/GL/2025/01 – für VR-Banken eingeschränkt; BaFin folgt teilweise nicht.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CSRD – erst ab 1.000 MA / 450 Mio. EUR Umsatz; kein Firmenkunde betroffen.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09:45–09:55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ESG-Kurzcheck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Instrument einführen; Gruppen bilden; Fallstudienmappe ausgeben.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M26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M26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Der Kurzcheck ist kein Fragebogen – er ist Gesprächsführung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12 Indikatoren in 5 Kategorien.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Jede Frage muss der Kunde ohne Vorlage beantworten können.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Kein separater Termin; kein Dokument für den Kunden.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Ergebnis ist ein qualitatives Szenariourteil – keine Ampelfarbe.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M26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12 Indikatoren – drei Zonen, klare Konsequenz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5784"/>
                <a:gridCol w="3605784"/>
                <a:gridCol w="3605784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Zone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Signaldichte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Konsequenz Kreditakte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Niedrig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&lt; 3 erhöhte Signale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Kein erhöhtes Transformationsrisiko erkennbar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Mittel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3–6 erhöhte Signale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Kurzcheck-Ergebnis + Zehn-Jahres-Szenario skizzieren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Erhöht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&gt; 6 oder 1–2 kritische Signale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Wirkungsweg bis DSCR darstellen; Finanzierungsimpuls prüfen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09:55–10:30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Gruppenarbeit I – ESG-Kurzcheck (AB-1)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Kurzcheck auf Spedition Kramer &amp; Sohn anwenden; Zone ermitteln.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M26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10:30–11:00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Auswertung I – Kurzcheck und Greenwashing-Anker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Kurzcheck-Ergebnisse vergleichen; Euro-5→Euro-6 als Greenwashing-Merksatz verankern.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M26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M26  ·  PRAXISFALL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Spedition Kramer &amp; Sohn GmbH (fiktiv)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600200"/>
            <a:ext cx="1081735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600200"/>
            <a:ext cx="36576" cy="18288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783080"/>
            <a:ext cx="102687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AUSGANGSSITUATION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084831"/>
            <a:ext cx="7680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D5466"/>
                </a:solidFill>
                <a:latin typeface="Arial"/>
              </a:rPr>
              <a:t>Familienunternehmen, regionaler Schwerlastverkehr, 14 Jahre Hausbankbeziehung. 18 Sattelzüge; 11 davon Euro 5 (Ø 9 Jahre), 7 Euro 6. Umsatz 8,5 Mio. EUR, EBITDA 680.000 EUR, DSCR Ausgangslage 1,77. Keine schriftliche Flottenerneuerungsplanung; Governance beim GF allein.
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Fall zuerst lesen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M26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DSCR unter drei Szenarien – Szenario B ist der darstellbare Weg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4338"/>
                <a:gridCol w="2704338"/>
                <a:gridCol w="2704338"/>
                <a:gridCol w="2704338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Szenario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EBITDA (EUR)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Schuldendienst (EUR)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DSCR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Ausgangslage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680.000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384.000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1,77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A – Mautzuschlag, keine Investition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636.000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384.000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1,66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B – Teilflottenumstellung (6 LKW)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660.000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478.200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1,38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C – Vollumstellung sofort (Belastungstest)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680.000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576.300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1,18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11:00–11:40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Gruppenarbeit II – DSCR-Szenarien (AB-2)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DSCR für Szenario A und B berechnen; Empfehlung mit Begründung formulieren.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M26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11:40–12:05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Auswertung II – Musterlösung und Lehrpunkte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DSCR-Ergebnis validieren; zwei typische Rechenfehler explizit aufgreifen.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M26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M26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Euro-5 → Euro-6 ist kein Klimaförderfall – das ist der häufigste Fehler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KfW-Fahrzeugförderung setzt bei E- oder Wasserstoff-Antrieb an.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Diesel-Euro-6 ist normale Investitionsfinanzierung.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Falsche Etikettierung = Greenwashing-Risiko gegenüber informiertem Kunden.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{'Prüffrage': 'Würde ich das auch ohne Förderrahmen empfehlen?'}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M26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Wann Förderimpuls Beratung 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489" y="1325880"/>
            <a:ext cx="7581973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M26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Das ESG-Feld ist ein Zusatzfeld – kein zweites Votumsverfahren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Anlage zur bestehenden Kreditvorlage (M21 bleibt das Leitdokument).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Zone "Niedrig" – ein Satz reicht.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Zone "Mittel" – Kurzcheck-Ergebnis dokumentieren.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Zone "Erhöht" – Wirkungsweg bis DSCR darstellen + Finanzierungsimpuls prüfen.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12:05–12:20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Reflexion und Transferauftrag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Eigenen Handlungsanker setzen; Transferaufgabe vorstellen.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M26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M26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Reflexion – drei Fragen für Ihren Bestand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Welche Kunden hätten die höchste Kurzcheck-Signaldichte?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Welchen "kein-ESG-Problem"-Kunden würden Sie trotzdem checken – warum?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Woran erkennen Sie, dass der Finanzierungsimpuls aus Analyse kommt – nicht aus Vertrieb?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