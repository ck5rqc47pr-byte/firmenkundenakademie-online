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Einstieg: Blitzlicht-Runde vorher schon abgeschlossen. Nennungen am Flipchart sichtbar.</a:t>
            </a:r>
          </a:p>
          <a:p>
            <a:r>
              <a:t>Verbindung TL02 explizit herstellen: Reifegrad (D1–D4) gibt die Richtung, Delegationsgrad gibt die Entscheidung.</a:t>
            </a:r>
          </a:p>
          <a:p>
            <a:r>
              <a:t>Faustregel nennen: D1 → Grad 1–2; D2 → Grad 2–3; D3/D4 → Grad 3–4.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Kernbotschaft: Kein Grad ist pauschal besser – Passgenauigkeit entscheidet.</a:t>
            </a:r>
          </a:p>
          <a:p>
            <a:r>
              <a:t>FK, die grundsätzlich auf Grad 1 verbleibt, verhindert aktiv Teamentwicklung.</a:t>
            </a:r>
          </a:p>
          <a:p>
            <a:r>
              <a:t>Praxisbeispiel: D3-Berater + Standardkundentermin = Grad 3/4, nicht Grad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Martell (2023, Q-258). Kernsatz für den Trainer: „Wer die ersten zehn Prozent spart, bezahlt sie in der Nacharbeit doppelt.“</a:t>
            </a:r>
          </a:p>
          <a:p>
            <a:r>
              <a:t>Rückbindung an SDT (Block II vorbereiten): Eingreifen in den mittleren 80 % zerstört Autonomieerleben und programmiert Rückdelegation.</a:t>
            </a:r>
          </a:p>
          <a:p>
            <a:r>
              <a:t>Kurze Selbstprüfung in die Runde: Welchen der beiden Fehler machen Sie häufiger?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Oncken &amp; Wass (1974): Monkey-Management-Prinzip – bekannt, aber kaum konsequent angewendet.</a:t>
            </a:r>
          </a:p>
          <a:p>
            <a:r>
              <a:t>Gezielte Frage in die Runde: Welchen Delegationsgrad nutzen Sie am häufigsten – und warum?</a:t>
            </a:r>
          </a:p>
          <a:p>
            <a:r>
              <a:t>Keine vertiefte Diskussion hier – Vorbereitung auf kollegiale Fallberatung.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Martell (2023, Q-258). Direkte Gegenmaßnahme zum Monkey-Management der Vorfolie – nicht Abwehr, sondern Vereinbarung.</a:t>
            </a:r>
          </a:p>
          <a:p>
            <a:r>
              <a:t>Einführung als Ankündigung im Teammeeting, nicht als Einzelfallkorrektur – sonst wirkt es wie Abweisung.</a:t>
            </a:r>
          </a:p>
          <a:p>
            <a:r>
              <a:t>Brücke zu TL10: Die Berichtsstruktur nach oben (Lage – Optionen – Empfehlung) ist dasselbe Prinzip in Richtung Vorgesetzter.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Deci &amp; Ryan (2000): SDT ist der empirisch am besten gestützte Rahmen der Motivationsforschung.</a:t>
            </a:r>
          </a:p>
          <a:p>
            <a:r>
              <a:t>Aktivierung: Jede/r TN benennt still für eine/n konkrete/n Mitarbeitende/n: Welches Bedürfnis ist gerade am stärksten untererfüllt? (30 Sek. Stille, keine Rückmeldung)</a:t>
            </a:r>
          </a:p>
          <a:p>
            <a:r>
              <a:t>Verbindung Delegation–SDT: Gut delegieren adressiert alle drei Grundbedürfnisse gleichzeitig.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Herzberg (1968): Befund ist empirisch umstritten (Methodik), praktischer Wert bleibt unberührt.</a:t>
            </a:r>
          </a:p>
          <a:p>
            <a:r>
              <a:t>Unbequemen Befund direkt benennen: Wer nur an Hygienefaktoren arbeitet, kämpft an der falschen Stelle.</a:t>
            </a:r>
          </a:p>
          <a:p>
            <a:r>
              <a:t>Formulierung für den Raum: „Gehalt löst Unzufriedenheit auf – es erzeugt kein Engagement.“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Trainer präsentiert max. 5 Min. mündlich, TN lesen parallel mit (Sec 4).</a:t>
            </a:r>
          </a:p>
          <a:p>
            <a:r>
              <a:t>Aufgaben 1+2 im Plenum: Phasenzuordnung und SDT-Analyse sind der Bloom-4-Kern.</a:t>
            </a:r>
          </a:p>
          <a:p>
            <a:r>
              <a:t>Aufgaben 3+4 als offene Fragen in die kollegiale Fallberatung überleiten – nicht vollständig ausdiskutieren.</a:t>
            </a:r>
          </a:p>
          <a:p>
            <a:r>
              <a:t>Trainer-Hinweis Schattenführung: Ex-Teamleiter und Thomas F. als stille Koalition – ansprechen, wenn Plenum zu einfache Diagnosen macht.</a:t>
            </a:r>
          </a:p>
          <a:p>
            <a:r>
              <a:t>Musterlösung AB-1 (Trainer-Version) erst NACH Plenumsdiskussion freigeben.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Tuckman (1965) + Tuckman &amp; Jensen (1977): Adjourning bei Umstrukturierungen kurz nennen.</a:t>
            </a:r>
          </a:p>
          <a:p>
            <a:r>
              <a:t>Häufigster Fehler in Storming: Führungskraft dämpft Konflikte statt sie zu moderieren.</a:t>
            </a:r>
          </a:p>
          <a:p>
            <a:r>
              <a:t>Stärkste Lernfrage: „Was tue ich gerade, das möglicherweise NICHT zur Phase passt?“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Mindestens 12 Min. Schreibzeit ohne Unterbrechung geben.</a:t>
            </a:r>
          </a:p>
          <a:p>
            <a:r>
              <a:t>Hilfsformulierung bei Unsicherheit: „Ihr bestes Bild aus den letzten vier Wochen reicht.“</a:t>
            </a:r>
          </a:p>
          <a:p>
            <a:r>
              <a:t>Stärkste Lernfrage Schritt 3 im Plenum aktiv einfordern – kurze Stille nach dem Ausfüllen zulassen.</a:t>
            </a:r>
          </a:p>
          <a:p>
            <a:r>
              <a:t>Zwei bis drei TN teilen ihre Phasen-Einschätzung, Plenum reagiert mit Beobachtungen.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Kerntransfer: Hier wird formuliert, nicht analysiert – das ist der Unterschied zur Fallberatung.</a:t>
            </a:r>
          </a:p>
          <a:p>
            <a:r>
              <a:t>Pflichtkomponente explizit machen: Die Entwicklungsabsicht muss ausgesprochen werden.</a:t>
            </a:r>
          </a:p>
          <a:p>
            <a:r>
              <a:t>Sprachcheck: Zwei TN lesen Schritte 2+3 laut vor. Plenum nimmt Mitarbeitenden-Perspektive ein.</a:t>
            </a:r>
          </a:p>
          <a:p>
            <a:r>
              <a:t>Zwei Fokus-Fragen fürs Plenum: „Verstehe ich, was erwartet wird?“ + „Spüre ich, dass die FK mir etwas zutraut?“</a:t>
            </a:r>
          </a:p>
          <a:p>
            <a:r>
              <a:t>Kein Rollenspiel – Textarbeit, Formulierung schärfen, Feedback zu Klarheit und Einladungscharakter.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TN formulieren still ihren ersten Schritt für nächste Woche.</a:t>
            </a:r>
          </a:p>
          <a:p>
            <a:r>
              <a:t>Selbstcheck (Sec 5) mitgeben – TN markieren heute: Welche Frage würde ich schon mit 3+ beantworten?</a:t>
            </a:r>
          </a:p>
          <a:p>
            <a:r>
              <a:t>L3-Beobachtungsgespräch mit Bereichsleitung verbindlich terminieren (4–8 Wochen nach Workshop).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Greenleaf (1977): Servant Leadership als Haltung, nicht als Technik.</a:t>
            </a:r>
          </a:p>
          <a:p>
            <a:r>
              <a:t>Abschlussfrage aus den Reflexionsfragen: „Was sagt ein Mitarbeitender in drei Monaten über Ihre Führung?“</a:t>
            </a:r>
          </a:p>
          <a:p>
            <a:r>
              <a:t>Überleitung zu TL05: Ziel- und Steuerungsgespräche auf Stufe Führungscoach.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TL03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Delegation, Motivation &amp; Teamphasen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Verantwortung übergeben, Entwicklung anstoßen, Teamdynamik verstehen und steuern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K-F01 Führung &amp; Teamentwicklung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Führungscoach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TL03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Ein Team zu führen bedeutet mehr als Aufgaben zu verteilen: Wer gut delegiert, entwickelt – und wer Teamphasen erkennt, führt situativ statt reaktiv.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Halbtagsmodul arbeiten Führungscoachs an drei eng verbundenen Werkzeugen: der reifegradbewussten Delegation (was übergebe ich an wen, mit wie viel Entscheidungsspielraum?), den Grundlagen intrinsischer Motivation (Autonomie, Kompetenz, Verbundenheit – und was Hygienefaktoren tatsächlich leisten), und dem Tuckman-Phasenmodell als Orientierungsrahmen für Teamdynamik.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Zentraler Lernmoment: Delegation ist kein Arbeitsabwälzen, sondern das wirksamste Entwicklungsinstrument, das eine Führungskraft hat.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TL03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Delegationsgrade und Rückübergabe-Mechanismus (Monkey-Management) auf eine konkrete Teamsituation anwenden und den passenden Delegationsgrad je Mitarbeitenden und Aufgabe bestimmen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drei Grundbedürfnisse der Self-Determination Theory (Autonomie, Kompetenz, Verbundenheit) sowie die Zwei-Faktoren-Theorie (Hygiene- vs. Motivatoren) auf das eigene Team analysieren und motivationsfördernde von motivationshemmenden Führungshandlungen differenzieren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aktuelle Tuckman-Phase des eigenen Teams bestimmen, phasenspezifische Führungshandlungen ableiten und eine fundierte Begründung für die gewählte Reaktion entwickeln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Delegationsgespräch für eine konkrete Aufgabenübergabe strukturiert vorbereiten, das Anforderungsniveau, den Entscheidungsspielraum und die Entwicklungsabsicht transparent kommunizieren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TL03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0–15 Min.  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 &amp; Erwartungscheck</a:t>
            </a:r>
            <a:r>
              <a:rPr sz="900">
                <a:solidFill>
                  <a:srgbClr val="78808C"/>
                </a:solidFill>
                <a:latin typeface="Arial"/>
              </a:rPr>
              <a:t>  ·  Blitzlicht-Runde: Jeder TN nennt in einem Satz die Delegations- oder Motivationsherausforderung, die ihn gerade am stärksten beschäftigt (z. B. „Ich mache alles selbst, weil es sonst nicht richtig gemacht wird" / „Ich weiß nicht, warum mein Team so wenig Eigeninitiative zeigt" / „Unser Team läuft gerade nicht rund – ich weiß nicht, warum"). Trainer notiert die Nennungen stichwortartig am Flipchart. Nennungen bleiben bis zum Ende sichtbar – sie werden später im Modul als Anker genutzt.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15–35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Delegation als Entwicklungsinstrument</a:t>
            </a:r>
            <a:r>
              <a:rPr sz="900">
                <a:solidFill>
                  <a:srgbClr val="78808C"/>
                </a:solidFill>
                <a:latin typeface="Arial"/>
              </a:rPr>
              <a:t>  ·  Lehrgespräch mit Visualisierung: Delegation vs. Aufgabenabgabe; die vier Delegationsgrade (Tabelle Sec 4); Reifegrad-Delegationsgrad-Matrix (Verbindung zu TL02); Monkey-Management-Prinzip (Oncken &amp; Wass, 1974 ). Trainer stellt eine gezielte Frage in die Runde: „Welchen Delegationsgrad nutzen Sie am häufigsten – und warum?" Kurze Reaktion sammeln, nicht vertiefen. Flipchart-Anker einlösen: „Welche Ihrer Nennungen vom Anfang spiegelt sich in den Delegationsgraden wider?"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35–55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Motivation – SDT &amp; Herzberg</a:t>
            </a:r>
            <a:r>
              <a:rPr sz="900">
                <a:solidFill>
                  <a:srgbClr val="78808C"/>
                </a:solidFill>
                <a:latin typeface="Arial"/>
              </a:rPr>
              <a:t>  ·  Lehrgespräch: Intrinsisch vs. extrinsisch; die drei SDT-Grundbedürfnisse Autonomie, Kompetenz, Verbundenheit (Deci &amp; Ryan, 2000 ); Herzberg-Unterscheidung Hygienefaktoren vs. Motivatoren (Herzberg, 1968 ) mit dem Praxis-Paradox: Gehalt erzeugt keine Motivation. Trainer verknüpft: „Wenn Sie gut delegieren, adressieren Sie alle drei SDT-Grundbedürfnisse gleichzeitig." Kurze Aktivierung: Jeder TN benennt still für einen konkreten Mitarbeitenden: Welches Grundbedürfnis ist gerade am stärksten untererfüllt? (30 Sekunden Stille, keine Rückmeldung – Vorbereitung auf Praxisfall.)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55–65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–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65–90 Min.  </a:t>
            </a:r>
            <a:r>
              <a:rPr sz="1200" b="1">
                <a:solidFill>
                  <a:srgbClr val="3D5466"/>
                </a:solidFill>
                <a:latin typeface="Arial"/>
              </a:rPr>
              <a:t>  Praxisfall Sabine K. – Analyse im Plenum</a:t>
            </a:r>
            <a:r>
              <a:rPr sz="900">
                <a:solidFill>
                  <a:srgbClr val="78808C"/>
                </a:solidFill>
                <a:latin typeface="Arial"/>
              </a:rPr>
              <a:t>  ·  Trainer präsentiert den Praxisfall kurz (max. 5 Min. mündlich, TN lesen Sec 4 parallel mit). Aufgaben 1–4 des Praxisfalls werden als moderierte Plenumsdiskussion bearbeitet: TN arbeiten still 8 Minuten (Aufgaben 1 und 2), dann Plenum: Phasenzuordnung Sabines Team (Storming-Argumentation), SDT-Analyse Thomas F. und Julia S. Aufgaben 3 und 4 werden als Überleitung zur kollegialen Fallberatung genutzt – nicht vollständig ausdiskutiert, sondern als Fragen geöffnet, auf die die Teilnehmer im nächsten Block eigene Situationen einbringen. Flipchart-Anker einlösen: „Wer von Ihnen hat am Anfang eine Situation genannt, die sich jetzt in Sabine K. wiederfindet?"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90–130 Min. </a:t>
            </a:r>
            <a:r>
              <a:rPr sz="1200" b="1">
                <a:solidFill>
                  <a:srgbClr val="3D5466"/>
                </a:solidFill>
                <a:latin typeface="Arial"/>
              </a:rPr>
              <a:t>  Kollegiale Fallberatung: Eigene Delegations- oder Motivationssituation</a:t>
            </a:r>
            <a:r>
              <a:rPr sz="900">
                <a:solidFill>
                  <a:srgbClr val="78808C"/>
                </a:solidFill>
                <a:latin typeface="Arial"/>
              </a:rPr>
              <a:t>  ·  Jeder TN wählt still eine konkrete Führungssituation aus dem eigenen Alltag (ca. 5 Minuten): Entweder eine Situation, in der Delegation nicht funktioniert hat (Rückdelegation, falscher Grad, fehlendes Gespräch) – oder eine Mitarbeitende/r, bei dem die Motivation unklar ist. Wichtig: Alle TN notieren in dieser stillen Phase zugleich, welche Situation sie für AB-2 nutzen wollen – so hat auch, wer keinen eigenen Fall vorstellt, eine Situation für die Formulierungswerkstatt bereit. Format: 3–4 TN stellen ihren Fall in je 60 Sekunden vor. Das Plenum beantwortet kollegial: Welcher Delegationsgrad wäre angemessen gewesen? Welches SDT-Grundbedürfnis steht hinter dem Muster? Welche Führungshandlung ist als nächstes sinnvoll? Trainer moderiert den Abgleich zwischen Einschätzungen, kein Rollenspiel, keine Verhaltens-Simulation – Analyse und Gesprächsvorbereitung auf Papier. AB-2 wird in diesem Block vorbereitet (Delegationsgespräch strukturieren).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130–145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  <a:r>
              <a:rPr sz="900">
                <a:solidFill>
                  <a:srgbClr val="78808C"/>
                </a:solidFill>
                <a:latin typeface="Arial"/>
              </a:rPr>
              <a:t>  ·  –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145–175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Theorie-Input: Teamphasen (Tuckman) + AB-1</a:t>
            </a:r>
            <a:r>
              <a:rPr sz="900">
                <a:solidFill>
                  <a:srgbClr val="78808C"/>
                </a:solidFill>
                <a:latin typeface="Arial"/>
              </a:rPr>
              <a:t>  ·  Lehrgespräch: Tuckman-Phasenmodell Forming/Storming/Norming/Performing/Adjourning (Tuckman, 1965 ; Tuckman &amp; Jensen, 1977 ) mit Führungsaufgaben-Tabelle (Sec 4). Trainer betont: Phasen können rückwärts laufen – was ein Team nach einer Umstrukturierung erlebt, ist nicht Versagen, sondern Entwicklungsdynamik. Anschluss an Sabine K.: Trainer lässt TN die Musterlösung AB-1 Schritt 1–2 selbst formulieren (kurze Plenum-Runde, max. 5 Min.). Dann AB-1 Individualarbeit: TN bestimmen die Tuckman-Phase ihres eigenen Teams (Schritte 1–4, ca. 15 Min.). Abschluss: Zwei bis drei TN teilen ihre Phase-Einschätzung, Plenum reagiert mit Beobachtungen aus eigener Erfahrung.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175–210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Formulierungswerkstatt: Delegationsgespräch (AB-2)</a:t>
            </a:r>
            <a:r>
              <a:rPr sz="900">
                <a:solidFill>
                  <a:srgbClr val="78808C"/>
                </a:solidFill>
                <a:latin typeface="Arial"/>
              </a:rPr>
              <a:t>  ·  TN vervollständigen AB-2 individuell für die Situation aus der kollegialen Fallberatung (oder eine neue eigene Situation): Reifegrad-Einschätzung, Delegationsgrad festlegen, Gesprächsstruktur vorbereiten (ca. 15 Min. Stille). Dann: Zwei TN lesen ihre Gesprächsstruktur laut vor (Schritte 2 und 3). Plenum nimmt die Mitarbeitendenperspektive ein: „Wenn Sie das hören – verstehen Sie, was von Ihnen erwartet wird? Erkennen Sie den Entwicklungsimpuls?" Trainer moderiert Schärfungsrunden (Entscheidungsspielraum explizit benennen; Entwicklungsabsicht nicht unterschlagen). Kein Rollenspiel – Textarbeit, Formulierung schärfen, Feedback zu Klarheit und Einladungscharakter.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210–225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Merkkarte, Checkliste &amp; Reflexion</a:t>
            </a:r>
            <a:r>
              <a:rPr sz="900">
                <a:solidFill>
                  <a:srgbClr val="78808C"/>
                </a:solidFill>
                <a:latin typeface="Arial"/>
              </a:rPr>
              <a:t>  ·  Trainer führt kurz durch die Merkkarte (Sec 4, fünf Prinzipien). TN lesen still und markieren das Prinzip, das für sie gerade am relevantesten ist. Checkliste (Sec 4) wird gemeinsam durchgegangen: Jede Frage schnell für sich selbst beantworten – welche Fragen können TN heute mit „Ja" beantworten, welche noch nicht? Kurze Plenum-Runde: Was nehme ich konkret mit? Trainer referiert die drei Reflexionsfragen (Sec 4) und gibt zwei Minuten stille Schreibzeit.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225–240 Min.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Transfer, Evaluation &amp;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Trainer stellt die drei Transferaufgaben (Sec 5) vor. TN formulieren still ihren konkreten ersten Schritt für die nächste Woche (Delegation oder Teamphasen-Beobachtung). Feedbackbogen (Sec 6.1) ausfüllen (ca. 5 Min.). Wissenstest (Sec 6.2) als optionale Hausaufgabe ausgeben. Trainer schließt mit dem Prüfsatz aus Reflexionsfrage 4: „Stellen Sie sich vor, einer Ihrer Mitarbeitenden beschreibt in drei Monaten, wie sich Ihre Führung verändert hat – was soll er sagen?" L3-Mechanismus: TN tragen den Termin für das Beobachtungsgespräch (4–8 Wochen, ca. 30 Min. mit Bereichsleitung) noch im Workshop in ihren Kalender ein (Terminierungsblatt Sec 6.3). Für TN ohne festes Einzelgespräch-Format: das Einstiegsformat ist einfach – 20 Minuten, kein Thema außer „Wie geht es Ihnen?".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 · Delegation als Entwicklungsinstrument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Was übergebe ich an wen – und mit wie viel Entscheidungsspielraum?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Aufgaben abgeben entlastet. Verantwortung übergeben entwickelt.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Delegation ≠ Aufgabenabgabe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Reifegrad bestimmt den Delegationsgrad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Mikro-Management beschneidet Autonomieerleben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Einmal gut übergeben zahlt sich langfristig aus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Vier Delegationsgrade – von Ausführung bis vollständiger Übergabe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Grad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Grad 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Grad 2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Grad 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Grad 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10-80-10: Die ersten zehn Prozent entscheiden über die anderen neunzig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Die Delegationsgrade sagen, wie viel Spielraum ich übergebe. 10-80-10 sagt, wie ich begleite, ohne ins Mikromanagement zu fallen.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Erste 10 % – Rahmen setzen: Zielbild, Warum, Termin, nicht verhandelbare Leitplanken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Mittlere 80 % – loslassen: Ausführung liegt vollständig beim Mitarbeitenden (Grad 3–4)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Letzte 10 % – veredeln: prüfen, Feinschliff geben, Qualität sichern, würdigen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zwei häufigsten Fehler: die ersten 10 % überspringen – oder in den mittleren 80 % ständig eingreifen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Der Affe wechselt den Rücken – wenn die Übergabe nicht klar 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Mitarbeitende/r schildert Problem, geht ohne Lösung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Führungskraft hat abends mehr auf dem Tisch als morgens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Rückfrage-Regel: „Was haben Sie sich schon überlegt?“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Erst Lösungsansatz – dann Delegationsgrad bestimmen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1-3-1: Wer ein Problem bringt, bringt auch Optionen und eine Empfehlung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77800" indent="-177800">
              <a:spcBef>
                <a:spcPts val="600"/>
              </a:spcBef>
              <a:spcAft>
                <a:spcPts val="200"/>
              </a:spcAft>
            </a:pPr>
            <a:r>
              <a:rPr sz="1200" i="1">
                <a:solidFill>
                  <a:srgbClr val="3D5466"/>
                </a:solidFill>
                <a:latin typeface="Arial"/>
              </a:rPr>
              <a:t>→  Bei uns kommen Probleme als 1-3-1 – 1 Problem, 3 Lösungsoptionen, 1 eigene Empfehlung.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Der Mitarbeitende hat gedacht, bevor er kommt – der Affe bleibt auf seinem Rücken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Führungskraft entscheidet oder gibt Rückendeckung (Grad 2–3), statt zu übernehmen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Als Teamregel etabliert, wird 1-3-1 zum Kulturbaustein für Eigenverantwortung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II ·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Was hält mein Team wirklich bei der Stange – und was kostet es Energie?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Drei Grundbedürfnisse – und was sie im Führungsalltag bedeuten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Grundbedürfnis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Autonomie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Kompetenz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Verbundenheit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Prämien beseitigen Unzufriedenheit – sie erzeugen keine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Faktorentyp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Hygienefaktoren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Motivatoren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FALLANALYSE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Praxisfall: Das Team im Sturm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Teamphase bestimmen, SDT-Profile analysieren, Delegationsentscheidung vorbereiten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Sabine K.: Ein neues Team – und alle schauen zu ihr hin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10 Berater aus zwei Fusionsteams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Thomas F.: informeller Meinungsführer, distanziert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Julia S.: D3 kompetent, bittet um unnötige Entscheidungen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Teammeetings korrekt, aber ohne Energie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IV · Teamphasen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In welcher Phase ist mein Team – und was verlangt das von mir?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Teamphasenuhr: Teams können jederzeit zurückfallen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522" y="1325880"/>
            <a:ext cx="6067907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ÜBERSICHT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Vier Phasen – vier verschiedene Führungsaufgaben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417320"/>
          <a:ext cx="1081735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17352"/>
              </a:tblGrid>
              <a:tr h="384048">
                <a:tc>
                  <a:txBody>
                    <a:bodyPr/>
                    <a:lstStyle/>
                    <a:p/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Forming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Storming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Norming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5466"/>
                          </a:solidFill>
                          <a:latin typeface="Arial"/>
                        </a:rPr>
                        <a:t>Performing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Übersicht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(15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AB-1: Team-Phasen-Diagnose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Aktuelle Phase des eigenen Teams bestimmen und Führungskonsequenz ableiten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AB-1: Mein Team – Phasendiagnose und nächste Führungshandlung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1: Drei Verhaltensbeobachtungen aus den letzten vier Wochen.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2: Tuckman-Phase begründet zuordnen.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3: Was verlangt die Phase – und was tue ich, das nicht passt?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4: Nächste konkrete Maßnahme mit Termin.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EINZELARBEIT + SPRACHCHECK (35 MIN.)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AB-2: Delegationsgespräch vorbereiten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Aufgabe, Entscheidungsspielraum und Entwicklungsabsicht klar und einladend formulieren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AB-2: Nicht „Hier ist die Aufgabe“ – sondern „Ich gebe Ihnen das, weil ich Ihnen vertraue“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1: Reifegrad-Einschätzung (D1–D4) für diese Person.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2: Delegationsgrad (1–4) und Begründung.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3: Gesprächsstruktur – Kontext, Aufgabe, Spielraum, Entwicklungsabsicht.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Schritt 4: Antizipierte Reaktion und eigene Antwort darauf.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377440"/>
            <a:ext cx="108173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D9C089"/>
                </a:solidFill>
                <a:latin typeface="Consolas"/>
              </a:rPr>
              <a:t>ABSCHLUSS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788920"/>
            <a:ext cx="548640" cy="381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017520"/>
            <a:ext cx="10817352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Transfer &amp; Haltung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480560"/>
            <a:ext cx="8653881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8D2E6"/>
                </a:solidFill>
                <a:latin typeface="Arial"/>
              </a:rPr>
              <a:t>Drei Transferaufgaben + Servant-Leadership als Alltagsprüfstein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355080"/>
            <a:ext cx="108173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8CA0C3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Drei Transferaufgaben für die nächsten vier Wochen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Woche 2: Delegation auf Grad 3/4 – explizites Gespräch, nicht Abgabe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Woche 3: SDT-Analyse in einem regulären Einzelgespräch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Woche 4: Team-Meeting durch die Phasenbrille beobachten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TL03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Servant Leadership: Ich räume Hindernisse aus dem Weg – ich löse nicht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Delegation = Entwicklungsräume öffnen, nicht Kontrolle abgeben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Motivation = Bedingungen gestalten, nicht Begeisterung erzeugen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Teamphase erkennen = führen, was das Team braucht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Greenleaf-Test: „Wächst mein Team – oder bleibt es, wo es ist?“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TL03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