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Einstieg: „Was war Ihre letzte Woche – geplant oder reaktiv?" (Handzeichen). Wichtigkeits-Frage stellen: „Was ist der Unterschied zwischen einer lauten und einer wichtigen Aufgabe?"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Vier-Felder-Matrix gemeinsam am Flipchart entwickeln. Wichtigkeit operationalisieren: Auswirkung auf Fristen, Kunden, Prozessqualität, Haftung.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Praxishinweis: der Block funktioniert nur mit geregeltem Telefon. Die Teamleitung einmalig ansprechen – das ist Prozessoptimierung, kein Sonderwunsch.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Beobachten: Wer priorisiert nach hartem Termin (11:00), wer nach Lautstärke? Kernbefunde: 11:00 schlägt generelle Dringlichkeit; 2-Minuten-Mail sofort; Datenpflege terminieren, nicht verschieben.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 harter Termin (11:00) schlägt generelle Dringlichkeit. Der Bearbeitungsblock braucht die Freigabe der Teamleitung – fast jede stimmt zu, wenn es als Prozessoptimierung vorgelegt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AB-2 Musterlösung (Trainer-Version)</a:t>
            </a:r>
          </a:p>
          <a:p>
            <a:r>
              <a:t>Reihenfolge: 1. 2-Minuten-Mail (sofort), 2. Engagementübersicht (harter Termin 11:00), 3. Wiedervorlagen bündeln, 4. Datenpflege terminieren. Telefon durchgehend geregelt abfangen.</a:t>
            </a:r>
          </a:p>
          <a:p>
            <a:r>
              <a:t>Trainer-Hinweis: der harte Termin schlägt generelle Dringlichkeit; Datenpflege wird terminiert, nicht verschoben.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Transfer-Anker: Sec 5.1 – eine konkrete Veränderung für morgen früh aufschreiben UND den Namen der Person, der man es sagt. Ausblick VA07 (Schnittstelle).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Fragen 1 und 3 gemeinsam besprechen. Karte „Prioritäten &amp; Selbststeuerung" (AB-5) übergeben.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VA08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Selbstorganisation und Priorisierung im Innendienst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Aufgaben steuern, Prioritäten setzen und den Arbeitstag im Griff behalten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K-A04 Zusammenarbeit &amp; Selbstorganisation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Sachbearbeitung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VA08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Im Innendienst laufen viele Aufgaben gleichzeitig auf – Anfragen, Fristen, Zuarbeiten, Unterbrechungen.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Wer nicht steuert, wird gesteuert.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Modul lernen Sie, Aufgaben nach Wichtigkeit und Dringlichkeit einzuordnen, Zeitfresser zu erkennen und ein einfaches Wiedervorlage-System für die eigene Woche aufzusetzen.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behalten Sie auch an vollen Tagen den Überblick und arbeiten das Richtige zuerst ab.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VA08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Aufgaben nach Wichtigkeit und Dringlichkeit einordnen und das Prinzip erklären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Wirkung wirksamen Zeitmanagements (mehr Kontrolle, weniger Belastung) benennen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Einen Arbeitstag mit konkurrierenden Aufgaben priorisieren und planen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Typische Zeitfresser und Unterbrechungen identifizieren und Gegenmaßnahmen anwenden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einfaches Wiedervorlage- und To-do-System für die eigene Woche aufsetzen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VA08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00:00–00:05 </a:t>
            </a:r>
            <a:r>
              <a:rPr sz="1200" b="1">
                <a:solidFill>
                  <a:srgbClr val="3D5466"/>
                </a:solidFill>
                <a:latin typeface="Arial"/>
              </a:rPr>
              <a:t>  Begrüßung &amp; Einstieg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00:05–00:20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1: Wichtigkeit vs. Dringlichkeit</a:t>
            </a:r>
            <a:r>
              <a:rPr sz="900">
                <a:solidFill>
                  <a:srgbClr val="78808C"/>
                </a:solidFill>
                <a:latin typeface="Arial"/>
              </a:rPr>
              <a:t>  ·  Kurzvortrag + aktivierendes Fragen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00:20–00:30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2: Zeitfresser &amp; Bearbeitungsblöcke</a:t>
            </a:r>
            <a:r>
              <a:rPr sz="900">
                <a:solidFill>
                  <a:srgbClr val="78808C"/>
                </a:solidFill>
                <a:latin typeface="Arial"/>
              </a:rPr>
              <a:t>  ·  Kurzvortrag + Frage-Antwort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00:30–00:35 </a:t>
            </a:r>
            <a:r>
              <a:rPr sz="1200" b="1">
                <a:solidFill>
                  <a:srgbClr val="3D5466"/>
                </a:solidFill>
                <a:latin typeface="Arial"/>
              </a:rPr>
              <a:t>  Fallübergabe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00:35–00:50 </a:t>
            </a:r>
            <a:r>
              <a:rPr sz="1200" b="1">
                <a:solidFill>
                  <a:srgbClr val="3D5466"/>
                </a:solidFill>
                <a:latin typeface="Arial"/>
              </a:rPr>
              <a:t>  AB-1 &amp; AB-2 in Einzelarbeit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00:50–01:05 </a:t>
            </a:r>
            <a:r>
              <a:rPr sz="1200" b="1">
                <a:solidFill>
                  <a:srgbClr val="3D5466"/>
                </a:solidFill>
                <a:latin typeface="Arial"/>
              </a:rPr>
              <a:t>  Plenumsbesprechung AB-1/AB-2</a:t>
            </a:r>
            <a:r>
              <a:rPr sz="900">
                <a:solidFill>
                  <a:srgbClr val="78808C"/>
                </a:solidFill>
                <a:latin typeface="Arial"/>
              </a:rPr>
              <a:t>  ·  Moderierte Diskussion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01:05–01:17 </a:t>
            </a:r>
            <a:r>
              <a:rPr sz="1200" b="1">
                <a:solidFill>
                  <a:srgbClr val="3D5466"/>
                </a:solidFill>
                <a:latin typeface="Arial"/>
              </a:rPr>
              <a:t>  AB-3 &amp; AB-4</a:t>
            </a:r>
            <a:r>
              <a:rPr sz="900">
                <a:solidFill>
                  <a:srgbClr val="78808C"/>
                </a:solidFill>
                <a:latin typeface="Arial"/>
              </a:rPr>
              <a:t>  ·  Einzel- + Partnerarbeit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01:17–01:24 </a:t>
            </a:r>
            <a:r>
              <a:rPr sz="1200" b="1">
                <a:solidFill>
                  <a:srgbClr val="3D5466"/>
                </a:solidFill>
                <a:latin typeface="Arial"/>
              </a:rPr>
              <a:t>  Reflexion</a:t>
            </a:r>
            <a:r>
              <a:rPr sz="900">
                <a:solidFill>
                  <a:srgbClr val="78808C"/>
                </a:solidFill>
                <a:latin typeface="Arial"/>
              </a:rPr>
              <a:t>  ·  Plenumsgespräch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01:24–01:27 </a:t>
            </a:r>
            <a:r>
              <a:rPr sz="1200" b="1">
                <a:solidFill>
                  <a:srgbClr val="3D5466"/>
                </a:solidFill>
                <a:latin typeface="Arial"/>
              </a:rPr>
              <a:t>  Transfer-Anker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 +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01:27–01:30 </a:t>
            </a:r>
            <a:r>
              <a:rPr sz="1200" b="1">
                <a:solidFill>
                  <a:srgbClr val="3D5466"/>
                </a:solidFill>
                <a:latin typeface="Arial"/>
              </a:rPr>
              <a:t>  Abschluss &amp; Ausblick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00:05–00:20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Wichtigkeit und Dringlichkeit trennen – das Richtige zuerst tun.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Wichtig geht vor dringend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Dringlichkeit kommt im Innendienst oft von außen. Wichtigkeit bemisst sich an Auswirkung auf Fristen, Kunden, Prozessqualität und Haftung – nicht an Lautstärke.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Wichtig und dringend: sofort selbst tun.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Wichtig, nicht dringend: terminieren und planen – hier entsteht Kontrolle.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Nicht wichtig, aber dringend: kurz halten, abfangen, zurückrufen – Rückfragen ist keine Schwäche.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Nicht wichtig und nicht dringend: bewusst weglassen.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VA08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Wichtig geht vor dringend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00:20–00:30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Zeitfresser erkennen und mit drei Techniken zerfasertes Arbeiten stoppen.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Drei Gegenmittel gegen Zerfaserung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Aus zehn Zwei-Minuten-Aufgaben werden sonst zwanzig Minuten zerfasertes Arbeiten – Technik schlägt Disziplin.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Bündeln: gleichartige Aufgaben (z. B. alle Wiedervorlagen) am Stück erledigen.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Bearbeitungsblock: störungsarme Fokuszeit – braucht eine Teamabsprache zur Telefonvertretung.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2-Minuten-Regel: was in unter zwei Minuten erledigt ist, sofort tun; alles andere terminieren.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VA08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Drei Gegenmittel gegen zerfasertes Arbeiten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00:30–01:20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Fallübergabe &amp; Fallarbeit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Ein Montagmorgen mit fünf gleichzeitigen Aufgaben – bringen Sie Ordnung hinein.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Praxisfall: Ein Montagmorgen im Innendienst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MONTAG, 8:00 UHR – FÜNF DINGE GLEICHZEITIG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 Berater bittet bis 11:00 Uhr um eine Engagementübersicht für einen Mittagstermin.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Drei Wiedervorlagen sind heute fällig (fehlende BWA, Adressänderung, Sicherheitennachweis).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Eine Kundin hat eine einfache Frage per Mail (2 Minuten); die Quartals-Datenpflege „könnte man mal machen"; das Telefon klingelt mehrfach.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IHRE AUFGABE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Bringen Sie Ordnung in diesen Morgen – zuerst allein, dann im Vergleich.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Handlungsempfehlung: erst ordnen, dann arbeiten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mehrere Aufgaben gleichzeitig anliegen — dann zuerst nach Wichtigkeit und Dringlichkeit einordnen, bevor Sie beginnen.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eine Aufgabe in unter zwei Minuten erledigt ist — dann sofort erledigen, statt sie auf die Liste zu setzen.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Sie einen störungsfreien Block einführen möchten — dann die Teamleitung einmalig konkret ansprechen (Telefonvertretung für 45 Minuten).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VA08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 bearbeiten: ordnen und steuern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Ordnen Sie die fünf Aufgaben in die Eisenhower-Matrix ein (AB-1).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Bringen Sie sie in eine begründete Bearbeitungsreihenfolge (AB-2).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Benennen Sie Ihre eigenen Zeitfresser und je eine Gegenmaßnahme (AB-3).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Entwerfen Sie Ihr Wochensystem: wo, wann, welcher Block? (AB-4) – Karte AB-5 als Werkzeug.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Prinzip dieses Moduls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Wichtig geht vor dringend.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Wer nach Wichtigkeit statt nur nach Lautstärke priorisiert, gewinnt Kontrolle statt Getriebensein.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Reflexionsfragen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 wichtige, aber nicht dringende Aufgabe schieben Sie regelmäßig auf – und was kostet das?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Welcher Zeitfresser frisst bei Ihnen am meisten Zeit, und welches der drei Gegenmittel passt?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Wann in Ihrer Woche wäre Platz für einen geschützten Bearbeitungsblock?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