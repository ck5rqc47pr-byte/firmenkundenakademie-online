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„Wann hat Ihnen zuletzt jemand etwas verkauft, das Sie nicht brauchten – und wie hat sich das angefühlt?"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Modultitel ist Programm: systematisch heißt bedarfsorientiert, nicht listengetrieben.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Wallet-Share sichtbar machen: wo ist die Beziehung „flach" – viel Kredit, aber kein Verbundpartner eingebunden?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Hypothese ist der Kern: eine begründete Vermutung über den Bedarf, die im Gespräch geprüft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 Musterlösung (Trainer-Version)</a:t>
            </a:r>
          </a:p>
          <a:p>
            <a:r>
              <a:t>Fall Markus Hofer: stabile, aber flache Beziehung (Kontokorrent, Darlehen, ZV; kein Verbund). Einstieg Betriebsunterbrechungsversicherung – weil der Kunde einen zweiwöchigen CNC-Ausfall erwähnte. Anlass schlägt Produktliste.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Transfer: eine Hypothese für einen realen Kunden vorbereiten.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Selbstcheck als Transferanker.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Cross-Selling systematisch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Kundenpotenziale durch bedarfsorientiertes Cross-Selling und Wallet-Share-Analyse erschließen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K-04 Vertrieb &amp; Ertragsoptimierung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Berater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Nach dem Kreditabschluss endet oft das Gespräch – und das Verbundpotenzial bleibt liegen.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die Verbundpartner-Landkarte kennen und entwickeln systematische Anschlussimpulse vom Kreditgespräch zum Vollbankverbund.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erkennen Sie Cross-Selling-Anlässe im Tagesgeschäft und sprechen sie gezielt 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Unterschied zwischen reaktivem und systematisch-bedarfsorientiertem Cross-Selling erklären und begründen, warum der zweite Ansatz nachhaltiger ist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Cross-Selling-Potenziale in einem gegebenen Kundenprofil anhand der Wallet-Share-Methodik identifizieren und die zwei vielversprechendsten Ansatzpunkte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4-Schritte-Cross-Selling-Prozess (Analyse – Hypothese – Gespräch – Dokumentation) in einem simulierten Kundengespräch anwenden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Verbundpartner-Matrix anwenden und einem Kundenprofil den passenden Verbundpartner zuordnen sowie den nächsten Gesprächsschritt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Unterschied zwischen Push- und Pull-Cross-Selling beschreiben und erläutern, warum der bedarfsorientierte Ansatz für Kundenbindung und Ertrag wirksamer 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0–5 min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Einstieg &amp; Zielklärung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5–20 min   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Theorie-Input: Cross-Selling-Begriff und Wallet Share</a:t>
            </a:r>
            <a:r>
              <a:rPr sz="1200">
                <a:solidFill>
                  <a:srgbClr val="78808C"/>
                </a:solidFill>
                <a:latin typeface="Arial"/>
              </a:rPr>
              <a:t>  ·  Kurzinput + Flipchart + agree-Live-Demo (3 Min)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20–35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Übung: Kundenprofil-Analyse</a:t>
            </a:r>
            <a:r>
              <a:rPr sz="1200">
                <a:solidFill>
                  <a:srgbClr val="78808C"/>
                </a:solidFill>
                <a:latin typeface="Arial"/>
              </a:rPr>
              <a:t>  ·  Partnerarbeit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35–50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Verbundpartner-Matrix ausfüllen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50–80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Rollenspiel: Cross-Selling-Gespräch</a:t>
            </a:r>
            <a:r>
              <a:rPr sz="1200">
                <a:solidFill>
                  <a:srgbClr val="78808C"/>
                </a:solidFill>
                <a:latin typeface="Arial"/>
              </a:rPr>
              <a:t>  ·  Dreiergruppen (rotierend)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80–90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Plenumreflexion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90–95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Cross-Selling beginnt beim Bedarf, nicht bei der Produktliste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Cross-Selling beginnt beim Bedarf des Kunden, nicht bei der Produktliste der Bank.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Bedarfsorientiertes Cross-Selling (Pull) bindet und bringt Ertrag.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Produkte drücken (Push) verbrennt Vertrauen – der Unterschied entscheidet über die Beziehung.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Push oder Pull: der entscheidende Unterschied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Push fragt „Was können wir noch verkaufen?", Pull fragt „Welchen Bedarf hat der Kunde, den wir noch nicht decken?".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Push: von der Produktliste getrieben, kurzfristig, beziehungsschädlich.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Pull: vom Kundenbedarf getrieben, nachhaltig, vertrauensbildend.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ANALYSE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Wallet-Share &amp; Anlässe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Das ungenutzte Potenzial im Bestand sichtbar machen.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Wallet-Share: wo das Potenzial liegt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Der Wallet-Share zeigt, welchen Anteil am Finanzbedarf des Kunden wir schon halten – und wo der Verbund fehlt.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Potenzialanalyse in agree: bestehende Produkte gegen den typischen Bedarf der Branche halten.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Ereignisbasierte Anlässe (Investition, Nachfolge, Auslandsgeschäft) öffnen den Cross-Selling-Bedarf.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SYSTEMATIK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Der 4-Schritte-Prozess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Von der Analyse über die Hypothese zum dokumentierten Gespräch.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Vier Schritte zum bedarfsgerechten Cross-Selling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Systematisches Cross-Selling folgt vier Schritten – nicht dem Zufall des Gesprächsverlaufs.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1 Analyse: Bestand und Wallet-Share in agree prüfen.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2 Hypothese: konkrete Bedarfshypothese je Kunde formulieren.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3 Gespräch: die Hypothese als Frage einbringen, nicht als Angebot.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4 Dokumentation: Ergebnis und nächsten Schritt im System festhalten.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Verbundpartner-Matrix: welcher Bedarf, welcher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86" y="1325880"/>
            <a:ext cx="7321979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FALLARBEIT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Praxiscase: vom Kredit zum Vollbankverbund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Aus einer flachen Kreditbeziehung eine Verbundbeziehung entwickeln.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Praxiscase Maschinenbauzulieferer bearbeiten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Analysieren Sie den Wallet-Share des Kunden in agree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Formulieren Sie drei begründete Cross-Selling-Hypothesen.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Bereiten Sie das Jahresgespräch vor: welche Hypothese als Einstieg, mit welcher Frage? (AB-2)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Cross-Selling beginnt beim Bedarf des Kunden, nicht bei der Produktliste der Bank.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Bedarfsorientiertes Cross-Selling (Pull) bindet und bringt Ertrag; Produkte drücken (Push) verbrennt Vertrauen.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 und Selbstcheck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welchem Bestandskunden ist Ihre Beziehung „flach" – viel Kredit, kein Verbund?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ereignisbasierte Cross-Selling-Chance haben Sie zuletzt übersehen?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formulieren Sie eine Bedarfshypothese als Frage statt als Angebot?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