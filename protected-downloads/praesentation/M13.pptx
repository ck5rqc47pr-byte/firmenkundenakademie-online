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notesMaster" Target="notesMasters/notesMaster1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Agenda aus dem Ablaufplan (Sektion 3.1). Timing und Pausen siehe Trainerhandbuch.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Siehe Trainerhandbuch (Sektion 3) für Moderationshinweise, Timing und erwartete Teilnehmerreaktionen.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01168"/>
            <a:ext cx="10817352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800">
                <a:solidFill>
                  <a:srgbClr val="C8D2E6"/>
                </a:solidFill>
                <a:latin typeface="JetBrains Mono"/>
              </a:rPr>
              <a:t>FKB CAMPUS  ·  FIRMENKUNDENAKADEMIE  ·  M13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81735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 i="0">
                <a:solidFill>
                  <a:srgbClr val="FFFFFF"/>
                </a:solidFill>
                <a:latin typeface="Source Serif 4"/>
              </a:rPr>
              <a:t>Cross-Selling systematisch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977639"/>
            <a:ext cx="10817352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 i="1">
                <a:solidFill>
                  <a:srgbClr val="BECDE6"/>
                </a:solidFill>
                <a:latin typeface="Source Serif 4"/>
              </a:rPr>
              <a:t>Kundenpotenziale durch bedarfsorientiertes Cross-Selling und Wallet-Share-Analyse erschließen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5029200"/>
            <a:ext cx="10817352" cy="127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KOMPETENZFELD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K-04 Vertrieb &amp; Ertragsoptimierung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1584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KOMPETENZSTUFE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1584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Berater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7368" y="5193792"/>
            <a:ext cx="3605784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VERSION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97368" y="5394960"/>
            <a:ext cx="360578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Arial"/>
              </a:rPr>
              <a:t>v1.0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96A5BE"/>
                </a:solidFill>
                <a:latin typeface="JetBrains Mono"/>
              </a:rPr>
              <a:t>FKB Campus  ·  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4476" y="6583680"/>
            <a:ext cx="5408676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96A5BE"/>
                </a:solidFill>
                <a:latin typeface="JetBrains Mono"/>
              </a:rPr>
              <a:t>Trainer-Präsentation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ÜBERBLICK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Worum geht es heute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37360"/>
            <a:ext cx="972007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Nach dem Kreditabschluss endet oft das Gespräch – und das Verbundpotenzial bleibt liegen.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Sie lernen die Verbundpartner-Landkarte kennen und entwickeln systematische Anschlussimpulse vom Kreditgespräch zum Vollbankverbund.</a:t>
            </a:r>
          </a:p>
          <a:p>
            <a:pPr>
              <a:spcAft>
                <a:spcPts val="1200"/>
              </a:spcAft>
            </a:pPr>
            <a:r>
              <a:rPr sz="1700">
                <a:solidFill>
                  <a:srgbClr val="3D5466"/>
                </a:solidFill>
                <a:latin typeface="Arial"/>
              </a:rPr>
              <a:t>Danach erkennen Sie Cross-Selling-Anlässe im Tagesgeschäft und sprechen sie gezielt an.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LERNZIELE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Was Sie heute mitnehmen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71600"/>
            <a:ext cx="10817352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reaktivem und systematisch-bedarfsorientiertem Cross-Selling erklären und begründen, warum der zweite Ansatz nachhaltiger ist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Cross-Selling-Potenziale in einem gegebenen Kundenprofil anhand der Wallet-Share-Methodik identifizieren und die zwei vielversprechendsten Ansatzpunkte benennen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4-Schritte-Cross-Selling-Prozess (Analyse – Hypothese – Gespräch – Dokumentation) in einem simulierten Kundengespräch anwenden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Die Verbundpartner-Matrix anwenden und einem Kundenprofil den passenden Verbundpartner zuordnen sowie den nächsten Gesprächsschritt ableiten</a:t>
            </a:r>
          </a:p>
          <a:p>
            <a:pPr>
              <a:spcBef>
                <a:spcPts val="800"/>
              </a:spcBef>
              <a:spcAft>
                <a:spcPts val="200"/>
              </a:spcAft>
            </a:pPr>
            <a:r>
              <a:rPr sz="1400">
                <a:solidFill>
                  <a:srgbClr val="3D5466"/>
                </a:solidFill>
                <a:latin typeface="Arial"/>
              </a:rPr>
              <a:t>▸  Den Unterschied zwischen Push- und Pull-Cross-Selling beschreiben und erläutern, warum der bedarfsorientierte Ansatz für Kundenbindung und Ertrag wirksamer ist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AGENDA  ·  M13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502920"/>
            <a:ext cx="10817352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1F2C56"/>
                </a:solidFill>
                <a:latin typeface="Source Serif 4"/>
              </a:rPr>
              <a:t>So läuft das Modul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463040"/>
            <a:ext cx="10817352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0–5 min     </a:t>
            </a:r>
            <a:r>
              <a:rPr sz="1500" b="1">
                <a:solidFill>
                  <a:srgbClr val="3D5466"/>
                </a:solidFill>
                <a:latin typeface="Arial"/>
              </a:rPr>
              <a:t>  Einstieg &amp; Zielklärung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5–20 min    </a:t>
            </a:r>
            <a:r>
              <a:rPr sz="1500" b="1">
                <a:solidFill>
                  <a:srgbClr val="3D5466"/>
                </a:solidFill>
                <a:latin typeface="Arial"/>
              </a:rPr>
              <a:t>  Theorie-Input: Cross-Selling-Begriff und Wallet Share</a:t>
            </a:r>
            <a:r>
              <a:rPr sz="1200">
                <a:solidFill>
                  <a:srgbClr val="78808C"/>
                </a:solidFill>
                <a:latin typeface="Arial"/>
              </a:rPr>
              <a:t>  ·  Kurzinput + Flipchart + agree-Live-Demo (3 Min)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20–35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Übung: Kundenprofil-Analyse</a:t>
            </a:r>
            <a:r>
              <a:rPr sz="1200">
                <a:solidFill>
                  <a:srgbClr val="78808C"/>
                </a:solidFill>
                <a:latin typeface="Arial"/>
              </a:rPr>
              <a:t>  ·  Partnerarbeit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35–50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Verbundpartner-Matrix ausfüllen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50–80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Rollenspiel: Cross-Selling-Gespräch</a:t>
            </a:r>
            <a:r>
              <a:rPr sz="1200">
                <a:solidFill>
                  <a:srgbClr val="78808C"/>
                </a:solidFill>
                <a:latin typeface="Arial"/>
              </a:rPr>
              <a:t>  ·  Dreiergruppen (rotierend)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80–90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Plenumreflexion</a:t>
            </a:r>
            <a:r>
              <a:rPr sz="1200">
                <a:solidFill>
                  <a:srgbClr val="78808C"/>
                </a:solidFill>
                <a:latin typeface="Arial"/>
              </a:rPr>
              <a:t>  ·  Plenum</a:t>
            </a:r>
          </a:p>
          <a:p>
            <a:pPr>
              <a:spcBef>
                <a:spcPts val="700"/>
              </a:spcBef>
              <a:spcAft>
                <a:spcPts val="100"/>
              </a:spcAft>
            </a:pPr>
            <a:r>
              <a:rPr sz="1200">
                <a:solidFill>
                  <a:srgbClr val="78808C"/>
                </a:solidFill>
                <a:latin typeface="Consolas"/>
              </a:rPr>
              <a:t>90–95 min   </a:t>
            </a:r>
            <a:r>
              <a:rPr sz="1500" b="1">
                <a:solidFill>
                  <a:srgbClr val="3D5466"/>
                </a:solidFill>
                <a:latin typeface="Arial"/>
              </a:rPr>
              <a:t>  Transfer &amp; Abschluss</a:t>
            </a:r>
            <a:r>
              <a:rPr sz="1200">
                <a:solidFill>
                  <a:srgbClr val="78808C"/>
                </a:solidFill>
                <a:latin typeface="Arial"/>
              </a:rPr>
              <a:t>  ·  Einzelarbeit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Definition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Cross-Selling ist kein Verkaufsakt. Es ist das konsequente Ausfüllen eines Bedarfs, den der Kunde ohnehin hat – bei der eigenen Bank oder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Zwei Typen: Push vs. Pull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4.2 Wallet-Share-Analyse: Wo liegt das Potenzial?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Das Konzept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unausgeschöpfte Potenzial von 60 % ist nicht verloren – es ist bei einem Wettbewerber.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Potenzialanalyse in agree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agree bietet über das CRM-Modul und den UnternehmerDialog strukturierte Hilfsmittel zur Potenzialanalyse. Berater sollten vor jedem Jahresgespräch folgende Felder prüfen: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Empfehlung: Erstellen Sie für Ihre Top-20-Kunden eine einfache Wallet-Share-Schätzung anhand dieser fünf Dimensionen, bevor Sie das Jahresgespräch vorbereiten.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Ereignisbasierte Cross-Selling-Anlässe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Jahresgespräch ist nur einer von vielen Anlässen. In der Praxis öffnen oft Ereignisse das Gespräch besser als der Jahreskalender – weil der Bedarf dann für den Kunden selbst spürbar ist: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4.3 Der 4-Schritte-Cross-Selling-Prozess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Systematisches Cross-Selling folgt einem klaren Prozess – nicht dem Zufall eines Gesprächsmoments.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1: 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Wer? Welcher Kunde hat das größte unausgeschöpfte Potenzial?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Was? In welchem Bedarfsfeld liegt das Potenzial (Finanzierung, Absicherung, Anlage, ZV)?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Datenquellen: agree CRM, Jahreskontospiegel, Kreditakten, Verbundpartner-Cockpit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Ergebnis: Eine priorisierte Liste von 3–5 Cross-Selling-Hypothesen für diesen Kunden.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2: Hypothese formulieren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Eine Cross-Selling-Hypothese verknüpft einen beobachteten Kundenbedarf mit einem konkreten Lösungsansatz. Gutes Format:</a:t>
            </a:r>
          </a:p>
          <a:p>
            <a:pPr>
              <a:spcBef>
                <a:spcPts val="600"/>
              </a:spcBef>
              <a:spcAft>
                <a:spcPts val="200"/>
              </a:spcAft>
            </a:pPr>
            <a:r>
              <a:rPr sz="1200" i="1">
                <a:solidFill>
                  <a:srgbClr val="3D5466"/>
                </a:solidFill>
                <a:latin typeface="Arial"/>
              </a:rPr>
              <a:t>→  „[Kunde] hat [Situation/Signal]. Ich vermute deshalb, dass er [Bedarf] hat – passend dazu wäre [Lösung/Verbundpartner]."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3: Gespräch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Cross-Selling-Gespräch ist kein Verkaufsgespräch. Es ist eine bedarfsgeleitete Gesprächserweiterung. Der Einstieg erfolgt über eine offene Frage zur Situation – nicht mit einem Produktvorschlag.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Gesprächseinstieg nach SPIN 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Situationsfrage: „Wie haben Sie aktuell Ihre Betriebsunterbrechungsrisiken abgesichert?"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Problemfrage: „Gibt es Bereiche, bei denen Sie sich fragen, ob das ausreicht?"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Implikationsfrage: „Was würde ein Ausfall von zwei Wochen für Ihren Betrieb bedeuten?"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Nutzenfrage: „Was wäre für Sie die ideale Lösung, wenn das Risiko vollständig gedeckt wäre?"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Erst nach diesem Verlauf folgt der Produktvorschlag – oder die Einbeziehung des Verbundpartners.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Schritt 4: Dokumentation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Besprochene Bedarfsfelder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Ergebnis (Abschluss / offen / kein Bedarf)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Nächste Schritte und Folgetermine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Verbundpartner-Übergabe (falls relevant)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4.4 Verbundpartner-Matrix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Die Stärke der VR-Bank liegt im Verbund. Welcher Verbundpartner ist für welches Bedarfsfeld relevant?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## 4.5 Praxiscase: Vom Kreditgespräch zum Vollbankverbund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Ausgangssituation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Vor dem Jahresgespräch analysiert Markus den Kunden in agree: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Das Gespräch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„Sie hatten letztes Jahr den Ausfall der CNC-Anlage erwähnt. Wie haben Sie die zwei Wochen finanziell abgefedert?"</a:t>
            </a:r>
          </a:p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Der Kunde: „Ehrlich gesagt war das eng. Wir haben aus den Rücklagen überbrückt – aber das war ungeplant."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SCHAUBILD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Verbundpartner-Matrix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3486" y="1325880"/>
            <a:ext cx="7321979" cy="493776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Schaubild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EDED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INHALT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1234440"/>
            <a:ext cx="12188952" cy="12700"/>
          </a:xfrm>
          <a:prstGeom prst="rect">
            <a:avLst/>
          </a:prstGeom>
          <a:solidFill>
            <a:srgbClr val="D8DF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502920"/>
            <a:ext cx="36576" cy="658368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" y="502920"/>
            <a:ext cx="10634472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1417320"/>
            <a:ext cx="10817352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200"/>
              </a:spcAft>
            </a:pPr>
            <a:r>
              <a:rPr sz="1300">
                <a:solidFill>
                  <a:srgbClr val="3D5466"/>
                </a:solidFill>
                <a:latin typeface="Arial"/>
              </a:rPr>
              <a:t>▸  Meine Top-2 Cross-Selling-Hypothesen für diesen Kunden: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A: Wallet-Share-Analyse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3470"/>
                <a:gridCol w="2163470"/>
                <a:gridCol w="2163470"/>
                <a:gridCol w="2163470"/>
                <a:gridCol w="2163472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Dimension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Aktueller Stand (uns bekannt)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Schätzung Gesamtbedarf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Wallet-Share (%)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Cross-Selling-Potenzial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Finanzierung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Absicherung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Kapitalanlage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Zahlungsverkehr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Privat/Gesellschafter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Gesamt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0292"/>
          </a:xfrm>
          <a:prstGeom prst="rect">
            <a:avLst/>
          </a:prstGeom>
          <a:solidFill>
            <a:srgbClr val="1F2C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09728"/>
            <a:ext cx="10817352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50">
                <a:solidFill>
                  <a:srgbClr val="78808C"/>
                </a:solidFill>
                <a:latin typeface="JetBrains Mono"/>
              </a:rPr>
              <a:t>M13  ·  ÜBERSICHT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02920"/>
            <a:ext cx="10817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F2C56"/>
                </a:solidFill>
                <a:latin typeface="Source Serif 4"/>
              </a:rPr>
              <a:t>Arbeitsblatt B: Cross-Selling-Gesprächsvorbereitung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1143000"/>
            <a:ext cx="10817352" cy="25400"/>
          </a:xfrm>
          <a:prstGeom prst="rect">
            <a:avLst/>
          </a:prstGeom>
          <a:solidFill>
            <a:srgbClr val="D9C0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" y="1417320"/>
          <a:ext cx="10817352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08676"/>
                <a:gridCol w="5408676"/>
              </a:tblGrid>
              <a:tr h="384048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Schritt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Meine Vorbereitung</a:t>
                      </a:r>
                    </a:p>
                  </a:txBody>
                  <a:tcPr>
                    <a:solidFill>
                      <a:srgbClr val="1F2C5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Situationsfrage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Problemfrage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Implikationsfrage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Nutzenfrage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Verbundpartner / Lösung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3D5466"/>
                          </a:solidFill>
                          <a:latin typeface="Arial"/>
                        </a:rPr>
                        <a:t>Dokumentation in agree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0A19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6583680"/>
            <a:ext cx="6490411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>
                <a:solidFill>
                  <a:srgbClr val="A0B4D2"/>
                </a:solidFill>
                <a:latin typeface="JetBrains Mono"/>
              </a:rPr>
              <a:t>FKB Campus  ·  M13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6211" y="6583680"/>
            <a:ext cx="43269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700">
                <a:solidFill>
                  <a:srgbClr val="A0B4D2"/>
                </a:solidFill>
                <a:latin typeface="JetBrains Mono"/>
              </a:rPr>
              <a:t>Übersicht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