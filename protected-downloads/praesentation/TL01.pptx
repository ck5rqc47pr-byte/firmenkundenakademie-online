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Blitzlicht-Runde – jeder TN nennt seine aktuell größte Zeitfalle.</a:t>
            </a:r>
          </a:p>
          <a:p>
            <a:r>
              <a:t>Nennungen am Flipchart notieren – werden im Verlauf als Referenzpunkte genutzt.</a:t>
            </a:r>
          </a:p>
          <a:p>
            <a:r>
              <a:t>Häufigste Nennungen: Facharbeit-Falle, E-Mail-Reaktivität, Mitarbeitende bringen Probleme ohne Lösung.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Drucker (1967): Wirksame Führungskräfte tun zuerst das Wichtige, nicht das Lauteste.</a:t>
            </a:r>
          </a:p>
          <a:p>
            <a:r>
              <a:t>Kernbotschaft: Das Problem ist nicht Druck – es ist, dass Quadrant III oft wie Quadrant I wirkt.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Covey (1989): Big-Rocks-Metapher. Gefäß = Woche. Große Steine = Entwicklungsgespräch, Teamplanung, Steuerungsgesprächs-Vorbereitung.</a:t>
            </a:r>
          </a:p>
          <a:p>
            <a:r>
              <a:t>Operative Konsequenz: Quadrant-II-Termin = gebuchter Termin mit sich selbst oder dem Mitarbeitenden – nicht Absicht.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Einstiegsfrage: 'Was fällt Ihnen als erstes auf?' – 3–4 Antworten, dann live an Tafel kategorisieren.</a:t>
            </a:r>
          </a:p>
          <a:p>
            <a:r>
              <a:t>Befund: 3 h Quadrant II = &lt; 8 % der Arbeitszeit. Fast immer Wiedererkennungsreaktion im Raum.</a:t>
            </a:r>
          </a:p>
          <a:p>
            <a:r>
              <a:t>Nach der Reaktion: 'Wer würde sagen, bei sich sieht das ähnlich aus?' – Hände zeigen lassen.</a:t>
            </a:r>
          </a:p>
          <a:p>
            <a:r>
              <a:t>* Kreditausarbeitungen: Rollenklärung überlagert Quadrant-Frage. Nicht: 'Ist das wichtig?' Sondern: 'Ist das Sandras Aufgabe als TL?'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AB-1 bleibt beim TN. Kommunizieren: 'Das ist kein Test – das ist eine ehrliche Diagnose.'</a:t>
            </a:r>
          </a:p>
          <a:p>
            <a:r>
              <a:t>Nach dem Ausfüllen: 2–3 Min. Stille aushalten, bevor aufgerufen wird. Produktiv.</a:t>
            </a:r>
          </a:p>
          <a:p>
            <a:r>
              <a:t>Plenum: nur Teil 2 und Teil 3. Teil 4 (Blockungsplanung) kommt nach AB-2.</a:t>
            </a:r>
          </a:p>
          <a:p>
            <a:r>
              <a:t>Häufige Erkenntnis: Quadrant-II-Anteil liegt unter 10 % – meistens überrascht 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Oncken &amp; Wass (1974): Monkey-Management-Muster. Wort 'Affe' einprägsam – bewusst nutzen.</a:t>
            </a:r>
          </a:p>
          <a:p>
            <a:r>
              <a:t>Szenario Sandra + Marco (Bäckerei Wagner) kurz aufbauen, bevor Begriff eingeführt wird.</a:t>
            </a:r>
          </a:p>
          <a:p>
            <a:r>
              <a:t>Häufigste Reaktion: 'Das klingt kalt – ich will für mein Team da sein.'</a:t>
            </a:r>
          </a:p>
          <a:p>
            <a:r>
              <a:t>Normalisierung: 'Für das Team da sein = es entwickeln. Wer das Problem übernimmt, übernimmt die Lernchance.'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Einwand antizipieren: 'Nach unten klappt das – aber nach oben trau ich mich nicht.'</a:t>
            </a:r>
          </a:p>
          <a:p>
            <a:r>
              <a:t>Schlüsselwort: Transparenz über Prioritäten, nicht Konfrontation.</a:t>
            </a:r>
          </a:p>
          <a:p>
            <a:r>
              <a:t>Formulierungsbaustein für nach oben wörtlich zeigen: 'Ich kann das machen – dann fällt [konkrete Führungsaufgabe] diese Woche weg. Ist das in Ordnung?'</a:t>
            </a:r>
          </a:p>
          <a:p>
            <a:r>
              <a:t>Konsequenz: Wer nicht fragt, entscheidet – nur unsichtbar. Und meistens zuungunsten von Quadrant 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 Rollenspiel. Textarbeit: Satz aufschreiben, laut vorlesen, Rückmeldung: 'Wenn ich das höre – will ich antworten oder mich verteidigen?'</a:t>
            </a:r>
          </a:p>
          <a:p>
            <a:r>
              <a:t>Instruktion präzise: 'Es geht nicht um das, was Sie sagen würden – sondern um das, was Sie vorbereitet haben.'</a:t>
            </a:r>
          </a:p>
          <a:p>
            <a:r>
              <a:t>Häufige Formulierungsfehler: Rückfrage klingt als verdeckter Vorwurf. Eingreifen: 'Stellen Sie sich vor, Sie sind der Mitarbeitende...'</a:t>
            </a:r>
          </a:p>
          <a:p>
            <a:r>
              <a:t>AB-2 Situation 2 direkt mit AB-1 verknüpfen: Welche Quadrant-II-Blöcke müssen geschützt sein, damit die Formulierung stimmt?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Hilfsfrage für Zögernde: 'Welche Führungsaufgabe hat zuletzt keinen Platz gefunden?'</a:t>
            </a:r>
          </a:p>
          <a:p>
            <a:r>
              <a:t>Drei Transfer-Aufgaben (Sec 5) kurz vorstellen: Zeitprotokoll führen, Blöcke halten, Rückfrage-Regel 3× erproben.</a:t>
            </a:r>
          </a:p>
          <a:p>
            <a:r>
              <a:t>Selbstcheck nach 4 Wochen mitgeben – Teilnehmer markieren heute: Welche Frage würde ich jetzt schon mit Ja beantworten?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Servant-Leadership-Impuls als Haltungsfolie – nicht als Appell, sondern als praktischer Prüfstein.</a:t>
            </a:r>
          </a:p>
          <a:p>
            <a:r>
              <a:t>Greenleaf (1977): Zeit für das Team ist konstitutiver Bestandteil der Führungsrolle.</a:t>
            </a:r>
          </a:p>
          <a:p>
            <a:r>
              <a:t>Abschlusssatz (Trainer): 'Was würde sich in Ihrem Team verändern, wenn Sie ab nächster Woche konsequent drei Stunden pro Woche für Führungsarbeit blocken?'</a:t>
            </a:r>
          </a:p>
          <a:p>
            <a:r>
              <a:t>Überleitung zu TL03: Delegation als Teamentwicklungsinstrument – wenn Aufwärtsdelegation eingedämmt ist, beginnt bewusstes Delegieren nach unten.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TL01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Selbst- und Zeitführung als Führungskraft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Prioritäten setzen, Energie steuern, Zeit für Führungsarbeit gewinnen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K-F00 Selbst- &amp; Rollenführung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Teamleiter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TL01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Der übervolle Kalender ist das häufigste Symptom dafür, dass der Rollenwechsel noch nicht vollzogen ist.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Halbtagsmodul arbeiten Teamleiter an ihrer persönlichen Zeit- und Prioritätenarchitektur: Welche Tätigkeiten bringen echten Führungswert?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Wo versickert Zeit in Facharbeit, Reaktivität und Aufwärtsdelegation?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Mit der Eisenhower-Matrix, einem Wochenprotokoll-Audit und konkreten Delegation- und Nein-Sagen-Bausteinen gewinnen die Teilnehmer Klarheit – und einen handfesten Wochenplan, in dem Führungsarbeit Raum hat.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TL01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vier Quadranten der Eisenhower-Matrix erklären und typische Führungsaufgaben dem Quadrant II (wichtig, nicht dringend) zuordnen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eigene Woche anhand eines Zeitprotokolls auswerten, Zeitfresser und Quadrant-I/III-Fallen benennen und den Ist-Zustand der Führungszeit-Verteilung einschätzen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Mindestens drei konkrete Maßnahmen zur Priorisierung und Zeitblockung (Fokuszeit, Delegation, Meeting-Hygiene) auf die eigene Führungssituation anwenden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Situation der Aufwärtsdelegation oder eines unbegründeten Einwands mit einer klaren, beziehungsschonenden Formulierung erwidern und die Entscheidung zu delegieren aktiv vorbereiten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TL01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0–15 Min.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Einstieg &amp; Erwartungscheck</a:t>
            </a:r>
            <a:r>
              <a:rPr sz="900">
                <a:solidFill>
                  <a:srgbClr val="78808C"/>
                </a:solidFill>
                <a:latin typeface="Arial"/>
              </a:rPr>
              <a:t>  ·  Blitzlicht-Runde: Jeder TN nennt in einem Satz, welche Zeitfalle ihn derzeit am meisten beschäftigt (z. B. „zu viel Facharbeit", „E-Mails fressen mich", „Mitarbeitende lösen nichts selbst"). Trainer notiert die Nennungen stichwortartig am Flipchart.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15–35 Min.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Theorie-Input: Eisenhower-Matrix &amp; Quadrant-II-Prinzip</a:t>
            </a:r>
            <a:r>
              <a:rPr sz="900">
                <a:solidFill>
                  <a:srgbClr val="78808C"/>
                </a:solidFill>
                <a:latin typeface="Arial"/>
              </a:rPr>
              <a:t>  ·  Lehrgespräch mit Visualisierung (Folie/Flipchart): Wichtig vs. Dringend; vier Quadranten; warum Quadrant II systematisch verdrängt wird; Big-Rocks-Prinzip (Covey, 1989). Teilnehmer ordnen spontan zwei eigene Tätigkeiten den Quadranten zu.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35–50 Min.  </a:t>
            </a:r>
            <a:r>
              <a:rPr sz="1200" b="1">
                <a:solidFill>
                  <a:srgbClr val="3D5466"/>
                </a:solidFill>
                <a:latin typeface="Arial"/>
              </a:rPr>
              <a:t>  Plenumssicherung: Wo verbringe ich meine Zeit wirklich?</a:t>
            </a:r>
            <a:r>
              <a:rPr sz="900">
                <a:solidFill>
                  <a:srgbClr val="78808C"/>
                </a:solidFill>
                <a:latin typeface="Arial"/>
              </a:rPr>
              <a:t>  ·  Trainer zeigt Sandra M.s Wochenprotokoll (Sec 4, Praxisfall) als gemeinsames Analysematerial. TN identifizieren per Zuruf die drei größten Zeitfresser und ordnen sie Quadranten zu. Trainer kategorisiert die Zuruf-Antworten live an der Tafel.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50–60 Min. 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  <a:r>
              <a:rPr sz="900">
                <a:solidFill>
                  <a:srgbClr val="78808C"/>
                </a:solidFill>
                <a:latin typeface="Arial"/>
              </a:rPr>
              <a:t>  ·  –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60–90 Min.  </a:t>
            </a:r>
            <a:r>
              <a:rPr sz="1200" b="1">
                <a:solidFill>
                  <a:srgbClr val="3D5466"/>
                </a:solidFill>
                <a:latin typeface="Arial"/>
              </a:rPr>
              <a:t>  AB-1: Eigene Zeit- und Prioritätenanalyse (Einzelarbeit)</a:t>
            </a:r>
            <a:r>
              <a:rPr sz="900">
                <a:solidFill>
                  <a:srgbClr val="78808C"/>
                </a:solidFill>
                <a:latin typeface="Arial"/>
              </a:rPr>
              <a:t>  ·  TN füllen AB-1 (Sec 4) für ihre eigene Woche aus: Zeitprotokoll-Rückblick, Quadrant-II-Anteil schätzen, drei größte Zeitfresser benennen, drei Quadrant-II-Blockungen planen. Stille Einzelarbeit, ca. 20 Min. (Teil 1–3). Danach: Zwei bis drei TN teilen ihre Ergebnisse kurz im Plenum (Teil 2 und 3), Trainer hält Muster fest, ca. 10 Min. Gesamtblock: 30 Min. Teil 4 (Blockungsplanung) wird später im Modul (190–215 Min.) vertieft.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90–115 Min.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Theorie-Input: Selbstführung &amp; Aufwärtsdelegation</a:t>
            </a:r>
            <a:r>
              <a:rPr sz="900">
                <a:solidFill>
                  <a:srgbClr val="78808C"/>
                </a:solidFill>
                <a:latin typeface="Arial"/>
              </a:rPr>
              <a:t>  ·  Lehrgespräch: Managing Oneself (Drucker, 1999) – Stärken als Ausgangspunkt; Aufwärtsdelegation (Oncken &amp; Wass, 1974) – das Monkey-Management-Phänomen; die Rückfrage-Regel. Trainer veranschaulicht am Sandra-M.-Fall (Aufgabe 3 aus dem Praxisfall): Was passiert, wenn Marco mit Bäckerei Wagner zu Sandra kommt?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115–125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  <a:r>
              <a:rPr sz="900">
                <a:solidFill>
                  <a:srgbClr val="78808C"/>
                </a:solidFill>
                <a:latin typeface="Arial"/>
              </a:rPr>
              <a:t>  ·  Vor der Pause ankündigen: „Denken Sie in der Pause schon an eine konkrete Aufwärtsdelegations-Situation aus Ihrem Team. Direkt nach der Pause starten wir mit 8 Minuten stiller Vorbereitung auf AB-2."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125–168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Kollegiale Fallberatung: Aufwärtsdelegation in der Praxis</a:t>
            </a:r>
            <a:r>
              <a:rPr sz="900">
                <a:solidFill>
                  <a:srgbClr val="78808C"/>
                </a:solidFill>
                <a:latin typeface="Arial"/>
              </a:rPr>
              <a:t>  ·  Jeder TN benennt still (ca. 8 Min.) eine konkrete Situation aus dem eigenen Team, in der er eine Aufwärtsdelegation erlebt hat (AB-2, Sec 4 – Vorbereitung). Dann: Drei bis vier TN stellen ihren Fall in je 60 Sekunden vor. Plenum erarbeitet für jeden Fall eine beziehungsschonende Rückfrage-Formulierung (kollegiale Fallberatung, kein Rollenspiel – Gesprächsvorbereitung auf Papier, dann laut vorlesen und kommentieren). Trainer moderiert den Abgleich: Was klingt einladend, was klingt abweisend?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168–190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AB-2: Gesprächsvorbereitung (Einzelarbeit &amp; Auswertung)</a:t>
            </a:r>
            <a:r>
              <a:rPr sz="900">
                <a:solidFill>
                  <a:srgbClr val="78808C"/>
                </a:solidFill>
                <a:latin typeface="Arial"/>
              </a:rPr>
              <a:t>  ·  TN vervollständigen AB-2 (Rückfrage-Formulierung, erwartete Reaktion, Abschluss-Satz). Anschließend: Zwei TN lesen ihre Formulierungen vor, Plenum gibt Rückmeldung aus der Mitarbeiterperspektive: „Wenn ich das höre – will ich antworten, oder will ich mich verteidigen?" Kein Rollenspiel, kein Verhalten – Textarbeit.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190–215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Priorisierungskarte, Checkliste &amp; Wochenplan-Skizze</a:t>
            </a:r>
            <a:r>
              <a:rPr sz="900">
                <a:solidFill>
                  <a:srgbClr val="78808C"/>
                </a:solidFill>
                <a:latin typeface="Arial"/>
              </a:rPr>
              <a:t>  ·  Trainer führt kurz durch die Merk- und Prioritätenkarte (Sec 4). TN lesen die fünf Prinzipien still und markieren das eine, das für sie gerade am dringendsten ist. Dann: Jeder TN skizziert seinen ersten überarbeiteten Wochenplan (AB-1, Teil 4): Welche drei Quadrant-II-Blöcke werden wo geblockt – und wie werden sie geschützt? Kurze Plenums-Runde: Wer teilt seinen Entwurf?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215–230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Transfer-Aufgaben &amp; Selbstcheck besprechen</a:t>
            </a:r>
            <a:r>
              <a:rPr sz="900">
                <a:solidFill>
                  <a:srgbClr val="78808C"/>
                </a:solidFill>
                <a:latin typeface="Arial"/>
              </a:rPr>
              <a:t>  ·  Trainer stellt die drei Transferaufgaben (Sec 5) vor. TN füllen die Checkliste (Sec 4) für den heutigen Stand aus: Welche Fragen können sie mit „Ja" beantworten, welche noch nicht? Kurzes Plenum: Was ist mein konkreter erster Schritt für die nächste Woche?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230–240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Evaluation &amp; Abschluss</a:t>
            </a:r>
            <a:r>
              <a:rPr sz="900">
                <a:solidFill>
                  <a:srgbClr val="78808C"/>
                </a:solidFill>
                <a:latin typeface="Arial"/>
              </a:rPr>
              <a:t>  ·  Feedbackbogen (Sec 6.1) ausfüllen (ca. 6 Min.). Wissenstest (Sec 6.2) als optionale Hausaufgabe ausgeben. Optional, aber wirksam: TN bitten, noch heute den Termin für das Beobachtungsgespräch mit der Bereichsleitung einzutragen (Sec 6.3, L3-Termin-Mechanismus). Trainer schließt mit einem persönlichen Prüfsatz, der aus den Reflexionsfragen (Sec 4) entstammt: „Was würde sich in Ihrem Team verändern, wenn Sie ab nächster Woche konsequent drei Stunden pro Woche für Führungsarbeit blocken?"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I · Symptom &amp;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Warum der volle Kalender kein Zeitproblem ist – sondern ein Prioritätenproblem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Der volle Kalender ist kein Schicksal – er ist ein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Überfüllter Kalender = Rollenwechsel noch nicht vollzogen.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Zeit ist ein Spiegel der Prioritäten.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 fehlt: nicht mehr Stunden, sondern Klarheit.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Führungsarbeit verdrängt sich nicht von selbst.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Wichtig vs. dringend: die entscheidende Unterscheidung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Dringend = laut. Wichtig = wertvoll.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Beides zusammen: Quadrant I (Krisen, Deadlines).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Wichtig, nicht dringend: Quadrant II – Führungsarbeit.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Dringend, nicht wichtig: Quadrant III – der stille Zeitfresser.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Quadrant II ist der Führungsquadrant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522" y="1325880"/>
            <a:ext cx="6067907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Das Big-Rocks-Prinzip: wer zuerst Sand einlegt, hat keinen Platz mehr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Quadrant II schützt sich nicht selbst.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Sand und Kies (Q I, III, IV) füllen den Tag.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Große Steine zuerst = Quadrant II zuerst blocken.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Nicht planen – buchen.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PLENUM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Fallanalyse: Sandra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Zeitprotokoll lesen – Muster erkennen – Quadranten zuordnen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TL01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Sandra M.: nur 3 von 40 Stunden in echter Führungsarbeit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Tätigkeit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Eigene Kreditausarbeitungen / Stammkunden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E-Mails reaktiv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Teamgespräche, Meetings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Anfragen von Mitarbeitenden bearbeiten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Systempflege, Reporting, Wiedervorlagen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Einzelgespräche mit MA (geplant)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Vorbereitung Steuerungsgespräche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Strategische Teamreflexion / Entwicklung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Unterbrechungen / Ad-hoc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EINZELARBEIT (20 MIN.) + PLENUM (10 MIN.)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AB-1: Eigene Zeit- und Prioritätenanalyse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Ist-Zustand der eigenen Führungszeit-Verteilung ehrlich einschätzen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TL01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AB-1: Was zeigt meine Woche – wirklich?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1: Zeitprotokoll-Rückblick – Stunden je Tätigkeit schätzen.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2: Quadrant-II-Anteil berechnen (Stunden + % der Woche).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3: Drei größte Zeitfresser benennen + je eine Maßnahme.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Teil 4: Drei Quadrant-II-Blöcke für nächste Woche einplanen (wird später vertieft).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THEORIE-INPUT + KOLLEGIALE FALLBERATUNG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Aufwärtsdelegation: wessen Affe ist das?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Das Monkey-Management-Muster erkennen und in beiden Richtungen unterbrechen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Der Affe wandert, wenn man nicht fragt: Was haben Sie schon überlegt?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Mitarbeitender bringt Problem ohne Lösungsvorschlag.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TL übernimmt implizit – Affe wechselt den Rücken.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Abend: TL sitzt unter fremden Affen.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Rückfrage = Führungshandlung, nicht Abweisung.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Delegation geht in beide Richtungen – nach unten UND nach oben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Nach unten: Rückfrage – Verantwortung zurückgeben.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Nach oben: Transparenz – sichtbar machen, was das Ja kostet.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Formulierung oben: „Ich kann das machen – dann fällt [X] weg.“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Das ist kein Nein. Das ist Prioritätskommunikation.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KOLLEGIALE FALLBERATUNG (43 MIN.) + EINZELARBEIT (22 MIN.)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AB-2: Gesprächsvorbereitung – Aufwärtsdelegation zurückgeben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Konkrete Rückfrage-Formulierung für beide Richtungen vorbereiten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TL01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AB-2: Einen Satz vorbereiten – nicht improvisieren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Situation 1 (nach unten): Konkrete Mitarbeiter-Anfrage benennen.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Rückfrage-Formulierung schreiben (ein Satz, einladend).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Situation 2 (nach oben): Anfrage der Bereichsleitung benennen.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Formulierung: „Ich kann das machen – dann fällt [X] weg.“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ABSCHLUSS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Wochenplan &amp;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Führungszeit aktiv planen und Prinzipien als Anker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Drei Fokusblöcke – jetzt buchen, nicht später planen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AB-1 Teil 4: drei Quadrant-II-Blöcke in Kalender eintragen.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Inhalt benennen: Einzelgespräch, Steuerungsvorbereitung, Teamplanung.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Schutzregel: Block = Termin. Meeting-Anfragen standardmäßig ablehnen.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Nach 4 Wochen: Haltequote messen, Verdrängungsgrund benennen.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Führungszeit ist Führungsarbeit – nicht Zusatz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Quadrant II schütze ich aktiv – er schützt sich nicht selbst.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Meine Rückfrage schützt beide: mich und den Mitarbeitenden.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Delegation beginnt mit: Wer wächst durch diese Aufgabe?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Greenleaf-Test: Wachsen die Menschen, denen ich begegne?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