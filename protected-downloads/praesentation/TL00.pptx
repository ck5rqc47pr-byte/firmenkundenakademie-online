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Agenda aus dem Ablaufplan (Sektion 3.1). Timing und Pausen siehe Trainerhandbuch.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Trainer-Hinweis: Musterlösung im Trainer-Abschnitt unten. Die Situationen decken alle vier Dimensionen des Rollenwechsels ab: Situation A (Erfolgslogik/Delegation), Situation B1+B2 (Identität/Rollenklarheit – emotionalster Block, nicht abwürgen, sondern moderieren; B2 unbedingt im Plenum besprechen, da sie den Moment der Teamakzeptanz zeigt), Situation C (Zeit/Führungsleistung benennen), Situation D (Leistungsverantwortung wahrnehmen – häufig der am stärksten gemiedene Moment des ersten Jahres; in der kollegialen Fallberatung besonders wertvoll).</a:t>
            </a:r>
          </a:p>
          <a:p>
            <a:r>
              <a:t>AB-1 Musterlösung (Trainer-Version)</a:t>
            </a:r>
          </a:p>
          <a:p>
            <a:r>
              <a:t>Situation A: Thomas delegiert das Gespräch vollständig an Marcus Bauer und begleitet es im ersten Schritt als stille Beobachtung (Beobachtungsbogen, 30 Minuten). Danach gibt er Marcus strukturiertes Feedback: Was war gut? Was würde er beim nächsten Mal anders machen? Thomas tritt damit als Coach auf, nicht als besserer Berater. Der Stammkunde ist ein idealer erster „Transferfall" – der Beziehungsaufbau zwischen Marcus und dem Kunden ist echte Führungsleistung.</a:t>
            </a:r>
          </a:p>
          <a:p>
            <a:r>
              <a:t>Situation B1: Thomas klärt mit Marco in einem kurzen Einzelgespräch die neue Rollenerwartung: „Ich werde deine Kreditausarbeitungen nicht mehr inhaltlich kommentieren – das ist jetzt deine fachliche Verantwortung. Ich bin da, wenn du eine Meinung brauchst, aber ich fordere sie nicht ungefragt. Wenn ich Feedback gebe, dann zur Struktur und zum Vorgehen, nicht zur Lösung." Dieser Satz setzt eine klare Grenze ohne Hierarchisierung. Das Gespräch sollte explizit, ruhig und kurz sein.</a:t>
            </a:r>
          </a:p>
          <a:p>
            <a:r>
              <a:t>Situation B2: Thomas reagiert im Teammeeting sofort – aber ohne Eskalation. Bewährte Formulierung: „Marco, danke für den Einwand – der verdient eine Antwort. Wir haben das frühere Verfahren bewusst überprüft, und ich habe mich aus folgenden Gründen für diesen neuen Standard entschieden: [kurze Begründung, 2 Sätze]. Wer konkrete Bedenken zur Umsetzung hat, nehme ich gern im Einzelgespräch entgegen." Drei Dinge passieren gleichzeitig: Thomas zeigt, dass er sachliche Einwände ernst nimmt, nennt seine Entscheidungsgrundlage, und verschiebt die Detaildiskussion aus dem Plenum ins Vieraugengespräch. Marco behält sein Gesicht – und das Team sieht, dass Thomas entscheidungsstark bleibt. Zentral: Dieser Moment erfordert kein späteres Strafgespräch mit Marco. Die richtige Reaktion im Meeting ist die Führungshandlung.</a:t>
            </a:r>
          </a:p>
          <a:p>
            <a:r>
              <a:t>Trainer-Hinweis: Situation B2 ist der Moment, der über Akzeptanz oder Erosion der Teamleiter-Rolle entscheidet. Im Plenum gemeinsam Formulierungsalternativen sammeln: Was würde „zu weich" klingen? Was „zu hart"? Der Raum zwischen beidem ist die Führungskompetenz. Kein Rollenspiel – stattdessen: Teilnehmer schreiben ihren eigenen Einstiegssatz auf, ein Freiwilliger liest vor.</a:t>
            </a:r>
          </a:p>
          <a:p>
            <a:r>
              <a:t>Situation C: Echte Führungsleistung in vier Monaten: Wie viele Ei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01168"/>
            <a:ext cx="10817352" cy="256032"/>
          </a:xfrm>
          <a:prstGeom prst="rect">
            <a:avLst/>
          </a:prstGeom>
          <a:noFill/>
        </p:spPr>
        <p:txBody>
          <a:bodyPr wrap="none">
            <a:spAutoFit/>
          </a:bodyPr>
          <a:lstStyle/>
          <a:p>
            <a:pPr algn="l"/>
            <a:r>
              <a:rPr sz="800">
                <a:solidFill>
                  <a:srgbClr val="C8D2E6"/>
                </a:solidFill>
                <a:latin typeface="Consolas"/>
              </a:rPr>
              <a:t>FKB CAMPUS  ·  FIRMENKUNDENAKADEMIE  ·  TL00</a:t>
            </a:r>
          </a:p>
        </p:txBody>
      </p:sp>
      <p:sp>
        <p:nvSpPr>
          <p:cNvPr id="5" name="TextBox 4"/>
          <p:cNvSpPr txBox="1"/>
          <p:nvPr/>
        </p:nvSpPr>
        <p:spPr>
          <a:xfrm>
            <a:off x="685800" y="1828800"/>
            <a:ext cx="10817352" cy="2011680"/>
          </a:xfrm>
          <a:prstGeom prst="rect">
            <a:avLst/>
          </a:prstGeom>
          <a:noFill/>
        </p:spPr>
        <p:txBody>
          <a:bodyPr wrap="square">
            <a:spAutoFit/>
          </a:bodyPr>
          <a:lstStyle/>
          <a:p>
            <a:pPr algn="l"/>
            <a:r>
              <a:rPr sz="4600" b="1" i="0">
                <a:solidFill>
                  <a:srgbClr val="FFFFFF"/>
                </a:solidFill>
                <a:latin typeface="Arial"/>
              </a:rPr>
              <a:t>Vom Berater zur Führungskraft: der Rollenwechsel</a:t>
            </a:r>
          </a:p>
        </p:txBody>
      </p:sp>
      <p:sp>
        <p:nvSpPr>
          <p:cNvPr id="6" name="TextBox 5"/>
          <p:cNvSpPr txBox="1"/>
          <p:nvPr/>
        </p:nvSpPr>
        <p:spPr>
          <a:xfrm>
            <a:off x="685800" y="3977639"/>
            <a:ext cx="10817352" cy="731520"/>
          </a:xfrm>
          <a:prstGeom prst="rect">
            <a:avLst/>
          </a:prstGeom>
          <a:noFill/>
        </p:spPr>
        <p:txBody>
          <a:bodyPr wrap="square">
            <a:spAutoFit/>
          </a:bodyPr>
          <a:lstStyle/>
          <a:p>
            <a:pPr algn="l"/>
            <a:r>
              <a:rPr sz="1900" b="0" i="1">
                <a:solidFill>
                  <a:srgbClr val="BECDE6"/>
                </a:solidFill>
                <a:latin typeface="Arial"/>
              </a:rPr>
              <a:t>Das eigene Führungsselbstverständnis finden</a:t>
            </a:r>
          </a:p>
        </p:txBody>
      </p:sp>
      <p:sp>
        <p:nvSpPr>
          <p:cNvPr id="7" name="Rectangle 6"/>
          <p:cNvSpPr/>
          <p:nvPr/>
        </p:nvSpPr>
        <p:spPr>
          <a:xfrm>
            <a:off x="685800" y="5029200"/>
            <a:ext cx="10817352" cy="127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5193792"/>
            <a:ext cx="3605784" cy="201168"/>
          </a:xfrm>
          <a:prstGeom prst="rect">
            <a:avLst/>
          </a:prstGeom>
          <a:noFill/>
        </p:spPr>
        <p:txBody>
          <a:bodyPr wrap="none">
            <a:spAutoFit/>
          </a:bodyPr>
          <a:lstStyle/>
          <a:p>
            <a:pPr algn="l"/>
            <a:r>
              <a:rPr sz="700">
                <a:solidFill>
                  <a:srgbClr val="A0B4D2"/>
                </a:solidFill>
                <a:latin typeface="Consolas"/>
              </a:rPr>
              <a:t>KOMPETENZFELD</a:t>
            </a:r>
          </a:p>
        </p:txBody>
      </p:sp>
      <p:sp>
        <p:nvSpPr>
          <p:cNvPr id="9" name="TextBox 8"/>
          <p:cNvSpPr txBox="1"/>
          <p:nvPr/>
        </p:nvSpPr>
        <p:spPr>
          <a:xfrm>
            <a:off x="685800" y="5394960"/>
            <a:ext cx="3605784" cy="320040"/>
          </a:xfrm>
          <a:prstGeom prst="rect">
            <a:avLst/>
          </a:prstGeom>
          <a:noFill/>
        </p:spPr>
        <p:txBody>
          <a:bodyPr wrap="square">
            <a:spAutoFit/>
          </a:bodyPr>
          <a:lstStyle/>
          <a:p>
            <a:pPr algn="l"/>
            <a:r>
              <a:rPr sz="1100" b="0" i="0">
                <a:solidFill>
                  <a:srgbClr val="FFFFFF"/>
                </a:solidFill>
                <a:latin typeface="Arial"/>
              </a:rPr>
              <a:t>K-F00 Selbst- &amp; Rollenführung</a:t>
            </a:r>
          </a:p>
        </p:txBody>
      </p:sp>
      <p:sp>
        <p:nvSpPr>
          <p:cNvPr id="10" name="TextBox 9"/>
          <p:cNvSpPr txBox="1"/>
          <p:nvPr/>
        </p:nvSpPr>
        <p:spPr>
          <a:xfrm>
            <a:off x="4291584" y="5193792"/>
            <a:ext cx="3605784" cy="201168"/>
          </a:xfrm>
          <a:prstGeom prst="rect">
            <a:avLst/>
          </a:prstGeom>
          <a:noFill/>
        </p:spPr>
        <p:txBody>
          <a:bodyPr wrap="none">
            <a:spAutoFit/>
          </a:bodyPr>
          <a:lstStyle/>
          <a:p>
            <a:pPr algn="l"/>
            <a:r>
              <a:rPr sz="700">
                <a:solidFill>
                  <a:srgbClr val="A0B4D2"/>
                </a:solidFill>
                <a:latin typeface="Consolas"/>
              </a:rPr>
              <a:t>KOMPETENZSTUFE</a:t>
            </a:r>
          </a:p>
        </p:txBody>
      </p:sp>
      <p:sp>
        <p:nvSpPr>
          <p:cNvPr id="11" name="TextBox 10"/>
          <p:cNvSpPr txBox="1"/>
          <p:nvPr/>
        </p:nvSpPr>
        <p:spPr>
          <a:xfrm>
            <a:off x="4291584" y="5394960"/>
            <a:ext cx="3605784" cy="320040"/>
          </a:xfrm>
          <a:prstGeom prst="rect">
            <a:avLst/>
          </a:prstGeom>
          <a:noFill/>
        </p:spPr>
        <p:txBody>
          <a:bodyPr wrap="square">
            <a:spAutoFit/>
          </a:bodyPr>
          <a:lstStyle/>
          <a:p>
            <a:pPr algn="l"/>
            <a:r>
              <a:rPr sz="1100" b="0" i="0">
                <a:solidFill>
                  <a:srgbClr val="FFFFFF"/>
                </a:solidFill>
                <a:latin typeface="Arial"/>
              </a:rPr>
              <a:t>Teamleiter</a:t>
            </a:r>
          </a:p>
        </p:txBody>
      </p:sp>
      <p:sp>
        <p:nvSpPr>
          <p:cNvPr id="12" name="TextBox 11"/>
          <p:cNvSpPr txBox="1"/>
          <p:nvPr/>
        </p:nvSpPr>
        <p:spPr>
          <a:xfrm>
            <a:off x="7897368" y="5193792"/>
            <a:ext cx="3605784" cy="201168"/>
          </a:xfrm>
          <a:prstGeom prst="rect">
            <a:avLst/>
          </a:prstGeom>
          <a:noFill/>
        </p:spPr>
        <p:txBody>
          <a:bodyPr wrap="none">
            <a:spAutoFit/>
          </a:bodyPr>
          <a:lstStyle/>
          <a:p>
            <a:pPr algn="l"/>
            <a:r>
              <a:rPr sz="700">
                <a:solidFill>
                  <a:srgbClr val="A0B4D2"/>
                </a:solidFill>
                <a:latin typeface="Consolas"/>
              </a:rPr>
              <a:t>VERSION</a:t>
            </a:r>
          </a:p>
        </p:txBody>
      </p:sp>
      <p:sp>
        <p:nvSpPr>
          <p:cNvPr id="13" name="TextBox 12"/>
          <p:cNvSpPr txBox="1"/>
          <p:nvPr/>
        </p:nvSpPr>
        <p:spPr>
          <a:xfrm>
            <a:off x="7897368" y="5394960"/>
            <a:ext cx="3605784" cy="320040"/>
          </a:xfrm>
          <a:prstGeom prst="rect">
            <a:avLst/>
          </a:prstGeom>
          <a:noFill/>
        </p:spPr>
        <p:txBody>
          <a:bodyPr wrap="square">
            <a:spAutoFit/>
          </a:bodyPr>
          <a:lstStyle/>
          <a:p>
            <a:pPr algn="l"/>
            <a:r>
              <a:rPr sz="1100" b="0" i="0">
                <a:solidFill>
                  <a:srgbClr val="FFFFFF"/>
                </a:solidFill>
                <a:latin typeface="Arial"/>
              </a:rPr>
              <a:t>v0.2</a:t>
            </a:r>
          </a:p>
        </p:txBody>
      </p:sp>
      <p:sp>
        <p:nvSpPr>
          <p:cNvPr id="14" name="Rectangle 13"/>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6583680"/>
            <a:ext cx="5408676" cy="256032"/>
          </a:xfrm>
          <a:prstGeom prst="rect">
            <a:avLst/>
          </a:prstGeom>
          <a:noFill/>
        </p:spPr>
        <p:txBody>
          <a:bodyPr wrap="none">
            <a:spAutoFit/>
          </a:bodyPr>
          <a:lstStyle/>
          <a:p>
            <a:pPr algn="l"/>
            <a:r>
              <a:rPr sz="700">
                <a:solidFill>
                  <a:srgbClr val="96A5BE"/>
                </a:solidFill>
                <a:latin typeface="Consolas"/>
              </a:rPr>
              <a:t>FKB Campus  ·  2026</a:t>
            </a:r>
          </a:p>
        </p:txBody>
      </p:sp>
      <p:sp>
        <p:nvSpPr>
          <p:cNvPr id="16" name="TextBox 15"/>
          <p:cNvSpPr txBox="1"/>
          <p:nvPr/>
        </p:nvSpPr>
        <p:spPr>
          <a:xfrm>
            <a:off x="6094476" y="6583680"/>
            <a:ext cx="5408676" cy="256032"/>
          </a:xfrm>
          <a:prstGeom prst="rect">
            <a:avLst/>
          </a:prstGeom>
          <a:noFill/>
        </p:spPr>
        <p:txBody>
          <a:bodyPr wrap="none">
            <a:spAutoFit/>
          </a:bodyPr>
          <a:lstStyle/>
          <a:p>
            <a:pPr algn="r"/>
            <a:r>
              <a:rPr sz="700">
                <a:solidFill>
                  <a:srgbClr val="96A5BE"/>
                </a:solidFill>
                <a:latin typeface="Consolas"/>
              </a:rPr>
              <a:t>Trainer-Präsentation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ÜBERBLICK  ·  TL00</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Arial"/>
              </a:rPr>
              <a:t>Worum geht es heute</a:t>
            </a:r>
          </a:p>
        </p:txBody>
      </p:sp>
      <p:sp>
        <p:nvSpPr>
          <p:cNvPr id="7" name="TextBox 6"/>
          <p:cNvSpPr txBox="1"/>
          <p:nvPr/>
        </p:nvSpPr>
        <p:spPr>
          <a:xfrm>
            <a:off x="685800" y="1737360"/>
            <a:ext cx="9720072" cy="4206240"/>
          </a:xfrm>
          <a:prstGeom prst="rect">
            <a:avLst/>
          </a:prstGeom>
          <a:noFill/>
        </p:spPr>
        <p:txBody>
          <a:bodyPr wrap="square">
            <a:spAutoFit/>
          </a:bodyPr>
          <a:lstStyle/>
          <a:p>
            <a:pPr>
              <a:spcAft>
                <a:spcPts val="1200"/>
              </a:spcAft>
            </a:pPr>
            <a:r>
              <a:rPr sz="1700">
                <a:solidFill>
                  <a:srgbClr val="3D5466"/>
                </a:solidFill>
                <a:latin typeface="Arial"/>
              </a:rPr>
              <a:t>Neu beförderter Teamleiter im Firmenkundengeschäft stehen vor einem der anspruchsvollsten Übergänge ihrer Berufsbiografie: Erfolg entsteht nicht mehr durch die eigene Beratungsleistung, sondern durch die Leistung des Teams.</a:t>
            </a:r>
          </a:p>
          <a:p>
            <a:pPr>
              <a:spcAft>
                <a:spcPts val="1200"/>
              </a:spcAft>
            </a:pPr>
            <a:r>
              <a:rPr sz="1700">
                <a:solidFill>
                  <a:srgbClr val="3D5466"/>
                </a:solidFill>
                <a:latin typeface="Arial"/>
              </a:rPr>
              <a:t>Dieses Halbtages-Modul macht den Rollenwechsel explizit – fachlich, haltungsbezogen und ganz konkret für den Alltag in der VR-Bank.</a:t>
            </a:r>
          </a:p>
          <a:p>
            <a:pPr>
              <a:spcAft>
                <a:spcPts val="1200"/>
              </a:spcAft>
            </a:pPr>
            <a:r>
              <a:rPr sz="1700">
                <a:solidFill>
                  <a:srgbClr val="3D5466"/>
                </a:solidFill>
                <a:latin typeface="Arial"/>
              </a:rPr>
              <a:t>Die Teilnehmer klären ihr Führungsselbstverständnis, erarbeiten, wie Autorität ohne Fachwissensvorsprung entsteht, und bereiten über kollegiale Fallberatung ein erstes reales Führungsgespräch vor.</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LERNZIELE  ·  TL00</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Arial"/>
              </a:rPr>
              <a:t>Was Sie heute mitnehmen</a:t>
            </a:r>
          </a:p>
        </p:txBody>
      </p:sp>
      <p:sp>
        <p:nvSpPr>
          <p:cNvPr id="7" name="TextBox 6"/>
          <p:cNvSpPr txBox="1"/>
          <p:nvPr/>
        </p:nvSpPr>
        <p:spPr>
          <a:xfrm>
            <a:off x="685800" y="1371600"/>
            <a:ext cx="10817352" cy="5120640"/>
          </a:xfrm>
          <a:prstGeom prst="rect">
            <a:avLst/>
          </a:prstGeom>
          <a:noFill/>
        </p:spPr>
        <p:txBody>
          <a:bodyPr wrap="square">
            <a:spAutoFit/>
          </a:bodyPr>
          <a:lstStyle/>
          <a:p>
            <a:pPr>
              <a:spcBef>
                <a:spcPts val="800"/>
              </a:spcBef>
              <a:spcAft>
                <a:spcPts val="200"/>
              </a:spcAft>
            </a:pPr>
            <a:r>
              <a:rPr sz="1400">
                <a:solidFill>
                  <a:srgbClr val="3D5466"/>
                </a:solidFill>
                <a:latin typeface="Arial"/>
              </a:rPr>
              <a:t>▸  Die Kernunterschiede zwischen der Beratungsrolle und der Führungsrolle benennen</a:t>
            </a:r>
          </a:p>
          <a:p>
            <a:pPr>
              <a:spcBef>
                <a:spcPts val="800"/>
              </a:spcBef>
              <a:spcAft>
                <a:spcPts val="200"/>
              </a:spcAft>
            </a:pPr>
            <a:r>
              <a:rPr sz="1400">
                <a:solidFill>
                  <a:srgbClr val="3D5466"/>
                </a:solidFill>
                <a:latin typeface="Arial"/>
              </a:rPr>
              <a:t>▸  Die neue Erfolgslogik als Teamleiter – Wirkung durch andere erzielen statt selbst beraten – erklären und auf die eigene Situation übertragen</a:t>
            </a:r>
          </a:p>
          <a:p>
            <a:pPr>
              <a:spcBef>
                <a:spcPts val="800"/>
              </a:spcBef>
              <a:spcAft>
                <a:spcPts val="200"/>
              </a:spcAft>
            </a:pPr>
            <a:r>
              <a:rPr sz="1400">
                <a:solidFill>
                  <a:srgbClr val="3D5466"/>
                </a:solidFill>
                <a:latin typeface="Arial"/>
              </a:rPr>
              <a:t>▸  Typische Rollenfallen neu beförderter Teamleiter (z. B. Rückfall ins Fachexperten-Selbstverständnis, Loyalitätskonflikte mit ehemaligen Kollegen) erkennen und eigene Umgangsstrategien formulieren</a:t>
            </a:r>
          </a:p>
          <a:p>
            <a:pPr>
              <a:spcBef>
                <a:spcPts val="800"/>
              </a:spcBef>
              <a:spcAft>
                <a:spcPts val="200"/>
              </a:spcAft>
            </a:pPr>
            <a:r>
              <a:rPr sz="1400">
                <a:solidFill>
                  <a:srgbClr val="3D5466"/>
                </a:solidFill>
                <a:latin typeface="Arial"/>
              </a:rPr>
              <a:t>▸  Ein konkretes anstehendes Führungsgespräch oder eine Führungssituation aus dem eigenen Alltag mit Einstiegssatz, Leitfragen und Formulierungsbausteinen vorbereiten</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AGENDA  ·  TL00</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Arial"/>
              </a:rPr>
              <a:t>So läuft das Modul</a:t>
            </a:r>
          </a:p>
        </p:txBody>
      </p:sp>
      <p:sp>
        <p:nvSpPr>
          <p:cNvPr id="7" name="TextBox 6"/>
          <p:cNvSpPr txBox="1"/>
          <p:nvPr/>
        </p:nvSpPr>
        <p:spPr>
          <a:xfrm>
            <a:off x="685800" y="1463040"/>
            <a:ext cx="10817352" cy="4937760"/>
          </a:xfrm>
          <a:prstGeom prst="rect">
            <a:avLst/>
          </a:prstGeom>
          <a:noFill/>
        </p:spPr>
        <p:txBody>
          <a:bodyPr wrap="square">
            <a:spAutoFit/>
          </a:bodyPr>
          <a:lstStyle/>
          <a:p>
            <a:pPr>
              <a:spcBef>
                <a:spcPts val="400"/>
              </a:spcBef>
              <a:spcAft>
                <a:spcPts val="100"/>
              </a:spcAft>
            </a:pPr>
            <a:r>
              <a:rPr sz="900">
                <a:solidFill>
                  <a:srgbClr val="78808C"/>
                </a:solidFill>
                <a:latin typeface="Consolas"/>
              </a:rPr>
              <a:t>09:00–09:15 (15 Min.)</a:t>
            </a:r>
            <a:r>
              <a:rPr sz="1200" b="1">
                <a:solidFill>
                  <a:srgbClr val="3D5466"/>
                </a:solidFill>
                <a:latin typeface="Arial"/>
              </a:rPr>
              <a:t>  Einstieg &amp; Ankommen</a:t>
            </a:r>
            <a:r>
              <a:rPr sz="900">
                <a:solidFill>
                  <a:srgbClr val="78808C"/>
                </a:solidFill>
                <a:latin typeface="Arial"/>
              </a:rPr>
              <a:t>  ·  Plenum, Flipchart</a:t>
            </a:r>
          </a:p>
          <a:p>
            <a:pPr>
              <a:spcBef>
                <a:spcPts val="400"/>
              </a:spcBef>
              <a:spcAft>
                <a:spcPts val="100"/>
              </a:spcAft>
            </a:pPr>
            <a:r>
              <a:rPr sz="900">
                <a:solidFill>
                  <a:srgbClr val="78808C"/>
                </a:solidFill>
                <a:latin typeface="Consolas"/>
              </a:rPr>
              <a:t>09:15–09:45 (30 Min.)</a:t>
            </a:r>
            <a:r>
              <a:rPr sz="1200" b="1">
                <a:solidFill>
                  <a:srgbClr val="3D5466"/>
                </a:solidFill>
                <a:latin typeface="Arial"/>
              </a:rPr>
              <a:t>  Rollenwechsel-Impuls</a:t>
            </a:r>
            <a:r>
              <a:rPr sz="900">
                <a:solidFill>
                  <a:srgbClr val="78808C"/>
                </a:solidFill>
                <a:latin typeface="Arial"/>
              </a:rPr>
              <a:t>  ·  Interaktiver Vortrag, kurze Partnerreflexion (2 Min.)</a:t>
            </a:r>
          </a:p>
          <a:p>
            <a:pPr>
              <a:spcBef>
                <a:spcPts val="400"/>
              </a:spcBef>
              <a:spcAft>
                <a:spcPts val="100"/>
              </a:spcAft>
            </a:pPr>
            <a:r>
              <a:rPr sz="900">
                <a:solidFill>
                  <a:srgbClr val="78808C"/>
                </a:solidFill>
                <a:latin typeface="Consolas"/>
              </a:rPr>
              <a:t>09:45–10:20 (35 Min.)</a:t>
            </a:r>
            <a:r>
              <a:rPr sz="1200" b="1">
                <a:solidFill>
                  <a:srgbClr val="3D5466"/>
                </a:solidFill>
                <a:latin typeface="Arial"/>
              </a:rPr>
              <a:t>  AB-1: Standortbestimmung</a:t>
            </a:r>
            <a:r>
              <a:rPr sz="900">
                <a:solidFill>
                  <a:srgbClr val="78808C"/>
                </a:solidFill>
                <a:latin typeface="Arial"/>
              </a:rPr>
              <a:t>  ·  Einzelarbeit, Paarreflexion, Plenum</a:t>
            </a:r>
          </a:p>
          <a:p>
            <a:pPr>
              <a:spcBef>
                <a:spcPts val="400"/>
              </a:spcBef>
              <a:spcAft>
                <a:spcPts val="100"/>
              </a:spcAft>
            </a:pPr>
            <a:r>
              <a:rPr sz="900">
                <a:solidFill>
                  <a:srgbClr val="78808C"/>
                </a:solidFill>
                <a:latin typeface="Consolas"/>
              </a:rPr>
              <a:t>10:20–10:35 (15 Min.)</a:t>
            </a:r>
            <a:r>
              <a:rPr sz="1200" b="1">
                <a:solidFill>
                  <a:srgbClr val="3D5466"/>
                </a:solidFill>
                <a:latin typeface="Arial"/>
              </a:rPr>
              <a:t>  Erste Pause</a:t>
            </a:r>
          </a:p>
          <a:p>
            <a:pPr>
              <a:spcBef>
                <a:spcPts val="400"/>
              </a:spcBef>
              <a:spcAft>
                <a:spcPts val="100"/>
              </a:spcAft>
            </a:pPr>
            <a:r>
              <a:rPr sz="900">
                <a:solidFill>
                  <a:srgbClr val="78808C"/>
                </a:solidFill>
                <a:latin typeface="Consolas"/>
              </a:rPr>
              <a:t>10:35–10:45 (10 Min.)</a:t>
            </a:r>
            <a:r>
              <a:rPr sz="1200" b="1">
                <a:solidFill>
                  <a:srgbClr val="3D5466"/>
                </a:solidFill>
                <a:latin typeface="Arial"/>
              </a:rPr>
              <a:t>  Methoden-Einführung: Kollegiale Fallberatung</a:t>
            </a:r>
            <a:r>
              <a:rPr sz="900">
                <a:solidFill>
                  <a:srgbClr val="78808C"/>
                </a:solidFill>
                <a:latin typeface="Arial"/>
              </a:rPr>
              <a:t>  ·  Kurzimpuls, Flipchart</a:t>
            </a:r>
          </a:p>
          <a:p>
            <a:pPr>
              <a:spcBef>
                <a:spcPts val="400"/>
              </a:spcBef>
              <a:spcAft>
                <a:spcPts val="100"/>
              </a:spcAft>
            </a:pPr>
            <a:r>
              <a:rPr sz="900">
                <a:solidFill>
                  <a:srgbClr val="78808C"/>
                </a:solidFill>
                <a:latin typeface="Consolas"/>
              </a:rPr>
              <a:t>10:45–11:15 (30 Min.)</a:t>
            </a:r>
            <a:r>
              <a:rPr sz="1200" b="1">
                <a:solidFill>
                  <a:srgbClr val="3D5466"/>
                </a:solidFill>
                <a:latin typeface="Arial"/>
              </a:rPr>
              <a:t>  Praxisfall Thomas K.</a:t>
            </a:r>
            <a:r>
              <a:rPr sz="900">
                <a:solidFill>
                  <a:srgbClr val="78808C"/>
                </a:solidFill>
                <a:latin typeface="Arial"/>
              </a:rPr>
              <a:t>  ·  Gruppenarbeit, Plenumsauswertung</a:t>
            </a:r>
          </a:p>
          <a:p>
            <a:pPr>
              <a:spcBef>
                <a:spcPts val="400"/>
              </a:spcBef>
              <a:spcAft>
                <a:spcPts val="100"/>
              </a:spcAft>
            </a:pPr>
            <a:r>
              <a:rPr sz="900">
                <a:solidFill>
                  <a:srgbClr val="78808C"/>
                </a:solidFill>
                <a:latin typeface="Consolas"/>
              </a:rPr>
              <a:t>11:15–12:15 (40 Min. – Kernblock)</a:t>
            </a:r>
            <a:r>
              <a:rPr sz="1200" b="1">
                <a:solidFill>
                  <a:srgbClr val="3D5466"/>
                </a:solidFill>
                <a:latin typeface="Arial"/>
              </a:rPr>
              <a:t>  Kollegiale Fallberatung</a:t>
            </a:r>
            <a:r>
              <a:rPr sz="900">
                <a:solidFill>
                  <a:srgbClr val="78808C"/>
                </a:solidFill>
                <a:latin typeface="Arial"/>
              </a:rPr>
              <a:t>  ·  Kollegiale Fallberatung</a:t>
            </a:r>
          </a:p>
          <a:p>
            <a:pPr>
              <a:spcBef>
                <a:spcPts val="400"/>
              </a:spcBef>
              <a:spcAft>
                <a:spcPts val="100"/>
              </a:spcAft>
            </a:pPr>
            <a:r>
              <a:rPr sz="900">
                <a:solidFill>
                  <a:srgbClr val="78808C"/>
                </a:solidFill>
                <a:latin typeface="Consolas"/>
              </a:rPr>
              <a:t>12:15–12:45 (30 Min.)</a:t>
            </a:r>
            <a:r>
              <a:rPr sz="1200" b="1">
                <a:solidFill>
                  <a:srgbClr val="3D5466"/>
                </a:solidFill>
                <a:latin typeface="Arial"/>
              </a:rPr>
              <a:t>  AB-2: Gesprächsvorbereitung</a:t>
            </a:r>
            <a:r>
              <a:rPr sz="900">
                <a:solidFill>
                  <a:srgbClr val="78808C"/>
                </a:solidFill>
                <a:latin typeface="Arial"/>
              </a:rPr>
              <a:t>  ·  Einzelarbeit, optional kurzes Plenum-Echo</a:t>
            </a:r>
          </a:p>
          <a:p>
            <a:pPr>
              <a:spcBef>
                <a:spcPts val="400"/>
              </a:spcBef>
              <a:spcAft>
                <a:spcPts val="100"/>
              </a:spcAft>
            </a:pPr>
            <a:r>
              <a:rPr sz="900">
                <a:solidFill>
                  <a:srgbClr val="78808C"/>
                </a:solidFill>
                <a:latin typeface="Consolas"/>
              </a:rPr>
              <a:t>12:45–13:00 (15 Min.)</a:t>
            </a:r>
            <a:r>
              <a:rPr sz="1200" b="1">
                <a:solidFill>
                  <a:srgbClr val="3D5466"/>
                </a:solidFill>
                <a:latin typeface="Arial"/>
              </a:rPr>
              <a:t>  Haltungsabschluss &amp; Transfer</a:t>
            </a:r>
            <a:r>
              <a:rPr sz="900">
                <a:solidFill>
                  <a:srgbClr val="78808C"/>
                </a:solidFill>
                <a:latin typeface="Arial"/>
              </a:rPr>
              <a:t>  ·  Plenum</a:t>
            </a:r>
          </a:p>
          <a:p>
            <a:pPr>
              <a:spcBef>
                <a:spcPts val="400"/>
              </a:spcBef>
              <a:spcAft>
                <a:spcPts val="100"/>
              </a:spcAft>
            </a:pPr>
            <a:r>
              <a:rPr sz="900">
                <a:solidFill>
                  <a:srgbClr val="78808C"/>
                </a:solidFill>
                <a:latin typeface="Consolas"/>
              </a:rPr>
              <a:t>(13:00)     </a:t>
            </a:r>
            <a:r>
              <a:rPr sz="1200" b="1">
                <a:solidFill>
                  <a:srgbClr val="3D5466"/>
                </a:solidFill>
                <a:latin typeface="Arial"/>
              </a:rPr>
              <a:t>  Zweite Pause / Ende</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Theorie-Input: Warum der Rollenwechsel oft unterschätzt wird</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Theorie-Input: Drei Dimensionen des Rollenwechsels</a:t>
            </a:r>
          </a:p>
        </p:txBody>
      </p:sp>
      <p:sp>
        <p:nvSpPr>
          <p:cNvPr id="8" name="TextBox 7"/>
          <p:cNvSpPr txBox="1"/>
          <p:nvPr/>
        </p:nvSpPr>
        <p:spPr>
          <a:xfrm>
            <a:off x="685800" y="1417320"/>
            <a:ext cx="10817352" cy="4892040"/>
          </a:xfrm>
          <a:prstGeom prst="rect">
            <a:avLst/>
          </a:prstGeom>
          <a:noFill/>
        </p:spPr>
        <p:txBody>
          <a:bodyPr wrap="square">
            <a:spAutoFit/>
          </a:bodyPr>
          <a:lstStyle/>
          <a:p>
            <a:pPr>
              <a:spcBef>
                <a:spcPts val="400"/>
              </a:spcBef>
              <a:spcAft>
                <a:spcPts val="200"/>
              </a:spcAft>
            </a:pPr>
            <a:r>
              <a:rPr sz="1200">
                <a:solidFill>
                  <a:srgbClr val="3D5466"/>
                </a:solidFill>
                <a:latin typeface="Arial"/>
              </a:rPr>
              <a:t>Der Übergang von der Beratungs- zur Führungsrolle verändert drei Dimensionen gleichzeitig. Wer nur eine davon reflektiert, bleibt halb fertig.</a:t>
            </a:r>
          </a:p>
          <a:p>
            <a:pPr>
              <a:spcBef>
                <a:spcPts val="1000"/>
              </a:spcBef>
              <a:spcAft>
                <a:spcPts val="200"/>
              </a:spcAft>
            </a:pPr>
            <a:r>
              <a:rPr sz="800" b="1">
                <a:solidFill>
                  <a:srgbClr val="78808C"/>
                </a:solidFill>
                <a:latin typeface="Consolas"/>
              </a:rPr>
              <a:t>DIMENSION 2: DIE IDENTITÄT</a:t>
            </a:r>
          </a:p>
          <a:p>
            <a:pPr marL="177800" indent="-177800">
              <a:spcBef>
                <a:spcPts val="600"/>
              </a:spcBef>
              <a:spcAft>
                <a:spcPts val="200"/>
              </a:spcAft>
            </a:pPr>
            <a:r>
              <a:rPr sz="1200" i="1">
                <a:solidFill>
                  <a:srgbClr val="3D5466"/>
                </a:solidFill>
                <a:latin typeface="Arial"/>
              </a:rPr>
              <a:t>→  Handlungsempfehlung</a:t>
            </a:r>
          </a:p>
          <a:p>
            <a:pPr marL="177800" indent="-177800">
              <a:spcBef>
                <a:spcPts val="600"/>
              </a:spcBef>
              <a:spcAft>
                <a:spcPts val="200"/>
              </a:spcAft>
            </a:pPr>
            <a:r>
              <a:rPr sz="1200" i="1">
                <a:solidFill>
                  <a:srgbClr val="3D5466"/>
                </a:solidFill>
                <a:latin typeface="Arial"/>
              </a:rPr>
              <a:t>→  Wenn Sie merken, dass Sie bei einem Kundenproblem im Team wieder selbst zur Lösung greifen, weil Sie die Antwort kennen</a:t>
            </a:r>
          </a:p>
          <a:p>
            <a:pPr>
              <a:spcBef>
                <a:spcPts val="1000"/>
              </a:spcBef>
              <a:spcAft>
                <a:spcPts val="200"/>
              </a:spcAft>
            </a:pPr>
            <a:r>
              <a:rPr sz="800" b="1">
                <a:solidFill>
                  <a:srgbClr val="78808C"/>
                </a:solidFill>
                <a:latin typeface="Consolas"/>
              </a:rPr>
              <a:t>DIMENSION 3: DIE ZEIT</a:t>
            </a:r>
          </a:p>
          <a:p>
            <a:pPr>
              <a:spcBef>
                <a:spcPts val="400"/>
              </a:spcBef>
              <a:spcAft>
                <a:spcPts val="200"/>
              </a:spcAft>
            </a:pPr>
            <a:r>
              <a:rPr sz="1200">
                <a:solidFill>
                  <a:srgbClr val="3D5466"/>
                </a:solidFill>
                <a:latin typeface="Arial"/>
              </a:rPr>
              <a:t>Als Berater gehört die Zeit Ihnen und Ihren Kunden. Als Teamleiter gehört Ihre Zeit Ihrem Team. Diese Umverteilung ist keine Metapher – sie ist messbar. Typische Zeitverschiebung im ersten Jahr:</a:t>
            </a:r>
          </a:p>
          <a:p>
            <a:pPr marL="177800" indent="-177800">
              <a:spcBef>
                <a:spcPts val="600"/>
              </a:spcBef>
              <a:spcAft>
                <a:spcPts val="200"/>
              </a:spcAft>
            </a:pPr>
            <a:r>
              <a:rPr sz="1200" i="1">
                <a:solidFill>
                  <a:srgbClr val="3D5466"/>
                </a:solidFill>
                <a:latin typeface="Arial"/>
              </a:rPr>
              <a:t>→  Handlungsempfehlung</a:t>
            </a:r>
          </a:p>
          <a:p>
            <a:pPr marL="177800" indent="-177800">
              <a:spcBef>
                <a:spcPts val="600"/>
              </a:spcBef>
              <a:spcAft>
                <a:spcPts val="200"/>
              </a:spcAft>
            </a:pPr>
            <a:r>
              <a:rPr sz="1200" i="1">
                <a:solidFill>
                  <a:srgbClr val="3D5466"/>
                </a:solidFill>
                <a:latin typeface="Arial"/>
              </a:rPr>
              <a:t>→  Wenn die Geschäftsleitung Erwartungen an Sie als Teamleiter stellt, die Sie für Ihr Team als unrealistisch oder unfair einschätzen</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TL00  ·  SCHAUBILD</a:t>
            </a:r>
          </a:p>
        </p:txBody>
      </p:sp>
      <p:sp>
        <p:nvSpPr>
          <p:cNvPr id="5" name="TextBox 4"/>
          <p:cNvSpPr txBox="1"/>
          <p:nvPr/>
        </p:nvSpPr>
        <p:spPr>
          <a:xfrm>
            <a:off x="685800" y="502920"/>
            <a:ext cx="10817352" cy="594360"/>
          </a:xfrm>
          <a:prstGeom prst="rect">
            <a:avLst/>
          </a:prstGeom>
          <a:noFill/>
        </p:spPr>
        <p:txBody>
          <a:bodyPr wrap="square">
            <a:spAutoFit/>
          </a:bodyPr>
          <a:lstStyle/>
          <a:p>
            <a:pPr algn="l"/>
            <a:r>
              <a:rPr sz="2000" b="1" i="0">
                <a:solidFill>
                  <a:srgbClr val="1F2C56"/>
                </a:solidFill>
                <a:latin typeface="Arial"/>
              </a:rPr>
              <a:t>Drei Dimensionen des Rollenwechsels: Für die Dimensionen Erfolgslogik, Identität und Zeit zeigt die Grafik jeweils die Verschiebung von der Beratungsrolle zur Führungsrolle</a:t>
            </a:r>
          </a:p>
        </p:txBody>
      </p:sp>
      <p:sp>
        <p:nvSpPr>
          <p:cNvPr id="6" name="Rectangle 5"/>
          <p:cNvSpPr/>
          <p:nvPr/>
        </p:nvSpPr>
        <p:spPr>
          <a:xfrm>
            <a:off x="685800" y="1143000"/>
            <a:ext cx="10817352" cy="254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age.png"/>
          <p:cNvPicPr>
            <a:picLocks noChangeAspect="1"/>
          </p:cNvPicPr>
          <p:nvPr/>
        </p:nvPicPr>
        <p:blipFill>
          <a:blip r:embed="rId2"/>
          <a:stretch>
            <a:fillRect/>
          </a:stretch>
        </p:blipFill>
        <p:spPr>
          <a:xfrm>
            <a:off x="2509895" y="1325880"/>
            <a:ext cx="7169161" cy="4937760"/>
          </a:xfrm>
          <a:prstGeom prst="rect">
            <a:avLst/>
          </a:prstGeom>
        </p:spPr>
      </p:pic>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TL00</a:t>
            </a:r>
          </a:p>
        </p:txBody>
      </p:sp>
      <p:sp>
        <p:nvSpPr>
          <p:cNvPr id="10" name="TextBox 9"/>
          <p:cNvSpPr txBox="1"/>
          <p:nvPr/>
        </p:nvSpPr>
        <p:spPr>
          <a:xfrm>
            <a:off x="7176211" y="6583680"/>
            <a:ext cx="4326940" cy="256032"/>
          </a:xfrm>
          <a:prstGeom prst="rect">
            <a:avLst/>
          </a:prstGeom>
          <a:noFill/>
        </p:spPr>
        <p:txBody>
          <a:bodyPr wrap="none">
            <a:spAutoFit/>
          </a:bodyPr>
          <a:lstStyle/>
          <a:p>
            <a:pPr algn="r"/>
            <a:r>
              <a:rPr sz="700">
                <a:solidFill>
                  <a:srgbClr val="A0B4D2"/>
                </a:solidFill>
                <a:latin typeface="Consolas"/>
              </a:rPr>
              <a:t>Schaubild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Theorie-Input: Servant Leadership als Haltungsgrundlage</a:t>
            </a:r>
          </a:p>
        </p:txBody>
      </p:sp>
      <p:sp>
        <p:nvSpPr>
          <p:cNvPr id="8" name="TextBox 7"/>
          <p:cNvSpPr txBox="1"/>
          <p:nvPr/>
        </p:nvSpPr>
        <p:spPr>
          <a:xfrm>
            <a:off x="685800" y="1417320"/>
            <a:ext cx="10817352" cy="4892040"/>
          </a:xfrm>
          <a:prstGeom prst="rect">
            <a:avLst/>
          </a:prstGeom>
          <a:noFill/>
        </p:spPr>
        <p:txBody>
          <a:bodyPr wrap="square" anchor="ctr">
            <a:spAutoFit/>
          </a:bodyPr>
          <a:lstStyle/>
          <a:p>
            <a:pPr marL="177800" indent="-177800">
              <a:spcBef>
                <a:spcPts val="600"/>
              </a:spcBef>
              <a:spcAft>
                <a:spcPts val="200"/>
              </a:spcAft>
            </a:pPr>
            <a:r>
              <a:rPr sz="1200" i="1">
                <a:solidFill>
                  <a:srgbClr val="3D5466"/>
                </a:solidFill>
                <a:latin typeface="Arial"/>
              </a:rPr>
              <a:t>→  Handlungsempfehlung</a:t>
            </a:r>
          </a:p>
          <a:p>
            <a:pPr marL="177800" indent="-177800">
              <a:spcBef>
                <a:spcPts val="600"/>
              </a:spcBef>
              <a:spcAft>
                <a:spcPts val="200"/>
              </a:spcAft>
            </a:pPr>
            <a:r>
              <a:rPr sz="1200" i="1">
                <a:solidFill>
                  <a:srgbClr val="3D5466"/>
                </a:solidFill>
                <a:latin typeface="Arial"/>
              </a:rPr>
              <a:t>→  Wenn ein Berater eine Teamentscheidung nicht akzeptiert und darauf besteht, seinen abweichenden Weg zu gehen</a:t>
            </a:r>
          </a:p>
          <a:p>
            <a:pPr>
              <a:spcBef>
                <a:spcPts val="400"/>
              </a:spcBef>
              <a:spcAft>
                <a:spcPts val="200"/>
              </a:spcAft>
            </a:pPr>
            <a:r>
              <a:rPr sz="1200">
                <a:solidFill>
                  <a:srgbClr val="3D5466"/>
                </a:solidFill>
                <a:latin typeface="Arial"/>
              </a:rPr>
              <a:t>Merksatz: Führung ist nicht das, was ich tue. Führung ist, was in meinem Team möglich wird – und was ich klar verantworte.</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TL00  ·  ARBEITSBLATT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Praxisfall: Thomas K. – vier Monate als Teamleiter</a:t>
            </a:r>
          </a:p>
        </p:txBody>
      </p:sp>
      <p:sp>
        <p:nvSpPr>
          <p:cNvPr id="8" name="TextBox 7"/>
          <p:cNvSpPr txBox="1"/>
          <p:nvPr/>
        </p:nvSpPr>
        <p:spPr>
          <a:xfrm>
            <a:off x="685800" y="1554480"/>
            <a:ext cx="10817352" cy="3840480"/>
          </a:xfrm>
          <a:prstGeom prst="rect">
            <a:avLst/>
          </a:prstGeom>
          <a:noFill/>
        </p:spPr>
        <p:txBody>
          <a:bodyPr wrap="square">
            <a:spAutoFit/>
          </a:bodyPr>
          <a:lstStyle/>
          <a:p>
            <a:pPr marL="190500" indent="-190500">
              <a:spcBef>
                <a:spcPts val="400"/>
              </a:spcBef>
              <a:spcAft>
                <a:spcPts val="200"/>
              </a:spcAft>
            </a:pPr>
            <a:r>
              <a:rPr sz="1400">
                <a:solidFill>
                  <a:srgbClr val="3D5466"/>
                </a:solidFill>
                <a:latin typeface="Arial"/>
              </a:rPr>
              <a:t>▸  Ausgangslage (anonymisiert, branchentypisch)</a:t>
            </a:r>
          </a:p>
          <a:p>
            <a:pPr marL="190500" indent="-190500">
              <a:spcBef>
                <a:spcPts val="400"/>
              </a:spcBef>
              <a:spcAft>
                <a:spcPts val="200"/>
              </a:spcAft>
            </a:pPr>
            <a:r>
              <a:rPr sz="1400">
                <a:solidFill>
                  <a:srgbClr val="3D5466"/>
                </a:solidFill>
                <a:latin typeface="Arial"/>
              </a:rPr>
              <a:t>▸  Vier Entscheidungssituationen</a:t>
            </a:r>
          </a:p>
          <a:p>
            <a:pPr marL="190500" indent="-190500">
              <a:spcBef>
                <a:spcPts val="400"/>
              </a:spcBef>
              <a:spcAft>
                <a:spcPts val="200"/>
              </a:spcAft>
            </a:pPr>
            <a:r>
              <a:rPr sz="1400">
                <a:solidFill>
                  <a:srgbClr val="3D5466"/>
                </a:solidFill>
                <a:latin typeface="Arial"/>
              </a:rPr>
              <a:t>▸  Situation A – Das eigene Kreditengagement:</a:t>
            </a:r>
          </a:p>
          <a:p>
            <a:pPr marL="190500" indent="-190500">
              <a:spcBef>
                <a:spcPts val="400"/>
              </a:spcBef>
              <a:spcAft>
                <a:spcPts val="200"/>
              </a:spcAft>
            </a:pPr>
            <a:r>
              <a:rPr sz="1400">
                <a:solidFill>
                  <a:srgbClr val="3D5466"/>
                </a:solidFill>
                <a:latin typeface="Arial"/>
              </a:rPr>
              <a:t>▸  Welche Entscheidung trifft Thomas – und mit welcher Begründung?</a:t>
            </a:r>
          </a:p>
          <a:p>
            <a:pPr marL="190500" indent="-190500">
              <a:spcBef>
                <a:spcPts val="400"/>
              </a:spcBef>
              <a:spcAft>
                <a:spcPts val="200"/>
              </a:spcAft>
            </a:pPr>
            <a:r>
              <a:rPr sz="1400">
                <a:solidFill>
                  <a:srgbClr val="3D5466"/>
                </a:solidFill>
                <a:latin typeface="Arial"/>
              </a:rPr>
              <a:t>▸  Situation B1 – Der Kollege als Mitarbeiter (Rückzugs-Variante):</a:t>
            </a:r>
          </a:p>
        </p:txBody>
      </p:sp>
      <p:sp>
        <p:nvSpPr>
          <p:cNvPr id="9" name="Rectangle 8"/>
          <p:cNvSpPr/>
          <p:nvPr/>
        </p:nvSpPr>
        <p:spPr>
          <a:xfrm>
            <a:off x="685800" y="5486400"/>
            <a:ext cx="10817352" cy="64008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5596128"/>
            <a:ext cx="10451592" cy="457200"/>
          </a:xfrm>
          <a:prstGeom prst="rect">
            <a:avLst/>
          </a:prstGeom>
          <a:noFill/>
        </p:spPr>
        <p:txBody>
          <a:bodyPr wrap="square">
            <a:spAutoFit/>
          </a:bodyPr>
          <a:lstStyle/>
          <a:p>
            <a:pPr algn="l"/>
            <a:r>
              <a:rPr sz="1300" b="1" i="0">
                <a:solidFill>
                  <a:srgbClr val="FFFFFF"/>
                </a:solidFill>
                <a:latin typeface="Arial"/>
              </a:rPr>
              <a:t>→  Bearbeitung im Teilnehmer-Workbook (Arbeitsblatt mit Ausfüllfeldern)</a:t>
            </a:r>
          </a:p>
        </p:txBody>
      </p:sp>
      <p:sp>
        <p:nvSpPr>
          <p:cNvPr id="11" name="Rectangle 10"/>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Merk- und Haltungskarte: Der Rollenwechsel in fünf Sätzen</a:t>
            </a:r>
          </a:p>
        </p:txBody>
      </p:sp>
      <p:sp>
        <p:nvSpPr>
          <p:cNvPr id="8" name="TextBox 7"/>
          <p:cNvSpPr txBox="1"/>
          <p:nvPr/>
        </p:nvSpPr>
        <p:spPr>
          <a:xfrm>
            <a:off x="685800" y="1417320"/>
            <a:ext cx="10817352" cy="4892040"/>
          </a:xfrm>
          <a:prstGeom prst="rect">
            <a:avLst/>
          </a:prstGeom>
          <a:noFill/>
        </p:spPr>
        <p:txBody>
          <a:bodyPr wrap="square">
            <a:spAutoFit/>
          </a:bodyPr>
          <a:lstStyle/>
          <a:p>
            <a:pPr>
              <a:spcBef>
                <a:spcPts val="400"/>
              </a:spcBef>
              <a:spcAft>
                <a:spcPts val="200"/>
              </a:spcAft>
            </a:pPr>
            <a:r>
              <a:rPr sz="1200">
                <a:solidFill>
                  <a:srgbClr val="3D5466"/>
                </a:solidFill>
                <a:latin typeface="Arial"/>
              </a:rPr>
              <a:t>Diese Karte fasst die fünf wichtigsten Haltungsanker des Rollenwechsels zusammen. Nehmen Sie sie mit – und legen Sie sie sich in zwei Wochen wieder vor.</a:t>
            </a:r>
          </a:p>
          <a:p>
            <a:pPr>
              <a:spcBef>
                <a:spcPts val="400"/>
              </a:spcBef>
              <a:spcAft>
                <a:spcPts val="200"/>
              </a:spcAft>
            </a:pPr>
            <a:r>
              <a:rPr sz="1200">
                <a:solidFill>
                  <a:srgbClr val="3D5466"/>
                </a:solidFill>
                <a:latin typeface="Arial"/>
              </a:rPr>
              <a:t>1. Mein Erfolg findet jetzt im Team statt.</a:t>
            </a:r>
          </a:p>
          <a:p>
            <a:pPr>
              <a:spcBef>
                <a:spcPts val="400"/>
              </a:spcBef>
              <a:spcAft>
                <a:spcPts val="200"/>
              </a:spcAft>
            </a:pPr>
            <a:r>
              <a:rPr sz="1200">
                <a:solidFill>
                  <a:srgbClr val="3D5466"/>
                </a:solidFill>
                <a:latin typeface="Arial"/>
              </a:rPr>
              <a:t>Was ich selbst erreiche, zählt. Was mein Team erreicht, zählt mehr. Beides addiert sich – aber nur das zweite skaliert.</a:t>
            </a:r>
          </a:p>
          <a:p>
            <a:pPr>
              <a:spcBef>
                <a:spcPts val="400"/>
              </a:spcBef>
              <a:spcAft>
                <a:spcPts val="200"/>
              </a:spcAft>
            </a:pPr>
            <a:r>
              <a:rPr sz="1200">
                <a:solidFill>
                  <a:srgbClr val="3D5466"/>
                </a:solidFill>
                <a:latin typeface="Arial"/>
              </a:rPr>
              <a:t>2. Autorität entsteht durch Vertrauen, nicht durch Fachkompetenz.</a:t>
            </a:r>
          </a:p>
          <a:p>
            <a:pPr>
              <a:spcBef>
                <a:spcPts val="400"/>
              </a:spcBef>
              <a:spcAft>
                <a:spcPts val="200"/>
              </a:spcAft>
            </a:pPr>
            <a:r>
              <a:rPr sz="1200">
                <a:solidFill>
                  <a:srgbClr val="3D5466"/>
                </a:solidFill>
                <a:latin typeface="Arial"/>
              </a:rPr>
              <a:t>Ich muss nicht mehr der Beste in jedem Kreditthema sein. Ich muss derjenige sein, dem das Team zutraut, es zu unterstützen, fair zu behandeln und zu vertreten.</a:t>
            </a:r>
          </a:p>
          <a:p>
            <a:pPr>
              <a:spcBef>
                <a:spcPts val="400"/>
              </a:spcBef>
              <a:spcAft>
                <a:spcPts val="200"/>
              </a:spcAft>
            </a:pPr>
            <a:r>
              <a:rPr sz="1200">
                <a:solidFill>
                  <a:srgbClr val="3D5466"/>
                </a:solidFill>
                <a:latin typeface="Arial"/>
              </a:rPr>
              <a:t>3. Führung heißt: Bedingungen schaffen, nicht Lösungen liefern.</a:t>
            </a:r>
          </a:p>
          <a:p>
            <a:pPr>
              <a:spcBef>
                <a:spcPts val="400"/>
              </a:spcBef>
              <a:spcAft>
                <a:spcPts val="200"/>
              </a:spcAft>
            </a:pPr>
            <a:r>
              <a:rPr sz="1200">
                <a:solidFill>
                  <a:srgbClr val="3D5466"/>
                </a:solidFill>
                <a:latin typeface="Arial"/>
              </a:rPr>
              <a:t>Wenn jemand aus meinem Team ein Problem bringt, ist meine erste Frage: „Was haben Sie schon überlegt?" – nicht: „Ich sehe das so."</a:t>
            </a:r>
          </a:p>
          <a:p>
            <a:pPr>
              <a:spcBef>
                <a:spcPts val="400"/>
              </a:spcBef>
              <a:spcAft>
                <a:spcPts val="200"/>
              </a:spcAft>
            </a:pPr>
            <a:r>
              <a:rPr sz="1200">
                <a:solidFill>
                  <a:srgbClr val="3D5466"/>
                </a:solidFill>
                <a:latin typeface="Arial"/>
              </a:rPr>
              <a:t>4. Ehemalige Kollegen sind jetzt Mitarbeitende. Das ist kein Verrat – das ist Klarheit.</a:t>
            </a:r>
          </a:p>
          <a:p>
            <a:pPr>
              <a:spcBef>
                <a:spcPts val="400"/>
              </a:spcBef>
              <a:spcAft>
                <a:spcPts val="200"/>
              </a:spcAft>
            </a:pPr>
            <a:r>
              <a:rPr sz="1200">
                <a:solidFill>
                  <a:srgbClr val="3D5466"/>
                </a:solidFill>
                <a:latin typeface="Arial"/>
              </a:rPr>
              <a:t>Die neue Rollenklarheit schützt beide Seiten. Ich kann und soll partnerschaftlich führen – aber die Verantwortung liegt jetzt bei mir.</a:t>
            </a:r>
          </a:p>
          <a:p>
            <a:pPr>
              <a:spcBef>
                <a:spcPts val="400"/>
              </a:spcBef>
              <a:spcAft>
                <a:spcPts val="200"/>
              </a:spcAft>
            </a:pPr>
            <a:r>
              <a:rPr sz="1200">
                <a:solidFill>
                  <a:srgbClr val="3D5466"/>
                </a:solidFill>
                <a:latin typeface="Arial"/>
              </a:rPr>
              <a:t>5. Servant Leadership bedeutet: Wachstum als Führungsmaßstab.</a:t>
            </a:r>
          </a:p>
          <a:p>
            <a:pPr>
              <a:spcBef>
                <a:spcPts val="400"/>
              </a:spcBef>
              <a:spcAft>
                <a:spcPts val="200"/>
              </a:spcAft>
            </a:pPr>
            <a:r>
              <a:rPr sz="1200">
                <a:solidFill>
                  <a:srgbClr val="3D5466"/>
                </a:solidFill>
                <a:latin typeface="Arial"/>
              </a:rPr>
              <a:t>Mein Maßstab ist nicht: Wie viel habe ich heute geleistet? Sondern: Was konnte mein Team heute mehr, als es gestern konnte?</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Checkliste: Bin ich in der Führungsrolle angekommen?</a:t>
            </a:r>
          </a:p>
        </p:txBody>
      </p:sp>
      <p:sp>
        <p:nvSpPr>
          <p:cNvPr id="8" name="TextBox 7"/>
          <p:cNvSpPr txBox="1"/>
          <p:nvPr/>
        </p:nvSpPr>
        <p:spPr>
          <a:xfrm>
            <a:off x="685800" y="1417320"/>
            <a:ext cx="10817352" cy="4892040"/>
          </a:xfrm>
          <a:prstGeom prst="rect">
            <a:avLst/>
          </a:prstGeom>
          <a:noFill/>
        </p:spPr>
        <p:txBody>
          <a:bodyPr wrap="square" anchor="ctr">
            <a:spAutoFit/>
          </a:bodyPr>
          <a:lstStyle/>
          <a:p>
            <a:pPr>
              <a:spcBef>
                <a:spcPts val="400"/>
              </a:spcBef>
              <a:spcAft>
                <a:spcPts val="200"/>
              </a:spcAft>
            </a:pPr>
            <a:r>
              <a:rPr sz="1200">
                <a:solidFill>
                  <a:srgbClr val="3D5466"/>
                </a:solidFill>
                <a:latin typeface="Arial"/>
              </a:rPr>
              <a:t>Beantworten Sie diese Fragen ehrlich – nach dem heutigen Workshop und erneut nach vier Wochen.</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Reflexionsfragen</a:t>
            </a:r>
          </a:p>
        </p:txBody>
      </p:sp>
      <p:sp>
        <p:nvSpPr>
          <p:cNvPr id="8" name="TextBox 7"/>
          <p:cNvSpPr txBox="1"/>
          <p:nvPr/>
        </p:nvSpPr>
        <p:spPr>
          <a:xfrm>
            <a:off x="685800" y="1417320"/>
            <a:ext cx="10817352" cy="4892040"/>
          </a:xfrm>
          <a:prstGeom prst="rect">
            <a:avLst/>
          </a:prstGeom>
          <a:noFill/>
        </p:spPr>
        <p:txBody>
          <a:bodyPr wrap="square" anchor="ctr">
            <a:spAutoFit/>
          </a:bodyPr>
          <a:lstStyle/>
          <a:p>
            <a:pPr>
              <a:spcBef>
                <a:spcPts val="400"/>
              </a:spcBef>
              <a:spcAft>
                <a:spcPts val="200"/>
              </a:spcAft>
            </a:pPr>
            <a:r>
              <a:rPr sz="1200">
                <a:solidFill>
                  <a:srgbClr val="3D5466"/>
                </a:solidFill>
                <a:latin typeface="Arial"/>
              </a:rPr>
              <a:t>Nehmen Sie sich vor dem Ende des Workshops fünf Minuten Zeit für diese Fragen. Sie sind für Sie – nicht zum Vorlesen.</a:t>
            </a:r>
          </a:p>
          <a:p>
            <a:pPr marL="190500" indent="-190500">
              <a:spcBef>
                <a:spcPts val="400"/>
              </a:spcBef>
              <a:spcAft>
                <a:spcPts val="200"/>
              </a:spcAft>
            </a:pPr>
            <a:r>
              <a:rPr sz="1300">
                <a:solidFill>
                  <a:srgbClr val="3D5466"/>
                </a:solidFill>
                <a:latin typeface="Arial"/>
              </a:rPr>
              <a:t>▸  Was war Ihr größter Erfolg als Berater, der Ihnen gleichzeitig in der Führungsrolle am wenigsten hilft?</a:t>
            </a:r>
          </a:p>
          <a:p>
            <a:pPr marL="190500" indent="-190500">
              <a:spcBef>
                <a:spcPts val="400"/>
              </a:spcBef>
              <a:spcAft>
                <a:spcPts val="200"/>
              </a:spcAft>
            </a:pPr>
            <a:r>
              <a:rPr sz="1300">
                <a:solidFill>
                  <a:srgbClr val="3D5466"/>
                </a:solidFill>
                <a:latin typeface="Arial"/>
              </a:rPr>
              <a:t>▸  Was wünschen Sie sich von Ihren Mitarbeitenden in einem Jahr über Sie als Führungskraft zu sagen – welchen Satz?</a:t>
            </a:r>
          </a:p>
          <a:p>
            <a:pPr marL="190500" indent="-190500">
              <a:spcBef>
                <a:spcPts val="400"/>
              </a:spcBef>
              <a:spcAft>
                <a:spcPts val="200"/>
              </a:spcAft>
            </a:pPr>
            <a:r>
              <a:rPr sz="1300">
                <a:solidFill>
                  <a:srgbClr val="3D5466"/>
                </a:solidFill>
                <a:latin typeface="Arial"/>
              </a:rPr>
              <a:t>▸  Welche Führungssituation aus den ersten Wochen hat Sie am meisten überrascht oder verunsichert? Was verrät das über Ihre Erwartung an die Rolle?</a:t>
            </a:r>
          </a:p>
          <a:p>
            <a:pPr marL="190500" indent="-190500">
              <a:spcBef>
                <a:spcPts val="400"/>
              </a:spcBef>
              <a:spcAft>
                <a:spcPts val="200"/>
              </a:spcAft>
            </a:pPr>
            <a:r>
              <a:rPr sz="1300">
                <a:solidFill>
                  <a:srgbClr val="3D5466"/>
                </a:solidFill>
                <a:latin typeface="Arial"/>
              </a:rPr>
              <a:t>▸  Wie möchten Sie führen – und wer aus Ihrem eigenen Umfeld (frühere Führungskraft, Mentor) hat Ihnen das vorgelebt?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