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Einstieg-Frage (Plenum): „Wie lange sind Sie schon Teamleiter?“ – Bandbreite am Flipchart notieren. Danach: „Was hat sich in der ersten Woche anders angefühlt als erwartet?“ – Erst danach Folie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Die Beförderung passiert dir. Der Rollenwechsel ist deine Aufgabe.</a:t>
            </a:r>
          </a:p>
          <a:p>
            <a:r>
              <a:t>Hill (2003, Q-226): Längsschnittstudie 19 neue Führungskräfte – alle interpretierten die Aufgabe initial als Erweiterung des Fachexpertentums.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langsam durchgehen – nicht rasen. Nach jeder Zeile kurze Pause, Resonanz holen. Häufige Reaktion: Erleichterung. Normalisierungsfunktion nutzen.</a:t>
            </a:r>
          </a:p>
          <a:p>
            <a:r>
              <a:t>Yukl (2002, Q-058): radikale Verschiebung des Selbstverständnisses.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Anker: „Wo stehen Sie gerade in dieser Tabelle?“ – Einzelnen befragen, nicht Gesamtgruppe.</a:t>
            </a:r>
          </a:p>
          <a:p>
            <a:r>
              <a:t>Wichtig: Ziel nicht Null Facharbeit – sondern bewusste, aktiv gewählte Verschiebung. Selbst 20→30 % Führungszeit ist echter Fortschritt.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Klaren Auftrag geben, dann Stille zulassen. Teil 1–3 ca. 10 Min., Teil 4 ca. 5 Min. Paarphase nicht unterbrechen.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Häufigste Falle: Facheingriff. Wichtig: nicht werten, normalisieren.</a:t>
            </a:r>
          </a:p>
          <a:p>
            <a:r>
              <a:t>Plenumsrunde: nur 2–3 Freiwillige, kein Druck.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Dieser Block setzt die Haltungsklammer für den Gesamttag (Mezirow, 1991, Q-011). Am Abschluss (12:45 Uhr) nur Rückverweis auf Karte – kein neuer Theorie-Input.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Skepsis-Reaktion abfangen: „Servant Leadership ist kein Konflikt-Vermeidungs-Modell.“ van Dierendonck (2011, Q-219): klare Orientierung und konsequente Steuerung sind ausdrücklich Kernbestandteile – nicht Durchgreifen schließt es aus, sondern Hierarchie als Selbstzweck.</a:t>
            </a:r>
          </a:p>
          <a:p>
            <a:r>
              <a:t>Passung zum Genossenschaftskontext: Förderauftrag § 1 GenG, Subsidiaritätsprinzip.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Ausgangslage laut vorlesen – gemeinsame Szene schaffen. Situationen gezielt verteilen: B2 immer der erfahrensten Gruppe oder ans Plenum.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Vier Situationen: A (Delegation Stammkunde), B1 (Kollege/Rückzug), B2 (Kollege/ Koalition – emotionalster Moment, im Plenum), C (GL-Entwicklungsgespräch), D (erstes kritisches Leistungsfeedback – häufigste Vermeidung).</a:t>
            </a:r>
          </a:p>
          <a:p>
            <a:r>
              <a:t>Musterlösung erst NACH Gruppenarbeit zeigen. Teilnehmerlösungen zuerst am Flipchart sammeln.</a:t>
            </a:r>
          </a:p>
          <a:p>
            <a:r>
              <a:t>Bei Situation D: „Wer kennt ein ähnliches Gespräch, das zu lange aufgeschoben wurde?“ – Fast alle kennen es. Direkte Brücke zu AB-2.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 Beginn: Vertraulichkeit explizit zusichern – „Was hier geteilt wird, bleibt hier.“</a:t>
            </a:r>
          </a:p>
          <a:p>
            <a:r>
              <a:t>Fallvorstellung-Runde: jeder 60 Sek., Trainer notiert Fälle am Flipchart ohne Kommentar. Dann gemeinsam abstimmen.</a:t>
            </a:r>
          </a:p>
          <a:p>
            <a:r>
              <a:t>Notfallfall bereit: anonymisierte Abwandlung Situation D (Leistungsfeedback gemieden) – bei Peer-Statusangst sofort einsetzen, ohne Pause der Verlegenheit.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Schritt 5 ist nicht kürzbar. Schritt 6 (Transfer-Runde) kann bei Zeitdruck auf stille Einzelnotiz 30 Sek. komprimiert werden.</a:t>
            </a:r>
          </a:p>
          <a:p>
            <a:r>
              <a:t>Häufigste Hürde in unerfahrenen Gruppen: in Schritt 2 kommen versteckte Ratschläge als Fragen verkleidet. Trainer bricht höflich ab: „Das klingt schon nach einer Empfehlung – die kommt in Schritt 4.“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ist der „Ernstfall“ des Moduls. Stille hier ist produktiv – nicht unterbrechen.</a:t>
            </a:r>
          </a:p>
          <a:p>
            <a:r>
              <a:t>Plenum-Echo freiwillig: 90 Sek. Feedback-Schema: „Was war stark?“ / „Was könnte schärfer sein?“ – nur zur Formulierung, nicht zum geplanten Gespräch selbst.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Vorbild Situation D Musterlösung: Einstiegssatz benennt den Sachverhalt direkt, ohne Umschweife. Häufigste Fehler: zu lang erklären; offen enden ohne Nächstes.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Merk-/Haltungskarte gemeinsam laut vorlesen (ca. 2 Min.) – Rückverweis auf Rollenwechsel-Impuls vom Morgen. Stille Reflexion 3 Min.</a:t>
            </a:r>
          </a:p>
          <a:p>
            <a:r>
              <a:t>Abschlussrunde: jeder spricht einen Satz – „Mein konkreter nächster Schritt in der Führungsrolle ist …“. Öffentliches Commitment (soziale Selbstverpflichtung).</a:t>
            </a:r>
          </a:p>
          <a:p>
            <a:r>
              <a:t>Transferaufgaben und Checkliste austeilen – nicht diskutieren, nur klar kommunizieren.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Transferaufgaben 1–3 aus Sec 5 kurz benennen. Checkliste mitgeben: „Legen Sie diese Karte in vier Wochen wieder vor sich – das ist Ihr eigener Maßstab.“</a:t>
            </a:r>
          </a:p>
          <a:p>
            <a:r>
              <a:t>Wenn Bereichsleiter anwesend: Folgetermin für L3-Entwicklungsgespräch noch heute vereinbaren (4–12 Wochen, 30 Min.).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Vom Berater zur Führungskraft: der Rollenwechsel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Das eigene Führungsselbstverständnis finden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K-F00 Selbst- &amp; Rollenführung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Teamleiter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Neu beförderter Teamleiter im Firmenkundengeschäft stehen vor einem der anspruchsvollsten Übergänge ihrer Berufsbiografie: Erfolg entsteht nicht mehr durch die eigene Beratungsleistung, sondern durch die Leistung des Teams.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Dieses Halbtages-Modul macht den Rollenwechsel explizit – fachlich, haltungsbezogen und ganz konkret für den Alltag in der VR-Bank.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Teilnehmer klären ihr Führungsselbstverständnis, erarbeiten, wie Autorität ohne Fachwissensvorsprung entsteht, und bereiten über kollegiale Fallberatung ein erstes reales Führungsgespräch vor.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Kernunterschiede zwischen der Beratungsrolle und der Führungsrolle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neue Erfolgslogik als Teamleiter – Wirkung durch andere erzielen statt selbst beraten – erklären und auf die eigene Situation übertragen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Rollenfallen neu beförderter Teamleiter (z. B. Rückfall ins Fachexperten-Selbstverständnis, Loyalitätskonflikte mit ehemaligen Kollegen) erkennen und eigene Umgangsstrategien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konkretes anstehendes Führungsgespräch oder eine Führungssituation aus dem eigenen Alltag mit Einstiegssatz, Leitfragen und Formulierungsbausteinen vorbereiten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09:00–09:15 (15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Ankommen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Flipchart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09:15–09:45 (30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Rollenwechsel-Impuls</a:t>
            </a:r>
            <a:r>
              <a:rPr sz="900">
                <a:solidFill>
                  <a:srgbClr val="78808C"/>
                </a:solidFill>
                <a:latin typeface="Arial"/>
              </a:rPr>
              <a:t>  ·  Interaktiver Vortrag, kurze Partnerreflexion (2 Min.)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09:45–10:20 (35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AB-1: Standortbestimmung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Einzelarbeit, Paarreflexion,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10:20–10:35 (15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Erste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10:35–10:45 (10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Methoden-Einführung: Kollegiale Fallberatung</a:t>
            </a:r>
            <a:r>
              <a:rPr sz="900">
                <a:solidFill>
                  <a:srgbClr val="78808C"/>
                </a:solidFill>
                <a:latin typeface="Arial"/>
              </a:rPr>
              <a:t>  ·  Kurzimpuls, Flipchart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10:45–11:15 (30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Praxisfall Thomas K.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Gruppenarbeit, Plenumsauswertung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11:15–12:15 (40 Min. – Kernblock)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</a:t>
            </a:r>
            <a:r>
              <a:rPr sz="900">
                <a:solidFill>
                  <a:srgbClr val="78808C"/>
                </a:solidFill>
                <a:latin typeface="Arial"/>
              </a:rPr>
              <a:t>  ·  Kollegiale Fallberatung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12:15–12:45 (30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AB-2: Gesprächsvorbereitung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Einzelarbeit, optional kurzes Plenum-Echo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12:45–13:00 (15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Haltungsabschluss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(13:00)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Zweite Pause /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Der Wechsel, den niemand ankündigt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Was sich wirklich verändert, wenn aus dem besten Berater der Teamleiter wird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Beförderung ist kein Rollenwechsel – er ist eine Entscheidung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Beförderung = Auslöser, nicht Ergebnis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Rollenwechsel muss aktiv vollzogen werden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Ohne Entscheidung: erweiterter Fachexperte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Hill (2003): nahezu universeller Anfangsfehler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Dimensionen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9895" y="1325880"/>
            <a:ext cx="7169161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Führungserfolg entsteht anders – radikal anders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Wirkung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Autorität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Aufgabe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Zeit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Ihre Zeit gehört jetzt Ihrem Team – das ist messbar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Tätigkeit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Kundengespräche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Facharbeit / Kredit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Führungsgespräche / Steuerung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Abstimmung nach oben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(20 MIN.) + PAARREFLEXION (8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Mein Rollenwechsel – Standortbestimmung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Eigenen Stand im Rollenwechsel klären – Stärken, Rollenfallen, erste Schritte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Jede Stärke, die Sie zur Führungskraft machte, kann Sie dort bremsen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AB-1 Teil 1: Drei Stärken als Berater benennen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AB-1 Teil 4: Rollenfalle identifizieren – Facheingriff, Kollegenbehandlung oder Eigenoutput-Messung?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Paarreflexion: „Welche Rollenfalle fühlt sich bei dir am naheliegendsten an?“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Führen, um andere besser zu machen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Servant Leadership als Haltungsgrundlage des FKB-Campus-Führungstracks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C8D2E6"/>
                </a:solidFill>
                <a:latin typeface="Consolas"/>
              </a:rPr>
              <a:t>FKB CAMPUS  ·  TL00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Servant Leadership bedeutet: Ich bin gut darin, andere besser zu machen.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00400"/>
            <a:ext cx="51343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C8D2E6"/>
                </a:solidFill>
                <a:latin typeface="Arial"/>
              </a:rPr>
              <a:t>Greenleafs leitende Frage: Wachsen die Menschen, denen ich führe, als Persönlichkeiten? Werden sie handlungsfähiger, kompetenter, autonomer? Diese Frage ersetzt die Frage nach der eigenen Leistung.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8796" y="3200400"/>
            <a:ext cx="51343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C8D2E6"/>
                </a:solidFill>
                <a:latin typeface="Arial"/>
              </a:rPr>
              <a:t>Merksatz für die Führungsrolle: Führung ist nicht das, was ich tue. Führung ist, was in meinem Team möglich wird – und was ich klar verantworte.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GRUPPENARBEIT (15 MIN.) + PLENUMSAUSWERTUNG (15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Thomas K. – vier Monate als Teamleiter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Rollenfallen und Führungshandlungen an vier konkreten Situationen durchdenken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PRAXISFALL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Thomas K., VR-Bank Musterregion eG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600200"/>
            <a:ext cx="10817352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600200"/>
            <a:ext cx="36576" cy="18288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783080"/>
            <a:ext cx="102687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AUSGANGSSITUATION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084831"/>
            <a:ext cx="7680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Thomas K. (38) ist seit vier Monaten Teamleiter Firmenkunden. Vorher neun Jahre lang der umsatzstärkste Berater. Er greift in Kreditausarbeitungen ein, hält zwei Stammkunden selbst – und sein früherer Bürokollege Marco sagt: „Ich dachte, du lässt mich das jetzt machen.“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Fall zuerst lesen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KERNBLOCK 40 MIN. (FALLVORSTELLUNG-RUNDE 8–10 MIN. + VERTIEFUNGSFALL 30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Kollegiale Fallberatung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Einen realen Führungsfall aus der Gruppe nach dem Sechs-Schritte-Format bearbeiten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Sechs Schritte – Disziplin ist die Methode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 Fallschilderung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 Klärungsfragen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 Hypothesen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 Ideen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 Fallgeber wählt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20 MIN. + OPTIONALES PLENUM-ECHO 10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Mein nächster Führungsmoment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 konkretes reales Führungsgespräch vorbereiten – Einstiegssatz, Leitfragen, Abschluss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 bearbeiten – Ihr nächstes echtes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Mit wem führe ich dieses Gespräch – und was ist mein Ziel?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Mein Einstiegssatz (direkt, ohne Umschweife)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Drei Leitfragen – was frage ich, nicht was erkläre ich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Erwartete Reaktion + Formulierungsbaustein dafür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Mein Abschluss – klares Ergebnis oder klares Nächstes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0584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D9C089"/>
                </a:solidFill>
                <a:latin typeface="Arial"/>
              </a:rPr>
              <a:t>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930292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FFFFF"/>
                </a:solidFill>
                <a:latin typeface="Arial"/>
              </a:rPr>
              <a:t>Mein Maßstab ist nicht: Wie viel habe ich heute geleistet? Sondern: Was konnte mein Team heute mehr, als es gestern konnte?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80060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02920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9C089"/>
                </a:solidFill>
                <a:latin typeface="Arial"/>
              </a:rPr>
              <a:t>Servant Leadership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4406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A0B4D2"/>
                </a:solidFill>
                <a:latin typeface="Consolas"/>
              </a:rPr>
              <a:t>Greenleaf (1977) / van Dierendonck (2011)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Ihr Maßstab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Vorbereitetes Gespräch führen (AB-2)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Führungszeit-Anteil messen und erhöhen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Klärungsgespräch mit ehemaligem Kollegen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Checkliste: in vier Wochen wieder vorlegen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