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Blitzlicht-Runde aufgreifen (Flipchart, 0–15 Min.): Welche Situation beschäftigt Sie gerade bei Feedback oder Entwicklungsgesprächen?</a:t>
            </a:r>
          </a:p>
          <a:p>
            <a:r>
              <a:t>Explizit benennen: 'TL06 ist kein Konsequenzgespräch – das kommt in TL08. Heute geht es um den Raum davor.'</a:t>
            </a:r>
          </a:p>
          <a:p>
            <a:r>
              <a:t>Merksatz Flipchart: Das erste Nachfassgespräch klärt – es anklagt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Tabelle als Direktvergleich – TN benennen lassen, welche Spalte näher an ihrem Alltag liegt.</a:t>
            </a:r>
          </a:p>
          <a:p>
            <a:r>
              <a:t>Erst Irritation erzeugen ('rechte Spalte klingt ehrlicher'), dann kontraintuitiven Befund einleiten.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Aktivierungsfrage: 'Welche Ebene adressiert das häufigste Feedback der letzten Wochen bei Ihnen – Aufgabe, Prozess oder Person?'</a:t>
            </a:r>
          </a:p>
          <a:p>
            <a:r>
              <a:t>Vier Ebenen auf Flipchart festhalten (Aufgabe / Prozess / Selbstregulation / Selbst) – bleibt den gesamten Block sichtbar.</a:t>
            </a:r>
          </a:p>
          <a:p>
            <a:r>
              <a:t>Hattie &amp; Timperley (2007): Feedback wirkt, wenn es die Lücke benennt UND den Weg zeigt.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Häufigste Verwechslung in der Praxis: Jahresgespräch heißt 'Entwicklungsgespräch', hat aber Beurteilungs-Struktur.</a:t>
            </a:r>
          </a:p>
          <a:p>
            <a:r>
              <a:t>Haltungsunterschiede betonen – nicht die formalen Merkmale. Der Unterschied liegt in der Führungshaltung.</a:t>
            </a:r>
          </a:p>
          <a:p>
            <a:r>
              <a:t>Nachfrage: 'Welches der drei Formate führen Sie am häufigsten? Welches am seltensten?'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TN benennen lassen, welcher Schritt am schwersten fällt – fast immer Schritt 2 (Einstieg mit Entwicklungsabsicht) oder Schritt 3 (Stärken konkret, nicht allgemein).</a:t>
            </a:r>
          </a:p>
          <a:p>
            <a:r>
              <a:t>Auf Flipchart notieren: 'Das ist der Kern von AB-1.'</a:t>
            </a:r>
          </a:p>
          <a:p>
            <a:r>
              <a:t>Greenleaf (1977) kurz einführen: 'Werden die Menschen, denen du führend begegnest, kompetenter, freier, eigenverantwortlicher?' – Maßstab des Entwicklungsgesprächs.</a:t>
            </a:r>
          </a:p>
          <a:p>
            <a:r>
              <a:t>Schön (1983): Gesprächsstruktur ist Gerüst, kein Skript. Wenn Berater signalisiert, dass Stärke keine Stärke für ihn ist – folgen, nicht weitermarschieren.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Spontanfrage an TN: 'Was ist Ihre erste Reaktion, wenn eine vereinbarte Maßnahme nicht umgesetzt wurde – Ignorieren, Eskalieren oder Nachfassen?' Antworten zeigen, wo die individuelle Neigung im Raum liegt.</a:t>
            </a:r>
          </a:p>
          <a:p>
            <a:r>
              <a:t>Formulierung für den häufigsten Reflex: 'Das Nachfassgespräch ist keine Schwäche. Es ist die Entscheidung, Verbindlichkeit aufrechtzuerhalten und Klärung vor Strafe zu stellen.'</a:t>
            </a:r>
          </a:p>
          <a:p>
            <a:r>
              <a:t>Faustformel einführen: einmal klären und neu vereinbaren – beim zweiten Mal ohne Grund ist das Signal für TL08 gegeben.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TN lesen Fall still (ca. 3 Min.), dann gelenkte Plenumsdiskussion.</a:t>
            </a:r>
          </a:p>
          <a:p>
            <a:r>
              <a:t>Lenkung auf Frage 2: Haltung Klärung vs. Eskalation. Und Frage 4: Bagatellisieren vs. Verbindlichkeit wahren.</a:t>
            </a:r>
          </a:p>
          <a:p>
            <a:r>
              <a:t>Produktive Spannung aushalten – der Fall hat keine Musterlösung, die für jeden TL und jede Bankkultur gleich gilt.</a:t>
            </a:r>
          </a:p>
          <a:p>
            <a:r>
              <a:t>Häufigste Bewegung im Raum: TN wollen sofort entscheiden, ob das ein Konsequenzgespräch verlangt. Bremsen: 'Wir wissen noch nicht genug. Das Nachfassgespräch klärt – das Konsequenzgespräch setzt voraus, dass Klärung bereits stattgefunden hat.'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Zwischenerinnerung nach 12 Min.: 'Prüfen Sie, ob Ihr SBI ein Charaktermerkmal enthält – wenn ja, stoppen und zurück auf die Verhaltensebene.'</a:t>
            </a:r>
          </a:p>
          <a:p>
            <a:r>
              <a:t>Kollegiale Fallberatung (130–155 Min.) in 3–4er-Gruppen nach Sec-3-Ablauf (6 Schritte): Fall vorstellen → Schlüsselfrage → Perspektivwechsel → Impulse → Klärung → nächster Schritt.</a:t>
            </a:r>
          </a:p>
          <a:p>
            <a:r>
              <a:t>Falls niemand eigenen Fall einbringt: Markus-Szenario als Hauptfall planen.</a:t>
            </a:r>
          </a:p>
          <a:p>
            <a:r>
              <a:t>Kein Rollenspiel – Gespräch bleibt auf Vorbereitungsebene.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Instruktion Sprachcheck (185–202 Min.): 'Lesen Sie Ihren Einstiegssatz vor – Rückmeldung aus Berater-Perspektive: Fühle ich mich zur Klärung eingeladen oder bereits verurteilt?'</a:t>
            </a:r>
          </a:p>
          <a:p>
            <a:r>
              <a:t>Kein Rollenspiel – es geht um den Text, nicht um eine Gesprächssimulation.</a:t>
            </a:r>
          </a:p>
          <a:p>
            <a:r>
              <a:t>Abwehr-Variante B (Sinnzweifel) ist eine andere Gesprächssituation als A: erst Nutzen für den Berater selbst benennen, dann Vereinbarungs-Ebene.</a:t>
            </a:r>
          </a:p>
          <a:p>
            <a:r>
              <a:t>Zwischenerinnerung nach 10 Min.: 'Ihr Einstiegssatz muss: Sachverhalt benennen (nicht beschönigen) / Klärungsabsicht signalisieren / Einladen, nicht überrumpeln.'</a:t>
            </a:r>
          </a:p>
          <a:p>
            <a:r>
              <a:t>Stille Überarbeitung (202–205 Min.) explizit ausweisen – geht sonst unter.</a:t>
            </a:r>
          </a:p>
          <a:p>
            <a:r>
              <a:t>Plenum-Auswertung: Zweite Version, nicht erste. Sichtbar machen, was der Sprachcheck bewirkt 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Selbstcheck (Sec 5) in Stille ausfüllen (ca. 3 Min.): Welche Frage ist die unbequemste?</a:t>
            </a:r>
          </a:p>
          <a:p>
            <a:r>
              <a:t>Plenumsfrage: 'Was nehme ich heute mit – eine konkrete Handlung bis Ende dieser Woche?' 2–3 TN antworten lassen.</a:t>
            </a:r>
          </a:p>
          <a:p>
            <a:r>
              <a:t>Transferaufgabe 3 besonders betonen: Nicht auf nach der nächsten TL-Runde verschieben.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Greenleaf-Test vorlesen: 'Wachsen die Menschen, denen Sie führend begegnen – werden sie kompetenter, freier, eigenverantwortlicher?'</a:t>
            </a:r>
          </a:p>
          <a:p>
            <a:r>
              <a:t>Abschluss-Merksatz für Flipchart: 'Das Nachfassgespräch ist erfolgreich, wenn Markus das Gespräch mit Klarheit über die Vereinbarung verlässt – nicht mit dem Gefühl, vor Gericht gestanden zu haben.'</a:t>
            </a:r>
          </a:p>
          <a:p>
            <a:r>
              <a:t>Brücke zu TL07: 'Wer Feedback und Entwicklungsgespräch als Handwerk beherrscht, ist bereit für GROW als Grundhaltung. TL07 macht das coachende Führen zur dauerhaften Gesprächsarchitektur.'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Feedback- und Entwicklungsgespräche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Wirksames Feedback geben, Entwicklung anstoßen, schwierige Rückmeldungen konstruktiv führen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K-F03 Personalentwicklung &amp; Coaching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Führungscoach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TL05 endete mit einer vereinbarten Maßnahme.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TL06 beginnt mit der Frage, was passiert, wenn sie nicht umgesetzt wurde – und wie eine Führungskraft darauf reagiert, ohne die Beziehung zu beschädigen oder die Verbindlichkeit aufzugeben.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Führungscoachs erarbeiten das Werkzeug des wirksamen, verhaltensbezogenen Feedbacks (SBI-Modell), verstehen, warum Feedback-Interventionen manchmal Leistung verschlechtern statt verbessern, und lernen, ein Entwicklungsgespräch zu strukturieren, das Stärken stärkt und Entwicklung einlädt – statt zu beurteilen.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Schwerpunkt: die erste Nachfass-Reaktion auf eine nicht eingehaltene Vereinbarung, als entwicklungsorientierter Mittelpunkt zwischen Steuerungsgespräch (TL05) und Konsequenzgespräch (TL08).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SBI-Modell (Situation–Behavior–Impact) auf eine konkrete Beratungssituation anwenden und ein beschreibendes, verhaltensbezogenes Feedback formulieren, das Bewertung und Interpretation des Verhaltens konsequent vermeidet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Wirkungsbedingungen von Feedback analysieren – warum manche Rückmeldungen Leistung verbessern und andere sie verschlechtern – und die eigene Feedbackpraxis an hand dieser Bedingungen einschätzen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Entwicklungsgespräch für einen konkreten Mitarbeitenden strukturiert vorbereiten: Stärken und Entwicklungsfelder benennen, eine entwicklungsorientierte Ziel- und Maßnahmenvereinbarung formulieren und den Anschluss an TL05-Steuerungsgespräche sicherstellen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schwierige Rückmeldung – insbesondere die erste Reaktion auf eine nicht umgesetzte Vereinbarung aus TL05 – analysieren, die passende Gesprächshaltung bestimmen und einen entwicklungsorientierten Gesprächseinstieg ausarbeiten, der die Beziehung wahrt und Verbindlichkeit herstellt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0–15 Min.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 &amp; Erwartungscheck</a:t>
            </a:r>
            <a:r>
              <a:rPr sz="900">
                <a:solidFill>
                  <a:srgbClr val="78808C"/>
                </a:solidFill>
                <a:latin typeface="Arial"/>
              </a:rPr>
              <a:t>  ·  Blitzlicht-Runde: Jeder TN nennt in einem Satz die Situation, die ihn aktuell bei Feedback- oder Entwicklungsgesprächen am meisten beschäftigt. Trainer notiert stichwortartig auf dem Flipchart (max. 10 Nennungen) – die Liste bleibt den gesamten Workshop sichtbar. Bezug zu TL05 herstellen: „Einige von Ihnen haben zuletzt Steuerungsgespräche geführt und Vereinbarungen getroffen. TL06 beginnt mit der Frage, was passiert, wenn diese Vereinbarungen nicht eingehalten werden."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15–45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I: Wirksames Feedback – SBI-Modell &amp; Feedback-Forschung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 mit Visualisierung (Folie 4–7): Unterschied Feedback vs. Bewertung/Beurteilung (Tabelle); Feedback-Intervention-Theorie (Kluger &amp; DeNisi, 1996) – warum Feedback manchmal Leistung verschlechtert; vier Feedback-Ebenen (Hattie &amp; Timperley, 2007); SBI-Modell (Schaubild „SBI-Feedback-Modell"); Merksatz. Trainer fragt nach 20 Minuten: „Welche Ebene adressiert das häufigste Feedback, das Sie in den letzten Wochen gegeben haben – Aufgabe, Prozess oder Person?"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45–70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II: Das Entwicklungsgespräch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 mit Visualisierung (Folie 8–10): Abgrenzungstabelle Feedbackgespräch / Entwicklungsgespräch / Beurteilungsgespräch; Entwicklungsorientierte Haltung (Individualized Consideration, Bass &amp; Avolio, 1990); Fünf-Schritte-Struktur des Entwicklungsgesprächs; Reflexive Praxis im Gespräch (Schön, 1983). Trainer entwickelt gemeinsam mit TN am Beispiel Markus W. einen Stärken-SBI.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70–80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III: Schwierige Rückmeldung – Nachfassgespräch</a:t>
            </a:r>
            <a:r>
              <a:rPr sz="900">
                <a:solidFill>
                  <a:srgbClr val="78808C"/>
                </a:solidFill>
                <a:latin typeface="Arial"/>
              </a:rPr>
              <a:t>  ·  Kompakter Trainer-Input (max. 10 Min.): Drei Reaktionsmuster nach nicht eingehaltener Vereinbarung (Ignorieren / Eskalieren / Entwicklungsorientiertes Nachfassen – Tabelle); drei Aufgaben des Nachfassgesprächs; Haltungsklärung als Vorbereitungsschritt; Umgang mit Abwehr. Trainer: „Das Nachfassgespräch ist nicht TL08 – und es ist auch keine Bagatellisierung. Es ist der Raum, den Sie in den nächsten 25 Minuten gemeinsam erarbeiten."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80–90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90–110 Min. </a:t>
            </a:r>
            <a:r>
              <a:rPr sz="1200" b="1">
                <a:solidFill>
                  <a:srgbClr val="3D5466"/>
                </a:solidFill>
                <a:latin typeface="Arial"/>
              </a:rPr>
              <a:t>  Praxisfall Sandra Kern &amp; Markus W. – Analyse im Plenum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stellt den Praxisfall (Sec 4) vor. TN lesen den Fall still (ca. 3 Min.), dann gelenkte Plenumsdiskussion anhand der vier Analysefragen. Trainer lenkt gezielt auf Frage 2 (Haltung Klärung vs. Eskalation) und Frage 4 (Bagatellisieren vs. Verbindlichkeit wahren). Ziel: Bewusstsein für die Spannungsebene – nicht eine Musterlösung.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110–130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AB-1 Einzelarbeit: SBI-Feedback &amp; Entwicklungsgespräch vorbereiten</a:t>
            </a:r>
            <a:r>
              <a:rPr sz="900">
                <a:solidFill>
                  <a:srgbClr val="78808C"/>
                </a:solidFill>
                <a:latin typeface="Arial"/>
              </a:rPr>
              <a:t>  ·  TN arbeiten 20 Min. an AB-1 (Teil A: SBI-Feedback formulieren; Teil B: Stärken-SBI und Entwicklungsgespräch-Einstieg für Markus W. oder eigenen Fall). Trainer begleitet still, gibt auf Nachfrage Orientierungshilfen – keine Musterlösungen vorab. Nach 12 Min. kurze Zwischenerinnerung: „Prüfen Sie, ob Ihr SBI-Feedback ein Charaktermerkmal enthält – wenn ja, stoppen und zurück auf die Verhaltensebene."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130–155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Fallberatung: Nachfassgespräch vorbereiten</a:t>
            </a:r>
            <a:r>
              <a:rPr sz="900">
                <a:solidFill>
                  <a:srgbClr val="78808C"/>
                </a:solidFill>
                <a:latin typeface="Arial"/>
              </a:rPr>
              <a:t>  ·  Hauptblock: 25 Min. kollegiale Fallberatung in Gruppen à 3–4 TN. Arbeitsstruktur: Sechs-Schritte-Kollegiale Fallberatung (vgl. TL00 Sec 3.2): (1) Fall vorstellen, (2) Schlüsselfrage klären, (3) Perspektivwechsel, (4) Impulse sammeln, (5) Klärung durch Fallgeber, (6) nächster Schritt. Thema: Vorbereitung des Nachfassgesprächs mit Markus W. (oder eigenem realen Fall). Jede Gruppe bearbeitet AB-2 Schritte 1–3 gemeinsam: Haltung klären → Gesprächsziel formulieren → Einstiegssatz erarbeiten. Danach: Je eine Gruppe stellt ihren Einstiegssatz im Plenum vor; Trainer moderiert: „Hören Sie das als Markus – fühlen Sie sich konfrontiert oder eingeladen?"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155–165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165–185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AB-2 Einzelarbeit: Nachfassgespräch vollständig ausarbeiten</a:t>
            </a:r>
            <a:r>
              <a:rPr sz="900">
                <a:solidFill>
                  <a:srgbClr val="78808C"/>
                </a:solidFill>
                <a:latin typeface="Arial"/>
              </a:rPr>
              <a:t>  ·  TN vervollständigen AB-2 (Schritte 4–5: Reaktion auf Abwehr vorbereiten; Vereinbarung am Gesprächsende formulieren). Trainer gibt nach 10 Min. Zwischenerinnerung: „Ihr Einstiegssatz in Schritt 3 sollte den Sachverhalt benennen, ohne zu anklagen – prüfen Sie, ob beides erfüllt ist."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185–202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Sprachcheck in 2er-Gruppen</a:t>
            </a:r>
            <a:r>
              <a:rPr sz="900">
                <a:solidFill>
                  <a:srgbClr val="78808C"/>
                </a:solidFill>
                <a:latin typeface="Arial"/>
              </a:rPr>
              <a:t>  ·  Je zwei TN lesen sich gegenseitig Einstiegssatz (AB-2 Schritt 3) und Abwehr-Antwort (Schritt 4 Variante A+B) vor. Rückmeldung aus der Berater-Perspektive: „Fühle ich mich konfrontiert oder eingeladen?" / „Klingt das nach Eskalation oder nach Entwicklungsinteresse?" Kein Rollenspiel – es geht um den Text, nicht um eine Gesprächssimulation.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202–205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Stille Überarbeitung</a:t>
            </a:r>
            <a:r>
              <a:rPr sz="900">
                <a:solidFill>
                  <a:srgbClr val="78808C"/>
                </a:solidFill>
                <a:latin typeface="Arial"/>
              </a:rPr>
              <a:t>  ·  TN schreiben auf Basis der Rückmeldung eine zweite Version ihres Einstiegssatzes (3 Min. Einzelarbeit). Ziel: nicht perfekt, sondern besser als Version 1. Das ist der Text, den der TL als Vorbereitung für das echte Gespräch mitnimmt.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205–215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Plenum-Auswertung</a:t>
            </a:r>
            <a:r>
              <a:rPr sz="900">
                <a:solidFill>
                  <a:srgbClr val="78808C"/>
                </a:solidFill>
                <a:latin typeface="Arial"/>
              </a:rPr>
              <a:t>  ·  Zwei TN stellen ihre zweite Version des Einstiegssatzes vor (nach Überarbeitung – nicht die erste). Plenum kommentiert: Was wirkt entwicklungsorientiert – was klingt wie Eskalation oder Bagatellisierung? Trainer schließt mit Merksatz: „Das Nachfassgespräch mit Markus ist erfolgreich, wenn er das Gespräch mit Klarheit über die Vereinbarung und einem nächsten konkreten Schritt verlässt – nicht mit dem Gefühl, vor Gericht gestanden zu haben."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215–230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Transfer-Aufgaben besprechen &amp; Selbstcheck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stellt die drei Transferaufgaben (Sec 5) kurz vor. TN lesen den Selbstcheck (Sec 5) und markieren, welche Fragen sie heute bereits mit 3+ beantworten würden. Kurzes Plenum: „Was nehme ich heute mit – eine konkrete Handlung bis Ende dieser Woche?"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230–240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Evaluation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Feedbackbogen (Sec 6.1) ausfüllen (ca. 6 Min.). Wissenstest (Sec 6.2) als Hausaufgabe oder in verbleibender Zeit. Trainer schließt mit dem Greenleaf-Test: „Nach jedem Feedback- und Entwicklungsgespräch eine Frage: Hat der Berater das Gespräch mit mehr Klarheit über sich selbst verlassen – und mit einem konkreten nächsten Schritt?"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 · Wo TL05 aufgehört 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Die Vereinbarung steht – und dann?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TL05 endete mit einer Vereinbarung. TL06 beginnt mit dem Ernstfall.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Steuerungsgespräch → Maßnahme vereinbart.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Sechs Wochen später: Vereinbarung nicht umgesetzt.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Ignorieren? Eskalieren? Oder beides falsch?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Nachfassgespräch ist der blinde Fleck vieler TLs.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Warum Feedback manchmal schadet – und wie SBI das verhindert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Feedback-Ebenen verstehen + SBI als Handwerkzeug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Beschreibendes Feedback wirkt – bewertendes Feedback schützt sich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Feedback (beschreibend)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„In der gestrigen Kundenbesprechung hast du die Liquiditätsfrage nicht beantwortet.“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„Von elf Besuchen wurden zwei im agree-System dokumentiert.“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„In Teambesprechungen ergreifst du selten das Wort, auch bei relevanten Erfahrungen.“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Gut gemeintes Feedback verschlechtert Leistung – in 1 von 3 Fällen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Kluger &amp; DeNisi (1996): 131 Studien, 1/3 negative Effekte.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Problem ist nicht Inhalt – sondern Ebene.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Selbstebene: aktiviert Abwehr, blockiert Lernen.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Aufgaben-/Prozessebene: öffnet Reflexion.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Stufe entscheidet – nicht Formulierung.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SBI: Verhalten beschreiben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82" y="1325880"/>
            <a:ext cx="6245388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Entwicklungsgespräch: nicht das Jahresgespräch – und nicht das Steuerungsgespräch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Gesprächsformate abgrenzen + Fünf-Schritte-Struktur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Formate – eine Verwechslung, die Entwicklung verhindert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Merkmal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Zeitperspektive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Haltung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Ergebnis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Bezugsrahmen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Entwicklung beginnt mit der Stärke – nicht aus Freundlichkeit, sondern aus Wirkung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Deci &amp; Ryan (2000): Kompetenzerleben = Motivations-Grundbedingung.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Bass &amp; Avolio (1990): Individualized Consideration.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Stärke ist Ausgangspunkt – nicht Einstiegs-Schmeichelei.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Fünf Schritte: Vorbereitung → Einstieg → Stärken → Entwicklungsfeld → Vereinbarung.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Eines, nicht drei. Fokus schützt Verbindlichkeit.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Die erste Reaktion auf eine nicht umgesetzte Vereinbarung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Reaktionsmuster – der dritte Weg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Ignorieren oder eskalieren – beides ist die zweitbeste Lösung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Reaktionsmuster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Ignorieren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Eskalieren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Entwicklungsorientiertes Nachfassen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ANALYSE IM PLENUM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Praxisfall: Sandra Kern und Markus 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Stärke vs. Lücke – kein Automatismus, sondern Führungsabwägung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PRAXISFALL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Teamleiterin Sandra Kern – VR-Bank Musterregion eG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108173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6576" cy="18288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83080"/>
            <a:ext cx="10268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AUSGANGSSITUATION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1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Markus W. (31 J., 4 Jahre im Haus) hat zugesagt, A-Kunden-Besuche im agree-System zu dokumentieren – Anlass war ein MaRisk-Audit. Sechs Wochen später: 2 von 11 Besuchen dokumentiert. Markus ist der stärkste Netzwerker im Team, überdurchschnittliche Neukundengewinnung, Dokumentation gilt ihm als „Papierkram“. Sandra bereitet zwei Gespräche vor: ein SBI-Feedback zur Dokumentationslücke und den Einstieg in ein Entwicklungsgespräch, das auf seinen Stärken aufbaut.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Fall zuerst lesen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(20 MIN.) + KOLLEGIALE FALLBERATUNG (25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AB-1: SBI-Feedback und Entwicklungsgespräch vorbereiten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SBI schriftlich formulieren + Stärken-SBI + Einstiegssatz entwickeln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Verhalten beschreiben, bevor das Gespräch beginnt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A: S / B / I für Markus – kein Charaktermerkmal.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Prüffrage: Adressiert der Impact die Sachebene?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B: Stärken-SBI für Markus' Netzwerk-Stärke.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Eines Entwicklungsfeld – Hebelwirkung begründen.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Einstiegssatz: Entwicklungsabsicht, kein Defizit-Einstieg.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(20 MIN.) + SPRACHCHECK (17 MIN.) + STILLE ÜBERARBEITUNG (3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Das Nachfassgespräch schriftlich ausarbeiten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Haltung klären → Einstiegssatz formulieren → Abwehr vorbereiten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Den Einstiegssatz schreiben, nicht proben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1: Haltung klären – Klärung oder Eskalation?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2: Gesprächsziel: Was soll am Ende stehen?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3: Einstiegssatz – benennen, nicht anklagen, einladen.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4: Abwehr A (Zeitknappheit) und B (Sinnzweifel) vorbereiten.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5: Vereinbarung am Gesprächsende formulieren.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ABSCHLUSS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Transfer &amp; Haltung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Aufgaben für die Praxis – ein persönlicher Prüfstein – Brücke zu TL07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Transferaufgaben für die nächsten zehn 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1: SBI-Feedback geben – schriftlich vorbereitet, persönlich ausgesprochen.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2: Entwicklungsgespräch nach Fünf-Schritte führen – Stärken-SBI zuerst.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3: Offene Nachfass-Situation klären – AB-2 vorher schriftlich ausfüllen.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Feedback beschreibt Verhalten – und der Greenleaf-Test prüft, ob es gewirkt 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Feedback → Verhalten, nie Person.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Entwicklung → Stärke als Ausgangspunkt, nicht Defizit.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Nachfassen → Klärung vor Eskalation. Einmal klären, neu vereinbaren.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Greenleaf-Test: Hat der Berater mehr Klarheit verlassen – und einen nächsten Schritt?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TL07 (GROW): Coachende Grundhaltung in allen Gesprächen.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