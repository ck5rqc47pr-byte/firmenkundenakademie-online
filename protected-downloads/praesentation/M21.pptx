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 (HB Sec 3): Trainer-Hinweis: Diese Checkliste verbleibt in der Trainermappe. Eine Woche vorher [ ] Teilnehmerliste prüfen: Haben alle M02 und M04 absolviert? [ ] Bei fehlenden Voraussetzungen: Kurzwiederholung „8-Felder-Framework" versenden [ ] Fallstudienmappe drucken und binden [ ] Raumreservierung und Technik bestätigen Am Vortag [ ] Alle Arbeitsblätter ausgedruckt (12 × je AB) [ ] Trainermappe mit Musterlösung griffbereit [ ] Gruppenaufteilung vorbereiten 30 Minuten vor Beginn [ ] Raum aufbauen (U-Form oder 3er-Gruppentische) [ ] Flip-Charts aufstellen, Marker testen [ ] Beamer und Foliensatz testen [ ] Taschenrechner auf Tische legen [ ] Namensschilder bereitlegen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4.4.5 Kreditempfehlung (Musterlösung)</a:t>
            </a:r>
          </a:p>
          <a:p>
            <a:r>
              <a:t>Empfehlung: ZUSAGE MIT AUFLAGEN</a:t>
            </a:r>
          </a:p>
          <a:p>
            <a:r>
              <a:t>Begründung:</a:t>
            </a:r>
          </a:p>
          <a:p>
            <a:r>
              <a:t>1. Cashflow-Tragfähigkeit nachgewiesen (Deckungsquote 1,53x, ZDQ 9,4x), auch bei moderatem Stress ausreichend</a:t>
            </a:r>
          </a:p>
          <a:p>
            <a:r>
              <a:t>2. Investitionszweck wirtschaftlich sinnvoll und vollständig dokumentiert</a:t>
            </a:r>
          </a:p>
          <a:p>
            <a:r>
              <a:t>3. Managementqualität gut, aber Nachfolgerisiko signifikant und adressierbar</a:t>
            </a:r>
          </a:p>
          <a:p>
            <a:r>
              <a:t>4. Branchendiversifikation schützt vor Einzelsegment-Schocks</a:t>
            </a:r>
          </a:p>
          <a:p>
            <a:r>
              <a:t>5. Sicherheitenpaket knapp ausreichend bei Einbeziehung aller Bürgschaften</a:t>
            </a:r>
          </a:p>
          <a:p>
            <a:r>
              <a:t>Auflagenkatalog:</a:t>
            </a:r>
          </a:p>
          <a:p>
            <a:r>
              <a:t>1. Eigenkapitalerhöhung: Thesaurierung Jahresgewinn 2025 mind. 100.000 € (EK-Quote nach 12 Monaten ≥ 23 %)</a:t>
            </a:r>
          </a:p>
          <a:p>
            <a:r>
              <a:t>2. Nachfolgeplan: Schriftliche Nachfolgeregelung bis 31.12.2026 (Rollen, Zeitachse, Berater)</a:t>
            </a:r>
          </a:p>
          <a:p>
            <a:r>
              <a:t>3. Monitoring: Monatliche Umsatzmeldung, Quartalsmeldung GuV-Rohfassung</a:t>
            </a:r>
          </a:p>
          <a:p>
            <a:r>
              <a:t>4. Covenant: EK-Quote ≥ 22 %; Warnung bei &lt; 22 %, Kündigung bei &lt; 20 %</a:t>
            </a:r>
          </a:p>
          <a:p>
            <a:r>
              <a:t>5. Sicherheiten: Rang-2-Grundschuld Hallenerweiterung + Sicherungsübereignung CNC-Maschine + selbstschuldnerische Bürgschaft Klaus und Sabine Schnell je 210.000 €</a:t>
            </a:r>
          </a:p>
          <a:p>
            <a:r>
              <a:t>Praxishinweis zu Auflage 5 – Bürgschaft Klaus Schnell (75 Jahre): Bei Bürgschaften von Gesellschaftern über 70 Jahren ist das Erbfall-Szenario zu prüfen: Geht die Bürgschaft auf die Erben über, und ist der Bürgschaftsvertrag entsprechend gestaltet? Empfehlung: Ergänzend eine Risikolebensversicherung auf das Leben von Klaus Schnell (Todesfallsumme mind. 210.000 €, Bank als unwiderrufliche Bezugsberechtigte) als Sicherheitsauflage prüfen. Klärung mit Rechtsabteilung/Marktfolge vor Beschlussfassung.</a:t>
            </a:r>
          </a:p>
          <a:p>
            <a:r>
              <a:t>Konditionen:</a:t>
            </a:r>
          </a:p>
          <a:p>
            <a:r>
              <a:t>Kreditbetrag: 420.000 €</a:t>
            </a:r>
          </a:p>
          <a:p>
            <a:r>
              <a:t>Zinssatz: 5,00 % p. a. (EURIBOR + 2,0 % Spread)</a:t>
            </a:r>
          </a:p>
          <a:p>
            <a:r>
              <a:t>Laufzeit: 7 Jahre (84 Monate)</a:t>
            </a:r>
          </a:p>
          <a:p>
            <a:r>
              <a:t>Tilgung: Annuitätisch, erste Rate 6 Monate nach Auszahlung</a:t>
            </a:r>
          </a:p>
          <a:p>
            <a:r>
              <a:t>Jahresrate: ca. 73.000 € (Zins) + 60.000 € (Tilgung) = 133.000 €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Kreditentscheidung treffen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Strukturierte Kreditanalyse und überzeugende Entscheidungsvorlage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Kreditexpertise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Kreditentscheidungen scheitern selten an fehlenden Daten – häufiger an unstrukturierter Analyse und kognitiven Verzerrungen.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lernen das 8-Felder-Framework für die Kreditanalyse, erkennen typische Urteilsfallen und üben die Entscheidungsfindung an realistischen Fällen.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formulieren Sie tragfähige Kreditempfehlungen und vertreten sie souverän vor dem Kreditausschuss.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strukturierte Kreditanalyse anhand des 8-Felder-Frameworks selbstständig durchführen und MaRisk-konform dokumentieren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Quantitative und qualitative Risikofaktoren eines Kreditantrags systematisch analysieren und nach Relevanz gewichten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begründete Kreditempfehlung bewerten, entscheiden und vor dem Kreditausschuss vertreten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Kreditvorlagen Dritter kritisch prüfen und Verbesserungspotenziale benennen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08:00–08:10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08:10–08:25 </a:t>
            </a:r>
            <a:r>
              <a:rPr sz="1200" b="1">
                <a:solidFill>
                  <a:srgbClr val="3D5466"/>
                </a:solidFill>
                <a:latin typeface="Arial"/>
              </a:rPr>
              <a:t>  Aktivierung</a:t>
            </a:r>
            <a:r>
              <a:rPr sz="900">
                <a:solidFill>
                  <a:srgbClr val="78808C"/>
                </a:solidFill>
                <a:latin typeface="Arial"/>
              </a:rPr>
              <a:t>  ·  Rundgespräch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08:25–09:00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09:00–09:30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 II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09:30–09:35 </a:t>
            </a:r>
            <a:r>
              <a:rPr sz="1200" b="1">
                <a:solidFill>
                  <a:srgbClr val="3D5466"/>
                </a:solidFill>
                <a:latin typeface="Arial"/>
              </a:rPr>
              <a:t>  Überleitung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09:35–10:20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Fallstudienarbeit I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10:20–10:30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—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10:30–11:00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Fallstudienarbeit II</a:t>
            </a:r>
            <a:r>
              <a:rPr sz="900">
                <a:solidFill>
                  <a:srgbClr val="78808C"/>
                </a:solidFill>
                <a:latin typeface="Arial"/>
              </a:rPr>
              <a:t>  ·  Kleingruppenarbeit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11:00–11:30 </a:t>
            </a:r>
            <a:r>
              <a:rPr sz="1200" b="1">
                <a:solidFill>
                  <a:srgbClr val="3D5466"/>
                </a:solidFill>
                <a:latin typeface="Arial"/>
              </a:rPr>
              <a:t>  Präsentation</a:t>
            </a:r>
            <a:r>
              <a:rPr sz="900">
                <a:solidFill>
                  <a:srgbClr val="78808C"/>
                </a:solidFill>
                <a:latin typeface="Arial"/>
              </a:rPr>
              <a:t>  ·  Präsentation + Feedback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11:30–11:50 </a:t>
            </a:r>
            <a:r>
              <a:rPr sz="1200" b="1">
                <a:solidFill>
                  <a:srgbClr val="3D5466"/>
                </a:solidFill>
                <a:latin typeface="Arial"/>
              </a:rPr>
              <a:t>  Musterlösung</a:t>
            </a:r>
            <a:r>
              <a:rPr sz="900">
                <a:solidFill>
                  <a:srgbClr val="78808C"/>
                </a:solidFill>
                <a:latin typeface="Arial"/>
              </a:rPr>
              <a:t>  ·  Trainerinput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11:50–12:00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12:00–12:05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 Kreditentscheidung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Das 8-Felder-Framework für KMU-Kreditentscheidungen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4.1.1 KONZEPTIONELLER RAHMEN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Übersicht der 8 Felder: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4.1.2 FELD 1 – ZWECK UND VERWENDUNG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Definition: Wozu wird der Kredit konkret verwendet? Ist die Verwendung wirtschaftlich sinnvoll und bankseits nachvollziehbar?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Analysefragen: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Ist der Zweck konkret und überprüfbar? (Nicht „Betriebsmittel", sondern „5-Achs-CNC-Drehmaschine Heidenhain TNC 640 für Werkstatt Gebäude 2")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Dient er der Substanzerhaltung (Ersatz) oder Substanzverbesserung (Wachstum, Rationalisierung)?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Passt der Zweck zur wirtschaftlichen Lage des Unternehmens?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Ist die Amortisationszeit realistisch für die gewählte Laufzeit?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Typische Risiken: Mehrfachzweck ohne Aufteilung, Verwendung für Schuldenumschuldung ohne explizite Nennung, fehlende Kostenaufstellungen.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4.1.3 FELD 2 – RÜCKZAHLUNGSQUELLE (CASHFLOW-ANALYSE)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Definition: Kann das Unternehmen Zins und Tilgung aus operativem Cashflow decken, oder ist es auf Desinvestitionen oder Dritte angewiesen?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8-Felder-Framework der Kreditentscheidung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Theorie-Input: Das 8-Felder-Framework für KMU-Kreditentscheidungen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Komfortzone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Warnschwelle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Kritisch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Zinsdeckungsquote (ZDQ)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 ÷ Zinskosten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3,0x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2,0–3,0x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1,5x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Cashflow-Deckungsquote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(EBITDA − Steuern − CapEx) ÷ Kreditrate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1,5x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1,0–1,5x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1,0x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Dynamischer Verschuldungsgrad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Netto-Fremdkapital ÷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3,0x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3,0–4,0x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4,0x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Theorie-Input: Das 8-Felder-Framework für KMU-Kreditentscheidungen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Formel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Komfortzone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Warnschwelle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EK ÷ Bilanzsumme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20 %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Verschuldungsgrad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Fremdkapital ÷ 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1,5x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2,5x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Dynamischer 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Netto-FK ÷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&lt; 3,0x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&gt; 4,0x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Von der Analyse zur Entscheidungsvorlage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4.2.1 STRUKTUR EINER KREDITVORLAGE NACH MARISK BTO 1.1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Eine bankinterne Kreditvorlage muss nach MaRisk BTO 1.1 (Bundesanstalt für Finanzdienstleistungsaufsicht, 2023 ) folgende Elemente enthalten: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Gesamtumfang: 12–20 Seiten (je nach Komplexität)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4.2.2 DIE DREI ENTSCHEIDUNGSERGEBNISSE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Entscheidung 1: ZUSAGE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Alle 8 Felder positiv oder neutral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Keine einschränkenden Bedingungen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Dokumentation: Kreditausschuss-Beschluss, Krediturkunde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Entscheidung 2: ZUSAGE MIT AUFLAGEN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Einzelne Felder mit Risiken, die durch Auflagen mitigierbar sind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Auflagen müssen SMART formuliert sein (Spezifisch, Messbar, Akzeptabel, Realistisch, Terminiert)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Beispiel: „EK-Quote muss innerhalb von 24 Monaten auf ≥ 23 % steigen; Nachweis quartalsweise."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Zwei Denksysteme nach Kahneman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Sicherheitenbewertung nach BelWertV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Grundpfandrechte auf Immobilien: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Verkehrswert ermitteln (Gutachter oder Vergleichswerte)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Abschlag von 20–30 % anwenden (je nach Marktvolatilität und Verwertbarkeit)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Beleihungswert = ca. 60–70 % des Verkehrswerts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Rangfolge: Rang 1 hat volle Priorität. Rang 2 und 3 erhalten erst nach vollständiger Bedienung von Rang 1 Erlöse – dies kann im Verwertungsfall zu erheblichen Ausfällen führen.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Bewegliche Sicherheiten: Maschinen und Anlagen verlieren durch Spezialisierung, Betrieb und Marktlage schnell an Wert. Beleihungssatz 30–50 % des Buchwerts ist konservativ, aber realistisch.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4.3a Sicherheitenbewertung im Alltag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BelWertV-Theorie ist eine Sache – der Alltag stellt andere Fragen: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 ist ein aktuelles Gutachten Pflicht?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Erstverpfändung einer Immobilie und Krediten typischerweise ab 150.000–300 T€ (bankindividuell – Grenze mit Marktfolge klären)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wesentlicher Wertveränderung (Umbau, Schaden, Marktveränderung)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Verlängerung mit mehr als 5 Jahren ohne zwischenzeitliches Update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 reicht eine Plausibilisierung?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kleinen Beträgen und gut bekannten Objekten kann der Berater eine Marktplausibilisierung vornehmen (Vergleichspreise Onlineportale, Gespräch mit lokalem Makler)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 Schätzung muss dokumentiert und dem Kreditbeschluss beigefügt werden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Alte Gutachten – Faustregel: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Gutachten älter als 3 Jahre: Abschlag von 10–20 % auf den damaligen Wert je nach Marktentwicklung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Gutachten älter als 5 Jahre: Neugutachten oder erheblicher konservativer Abschlag empfohlen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Gewerbeimmobilien: Marktentwicklung oft volatiler als bei Wohnimmobilien – früher erneuern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4.3b Betriebsmittelkredite und Kontokorrent: Kurzfall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alle Kreditentscheidungen sind langfristige Investitionskredite. Häufiger Alltag: KK-Linie läuft an ihre Grenze oder wird regelmäßig überzogen.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Kurzfall: Bäckerei Weber KG, Überzug KK-Linie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Beraterin Schmidt stellt fest: Bäckerei Weber KG, Linie 80.000 €, seit 6 Wochen durchgehend bei 95–100 % ausgelastet, in einer Woche zweimal kurz drüber.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Analysefragen für Kontokorrent: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Mögliche Entscheidungen: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Temporärer saisonaler Überzug, stabile Bonität: Dulden mit Dokumentation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Strukturelle Auslastung, gute Bonität: Linienerhöhung prüfen (mit Analyse Feld 2 und 3)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Überzug + Warnsignale: Sofort persönliches Gespräch, ggf. Frühwarnmeldung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Wichtig: Jede Überzugsduldung – auch eine kurzfristige – muss dokumentiert werden (MaRisk BTO 1.1). Nicht dokumentierte Überzüge sind ein Prüfungsrisiko.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Entscheidungsmatrix: Wann ist eine neue Kreditvorlage Pflicht?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4.3c Checkliste: Bestandskredit in der Krise – erste Schritte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schwierigste Kreditentscheidung ist nicht die Neuvergabe, sondern: Was tue ich, wenn ein Bestandskunde in Schieflage gerät?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Diese Situation ist emotional belastend (langjährige Kundenbeziehung) und rechtlich heikel. Erste Schritte: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Praxistipp: Wer früh eskaliert und dokumentiert, schützt sich selbst und gibt dem Kunden eine echte Chance. Wer zu lange alleine trägt, verliert beides.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Metallbau Schnell GmbH (Heilbronn, fiktiv)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4.4.1 UNTERNEHMENSPROFIL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Kreditantrag: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Art: Investitionskredit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Betrag: 420.000 €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Verwendung: 5-Achs-CNC-Drehmaschine Heidenhain TNC 640 (280.000 €) + Hallenerweiterung (140.000 €)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Laufzeit: 7 Jahre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4.4.2 FINANZLAGE: 3-JAHRESVERGLEICH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Bilanzauszüge (in T€):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Gewinn- und Verlustrechnung (in T€):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Kennzahlenanalyse: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4.4.3 8-FELDER-ANALYSE: METALLBAU SCHNELL GMBH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Feld 1 – Zweck &amp; Verwendung | Bewertung: 5/5 POSITIV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Praxisfall: Metallbau Schnell GmbH (Heilbronn, fiktiv)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Trend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Umsatz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Materialkosten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Personalkosten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−2.010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▲▲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Abschreibungen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Sonstige Kosten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▲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▼▼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Zinsen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▼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Netto-Gewinn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▼▼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Praxisfall: Metallbau Schnell GmbH (Heilbronn, fiktiv)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Bewertung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EBIT-Marge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8,9 %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7,3 %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▼ rückläufig – kritische Entwicklung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24,7 %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25,0 %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25,1 %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→ knapp, aber leicht verbessernd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Verschuldungsgrad (FK/EK)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2,67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2,61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→ erhöht, über Komfortschwelle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Zinsdeckungsquote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10,7x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10,4x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9,4x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▼ sehr gut, aber fallend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Dyn. Verschuldungsgrad (NK/EBITDA)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1,93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▲ steigt – Achtung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8-Felder-Kreditanalyse-Template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KREDIT-ANALYSE FORMULAR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Feld 1 – Zweck &amp; Verwendung (Gewichtung: 10 %)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Ist der Verwendungszweck konkret, prüfbar und wirtschaftlich sinnvoll?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Bewertung: ☐ 1 (kritisch) ☐ 2 ☐ 3 (ausreichend) ☐ 4 ☐ 5 (sehr gut)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Feld 2 – Rückzahlungsquelle (Gewichtung: 25 %)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Stress-Szenario (−10 % Umsatz): Deckungsquote sinkt auf ___x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Bewertung: ☐ 1 ☐ 2 ☐ 3 ☐ 4 ☐ 5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Feld 3 – Kapitalstruktur (Gewichtung: 15 %)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Bewertung: ☐ 1 ☐ 2 ☐ 3 ☐ 4 ☐ 5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Feld 4 – Managementqualität (Gewichtung: 20 %)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Nachfolge geklärt? ☐ Ja ☐ Nein | Transparenz im Gespräch: ☐ offen ☐ ausweichend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Bewertung: ☐ 1 ☐ 2 ☐ 3 ☐ 4 ☐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AB-1: 8-Felder-Kreditanalyse-Template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Sicherheitentyp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Beleihungswert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Rang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_______________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Gesamt-Beleihungswert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Kreditbetrag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Deckungsgrad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___%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