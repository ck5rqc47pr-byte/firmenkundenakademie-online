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Trainer-Hinweis: Diese Checkliste verbleibt in der Trainermappe. Eine Woche vorher [ ] Teilnehmerliste prüfen: Haben alle M02 und M04 absolviert? [ ] Bei fehlenden Voraussetzungen: Kurzwiederholung „8-Felder-Framework" versenden [ ] Fallstudienmappe drucken und binden [ ] Raumreservierung und Technik bestätigen Am Vortag [ ] Alle Arbeitsblätter ausgedruckt (12 × je AB) [ ] Trainermappe mit Musterlösung griffbereit [ ] Gruppenaufteilung vorbereiten 30 Minuten vor Beginn [ ] Raum aufbauen (U-Form oder 3er-Gruppentische) [ ] Flip-Charts aufstellen, Marker testen [ ] Beamer und Foliensatz testen [ ] Taschenrechner auf Tische legen [ ] Namensschilder bereitlegen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4.4.5 Kreditempfehlung (Musterlösung)</a:t>
            </a:r>
          </a:p>
          <a:p>
            <a:r>
              <a:t>Empfehlung: ZUSAGE MIT AUFLAGEN</a:t>
            </a:r>
          </a:p>
          <a:p>
            <a:r>
              <a:t>Begründung:</a:t>
            </a:r>
          </a:p>
          <a:p>
            <a:r>
              <a:t>1. Cashflow-Tragfähigkeit nachgewiesen (Deckungsquote 1,53x, ZDQ 9,4x), auch bei moderatem Stress ausreichend</a:t>
            </a:r>
          </a:p>
          <a:p>
            <a:r>
              <a:t>2. Investitionszweck wirtschaftlich sinnvoll und vollständig dokumentiert</a:t>
            </a:r>
          </a:p>
          <a:p>
            <a:r>
              <a:t>3. Managementqualität gut, aber Nachfolgerisiko signifikant und adressierbar</a:t>
            </a:r>
          </a:p>
          <a:p>
            <a:r>
              <a:t>4. Branchendiversifikation schützt vor Einzelsegment-Schocks</a:t>
            </a:r>
          </a:p>
          <a:p>
            <a:r>
              <a:t>5. Sicherheitenpaket knapp ausreichend bei Einbeziehung aller Bürgschaften</a:t>
            </a:r>
          </a:p>
          <a:p>
            <a:r>
              <a:t>Auflagenkatalog:</a:t>
            </a:r>
          </a:p>
          <a:p>
            <a:r>
              <a:t>1. Eigenkapitalerhöhung: Thesaurierung Jahresgewinn 2025 mind. 100.000 € (EK-Quote nach 12 Monaten ≥ 23 %)</a:t>
            </a:r>
          </a:p>
          <a:p>
            <a:r>
              <a:t>2. Nachfolgeplan: Schriftliche Nachfolgeregelung bis 31.12.2026 (Rollen, Zeitachse, Berater)</a:t>
            </a:r>
          </a:p>
          <a:p>
            <a:r>
              <a:t>3. Monitoring: Monatliche Umsatzmeldung, Quartalsmeldung GuV-Rohfassung</a:t>
            </a:r>
          </a:p>
          <a:p>
            <a:r>
              <a:t>4. Covenant: EK-Quote ≥ 22 %; Warnung bei &lt; 22 %, Kündigung bei &lt; 20 %</a:t>
            </a:r>
          </a:p>
          <a:p>
            <a:r>
              <a:t>5. Sicherheiten: Rang-2-Grundschuld Hallenerweiterung + Sicherungsübereignung CNC-Maschine + selbstschuldnerische Bürgschaft Klaus und Sabine Schnell je 210.000 €</a:t>
            </a:r>
          </a:p>
          <a:p>
            <a:r>
              <a:t>Praxishinweis zu Auflage 5 – Bürgschaft Klaus Schnell (75 Jahre): Bei Bürgschaften von Gesellschaftern über 70 Jahren ist das Erbfall-Szenario zu prüfen: Geht die Bürgschaft auf die Erben über, und ist der Bürgschaftsvertrag entsprechend gestaltet? Empfehlung: Ergänzend eine Risikolebensversicherung auf das Leben von Klaus Schnell (Todesfallsumme mind. 210.000 €, Bank als unwiderrufliche Bezugsberechtigte) als Sicherheitsauflage prüfen. Klärung mit Rechtsabteilung/Marktfolge vor Beschlussfassung.</a:t>
            </a:r>
          </a:p>
          <a:p>
            <a:r>
              <a:t>Konditionen:</a:t>
            </a:r>
          </a:p>
          <a:p>
            <a:r>
              <a:t>Kreditbetrag: 420.000 €</a:t>
            </a:r>
          </a:p>
          <a:p>
            <a:r>
              <a:t>Zinssatz: 5,00 % p. a. (EURIBOR + 2,0 % Spread)</a:t>
            </a:r>
          </a:p>
          <a:p>
            <a:r>
              <a:t>Laufzeit: 7 Jahre (84 Monate)</a:t>
            </a:r>
          </a:p>
          <a:p>
            <a:r>
              <a:t>Tilgung: Annuitätisch, erste Rate 6 Monate nach Auszahlung</a:t>
            </a:r>
          </a:p>
          <a:p>
            <a:r>
              <a:t>Jahresrate: ca. 73.000 € (Zins) + 60.000 € (Tilgung) = 133.000 €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Strukturierte Kreditanalyse und überzeugende Entscheidungsvorlage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Kreditentscheidungen scheitern selten an fehlenden Daten – häufiger an unstrukturierter Analyse und kognitiven Verzerrungen.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das 8-Felder-Framework für die Kreditanalyse, erkennen typische Urteilsfallen und üben die Entscheidungsfindung an realistischen Fällen.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formulieren Sie tragfähige Kreditempfehlungen und vertreten sie souverän vor dem Kreditausschuss.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 II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09:25–09:30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09:30–10:15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10:15–10:25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  <a:r>
              <a:rPr sz="900">
                <a:solidFill>
                  <a:srgbClr val="78808C"/>
                </a:solidFill>
                <a:latin typeface="Arial"/>
              </a:rPr>
              <a:t>  ·  —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10:25–10:55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Fallstudienarbeit II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10:55–11:25 </a:t>
            </a:r>
            <a:r>
              <a:rPr sz="1200" b="1">
                <a:solidFill>
                  <a:srgbClr val="3D5466"/>
                </a:solidFill>
                <a:latin typeface="Arial"/>
              </a:rPr>
              <a:t>  Präsentation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Feedback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11:25–11:45 </a:t>
            </a:r>
            <a:r>
              <a:rPr sz="1200" b="1">
                <a:solidFill>
                  <a:srgbClr val="3D5466"/>
                </a:solidFill>
                <a:latin typeface="Arial"/>
              </a:rPr>
              <a:t>  Musterlösung</a:t>
            </a:r>
            <a:r>
              <a:rPr sz="900">
                <a:solidFill>
                  <a:srgbClr val="78808C"/>
                </a:solidFill>
                <a:latin typeface="Arial"/>
              </a:rPr>
              <a:t>  · 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11:45–11:55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11:55–12:00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Kritisch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 (ZDQ)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 ÷ Zinskosten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2,0–3,0x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Cashflow-Deckungsquote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(EBITDA − Steuern − CapEx) ÷ Kreditrate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1,0–1,5x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1,0x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Netto-Fremdkapital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3,0–4,0x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Formel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Komfortzone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Warnschwelle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EK ÷ Bilanzsumme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30 %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20 %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Fremdkapital ÷ 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1,5x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2,5x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Dynamischer VG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Netto-FK ÷ EBITDA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3,0x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4,0x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Position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Trend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Umsatz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4.510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Materialkosten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Personalkosten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−1.920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−2.010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Abschreibungen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Sonstige Kosten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−455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−29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Netto-Gewinn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▼▼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Kennzahl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2022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Bewertung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EBIT-Marge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8,9 %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7,3 %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rückläufig – kritische Entwicklung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Eigenkapitalquote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24,7 %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25,1 %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knapp, aber leicht verbessernd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Verschuldungsgrad (FK/EK)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→ erhöht, über Komfortschwelle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Zinsdeckungsquote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10,7x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10,4x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9,4x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▼ sehr gut, aber fallend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Dyn. Verschuldungsgrad (NK/EBITDA)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2,29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▲ steigt – Achtung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3 – Kapitalstruktur (Gewichtung: 15 %)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Feld 4 – Managementqualität (Gewichtung: 20 %)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 geklärt? ☐ Ja ☐ Nein | Transparenz im Gespräch: ☐ offen ☐ ausweichend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Sicherheitentyp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Beleihungswert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Rang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Gesamt-Beleihungswert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Kreditbetrag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Deckungsgrad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___%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