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AB-1 Musterlösung (Trainer-Version)</a:t>
            </a:r>
          </a:p>
          <a:p>
            <a:r>
              <a:t>Berater A – Erwartete Analyseergebnisse</a:t>
            </a:r>
          </a:p>
          <a:p>
            <a:r>
              <a:t>Auffällige Kennzahlen: Alle Aktivitätskennzahlen über Plan; alle Ergebniskennzahlen unter Plan; Cross-Selling-Quote die niedrigste im Team. Muster: Aktivitäts-Ergebnis-Schere (klassisches Qualitätsproblem, kein Motivationsproblem). Hypothesen: (1) Gesprächsabschluss fehlt – Angebote werden präsentiert, aber nicht aktiv auf Kaufentscheidung geführt; (2) Bedarfsanalyse unvollständig – Angebote treffen nicht den Kundenbedarf; (3) Cross-Selling-Impulse fehlen in der Gesprächsstruktur. Fehlende Information: Qualitative Einschätzung der letzten 3–5 Kundengespräche; Gründe für abgelehnte Angebote (wenn erfasst). Führungshandlung: Entwicklungsgespräch, Fokus auf Gesprächsstruktur (Bedarfsanalyse + Abschlussphase + Verbundimpuls). Angebot zur Begleitung: gemeinsame Gesprächsvorbereitung bei einem konkreten anstehenden Kunden. Kein Kritikgespräch, kein Druck auf Ergebniszahlen.</a:t>
            </a:r>
          </a:p>
          <a:p>
            <a:r>
              <a:t>Berater B – Erwartete Analyseergebnisse</a:t>
            </a:r>
          </a:p>
          <a:p>
            <a:r>
              <a:t>Auffällige Kennzahlen: Alle Kennzahlen (Aktivität UND Ergebnis) unter Plan. Muster: Niedrige Aktivität führt zu niedrigen Ergebnissen – strukturelles Problem. Hypothesen: (1) Kapazitätsproblem (hohe Administrativlast, viele Bestandsengagements); (2) Motivationsproblem (Frustration, persönliche Situation); (3) Priorisierungsproblem (falsche Kundensegmentauswahl). Fehlende Information: Zeitanalyse (wie viel Zeit geht für Administration drauf?); Kundensegment und Portfolioqualität; persönliche Verfassung. Führungshandlung: Zuerst Klärungsgespräch (nicht Steuerungsgespräch): „Was macht dir im Moment die meisten Schwierigkeiten?" – Ursache verstehen, bevor Maßnahmen angeboten werden.</a:t>
            </a:r>
          </a:p>
          <a:p>
            <a:r>
              <a:t>Berater C – Erwartete Analyseergebnisse</a:t>
            </a:r>
          </a:p>
          <a:p>
            <a:r>
              <a:t>Auffällige Kennzahlen: Alle Kennzahlen über Plan – stärkste Ergebnisse im Team. Kein Korrekturbedarf, aber kein Anlass zur Vernachlässigung. Muster: Leistungsträger mit hohem Aktivitäts- und Ergebnisniveau. Führungsfalle: Aufmerksamkeit wird von den roten Zahlen anderer Berater absorbiert – Berater C bekommt kein aktives Führungsangebot. Hypothesen: (1) Berater C hat das Potenzial für komplexere Kundensituationen noch nicht ausgeschöpft; (2) Er könnte als Mentor oder kollegialer Fallberater für jüngere Berater wirken; (3) Fehlende Entwicklungsperspektive ist mittelfristiges Bindungsrisiko. Führungshandlung: Proaktives Entwicklungsgespräch – nicht wegen eines Problems, sondern als bewusste Investition in den Leistungsträger. Frage nach nächsten Entwicklungsschritten, Herausforderungen und Perspektiven.</a:t>
            </a:r>
          </a:p>
          <a:p>
            <a:r>
              <a:t>Trainer-Hinweis: Die Musterlösung zeigt bewusst, dass unterschiedliche Muster unterschiedliche Führungshandlungen erfordern. Berater A braucht ein Qualitäts-Entwicklungsgespräch; Berater B braucht zunächst ein Klärungsgespräch; Berater C braucht ein proaktives 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Trainer-Hinweis: Optional kann Schritt 5 als kollegiale Feedback-Runde genutzt werden: Ein Teilnehmer liest seinen Einstiegssatz vor, ein anderer gibt Rückmeldung aus der Mitarbeiterperspektive. Kein Rollenspiel, sondern ein Sprachcheck unter Führungskräften – „Klingt das einladend oder anklagend?" Zeitbedarf: ca. 10 Minuten in 2er-Gruppen. Dieses Format nutzt die Gruppendynamik, ohne das Prinzip der echten Fallarbeit zu verlassen.</a:t>
            </a:r>
          </a:p>
          <a:p>
            <a:r>
              <a:t>AB-2 Musterlösung (Trainer-Version)</a:t>
            </a:r>
          </a:p>
          <a:p>
            <a:r>
              <a:t>Musterhafter Gesprächsverlauf Berater A</a:t>
            </a:r>
          </a:p>
          <a:p>
            <a:r>
              <a:t>Gesprächsziel (konkret): „Berater A hat am Ende des Gesprächs eine eigene Hypothese formuliert, warum seine Abschlussquote niedrig ist, und wir haben gemeinsam einen konkreten Entwicklungspunkt benannt, an dem wir in den nächsten 4 Wochen arbeiten."</a:t>
            </a:r>
          </a:p>
          <a:p>
            <a:r>
              <a:t>Einstieg: Offene, wertschätzende Frage, die die hohe Aktivität anerkennt und Neugier auf die Ursache signalisiert (kein „Du erreichst dein Ziel nicht").</a:t>
            </a:r>
          </a:p>
          <a:p>
            <a:r>
              <a:t>Leitfragen (Beispiele): „Was ist dein Gefühl – wann entscheidet ein Kunde, ob er ja sagt?" / „Was passiert deiner Erfahrung nach, wenn du ein Angebot präsentiert hast?" / „Wo im Gespräch fragst du üblicherweise nach dem nächsten Schritt?" / „Was würdest du bei einem Kunden, bei dem es gut gelaufen ist, anders beschreiben als bei einem, bei dem das Angebot abgelehnt wurde?"</a:t>
            </a:r>
          </a:p>
          <a:p>
            <a:r>
              <a:t>Entwicklungsimpuls: Konkreter Vorschlag: „Lass uns bei deinem nächsten Angebotsgespräch vorher kurz 5 Minuten zusammensetzen – ich teile ein, zwei Gedanken zur Gesprächsstruktur, und du nimmst mit, was dir nützlich erscheint."</a:t>
            </a:r>
          </a:p>
          <a:p>
            <a:r>
              <a:t>Trainer-Hinweis: Das häufigste Problem bei der Gesprächsvorbereitung ist der Wechsel in eine implizite Vorhaltehaltung: Die Frage klingt offen, meint aber eine Aussage. Beispiel: „Findest du nicht auch, dass du die Abschlussphase zu früh verlässt?" – das ist keine offene Frage, sondern ein verdeckter Vorwurf. Im Plenumsgespräch explizit auf dieses Muster hinweisen und gemeinsam umformulieren.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TL04</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Vertriebssteuerung mit dem Cockpit</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Kennzahlen lesen, Aktivitäten steuern, Berater entwickeln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K-F02 Vertriebssteuerung &amp; Cockpit</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Teamleiter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v0.2</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TL04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Vertriebssteuerung ist das notwendige Handwerk der Teamleitung – aber Kennzahlen sind kein Selbstzweck, sondern Gesprächsanlass für Entwicklung.</a:t>
            </a:r>
          </a:p>
          <a:p>
            <a:pPr>
              <a:spcAft>
                <a:spcPts val="1200"/>
              </a:spcAft>
            </a:pPr>
            <a:r>
              <a:rPr sz="1700">
                <a:solidFill>
                  <a:srgbClr val="3D5466"/>
                </a:solidFill>
                <a:latin typeface="Arial"/>
              </a:rPr>
              <a:t>Dieses Modul vermittelt, wie Teamleiter das Vertriebscockpit systematisch lesen, von der Kennzahl zur Hypothese zur Führungshandlung schließen und Steuerungsgespräche entwicklungsorientiert vorbereiten.</a:t>
            </a:r>
          </a:p>
          <a:p>
            <a:pPr>
              <a:spcAft>
                <a:spcPts val="1200"/>
              </a:spcAft>
            </a:pPr>
            <a:r>
              <a:rPr sz="1700">
                <a:solidFill>
                  <a:srgbClr val="3D5466"/>
                </a:solidFill>
                <a:latin typeface="Arial"/>
              </a:rPr>
              <a:t>Im Mittelpunkt steht das Prinzip: steuern UND entwickeln.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TL04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Die zentralen Kennzahlen des FK-Vertriebscockpits (Aktivitätskennzahlen, Ergebniskennzahlen) benennen und den Unterschied zwischen Früh- und Spätindikatoren erklären</a:t>
            </a:r>
          </a:p>
          <a:p>
            <a:pPr>
              <a:spcBef>
                <a:spcPts val="800"/>
              </a:spcBef>
              <a:spcAft>
                <a:spcPts val="200"/>
              </a:spcAft>
            </a:pPr>
            <a:r>
              <a:rPr sz="1400">
                <a:solidFill>
                  <a:srgbClr val="3D5466"/>
                </a:solidFill>
                <a:latin typeface="Arial"/>
              </a:rPr>
              <a:t>▸  Ein Muster-Cockpit auswerten, Hypothesen zu Ursache-Wirkungs-Zusammenhängen formulieren und daraus konkrete Führungshandlungen ableiten</a:t>
            </a:r>
          </a:p>
          <a:p>
            <a:pPr>
              <a:spcBef>
                <a:spcPts val="800"/>
              </a:spcBef>
              <a:spcAft>
                <a:spcPts val="200"/>
              </a:spcAft>
            </a:pPr>
            <a:r>
              <a:rPr sz="1400">
                <a:solidFill>
                  <a:srgbClr val="3D5466"/>
                </a:solidFill>
                <a:latin typeface="Arial"/>
              </a:rPr>
              <a:t>▸  Den Zusammenhang zwischen Aktivitätssteuerung und Ergebnisentwicklung auf einen konkreten Beratungsfall anwenden und die richtige Stellschraube benennen</a:t>
            </a:r>
          </a:p>
          <a:p>
            <a:pPr>
              <a:spcBef>
                <a:spcPts val="800"/>
              </a:spcBef>
              <a:spcAft>
                <a:spcPts val="200"/>
              </a:spcAft>
            </a:pPr>
            <a:r>
              <a:rPr sz="1400">
                <a:solidFill>
                  <a:srgbClr val="3D5466"/>
                </a:solidFill>
                <a:latin typeface="Arial"/>
              </a:rPr>
              <a:t>▸  Ein entwicklungsorientiertes Steuerungsgespräch strukturiert vorbereiten (Einstieg, Leitfragen, Formulierungsbausteine) und das Leitprinzip 'steuern UND entwickeln' darin erkennbar machen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AGENDA  ·  TL04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0–15 Min.   </a:t>
            </a:r>
            <a:r>
              <a:rPr sz="1200" b="1">
                <a:solidFill>
                  <a:srgbClr val="3D5466"/>
                </a:solidFill>
                <a:latin typeface="Arial"/>
              </a:rPr>
              <a:t>  Einstieg &amp; Erwartungscheck</a:t>
            </a:r>
            <a:r>
              <a:rPr sz="900">
                <a:solidFill>
                  <a:srgbClr val="78808C"/>
                </a:solidFill>
                <a:latin typeface="Arial"/>
              </a:rPr>
              <a:t>  ·  Blitzlicht-Runde: Jeder TN nennt in einem Satz, welche Cockpit-Situation ihn derzeit am meisten beschäftigt. Trainer notiert die Nennungen sichtbar (Flipchart).</a:t>
            </a:r>
          </a:p>
          <a:p>
            <a:pPr>
              <a:spcBef>
                <a:spcPts val="400"/>
              </a:spcBef>
              <a:spcAft>
                <a:spcPts val="100"/>
              </a:spcAft>
            </a:pPr>
            <a:r>
              <a:rPr sz="900">
                <a:solidFill>
                  <a:srgbClr val="78808C"/>
                </a:solidFill>
                <a:latin typeface="Consolas"/>
              </a:rPr>
              <a:t>15–40 Min.  </a:t>
            </a:r>
            <a:r>
              <a:rPr sz="1200" b="1">
                <a:solidFill>
                  <a:srgbClr val="3D5466"/>
                </a:solidFill>
                <a:latin typeface="Arial"/>
              </a:rPr>
              <a:t>  Theorie-Input: Steuerungsparadoxon &amp; Früh-/Spätindikator-Logik</a:t>
            </a:r>
            <a:r>
              <a:rPr sz="900">
                <a:solidFill>
                  <a:srgbClr val="78808C"/>
                </a:solidFill>
                <a:latin typeface="Arial"/>
              </a:rPr>
              <a:t>  ·  Lehrgespräch mit Visualisierung (Folie/Flipchart): Regelkreis nach Schreyögg/Koch; Leading vs. Lagging Indicators nach Kaplan/Norton; Steuerungsdilemma nach Watzka. Teilnehmer ergänzen je ein Beispiel aus ihrem eigenen Cockpit.</a:t>
            </a:r>
          </a:p>
          <a:p>
            <a:pPr>
              <a:spcBef>
                <a:spcPts val="400"/>
              </a:spcBef>
              <a:spcAft>
                <a:spcPts val="100"/>
              </a:spcAft>
            </a:pPr>
            <a:r>
              <a:rPr sz="900">
                <a:solidFill>
                  <a:srgbClr val="78808C"/>
                </a:solidFill>
                <a:latin typeface="Consolas"/>
              </a:rPr>
              <a:t>40–50 Min.  </a:t>
            </a:r>
            <a:r>
              <a:rPr sz="1200" b="1">
                <a:solidFill>
                  <a:srgbClr val="3D5466"/>
                </a:solidFill>
                <a:latin typeface="Arial"/>
              </a:rPr>
              <a:t>  Plenumssicherung: Was steuere ich wirklich?</a:t>
            </a:r>
            <a:r>
              <a:rPr sz="900">
                <a:solidFill>
                  <a:srgbClr val="78808C"/>
                </a:solidFill>
                <a:latin typeface="Arial"/>
              </a:rPr>
              <a:t>  ·  Gelenkte Frage an alle TN: „Auf welche Kennzahl schauen Sie zuerst, wenn Sie morgens das Cockpit öffnen – und warum?" Trainer kategorisiert die Antworten live an der Tafel (Früh- vs. Spätindikator). Ziel: kognitives Umschalten, nicht Bewertung.</a:t>
            </a:r>
          </a:p>
          <a:p>
            <a:pPr>
              <a:spcBef>
                <a:spcPts val="400"/>
              </a:spcBef>
              <a:spcAft>
                <a:spcPts val="100"/>
              </a:spcAft>
            </a:pPr>
            <a:r>
              <a:rPr sz="900">
                <a:solidFill>
                  <a:srgbClr val="78808C"/>
                </a:solidFill>
                <a:latin typeface="Consolas"/>
              </a:rPr>
              <a:t>50–60 Min.  </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60–80 Min.  </a:t>
            </a:r>
            <a:r>
              <a:rPr sz="1200" b="1">
                <a:solidFill>
                  <a:srgbClr val="3D5466"/>
                </a:solidFill>
                <a:latin typeface="Arial"/>
              </a:rPr>
              <a:t>  Muster-Cockpit vorstellen &amp; Diagnose-Matrix erläutern</a:t>
            </a:r>
            <a:r>
              <a:rPr sz="900">
                <a:solidFill>
                  <a:srgbClr val="78808C"/>
                </a:solidFill>
                <a:latin typeface="Arial"/>
              </a:rPr>
              <a:t>  ·  Trainer stellt das Muster-Cockpit Q2 (VR-Bank Musterregion eG, 4 Berater A–D) vor. Die vier Diagnose-Felder der Matrix (Aktivität hoch/niedrig × Ergebnis hoch/niedrig) werden anhand der Cockpit-Werte gemeinsam abgeleitet. TN ordnen Berater A–D den vier Feldern zu (Zuruf). Trainer ergänzt bei Berater C explizit den Hinweis auf die Leistungsträger-Falle.</a:t>
            </a:r>
          </a:p>
          <a:p>
            <a:pPr>
              <a:spcBef>
                <a:spcPts val="400"/>
              </a:spcBef>
              <a:spcAft>
                <a:spcPts val="100"/>
              </a:spcAft>
            </a:pPr>
            <a:r>
              <a:rPr sz="900">
                <a:solidFill>
                  <a:srgbClr val="78808C"/>
                </a:solidFill>
                <a:latin typeface="Consolas"/>
              </a:rPr>
              <a:t>80–105 Min. </a:t>
            </a:r>
            <a:r>
              <a:rPr sz="1200" b="1">
                <a:solidFill>
                  <a:srgbClr val="3D5466"/>
                </a:solidFill>
                <a:latin typeface="Arial"/>
              </a:rPr>
              <a:t>  AB-1: Cockpit-Analyse (Einzelarbeit)</a:t>
            </a:r>
            <a:r>
              <a:rPr sz="900">
                <a:solidFill>
                  <a:srgbClr val="78808C"/>
                </a:solidFill>
                <a:latin typeface="Arial"/>
              </a:rPr>
              <a:t>  ·  TN analysieren das Muster-Cockpit selbstständig mit der Analysematrix in AB-1. Jeder TN wählt zwei Berater (Berater A ist vorgegeben; zweiter nach Wahl). Schriftliche Hypothesenbildung und Führungshandlung. Trainer begleitet stille Einzelarbeit, gibt auf Nachfrage Orientierungshilfen (keine Vorgaben).</a:t>
            </a:r>
          </a:p>
          <a:p>
            <a:pPr>
              <a:spcBef>
                <a:spcPts val="400"/>
              </a:spcBef>
              <a:spcAft>
                <a:spcPts val="100"/>
              </a:spcAft>
            </a:pPr>
            <a:r>
              <a:rPr sz="900">
                <a:solidFill>
                  <a:srgbClr val="78808C"/>
                </a:solidFill>
                <a:latin typeface="Consolas"/>
              </a:rPr>
              <a:t>105–125 Min.</a:t>
            </a:r>
            <a:r>
              <a:rPr sz="1200" b="1">
                <a:solidFill>
                  <a:srgbClr val="3D5466"/>
                </a:solidFill>
                <a:latin typeface="Arial"/>
              </a:rPr>
              <a:t>  AB-1: Auswertung im Plenum</a:t>
            </a:r>
            <a:r>
              <a:rPr sz="900">
                <a:solidFill>
                  <a:srgbClr val="78808C"/>
                </a:solidFill>
                <a:latin typeface="Arial"/>
              </a:rPr>
              <a:t>  ·  Zwei bis drei TN stellen ihre Analyseergebnisse vor (je 3–4 Min.). Plenum gibt Rückmeldung: „Was würdet ihr ergänzen?" Trainer moderiert gezielt die häufigste Fehlerreaktion (Druck-Gespräch für alle) und den Kontrast zwischen Berater A (Qualitäts-Entwicklungsgespräch) und Berater B (zuerst Klärungsgespräch).</a:t>
            </a:r>
          </a:p>
          <a:p>
            <a:pPr>
              <a:spcBef>
                <a:spcPts val="400"/>
              </a:spcBef>
              <a:spcAft>
                <a:spcPts val="100"/>
              </a:spcAft>
            </a:pPr>
            <a:r>
              <a:rPr sz="900">
                <a:solidFill>
                  <a:srgbClr val="78808C"/>
                </a:solidFill>
                <a:latin typeface="Consolas"/>
              </a:rPr>
              <a:t>125–135 Min.</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135–150 Min.</a:t>
            </a:r>
            <a:r>
              <a:rPr sz="1200" b="1">
                <a:solidFill>
                  <a:srgbClr val="3D5466"/>
                </a:solidFill>
                <a:latin typeface="Arial"/>
              </a:rPr>
              <a:t>  Vertiefung: Leistungsträger-Falle (Fall C)</a:t>
            </a:r>
            <a:r>
              <a:rPr sz="900">
                <a:solidFill>
                  <a:srgbClr val="78808C"/>
                </a:solidFill>
                <a:latin typeface="Arial"/>
              </a:rPr>
              <a:t>  ·  Trainerimpuls (ca. 5 Min.): Warum Berater C am meisten von Führungsmangel bedroht ist – obwohl (oder weil) die Zahlen grün sind. Anschließend Diskussion: „Wann haben Sie zuletzt mit Ihrem stärksten Berater ein proaktives Gespräch geführt – ohne Anlass durch Zahlen?" TN antworten offen; Trainer hält Muster fest.</a:t>
            </a:r>
          </a:p>
          <a:p>
            <a:pPr>
              <a:spcBef>
                <a:spcPts val="400"/>
              </a:spcBef>
              <a:spcAft>
                <a:spcPts val="100"/>
              </a:spcAft>
            </a:pPr>
            <a:r>
              <a:rPr sz="900">
                <a:solidFill>
                  <a:srgbClr val="78808C"/>
                </a:solidFill>
                <a:latin typeface="Consolas"/>
              </a:rPr>
              <a:t>150–165 Min.</a:t>
            </a:r>
            <a:r>
              <a:rPr sz="1200" b="1">
                <a:solidFill>
                  <a:srgbClr val="3D5466"/>
                </a:solidFill>
                <a:latin typeface="Arial"/>
              </a:rPr>
              <a:t>  AB-2: Gesprächsvorbereitung Berater A (Einzelarbeit)</a:t>
            </a:r>
            <a:r>
              <a:rPr sz="900">
                <a:solidFill>
                  <a:srgbClr val="78808C"/>
                </a:solidFill>
                <a:latin typeface="Arial"/>
              </a:rPr>
              <a:t>  ·  TN bereiten strukturiert ein Steuerungsgespräch mit Berater A vor (Schritte 1–5 des AB-2). Einzelarbeit, ca. 15 Min. Trainer gibt nach 8 Min. kurze Zwischenerinnerung: „Prüfen Sie, ob Ihr Einstiegssatz eine Frage oder eine Aussage ist."</a:t>
            </a:r>
          </a:p>
          <a:p>
            <a:pPr>
              <a:spcBef>
                <a:spcPts val="400"/>
              </a:spcBef>
              <a:spcAft>
                <a:spcPts val="100"/>
              </a:spcAft>
            </a:pPr>
            <a:r>
              <a:rPr sz="900">
                <a:solidFill>
                  <a:srgbClr val="78808C"/>
                </a:solidFill>
                <a:latin typeface="Consolas"/>
              </a:rPr>
              <a:t>165–185 Min.</a:t>
            </a:r>
            <a:r>
              <a:rPr sz="1200" b="1">
                <a:solidFill>
                  <a:srgbClr val="3D5466"/>
                </a:solidFill>
                <a:latin typeface="Arial"/>
              </a:rPr>
              <a:t>  Sprachcheck in 2er-Gruppen</a:t>
            </a:r>
            <a:r>
              <a:rPr sz="900">
                <a:solidFill>
                  <a:srgbClr val="78808C"/>
                </a:solidFill>
                <a:latin typeface="Arial"/>
              </a:rPr>
              <a:t>  ·  Je zwei TN lesen sich gegenseitig ihren Einstiegssatz (Schritt 2) und ihre Leitfragen (Schritt 3) vor. Rückmeldung aus der „Mitarbeiterperspektive": Klingt das einladend oder anklagend? Kein Rollenspiel – es geht um den Text, nicht um eine Situation. Trainer begleitet die Runden, gibt punktuell Rückmeldung auf konkrete Formulierungen. Ca. 20 Min. (5 Min. Einstiegssatz fertigstellen, 15 Min. gegenseitiges Vorlesen und Feedback).</a:t>
            </a:r>
          </a:p>
          <a:p>
            <a:pPr>
              <a:spcBef>
                <a:spcPts val="400"/>
              </a:spcBef>
              <a:spcAft>
                <a:spcPts val="100"/>
              </a:spcAft>
            </a:pPr>
            <a:r>
              <a:rPr sz="900">
                <a:solidFill>
                  <a:srgbClr val="78808C"/>
                </a:solidFill>
                <a:latin typeface="Consolas"/>
              </a:rPr>
              <a:t>185–200 Min.</a:t>
            </a:r>
            <a:r>
              <a:rPr sz="1200" b="1">
                <a:solidFill>
                  <a:srgbClr val="3D5466"/>
                </a:solidFill>
                <a:latin typeface="Arial"/>
              </a:rPr>
              <a:t>  AB-2: Plenum-Auswertung</a:t>
            </a:r>
            <a:r>
              <a:rPr sz="900">
                <a:solidFill>
                  <a:srgbClr val="78808C"/>
                </a:solidFill>
                <a:latin typeface="Arial"/>
              </a:rPr>
              <a:t>  ·  Zwei TN stellen ihre Gesprächsvorbereitung vor. Plenum kommentiert: Was wirkt entwicklungsorientiert, was klingt wie Kontrolle? Trainer schließt mit Merksatz: „Das Gespräch mit Berater A ist erfolgreich, wenn er das Gespräch mit einer eigenen Hypothese verlässt – nicht mit dem Wissen, dass er sein Ziel verfehlt hat."</a:t>
            </a:r>
          </a:p>
          <a:p>
            <a:pPr>
              <a:spcBef>
                <a:spcPts val="400"/>
              </a:spcBef>
              <a:spcAft>
                <a:spcPts val="100"/>
              </a:spcAft>
            </a:pPr>
            <a:r>
              <a:rPr sz="900">
                <a:solidFill>
                  <a:srgbClr val="78808C"/>
                </a:solidFill>
                <a:latin typeface="Consolas"/>
              </a:rPr>
              <a:t>200–210 Min.</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210–225 Min.</a:t>
            </a:r>
            <a:r>
              <a:rPr sz="1200" b="1">
                <a:solidFill>
                  <a:srgbClr val="3D5466"/>
                </a:solidFill>
                <a:latin typeface="Arial"/>
              </a:rPr>
              <a:t>  Transfer-Aufgaben besprechen &amp; Selbstcheck</a:t>
            </a:r>
            <a:r>
              <a:rPr sz="900">
                <a:solidFill>
                  <a:srgbClr val="78808C"/>
                </a:solidFill>
                <a:latin typeface="Arial"/>
              </a:rPr>
              <a:t>  ·  Trainer stellt die drei Transferaufgaben (Sec 5) kurz vor und gibt den Selbstcheck-Bogen aus. TN lesen den Selbstcheck durch und markieren, welche Fragen sie bereits heute mit 3+ beantworten würden und welche nicht. Kurzes Plenum: Was nehme ich konkret mit?</a:t>
            </a:r>
          </a:p>
          <a:p>
            <a:pPr>
              <a:spcBef>
                <a:spcPts val="400"/>
              </a:spcBef>
              <a:spcAft>
                <a:spcPts val="100"/>
              </a:spcAft>
            </a:pPr>
            <a:r>
              <a:rPr sz="900">
                <a:solidFill>
                  <a:srgbClr val="78808C"/>
                </a:solidFill>
                <a:latin typeface="Consolas"/>
              </a:rPr>
              <a:t>225–240 Min.</a:t>
            </a:r>
            <a:r>
              <a:rPr sz="1200" b="1">
                <a:solidFill>
                  <a:srgbClr val="3D5466"/>
                </a:solidFill>
                <a:latin typeface="Arial"/>
              </a:rPr>
              <a:t>  Evaluation &amp; Abschluss</a:t>
            </a:r>
            <a:r>
              <a:rPr sz="900">
                <a:solidFill>
                  <a:srgbClr val="78808C"/>
                </a:solidFill>
                <a:latin typeface="Arial"/>
              </a:rPr>
              <a:t>  ·  Feedbackbogen (Sec 6.1) ausfüllen (ca. 7 Min.). Wissenstest (Sec 6.2) falls Zeitfenster erlaubt alternativ als Hausaufgabe ausgeben. Trainer schließt mit dem Greenleaf-Test als persönlichem Prüfstein: „Nach jedem Steuerungsgespräch eine Frage: Hat der Berater das Gespräch mit mehr Klarheit über einen nächsten Schritt verlassen?"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Vertriebssteuerung als Führungshandwerk</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1000"/>
              </a:spcBef>
              <a:spcAft>
                <a:spcPts val="200"/>
              </a:spcAft>
            </a:pPr>
            <a:r>
              <a:rPr sz="800" b="1">
                <a:solidFill>
                  <a:srgbClr val="78808C"/>
                </a:solidFill>
                <a:latin typeface="Consolas"/>
              </a:rPr>
              <a:t>DAS STEUERUNGSPARADOXON: WARUM ERGEBNISSE ZU SPÄT KOMMEN</a:t>
            </a:r>
          </a:p>
          <a:p>
            <a:pPr>
              <a:spcBef>
                <a:spcPts val="400"/>
              </a:spcBef>
              <a:spcAft>
                <a:spcPts val="200"/>
              </a:spcAft>
            </a:pPr>
            <a:r>
              <a:rPr sz="1200">
                <a:solidFill>
                  <a:srgbClr val="3D5466"/>
                </a:solidFill>
                <a:latin typeface="Arial"/>
              </a:rPr>
              <a:t>Merksatz für die Praxis:</a:t>
            </a:r>
          </a:p>
          <a:p>
            <a:pPr>
              <a:spcBef>
                <a:spcPts val="400"/>
              </a:spcBef>
              <a:spcAft>
                <a:spcPts val="200"/>
              </a:spcAft>
            </a:pPr>
            <a:r>
              <a:rPr sz="1200">
                <a:solidFill>
                  <a:srgbClr val="3D5466"/>
                </a:solidFill>
                <a:latin typeface="Arial"/>
              </a:rPr>
              <a:t>Ergebnisse folgen den Aktivitäten – mit Zeitverzug. Der Teamleiter steuert die beeinflussbaren Aktivitäten, nicht die bereits feststehenden Ergebnisse.</a:t>
            </a:r>
          </a:p>
          <a:p>
            <a:pPr>
              <a:spcBef>
                <a:spcPts val="1000"/>
              </a:spcBef>
              <a:spcAft>
                <a:spcPts val="200"/>
              </a:spcAft>
            </a:pPr>
            <a:r>
              <a:rPr sz="800" b="1">
                <a:solidFill>
                  <a:srgbClr val="78808C"/>
                </a:solidFill>
                <a:latin typeface="Consolas"/>
              </a:rPr>
              <a:t>ZWEI KATEGORIEN VON KENNZAHLEN</a:t>
            </a:r>
          </a:p>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ein Berater gute Aktivitätswerte zeigt (hohe Termindichte, viele Angebote), aber schwache Ergebnisse erzielt</a:t>
            </a:r>
          </a:p>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ein Berater gute Ergebnisse erzielt, aber niedrige Aktivitätswerte zeigt</a:t>
            </a:r>
          </a:p>
          <a:p>
            <a:pPr marL="177800" indent="-177800">
              <a:spcBef>
                <a:spcPts val="600"/>
              </a:spcBef>
              <a:spcAft>
                <a:spcPts val="200"/>
              </a:spcAft>
            </a:pPr>
            <a:r>
              <a:rPr sz="1200" i="1">
                <a:solidFill>
                  <a:srgbClr val="3D5466"/>
                </a:solidFill>
                <a:latin typeface="Arial"/>
              </a:rPr>
              <a:t>→  Dann besteht mittelfristiges Risiko (Pipeline läuft leer) – Gespräch über Aktivitätsziele und Wiedervorlagendisziplin; nicht auf guten Ergebnissen ausruhen</a:t>
            </a:r>
          </a:p>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sowohl Aktivitäts- als auch Ergebniskennzahlen schwach sind</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Praxisfall: Muster-Cockpit VR-Bank Musterregion eG</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Ausgangssituation</a:t>
            </a:r>
          </a:p>
          <a:p>
            <a:pPr>
              <a:spcBef>
                <a:spcPts val="400"/>
              </a:spcBef>
              <a:spcAft>
                <a:spcPts val="200"/>
              </a:spcAft>
            </a:pPr>
            <a:r>
              <a:rPr sz="1200">
                <a:solidFill>
                  <a:srgbClr val="3D5466"/>
                </a:solidFill>
                <a:latin typeface="Arial"/>
              </a:rPr>
              <a:t>Muster-Cockpit Q2 – Team Firmenkunden Süd</a:t>
            </a:r>
          </a:p>
          <a:p>
            <a:pPr>
              <a:spcBef>
                <a:spcPts val="400"/>
              </a:spcBef>
              <a:spcAft>
                <a:spcPts val="200"/>
              </a:spcAft>
            </a:pPr>
            <a:r>
              <a:rPr sz="1200">
                <a:solidFill>
                  <a:srgbClr val="3D5466"/>
                </a:solidFill>
                <a:latin typeface="Arial"/>
              </a:rPr>
              <a:t>Tabelle: Muster-Cockpit Q2, VR-Bank Musterregion eG (fiktive Werte, didaktisch konstruiert)</a:t>
            </a:r>
          </a:p>
          <a:p>
            <a:pPr>
              <a:spcBef>
                <a:spcPts val="1000"/>
              </a:spcBef>
              <a:spcAft>
                <a:spcPts val="200"/>
              </a:spcAft>
            </a:pPr>
            <a:r>
              <a:rPr sz="800" b="1">
                <a:solidFill>
                  <a:srgbClr val="78808C"/>
                </a:solidFill>
                <a:latin typeface="Consolas"/>
              </a:rPr>
              <a:t>STEUERUNGSFALL 1: BERATER A – AKTIVITÄT HOCH, ERGEBNIS NIEDRIG</a:t>
            </a:r>
          </a:p>
          <a:p>
            <a:pPr>
              <a:spcBef>
                <a:spcPts val="400"/>
              </a:spcBef>
              <a:spcAft>
                <a:spcPts val="200"/>
              </a:spcAft>
            </a:pPr>
            <a:r>
              <a:rPr sz="1200">
                <a:solidFill>
                  <a:srgbClr val="3D5466"/>
                </a:solidFill>
                <a:latin typeface="Arial"/>
              </a:rPr>
              <a:t>Was bedeutet dieses Muster?</a:t>
            </a:r>
          </a:p>
          <a:p>
            <a:pPr marL="190500" indent="-190500">
              <a:spcBef>
                <a:spcPts val="400"/>
              </a:spcBef>
              <a:spcAft>
                <a:spcPts val="200"/>
              </a:spcAft>
            </a:pPr>
            <a:r>
              <a:rPr sz="1300">
                <a:solidFill>
                  <a:srgbClr val="3D5466"/>
                </a:solidFill>
                <a:latin typeface="Arial"/>
              </a:rPr>
              <a:t>▸  Die Gespräche enden zu früh im Angebotsprozess (Abschlussrate: 7/22 = 32 %; Ziel wäre ca. 55 %)</a:t>
            </a:r>
          </a:p>
          <a:p>
            <a:pPr marL="190500" indent="-190500">
              <a:spcBef>
                <a:spcPts val="400"/>
              </a:spcBef>
              <a:spcAft>
                <a:spcPts val="200"/>
              </a:spcAft>
            </a:pPr>
            <a:r>
              <a:rPr sz="1300">
                <a:solidFill>
                  <a:srgbClr val="3D5466"/>
                </a:solidFill>
                <a:latin typeface="Arial"/>
              </a:rPr>
              <a:t>▸  Die Bedarfsanalyse ist unvollständig – dadurch unpassende Angebote, die abgelehnt werden</a:t>
            </a:r>
          </a:p>
          <a:p>
            <a:pPr marL="190500" indent="-190500">
              <a:spcBef>
                <a:spcPts val="400"/>
              </a:spcBef>
              <a:spcAft>
                <a:spcPts val="200"/>
              </a:spcAft>
            </a:pPr>
            <a:r>
              <a:rPr sz="1300">
                <a:solidFill>
                  <a:srgbClr val="3D5466"/>
                </a:solidFill>
                <a:latin typeface="Arial"/>
              </a:rPr>
              <a:t>▸  Cross-Selling-Impulse werden in den Kundengesprächen nicht gesetzt</a:t>
            </a:r>
          </a:p>
          <a:p>
            <a:pPr marL="190500" indent="-190500">
              <a:spcBef>
                <a:spcPts val="400"/>
              </a:spcBef>
              <a:spcAft>
                <a:spcPts val="200"/>
              </a:spcAft>
            </a:pPr>
            <a:r>
              <a:rPr sz="1300">
                <a:solidFill>
                  <a:srgbClr val="3D5466"/>
                </a:solidFill>
                <a:latin typeface="Arial"/>
              </a:rPr>
              <a:t>▸  Die Kundengespräche werden mit den „einfachen" Kundenbeziehungen geführt (Volumen pro Abschluss: 1,8/7 = 257.000 € – deutlich unter Berater C mit 3,1/11 = 282.000 €, aber Portfolio-Mix beachten)</a:t>
            </a:r>
          </a:p>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ein Berater hohe Terminfrequenz zeigt, aber eine niedrige Angebot-zu-Abschluss-Quote (unter 45 %)</a:t>
            </a:r>
          </a:p>
          <a:p>
            <a:pPr marL="177800" indent="-177800">
              <a:spcBef>
                <a:spcPts val="600"/>
              </a:spcBef>
              <a:spcAft>
                <a:spcPts val="200"/>
              </a:spcAft>
            </a:pPr>
            <a:r>
              <a:rPr sz="1200" i="1">
                <a:solidFill>
                  <a:srgbClr val="3D5466"/>
                </a:solidFill>
                <a:latin typeface="Arial"/>
              </a:rPr>
              <a:t>→  Handlungsempfehlung</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Diagnose-Matrix Aktivität × Ergebnis: Die 2×2-Matrix ordnet jedem Kennzahlenmuster eine Diagnose und Führungshandlung zu</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971782" y="1325880"/>
            <a:ext cx="6245388"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Schaubild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AB-1: Cockpit-Analyse – Kennzahl, Hypothese, Handlung</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Analysematrix</a:t>
            </a:r>
          </a:p>
          <a:p>
            <a:pPr>
              <a:spcBef>
                <a:spcPts val="400"/>
              </a:spcBef>
              <a:spcAft>
                <a:spcPts val="200"/>
              </a:spcAft>
            </a:pPr>
            <a:r>
              <a:rPr sz="1200">
                <a:solidFill>
                  <a:srgbClr val="3D5466"/>
                </a:solidFill>
                <a:latin typeface="Arial"/>
              </a:rPr>
              <a:t>Reflexionsfrage zur Diskussion im Plenum: Wo auf der Skala von „reiner Zieldruck" bis „reiner Coaching-Impuls" würden Sie das geplante Gespräch ansiedeln – und warum?</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AB-2: Gesprächsvorbereitung – Steuerungsgespräch mit Berater A</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Vorbereitung des Gesprächs (Einzelarbeit, ca. 15 Minuten)</a:t>
            </a:r>
          </a:p>
          <a:p>
            <a:pPr>
              <a:spcBef>
                <a:spcPts val="400"/>
              </a:spcBef>
              <a:spcAft>
                <a:spcPts val="200"/>
              </a:spcAft>
            </a:pPr>
            <a:r>
              <a:rPr sz="1200">
                <a:solidFill>
                  <a:srgbClr val="3D5466"/>
                </a:solidFill>
                <a:latin typeface="Arial"/>
              </a:rPr>
              <a:t>Schritt 1: Mein Gesprächsziel</a:t>
            </a:r>
          </a:p>
          <a:p>
            <a:pPr>
              <a:spcBef>
                <a:spcPts val="400"/>
              </a:spcBef>
              <a:spcAft>
                <a:spcPts val="200"/>
              </a:spcAft>
            </a:pPr>
            <a:r>
              <a:rPr sz="1200">
                <a:solidFill>
                  <a:srgbClr val="3D5466"/>
                </a:solidFill>
                <a:latin typeface="Arial"/>
              </a:rPr>
              <a:t>Was genau möchte ich am Ende dieses Gesprächs erreicht haben? (Bitte konkret und realistisch formulieren – kein „höhere Abschlussquote", das ist das Monatsziel, nicht das Gesprächsziel)</a:t>
            </a:r>
          </a:p>
          <a:p>
            <a:pPr>
              <a:spcBef>
                <a:spcPts val="400"/>
              </a:spcBef>
              <a:spcAft>
                <a:spcPts val="200"/>
              </a:spcAft>
            </a:pPr>
            <a:r>
              <a:rPr sz="1200">
                <a:solidFill>
                  <a:srgbClr val="3D5466"/>
                </a:solidFill>
                <a:latin typeface="Arial"/>
              </a:rPr>
              <a:t>Schritt 2: Mein Einstieg (erster Satz / erste Frage)</a:t>
            </a:r>
          </a:p>
          <a:p>
            <a:pPr>
              <a:spcBef>
                <a:spcPts val="400"/>
              </a:spcBef>
              <a:spcAft>
                <a:spcPts val="200"/>
              </a:spcAft>
            </a:pPr>
            <a:r>
              <a:rPr sz="1200">
                <a:solidFill>
                  <a:srgbClr val="3D5466"/>
                </a:solidFill>
                <a:latin typeface="Arial"/>
              </a:rPr>
              <a:t>Ein entwicklungsorientiertes Steuerungsgespräch beginnt nicht mit Zahlen, sondern mit einer Frage, die den Berater öffnet und signalisiert: Ich will verstehen, nicht beurteilen.</a:t>
            </a:r>
          </a:p>
          <a:p>
            <a:pPr>
              <a:spcBef>
                <a:spcPts val="400"/>
              </a:spcBef>
              <a:spcAft>
                <a:spcPts val="200"/>
              </a:spcAft>
            </a:pPr>
            <a:r>
              <a:rPr sz="1200">
                <a:solidFill>
                  <a:srgbClr val="3D5466"/>
                </a:solidFill>
                <a:latin typeface="Arial"/>
              </a:rPr>
              <a:t>Formulieren Sie Ihren Einstiegssatz oder Ihre Einstiegsfrage:</a:t>
            </a:r>
          </a:p>
          <a:p>
            <a:pPr marL="177800" indent="-177800">
              <a:spcBef>
                <a:spcPts val="600"/>
              </a:spcBef>
              <a:spcAft>
                <a:spcPts val="200"/>
              </a:spcAft>
            </a:pPr>
            <a:r>
              <a:rPr sz="1200" i="1">
                <a:solidFill>
                  <a:srgbClr val="3D5466"/>
                </a:solidFill>
                <a:latin typeface="Arial"/>
              </a:rPr>
              <a:t>→  Formulierungsbaustein (Orientierungshilfe, nicht kopieren – eigene Formulierung finden):</a:t>
            </a:r>
          </a:p>
          <a:p>
            <a:pPr>
              <a:spcBef>
                <a:spcPts val="400"/>
              </a:spcBef>
              <a:spcAft>
                <a:spcPts val="200"/>
              </a:spcAft>
            </a:pPr>
            <a:r>
              <a:rPr sz="1200">
                <a:solidFill>
                  <a:srgbClr val="3D5466"/>
                </a:solidFill>
                <a:latin typeface="Arial"/>
              </a:rPr>
              <a:t>Schritt 3: Meine Leitfragen (3–4 offene Fragen für das Gespräch)</a:t>
            </a:r>
          </a:p>
          <a:p>
            <a:pPr>
              <a:spcBef>
                <a:spcPts val="400"/>
              </a:spcBef>
              <a:spcAft>
                <a:spcPts val="200"/>
              </a:spcAft>
            </a:pPr>
            <a:r>
              <a:rPr sz="1200">
                <a:solidFill>
                  <a:srgbClr val="3D5466"/>
                </a:solidFill>
                <a:latin typeface="Arial"/>
              </a:rPr>
              <a:t>Offene Fragen (Wie, Was, Warum, Inwiefern) halten das Gespräch im Erkunden-Modus. Geschlossene Fragen (Ja/Nein) schließen den Dialog ab.</a:t>
            </a:r>
          </a:p>
          <a:p>
            <a:pPr>
              <a:spcBef>
                <a:spcPts val="400"/>
              </a:spcBef>
              <a:spcAft>
                <a:spcPts val="200"/>
              </a:spcAft>
            </a:pPr>
            <a:r>
              <a:rPr sz="1200">
                <a:solidFill>
                  <a:srgbClr val="3D5466"/>
                </a:solidFill>
                <a:latin typeface="Arial"/>
              </a:rPr>
              <a:t>Schritt 4: Mein konkreter Entwicklungsimpuls</a:t>
            </a:r>
          </a:p>
          <a:p>
            <a:pPr>
              <a:spcBef>
                <a:spcPts val="400"/>
              </a:spcBef>
              <a:spcAft>
                <a:spcPts val="200"/>
              </a:spcAft>
            </a:pPr>
            <a:r>
              <a:rPr sz="1200">
                <a:solidFill>
                  <a:srgbClr val="3D5466"/>
                </a:solidFill>
                <a:latin typeface="Arial"/>
              </a:rPr>
              <a:t>Was biete ich am Ende des Gesprächs an? (Konkret, machbar, umsetzbar in den nächsten 2–4 Wochen)</a:t>
            </a:r>
          </a:p>
          <a:p>
            <a:pPr>
              <a:spcBef>
                <a:spcPts val="400"/>
              </a:spcBef>
              <a:spcAft>
                <a:spcPts val="200"/>
              </a:spcAft>
            </a:pPr>
            <a:r>
              <a:rPr sz="1200">
                <a:solidFill>
                  <a:srgbClr val="3D5466"/>
                </a:solidFill>
                <a:latin typeface="Arial"/>
              </a:rPr>
              <a:t>Schritt 5: Selbstreflexion – Steuern oder drücken?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Kennzahlen-/Steuerungskarte: Vertriebscockpit FK</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Frühindikatoren (Aktivitätskennzahlen) – beeinflusst der Teamleiter hier:</a:t>
            </a:r>
          </a:p>
          <a:p>
            <a:pPr>
              <a:spcBef>
                <a:spcPts val="400"/>
              </a:spcBef>
              <a:spcAft>
                <a:spcPts val="200"/>
              </a:spcAft>
            </a:pPr>
            <a:r>
              <a:rPr sz="1200">
                <a:solidFill>
                  <a:srgbClr val="3D5466"/>
                </a:solidFill>
                <a:latin typeface="Arial"/>
              </a:rPr>
              <a:t>Spätindikatoren (Ergebniskennzahlen) – sieht der Teamleiter, aber nicht mehr beeinflussbar:</a:t>
            </a:r>
          </a:p>
          <a:p>
            <a:pPr>
              <a:spcBef>
                <a:spcPts val="400"/>
              </a:spcBef>
              <a:spcAft>
                <a:spcPts val="200"/>
              </a:spcAft>
            </a:pPr>
            <a:r>
              <a:rPr sz="1200">
                <a:solidFill>
                  <a:srgbClr val="3D5466"/>
                </a:solidFill>
                <a:latin typeface="Arial"/>
              </a:rPr>
              <a:t>Die Diagnose-Logik im Überblick:</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Checkliste: Entwicklungsorientiertes Steuerungsgespräch</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Vor dem Gespräch</a:t>
            </a:r>
          </a:p>
          <a:p>
            <a:pPr marL="190500" indent="-190500">
              <a:spcBef>
                <a:spcPts val="400"/>
              </a:spcBef>
              <a:spcAft>
                <a:spcPts val="200"/>
              </a:spcAft>
            </a:pPr>
            <a:r>
              <a:rPr sz="1300">
                <a:solidFill>
                  <a:srgbClr val="3D5466"/>
                </a:solidFill>
                <a:latin typeface="Arial"/>
              </a:rPr>
              <a:t>▸  [ ] Cockpit ausgewertet – Kennzahlenmuster identifiziert (Aktivität vs. Ergebnis)</a:t>
            </a:r>
          </a:p>
          <a:p>
            <a:pPr marL="190500" indent="-190500">
              <a:spcBef>
                <a:spcPts val="400"/>
              </a:spcBef>
              <a:spcAft>
                <a:spcPts val="200"/>
              </a:spcAft>
            </a:pPr>
            <a:r>
              <a:rPr sz="1300">
                <a:solidFill>
                  <a:srgbClr val="3D5466"/>
                </a:solidFill>
                <a:latin typeface="Arial"/>
              </a:rPr>
              <a:t>▸  [ ] Eigene Hypothese zur Ursache gebildet (min. 2 Möglichkeiten)</a:t>
            </a:r>
          </a:p>
          <a:p>
            <a:pPr marL="190500" indent="-190500">
              <a:spcBef>
                <a:spcPts val="400"/>
              </a:spcBef>
              <a:spcAft>
                <a:spcPts val="200"/>
              </a:spcAft>
            </a:pPr>
            <a:r>
              <a:rPr sz="1300">
                <a:solidFill>
                  <a:srgbClr val="3D5466"/>
                </a:solidFill>
                <a:latin typeface="Arial"/>
              </a:rPr>
              <a:t>▸  [ ] Gesprächsziel konkret formuliert (nicht „bessere Ergebnisse", sondern: was soll der Berater am Ende wissen, können, planen?)</a:t>
            </a:r>
          </a:p>
          <a:p>
            <a:pPr marL="190500" indent="-190500">
              <a:spcBef>
                <a:spcPts val="400"/>
              </a:spcBef>
              <a:spcAft>
                <a:spcPts val="200"/>
              </a:spcAft>
            </a:pPr>
            <a:r>
              <a:rPr sz="1300">
                <a:solidFill>
                  <a:srgbClr val="3D5466"/>
                </a:solidFill>
                <a:latin typeface="Arial"/>
              </a:rPr>
              <a:t>▸  [ ] Einstiegssatz vorbereitet: wertschätzend, fragend, nicht urteilend</a:t>
            </a:r>
          </a:p>
          <a:p>
            <a:pPr marL="190500" indent="-190500">
              <a:spcBef>
                <a:spcPts val="400"/>
              </a:spcBef>
              <a:spcAft>
                <a:spcPts val="200"/>
              </a:spcAft>
            </a:pPr>
            <a:r>
              <a:rPr sz="1300">
                <a:solidFill>
                  <a:srgbClr val="3D5466"/>
                </a:solidFill>
                <a:latin typeface="Arial"/>
              </a:rPr>
              <a:t>▸  [ ] 3–4 offene Leitfragen notiert</a:t>
            </a:r>
          </a:p>
          <a:p>
            <a:pPr marL="190500" indent="-190500">
              <a:spcBef>
                <a:spcPts val="400"/>
              </a:spcBef>
              <a:spcAft>
                <a:spcPts val="200"/>
              </a:spcAft>
            </a:pPr>
            <a:r>
              <a:rPr sz="1300">
                <a:solidFill>
                  <a:srgbClr val="3D5466"/>
                </a:solidFill>
                <a:latin typeface="Arial"/>
              </a:rPr>
              <a:t>▸  [ ] Einen konkreten Entwicklungsimpuls vorbereitet, den ich anbieten kann</a:t>
            </a:r>
          </a:p>
          <a:p>
            <a:pPr>
              <a:spcBef>
                <a:spcPts val="400"/>
              </a:spcBef>
              <a:spcAft>
                <a:spcPts val="200"/>
              </a:spcAft>
            </a:pPr>
            <a:r>
              <a:rPr sz="1200">
                <a:solidFill>
                  <a:srgbClr val="3D5466"/>
                </a:solidFill>
                <a:latin typeface="Arial"/>
              </a:rPr>
              <a:t>Im Gespräch</a:t>
            </a:r>
          </a:p>
          <a:p>
            <a:pPr marL="190500" indent="-190500">
              <a:spcBef>
                <a:spcPts val="400"/>
              </a:spcBef>
              <a:spcAft>
                <a:spcPts val="200"/>
              </a:spcAft>
            </a:pPr>
            <a:r>
              <a:rPr sz="1300">
                <a:solidFill>
                  <a:srgbClr val="3D5466"/>
                </a:solidFill>
                <a:latin typeface="Arial"/>
              </a:rPr>
              <a:t>▸  [ ] Mit Anerkennung gestartet, bevor Zahlen angesprochen wurden</a:t>
            </a:r>
          </a:p>
          <a:p>
            <a:pPr marL="190500" indent="-190500">
              <a:spcBef>
                <a:spcPts val="400"/>
              </a:spcBef>
              <a:spcAft>
                <a:spcPts val="200"/>
              </a:spcAft>
            </a:pPr>
            <a:r>
              <a:rPr sz="1300">
                <a:solidFill>
                  <a:srgbClr val="3D5466"/>
                </a:solidFill>
                <a:latin typeface="Arial"/>
              </a:rPr>
              <a:t>▸  [ ] Eigene Hypothese zurückgehalten – zuerst den Berater gefragt</a:t>
            </a:r>
          </a:p>
          <a:p>
            <a:pPr marL="190500" indent="-190500">
              <a:spcBef>
                <a:spcPts val="400"/>
              </a:spcBef>
              <a:spcAft>
                <a:spcPts val="200"/>
              </a:spcAft>
            </a:pPr>
            <a:r>
              <a:rPr sz="1300">
                <a:solidFill>
                  <a:srgbClr val="3D5466"/>
                </a:solidFill>
                <a:latin typeface="Arial"/>
              </a:rPr>
              <a:t>▸  [ ] Mehr gefragt als gesagt (Faustregel: 70 % Berater redet, 30 % ich)</a:t>
            </a:r>
          </a:p>
          <a:p>
            <a:pPr marL="190500" indent="-190500">
              <a:spcBef>
                <a:spcPts val="400"/>
              </a:spcBef>
              <a:spcAft>
                <a:spcPts val="200"/>
              </a:spcAft>
            </a:pPr>
            <a:r>
              <a:rPr sz="1300">
                <a:solidFill>
                  <a:srgbClr val="3D5466"/>
                </a:solidFill>
                <a:latin typeface="Arial"/>
              </a:rPr>
              <a:t>▸  [ ] Auf Antworten des Beraters eingegangen (nicht Fragenkatalog abgearbeitet)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Reflexionsfragen</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Die folgenden Fragen sind für die persönliche Reflexion gedacht – kein Test, kein Richtig/Falsch. Nehmen Sie sich 5–10 Minuten Zeit, bevor Sie in den Alltag zurückkehren.</a:t>
            </a:r>
          </a:p>
          <a:p>
            <a:pPr marL="190500" indent="-190500">
              <a:spcBef>
                <a:spcPts val="400"/>
              </a:spcBef>
              <a:spcAft>
                <a:spcPts val="200"/>
              </a:spcAft>
            </a:pPr>
            <a:r>
              <a:rPr sz="1300">
                <a:solidFill>
                  <a:srgbClr val="3D5466"/>
                </a:solidFill>
                <a:latin typeface="Arial"/>
              </a:rPr>
              <a:t>▸  Wie haben Sie bisher auf schwache Ergebnisse in Ihrem Team reagiert – eher mit Druck auf das Ergebnis oder mit Fragen zu den Aktivitäten? Was sagt das über Ihr Steuerungsverständnis aus?</a:t>
            </a:r>
          </a:p>
          <a:p>
            <a:pPr marL="190500" indent="-190500">
              <a:spcBef>
                <a:spcPts val="400"/>
              </a:spcBef>
              <a:spcAft>
                <a:spcPts val="200"/>
              </a:spcAft>
            </a:pPr>
            <a:r>
              <a:rPr sz="1300">
                <a:solidFill>
                  <a:srgbClr val="3D5466"/>
                </a:solidFill>
                <a:latin typeface="Arial"/>
              </a:rPr>
              <a:t>▸  Welcher Berater in Ihrem Team zeigt derzeit das ausgeprägteste Aktivitäts-Ergebnis-Muster – und was hindert Sie, das Gespräch dazu zu führen?</a:t>
            </a:r>
          </a:p>
          <a:p>
            <a:pPr marL="190500" indent="-190500">
              <a:spcBef>
                <a:spcPts val="400"/>
              </a:spcBef>
              <a:spcAft>
                <a:spcPts val="200"/>
              </a:spcAft>
            </a:pPr>
            <a:r>
              <a:rPr sz="1300">
                <a:solidFill>
                  <a:srgbClr val="3D5466"/>
                </a:solidFill>
                <a:latin typeface="Arial"/>
              </a:rPr>
              <a:t>▸  Wann haben Sie zuletzt mit Ihrem stärksten Berater ein proaktives Entwicklungsgespräch geführt – unabhängig von Zahlen und Problemen? Was hat ihn oder sie dabei angetrieben?</a:t>
            </a:r>
          </a:p>
          <a:p>
            <a:pPr marL="190500" indent="-190500">
              <a:spcBef>
                <a:spcPts val="400"/>
              </a:spcBef>
              <a:spcAft>
                <a:spcPts val="200"/>
              </a:spcAft>
            </a:pPr>
            <a:r>
              <a:rPr sz="1300">
                <a:solidFill>
                  <a:srgbClr val="3D5466"/>
                </a:solidFill>
                <a:latin typeface="Arial"/>
              </a:rPr>
              <a:t>▸  Wie würde ein Berater in Ihrem Team ein typisches Steuerungsgespräch mit Ihnen beschreiben: als Kontrolle oder als Entwicklung? Was müssten Sie verändern, damit die Antwort eindeutig „Entwicklung" lautet?</a:t>
            </a:r>
          </a:p>
          <a:p>
            <a:pPr marL="190500" indent="-190500">
              <a:spcBef>
                <a:spcPts val="400"/>
              </a:spcBef>
              <a:spcAft>
                <a:spcPts val="200"/>
              </a:spcAft>
            </a:pPr>
            <a:r>
              <a:rPr sz="1300">
                <a:solidFill>
                  <a:srgbClr val="3D5466"/>
                </a:solidFill>
                <a:latin typeface="Arial"/>
              </a:rPr>
              <a:t>▸  Was bedeutet das Leitprinzip „steuern UND entwickeln" konkret für Ihre nächste Steuerungsrunde – welchen einen Schritt nehmen Sie mit?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