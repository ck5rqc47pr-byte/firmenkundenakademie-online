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aus dem Ablaufplan (Sektion 3.1). Timing und Pausen siehe Trainerhandbuch.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Einstieg: 'Auf welche Kennzahl schauen Sie zuerst, wenn Sie das Cockpit öffnen?'</a:t>
            </a:r>
          </a:p>
          <a:p>
            <a:r>
              <a:t>Leitbegriff Steuerungsdilemma nach Watzka (2014): Druck kommt über Spätindikatoren, Hebel liegt bei Frühindikatoren.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Kernbotschaft: Teamleiter steuert Frühindikatoren – die Ergebnisse sind die Quittung.</a:t>
            </a:r>
          </a:p>
          <a:p>
            <a:r>
              <a:t>Einprägsamstes Beispiel: Wiedervorlage = Frühindikator für Risiko UND Verkaufschance.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Teilnehmer ordnen die Berater den Diagnose-Feldern zu (Zuruf) – erst dann Matrix einführen.</a:t>
            </a:r>
          </a:p>
          <a:p>
            <a:r>
              <a:t>Berater D: Aktivität unter Plan, aber 11 Abschlüsse / 2,6 Mio. – das ist das Pipeline-Risiko-Muster.</a:t>
            </a:r>
          </a:p>
          <a:p>
            <a:r>
              <a:t>Berater C explizit als Falle markieren: grüne Zahlen = Führungsmangel-Risiko.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Häufigste Fehlerreaktion: alle vier mit demselben Druckgespräch.</a:t>
            </a:r>
          </a:p>
          <a:p>
            <a:r>
              <a:t>Berater B: Klärungsgespräch ist handwerklich das schwierigste – keine Hypothese liefert die Matrix.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Cross-Selling-Quote 28 % (Ziel 40 %) = zweites Diagnosesignal.</a:t>
            </a:r>
          </a:p>
          <a:p>
            <a:r>
              <a:t>Entwicklungsimpuls konkret: gemeinsam nächsten Kundenkontakt vorbereiten.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Formulierungsbaustein: 'Du hast in Q2 starke Ergebnisse – gleichzeitig sehe ich, dass die Terminfrequenz unter dem Zielwert liegt. Lass uns besprechen, was das für Q3/Q4 bedeutet.'</a:t>
            </a:r>
          </a:p>
          <a:p>
            <a:r>
              <a:t>Dieser Gesprächstyp ist schwieriger als Berater A: Berater D hat kurzfristig recht.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Häufigste Fehlerreaktion: impliziter Vorhalt als Einstiegssatz – 'Warum erreichst du dein Ziel nicht?'</a:t>
            </a:r>
          </a:p>
          <a:p>
            <a:r>
              <a:t>Plenumsfrage: 'Wie würden Sie das Gespräch mit Berater B beginnen – erster Satz?' 2–3 Antworten, gemeinsam auf Vorhaltehaltung prüfen.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Stille aushalten nach der Frage – produktive Stille, nicht überbrücken.</a:t>
            </a:r>
          </a:p>
          <a:p>
            <a:r>
              <a:t>Bass &amp; Avolio (1990): Individualized Consideration – Leistungsträger reagieren besonders stark auf fehlende individuelle Wertschätzung.</a:t>
            </a:r>
          </a:p>
          <a:p>
            <a:r>
              <a:t>Gesprächsstruktur: Anerkennung → Erkunden → Entwicklung → Konkretisierung → Abschluss.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AB-1 Musterlösung (Trainer-Version) für Plenumsauswertung vorbereiten.</a:t>
            </a:r>
          </a:p>
          <a:p>
            <a:r>
              <a:t>Häufigste Fehlerreaktion: Führungshandlung als Druck-Aussage statt als Frage. Direkt eingreifen: 'Das ist eine Aussage – was wäre die entsprechende offene Frage?'</a:t>
            </a:r>
          </a:p>
          <a:p>
            <a:r>
              <a:t>Berater B im Plenum aktiv einfordern – wird intuitiv selten gewählt.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Kein Rollenspiel – Sprachcheck: Einstiegssatz vorlesen, Rückmeldung aus Mitarbeiterperspektive.</a:t>
            </a:r>
          </a:p>
          <a:p>
            <a:r>
              <a:t>Instruktion für 2er-Gruppen: 'Wenn ich als Berater diesen Satz höre – will ich antworten oder mich verteidigen?'</a:t>
            </a:r>
          </a:p>
          <a:p>
            <a:r>
              <a:t>Normalisieren: 'Ein ehrlicher Entwurf ist mehr wert als ein polierter Satz, den niemand wirklich nutzt.'</a:t>
            </a:r>
          </a:p>
          <a:p>
            <a:r>
              <a:t>Zwischenerinnerung nach 8 Min.: 'Prüfen Sie: Ist Ihr Einstiegssatz eine Frage oder eine Aussage?'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Selbstcheck nach 4 Wochen mitgeben (Sec 5).</a:t>
            </a:r>
          </a:p>
          <a:p>
            <a:r>
              <a:t>Teilnehmer markieren heute: Welche Selbstcheck-Frage würde ich schon mit 3+ beantworten – welche noch nicht?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Greenleaf (1977): 'Wachsen die Menschen, denen Sie führend begegnen?'</a:t>
            </a:r>
          </a:p>
          <a:p>
            <a:r>
              <a:t>Verbindung zur genossenschaftlichen Haltung – kein ideeller Anspruch, sondern praktischer Prüfstein nach jedem Gespräch.</a:t>
            </a:r>
          </a:p>
          <a:p>
            <a:r>
              <a:t>Überleitung zu TL05: Ziel- und Steuerungsgespräche auf Stufe Führungscoach.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817352" cy="256032"/>
          </a:xfrm>
          <a:prstGeom prst="rect">
            <a:avLst/>
          </a:prstGeom>
          <a:noFill/>
        </p:spPr>
        <p:txBody>
          <a:bodyPr wrap="none">
            <a:spAutoFit/>
          </a:bodyPr>
          <a:lstStyle/>
          <a:p>
            <a:pPr algn="l"/>
            <a:r>
              <a:rPr sz="800">
                <a:solidFill>
                  <a:srgbClr val="C8D2E6"/>
                </a:solidFill>
                <a:latin typeface="Consolas"/>
              </a:rPr>
              <a:t>FKB CAMPUS  ·  FIRMENKUNDENAKADEMIE  ·  TL04</a:t>
            </a:r>
          </a:p>
        </p:txBody>
      </p:sp>
      <p:sp>
        <p:nvSpPr>
          <p:cNvPr id="5" name="TextBox 4"/>
          <p:cNvSpPr txBox="1"/>
          <p:nvPr/>
        </p:nvSpPr>
        <p:spPr>
          <a:xfrm>
            <a:off x="685800" y="1828800"/>
            <a:ext cx="10817352" cy="2011680"/>
          </a:xfrm>
          <a:prstGeom prst="rect">
            <a:avLst/>
          </a:prstGeom>
          <a:noFill/>
        </p:spPr>
        <p:txBody>
          <a:bodyPr wrap="square">
            <a:spAutoFit/>
          </a:bodyPr>
          <a:lstStyle/>
          <a:p>
            <a:pPr algn="l"/>
            <a:r>
              <a:rPr sz="4600" b="1" i="0">
                <a:solidFill>
                  <a:srgbClr val="FFFFFF"/>
                </a:solidFill>
                <a:latin typeface="Arial"/>
              </a:rPr>
              <a:t>Vertriebssteuerung mit dem Cockpit</a:t>
            </a:r>
          </a:p>
        </p:txBody>
      </p:sp>
      <p:sp>
        <p:nvSpPr>
          <p:cNvPr id="6" name="TextBox 5"/>
          <p:cNvSpPr txBox="1"/>
          <p:nvPr/>
        </p:nvSpPr>
        <p:spPr>
          <a:xfrm>
            <a:off x="685800" y="3977639"/>
            <a:ext cx="10817352" cy="731520"/>
          </a:xfrm>
          <a:prstGeom prst="rect">
            <a:avLst/>
          </a:prstGeom>
          <a:noFill/>
        </p:spPr>
        <p:txBody>
          <a:bodyPr wrap="square">
            <a:spAutoFit/>
          </a:bodyPr>
          <a:lstStyle/>
          <a:p>
            <a:pPr algn="l"/>
            <a:r>
              <a:rPr sz="1900" b="0" i="1">
                <a:solidFill>
                  <a:srgbClr val="BECDE6"/>
                </a:solidFill>
                <a:latin typeface="Arial"/>
              </a:rPr>
              <a:t>Kennzahlen lesen, Aktivitäten steuern, Berater entwickeln</a:t>
            </a:r>
          </a:p>
        </p:txBody>
      </p:sp>
      <p:sp>
        <p:nvSpPr>
          <p:cNvPr id="7" name="Rectangle 6"/>
          <p:cNvSpPr/>
          <p:nvPr/>
        </p:nvSpPr>
        <p:spPr>
          <a:xfrm>
            <a:off x="685800" y="5029200"/>
            <a:ext cx="10817352" cy="12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193792"/>
            <a:ext cx="3605784" cy="201168"/>
          </a:xfrm>
          <a:prstGeom prst="rect">
            <a:avLst/>
          </a:prstGeom>
          <a:noFill/>
        </p:spPr>
        <p:txBody>
          <a:bodyPr wrap="none">
            <a:spAutoFit/>
          </a:bodyPr>
          <a:lstStyle/>
          <a:p>
            <a:pPr algn="l"/>
            <a:r>
              <a:rPr sz="700">
                <a:solidFill>
                  <a:srgbClr val="A0B4D2"/>
                </a:solidFill>
                <a:latin typeface="Consolas"/>
              </a:rPr>
              <a:t>KOMPETENZFELD</a:t>
            </a:r>
          </a:p>
        </p:txBody>
      </p:sp>
      <p:sp>
        <p:nvSpPr>
          <p:cNvPr id="9" name="TextBox 8"/>
          <p:cNvSpPr txBox="1"/>
          <p:nvPr/>
        </p:nvSpPr>
        <p:spPr>
          <a:xfrm>
            <a:off x="685800" y="5394960"/>
            <a:ext cx="3605784" cy="320040"/>
          </a:xfrm>
          <a:prstGeom prst="rect">
            <a:avLst/>
          </a:prstGeom>
          <a:noFill/>
        </p:spPr>
        <p:txBody>
          <a:bodyPr wrap="square">
            <a:spAutoFit/>
          </a:bodyPr>
          <a:lstStyle/>
          <a:p>
            <a:pPr algn="l"/>
            <a:r>
              <a:rPr sz="1100" b="0" i="0">
                <a:solidFill>
                  <a:srgbClr val="FFFFFF"/>
                </a:solidFill>
                <a:latin typeface="Arial"/>
              </a:rPr>
              <a:t>K-F02 Vertriebssteuerung &amp; Cockpit</a:t>
            </a:r>
          </a:p>
        </p:txBody>
      </p:sp>
      <p:sp>
        <p:nvSpPr>
          <p:cNvPr id="10" name="TextBox 9"/>
          <p:cNvSpPr txBox="1"/>
          <p:nvPr/>
        </p:nvSpPr>
        <p:spPr>
          <a:xfrm>
            <a:off x="4291584" y="5193792"/>
            <a:ext cx="3605784" cy="201168"/>
          </a:xfrm>
          <a:prstGeom prst="rect">
            <a:avLst/>
          </a:prstGeom>
          <a:noFill/>
        </p:spPr>
        <p:txBody>
          <a:bodyPr wrap="none">
            <a:spAutoFit/>
          </a:bodyPr>
          <a:lstStyle/>
          <a:p>
            <a:pPr algn="l"/>
            <a:r>
              <a:rPr sz="700">
                <a:solidFill>
                  <a:srgbClr val="A0B4D2"/>
                </a:solidFill>
                <a:latin typeface="Consolas"/>
              </a:rPr>
              <a:t>KOMPETENZSTUFE</a:t>
            </a:r>
          </a:p>
        </p:txBody>
      </p:sp>
      <p:sp>
        <p:nvSpPr>
          <p:cNvPr id="11" name="TextBox 10"/>
          <p:cNvSpPr txBox="1"/>
          <p:nvPr/>
        </p:nvSpPr>
        <p:spPr>
          <a:xfrm>
            <a:off x="4291584" y="5394960"/>
            <a:ext cx="3605784" cy="320040"/>
          </a:xfrm>
          <a:prstGeom prst="rect">
            <a:avLst/>
          </a:prstGeom>
          <a:noFill/>
        </p:spPr>
        <p:txBody>
          <a:bodyPr wrap="square">
            <a:spAutoFit/>
          </a:bodyPr>
          <a:lstStyle/>
          <a:p>
            <a:pPr algn="l"/>
            <a:r>
              <a:rPr sz="1100" b="0" i="0">
                <a:solidFill>
                  <a:srgbClr val="FFFFFF"/>
                </a:solidFill>
                <a:latin typeface="Arial"/>
              </a:rPr>
              <a:t>Teamleiter</a:t>
            </a:r>
          </a:p>
        </p:txBody>
      </p:sp>
      <p:sp>
        <p:nvSpPr>
          <p:cNvPr id="12" name="TextBox 11"/>
          <p:cNvSpPr txBox="1"/>
          <p:nvPr/>
        </p:nvSpPr>
        <p:spPr>
          <a:xfrm>
            <a:off x="7897368" y="5193792"/>
            <a:ext cx="3605784" cy="201168"/>
          </a:xfrm>
          <a:prstGeom prst="rect">
            <a:avLst/>
          </a:prstGeom>
          <a:noFill/>
        </p:spPr>
        <p:txBody>
          <a:bodyPr wrap="none">
            <a:spAutoFit/>
          </a:bodyPr>
          <a:lstStyle/>
          <a:p>
            <a:pPr algn="l"/>
            <a:r>
              <a:rPr sz="700">
                <a:solidFill>
                  <a:srgbClr val="A0B4D2"/>
                </a:solidFill>
                <a:latin typeface="Consolas"/>
              </a:rPr>
              <a:t>VERSION</a:t>
            </a:r>
          </a:p>
        </p:txBody>
      </p:sp>
      <p:sp>
        <p:nvSpPr>
          <p:cNvPr id="13" name="TextBox 12"/>
          <p:cNvSpPr txBox="1"/>
          <p:nvPr/>
        </p:nvSpPr>
        <p:spPr>
          <a:xfrm>
            <a:off x="7897368" y="5394960"/>
            <a:ext cx="3605784" cy="320040"/>
          </a:xfrm>
          <a:prstGeom prst="rect">
            <a:avLst/>
          </a:prstGeom>
          <a:noFill/>
        </p:spPr>
        <p:txBody>
          <a:bodyPr wrap="square">
            <a:spAutoFit/>
          </a:bodyPr>
          <a:lstStyle/>
          <a:p>
            <a:pPr algn="l"/>
            <a:r>
              <a:rPr sz="1100" b="0" i="0">
                <a:solidFill>
                  <a:srgbClr val="FFFFFF"/>
                </a:solidFill>
                <a:latin typeface="Arial"/>
              </a:rPr>
              <a:t>v1.0</a:t>
            </a:r>
          </a:p>
        </p:txBody>
      </p:sp>
      <p:sp>
        <p:nvSpPr>
          <p:cNvPr id="14" name="Rectangle 13"/>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583680"/>
            <a:ext cx="5408676" cy="256032"/>
          </a:xfrm>
          <a:prstGeom prst="rect">
            <a:avLst/>
          </a:prstGeom>
          <a:noFill/>
        </p:spPr>
        <p:txBody>
          <a:bodyPr wrap="none">
            <a:spAutoFit/>
          </a:bodyPr>
          <a:lstStyle/>
          <a:p>
            <a:pPr algn="l"/>
            <a:r>
              <a:rPr sz="700">
                <a:solidFill>
                  <a:srgbClr val="96A5BE"/>
                </a:solidFill>
                <a:latin typeface="Consolas"/>
              </a:rPr>
              <a:t>FKB Campus  ·  2026</a:t>
            </a:r>
          </a:p>
        </p:txBody>
      </p:sp>
      <p:sp>
        <p:nvSpPr>
          <p:cNvPr id="16" name="TextBox 15"/>
          <p:cNvSpPr txBox="1"/>
          <p:nvPr/>
        </p:nvSpPr>
        <p:spPr>
          <a:xfrm>
            <a:off x="6094476" y="6583680"/>
            <a:ext cx="5408676" cy="256032"/>
          </a:xfrm>
          <a:prstGeom prst="rect">
            <a:avLst/>
          </a:prstGeom>
          <a:noFill/>
        </p:spPr>
        <p:txBody>
          <a:bodyPr wrap="none">
            <a:spAutoFit/>
          </a:bodyPr>
          <a:lstStyle/>
          <a:p>
            <a:pPr algn="r"/>
            <a:r>
              <a:rPr sz="700">
                <a:solidFill>
                  <a:srgbClr val="96A5BE"/>
                </a:solidFill>
                <a:latin typeface="Consolas"/>
              </a:rPr>
              <a:t>Trainer-Präsentation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ÜBERBLICK  ·  TL04</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Worum geht es heute</a:t>
            </a:r>
          </a:p>
        </p:txBody>
      </p:sp>
      <p:sp>
        <p:nvSpPr>
          <p:cNvPr id="7" name="TextBox 6"/>
          <p:cNvSpPr txBox="1"/>
          <p:nvPr/>
        </p:nvSpPr>
        <p:spPr>
          <a:xfrm>
            <a:off x="685800" y="1737360"/>
            <a:ext cx="9720072" cy="4206240"/>
          </a:xfrm>
          <a:prstGeom prst="rect">
            <a:avLst/>
          </a:prstGeom>
          <a:noFill/>
        </p:spPr>
        <p:txBody>
          <a:bodyPr wrap="square">
            <a:spAutoFit/>
          </a:bodyPr>
          <a:lstStyle/>
          <a:p>
            <a:pPr>
              <a:spcAft>
                <a:spcPts val="1200"/>
              </a:spcAft>
            </a:pPr>
            <a:r>
              <a:rPr sz="1700">
                <a:solidFill>
                  <a:srgbClr val="3D5466"/>
                </a:solidFill>
                <a:latin typeface="Arial"/>
              </a:rPr>
              <a:t>Vertriebssteuerung ist das notwendige Handwerk der Teamleitung – aber Kennzahlen sind kein Selbstzweck, sondern Gesprächsanlass für Entwicklung.</a:t>
            </a:r>
          </a:p>
          <a:p>
            <a:pPr>
              <a:spcAft>
                <a:spcPts val="1200"/>
              </a:spcAft>
            </a:pPr>
            <a:r>
              <a:rPr sz="1700">
                <a:solidFill>
                  <a:srgbClr val="3D5466"/>
                </a:solidFill>
                <a:latin typeface="Arial"/>
              </a:rPr>
              <a:t>Dieses Modul vermittelt, wie Teamleiter das Vertriebscockpit systematisch lesen, von der Kennzahl zur Hypothese zur Führungshandlung schließen und Steuerungsgespräche entwicklungsorientiert vorbereiten.</a:t>
            </a:r>
          </a:p>
          <a:p>
            <a:pPr>
              <a:spcAft>
                <a:spcPts val="1200"/>
              </a:spcAft>
            </a:pPr>
            <a:r>
              <a:rPr sz="1700">
                <a:solidFill>
                  <a:srgbClr val="3D5466"/>
                </a:solidFill>
                <a:latin typeface="Arial"/>
              </a:rPr>
              <a:t>Im Mittelpunkt steht das Prinzip: steuern UND entwickeln.</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LERNZIELE  ·  TL04</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Was Sie heute mitnehmen</a:t>
            </a:r>
          </a:p>
        </p:txBody>
      </p:sp>
      <p:sp>
        <p:nvSpPr>
          <p:cNvPr id="7" name="TextBox 6"/>
          <p:cNvSpPr txBox="1"/>
          <p:nvPr/>
        </p:nvSpPr>
        <p:spPr>
          <a:xfrm>
            <a:off x="685800" y="1371600"/>
            <a:ext cx="10817352" cy="5120640"/>
          </a:xfrm>
          <a:prstGeom prst="rect">
            <a:avLst/>
          </a:prstGeom>
          <a:noFill/>
        </p:spPr>
        <p:txBody>
          <a:bodyPr wrap="square">
            <a:spAutoFit/>
          </a:bodyPr>
          <a:lstStyle/>
          <a:p>
            <a:pPr>
              <a:spcBef>
                <a:spcPts val="800"/>
              </a:spcBef>
              <a:spcAft>
                <a:spcPts val="200"/>
              </a:spcAft>
            </a:pPr>
            <a:r>
              <a:rPr sz="1400">
                <a:solidFill>
                  <a:srgbClr val="3D5466"/>
                </a:solidFill>
                <a:latin typeface="Arial"/>
              </a:rPr>
              <a:t>▸  Die zentralen Kennzahlen des FK-Vertriebscockpits (Aktivitätskennzahlen, Ergebniskennzahlen) benennen und den Unterschied zwischen Früh- und Spätindikatoren erklären</a:t>
            </a:r>
          </a:p>
          <a:p>
            <a:pPr>
              <a:spcBef>
                <a:spcPts val="800"/>
              </a:spcBef>
              <a:spcAft>
                <a:spcPts val="200"/>
              </a:spcAft>
            </a:pPr>
            <a:r>
              <a:rPr sz="1400">
                <a:solidFill>
                  <a:srgbClr val="3D5466"/>
                </a:solidFill>
                <a:latin typeface="Arial"/>
              </a:rPr>
              <a:t>▸  Ein Muster-Cockpit auswerten, Hypothesen zu Ursache-Wirkungs-Zusammenhängen formulieren und daraus konkrete Führungshandlungen ableiten</a:t>
            </a:r>
          </a:p>
          <a:p>
            <a:pPr>
              <a:spcBef>
                <a:spcPts val="800"/>
              </a:spcBef>
              <a:spcAft>
                <a:spcPts val="200"/>
              </a:spcAft>
            </a:pPr>
            <a:r>
              <a:rPr sz="1400">
                <a:solidFill>
                  <a:srgbClr val="3D5466"/>
                </a:solidFill>
                <a:latin typeface="Arial"/>
              </a:rPr>
              <a:t>▸  Den Zusammenhang zwischen Aktivitätssteuerung und Ergebnisentwicklung auf einen konkreten Beratungsfall anwenden und die richtige Stellschraube benennen</a:t>
            </a:r>
          </a:p>
          <a:p>
            <a:pPr>
              <a:spcBef>
                <a:spcPts val="800"/>
              </a:spcBef>
              <a:spcAft>
                <a:spcPts val="200"/>
              </a:spcAft>
            </a:pPr>
            <a:r>
              <a:rPr sz="1400">
                <a:solidFill>
                  <a:srgbClr val="3D5466"/>
                </a:solidFill>
                <a:latin typeface="Arial"/>
              </a:rPr>
              <a:t>▸  Ein entwicklungsorientiertes Steuerungsgespräch strukturiert vorbereiten (Einstieg, Leitfragen, Formulierungsbausteine) und das Leitprinzip 'steuern UND entwickeln' darin erkennbar machen</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AGENDA  ·  TL04</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So läuft das Modul</a:t>
            </a:r>
          </a:p>
        </p:txBody>
      </p:sp>
      <p:sp>
        <p:nvSpPr>
          <p:cNvPr id="7" name="TextBox 6"/>
          <p:cNvSpPr txBox="1"/>
          <p:nvPr/>
        </p:nvSpPr>
        <p:spPr>
          <a:xfrm>
            <a:off x="685800" y="1463040"/>
            <a:ext cx="10817352" cy="4937760"/>
          </a:xfrm>
          <a:prstGeom prst="rect">
            <a:avLst/>
          </a:prstGeom>
          <a:noFill/>
        </p:spPr>
        <p:txBody>
          <a:bodyPr wrap="square">
            <a:spAutoFit/>
          </a:bodyPr>
          <a:lstStyle/>
          <a:p>
            <a:pPr>
              <a:spcBef>
                <a:spcPts val="400"/>
              </a:spcBef>
              <a:spcAft>
                <a:spcPts val="100"/>
              </a:spcAft>
            </a:pPr>
            <a:r>
              <a:rPr sz="900">
                <a:solidFill>
                  <a:srgbClr val="78808C"/>
                </a:solidFill>
                <a:latin typeface="Consolas"/>
              </a:rPr>
              <a:t>0–15 Min.   </a:t>
            </a:r>
            <a:r>
              <a:rPr sz="1200" b="1">
                <a:solidFill>
                  <a:srgbClr val="3D5466"/>
                </a:solidFill>
                <a:latin typeface="Arial"/>
              </a:rPr>
              <a:t>  Einstieg &amp; Erwartungscheck</a:t>
            </a:r>
            <a:r>
              <a:rPr sz="900">
                <a:solidFill>
                  <a:srgbClr val="78808C"/>
                </a:solidFill>
                <a:latin typeface="Arial"/>
              </a:rPr>
              <a:t>  ·  Blitzlicht-Runde: Jeder TN nennt in einem Satz, welche Cockpit-Situation ihn derzeit am meisten beschäftigt. Trainer notiert die Nennungen sichtbar (Flipchart).</a:t>
            </a:r>
          </a:p>
          <a:p>
            <a:pPr>
              <a:spcBef>
                <a:spcPts val="400"/>
              </a:spcBef>
              <a:spcAft>
                <a:spcPts val="100"/>
              </a:spcAft>
            </a:pPr>
            <a:r>
              <a:rPr sz="900">
                <a:solidFill>
                  <a:srgbClr val="78808C"/>
                </a:solidFill>
                <a:latin typeface="Consolas"/>
              </a:rPr>
              <a:t>15–40 Min.  </a:t>
            </a:r>
            <a:r>
              <a:rPr sz="1200" b="1">
                <a:solidFill>
                  <a:srgbClr val="3D5466"/>
                </a:solidFill>
                <a:latin typeface="Arial"/>
              </a:rPr>
              <a:t>  Theorie-Input: Steuerungsparadoxon &amp; Früh-/Spätindikator-Logik</a:t>
            </a:r>
            <a:r>
              <a:rPr sz="900">
                <a:solidFill>
                  <a:srgbClr val="78808C"/>
                </a:solidFill>
                <a:latin typeface="Arial"/>
              </a:rPr>
              <a:t>  ·  Lehrgespräch mit Visualisierung (Folie/Flipchart): Regelkreis nach Schreyögg/Koch; Leading vs. Lagging Indicators nach Kaplan/Norton; Steuerungsdilemma nach Watzka. Teilnehmer ergänzen je ein Beispiel aus ihrem eigenen Cockpit.</a:t>
            </a:r>
          </a:p>
          <a:p>
            <a:pPr>
              <a:spcBef>
                <a:spcPts val="400"/>
              </a:spcBef>
              <a:spcAft>
                <a:spcPts val="100"/>
              </a:spcAft>
            </a:pPr>
            <a:r>
              <a:rPr sz="900">
                <a:solidFill>
                  <a:srgbClr val="78808C"/>
                </a:solidFill>
                <a:latin typeface="Consolas"/>
              </a:rPr>
              <a:t>40–50 Min.  </a:t>
            </a:r>
            <a:r>
              <a:rPr sz="1200" b="1">
                <a:solidFill>
                  <a:srgbClr val="3D5466"/>
                </a:solidFill>
                <a:latin typeface="Arial"/>
              </a:rPr>
              <a:t>  Plenumssicherung: Was steuere ich wirklich?</a:t>
            </a:r>
            <a:r>
              <a:rPr sz="900">
                <a:solidFill>
                  <a:srgbClr val="78808C"/>
                </a:solidFill>
                <a:latin typeface="Arial"/>
              </a:rPr>
              <a:t>  ·  Gelenkte Frage an alle TN: „Auf welche Kennzahl schauen Sie zuerst, wenn Sie morgens das Cockpit öffnen – und warum?" Trainer kategorisiert die Antworten live an der Tafel (Früh- vs. Spätindikator). Ziel: kognitives Umschalten, nicht Bewertung.</a:t>
            </a:r>
          </a:p>
          <a:p>
            <a:pPr>
              <a:spcBef>
                <a:spcPts val="400"/>
              </a:spcBef>
              <a:spcAft>
                <a:spcPts val="100"/>
              </a:spcAft>
            </a:pPr>
            <a:r>
              <a:rPr sz="900">
                <a:solidFill>
                  <a:srgbClr val="78808C"/>
                </a:solidFill>
                <a:latin typeface="Consolas"/>
              </a:rPr>
              <a:t>50–60 Min.  </a:t>
            </a:r>
            <a:r>
              <a:rPr sz="1200" b="1">
                <a:solidFill>
                  <a:srgbClr val="3D5466"/>
                </a:solidFill>
                <a:latin typeface="Arial"/>
              </a:rPr>
              <a:t>  PAUSE</a:t>
            </a:r>
            <a:r>
              <a:rPr sz="900">
                <a:solidFill>
                  <a:srgbClr val="78808C"/>
                </a:solidFill>
                <a:latin typeface="Arial"/>
              </a:rPr>
              <a:t>  ·  –</a:t>
            </a:r>
          </a:p>
          <a:p>
            <a:pPr>
              <a:spcBef>
                <a:spcPts val="400"/>
              </a:spcBef>
              <a:spcAft>
                <a:spcPts val="100"/>
              </a:spcAft>
            </a:pPr>
            <a:r>
              <a:rPr sz="900">
                <a:solidFill>
                  <a:srgbClr val="78808C"/>
                </a:solidFill>
                <a:latin typeface="Consolas"/>
              </a:rPr>
              <a:t>60–80 Min.  </a:t>
            </a:r>
            <a:r>
              <a:rPr sz="1200" b="1">
                <a:solidFill>
                  <a:srgbClr val="3D5466"/>
                </a:solidFill>
                <a:latin typeface="Arial"/>
              </a:rPr>
              <a:t>  Muster-Cockpit vorstellen &amp; Diagnose-Matrix erläutern</a:t>
            </a:r>
            <a:r>
              <a:rPr sz="900">
                <a:solidFill>
                  <a:srgbClr val="78808C"/>
                </a:solidFill>
                <a:latin typeface="Arial"/>
              </a:rPr>
              <a:t>  ·  Trainer stellt das Muster-Cockpit Q2 (VR-Bank Musterregion eG, 4 Berater A–D) vor. Die vier Diagnose-Felder der Matrix (Aktivität hoch/niedrig × Ergebnis hoch/niedrig) werden anhand der Cockpit-Werte gemeinsam abgeleitet. TN ordnen Berater A–D den vier Feldern zu (Zuruf). Trainer ergänzt bei Berater C explizit den Hinweis auf die Leistungsträger-Falle.</a:t>
            </a:r>
          </a:p>
          <a:p>
            <a:pPr>
              <a:spcBef>
                <a:spcPts val="400"/>
              </a:spcBef>
              <a:spcAft>
                <a:spcPts val="100"/>
              </a:spcAft>
            </a:pPr>
            <a:r>
              <a:rPr sz="900">
                <a:solidFill>
                  <a:srgbClr val="78808C"/>
                </a:solidFill>
                <a:latin typeface="Consolas"/>
              </a:rPr>
              <a:t>80–105 Min. </a:t>
            </a:r>
            <a:r>
              <a:rPr sz="1200" b="1">
                <a:solidFill>
                  <a:srgbClr val="3D5466"/>
                </a:solidFill>
                <a:latin typeface="Arial"/>
              </a:rPr>
              <a:t>  AB-1: Cockpit-Analyse (Einzelarbeit)</a:t>
            </a:r>
            <a:r>
              <a:rPr sz="900">
                <a:solidFill>
                  <a:srgbClr val="78808C"/>
                </a:solidFill>
                <a:latin typeface="Arial"/>
              </a:rPr>
              <a:t>  ·  TN analysieren das Muster-Cockpit selbstständig mit der Analysematrix in AB-1. Jeder TN wählt zwei Berater (Berater A ist vorgegeben; zweiter nach Wahl). Schriftliche Hypothesenbildung und Führungshandlung. Trainer begleitet stille Einzelarbeit, gibt auf Nachfrage Orientierungshilfen (keine Vorgaben).</a:t>
            </a:r>
          </a:p>
          <a:p>
            <a:pPr>
              <a:spcBef>
                <a:spcPts val="400"/>
              </a:spcBef>
              <a:spcAft>
                <a:spcPts val="100"/>
              </a:spcAft>
            </a:pPr>
            <a:r>
              <a:rPr sz="900">
                <a:solidFill>
                  <a:srgbClr val="78808C"/>
                </a:solidFill>
                <a:latin typeface="Consolas"/>
              </a:rPr>
              <a:t>105–125 Min.</a:t>
            </a:r>
            <a:r>
              <a:rPr sz="1200" b="1">
                <a:solidFill>
                  <a:srgbClr val="3D5466"/>
                </a:solidFill>
                <a:latin typeface="Arial"/>
              </a:rPr>
              <a:t>  AB-1: Auswertung im Plenum</a:t>
            </a:r>
            <a:r>
              <a:rPr sz="900">
                <a:solidFill>
                  <a:srgbClr val="78808C"/>
                </a:solidFill>
                <a:latin typeface="Arial"/>
              </a:rPr>
              <a:t>  ·  Zwei bis drei TN stellen ihre Analyseergebnisse vor (je 3–4 Min.). Plenum gibt Rückmeldung: „Was würdet ihr ergänzen?" Trainer moderiert gezielt die häufigste Fehlerreaktion (Druck-Gespräch für alle) und den Kontrast zwischen Berater A (Qualitäts-Entwicklungsgespräch) und Berater B (zuerst Klärungsgespräch).</a:t>
            </a:r>
          </a:p>
          <a:p>
            <a:pPr>
              <a:spcBef>
                <a:spcPts val="400"/>
              </a:spcBef>
              <a:spcAft>
                <a:spcPts val="100"/>
              </a:spcAft>
            </a:pPr>
            <a:r>
              <a:rPr sz="900">
                <a:solidFill>
                  <a:srgbClr val="78808C"/>
                </a:solidFill>
                <a:latin typeface="Consolas"/>
              </a:rPr>
              <a:t>125–135 Min.</a:t>
            </a:r>
            <a:r>
              <a:rPr sz="1200" b="1">
                <a:solidFill>
                  <a:srgbClr val="3D5466"/>
                </a:solidFill>
                <a:latin typeface="Arial"/>
              </a:rPr>
              <a:t>  PAUSE</a:t>
            </a:r>
            <a:r>
              <a:rPr sz="900">
                <a:solidFill>
                  <a:srgbClr val="78808C"/>
                </a:solidFill>
                <a:latin typeface="Arial"/>
              </a:rPr>
              <a:t>  ·  –</a:t>
            </a:r>
          </a:p>
          <a:p>
            <a:pPr>
              <a:spcBef>
                <a:spcPts val="400"/>
              </a:spcBef>
              <a:spcAft>
                <a:spcPts val="100"/>
              </a:spcAft>
            </a:pPr>
            <a:r>
              <a:rPr sz="900">
                <a:solidFill>
                  <a:srgbClr val="78808C"/>
                </a:solidFill>
                <a:latin typeface="Consolas"/>
              </a:rPr>
              <a:t>135–150 Min.</a:t>
            </a:r>
            <a:r>
              <a:rPr sz="1200" b="1">
                <a:solidFill>
                  <a:srgbClr val="3D5466"/>
                </a:solidFill>
                <a:latin typeface="Arial"/>
              </a:rPr>
              <a:t>  Vertiefung: Leistungsträger-Falle (Fall C)</a:t>
            </a:r>
            <a:r>
              <a:rPr sz="900">
                <a:solidFill>
                  <a:srgbClr val="78808C"/>
                </a:solidFill>
                <a:latin typeface="Arial"/>
              </a:rPr>
              <a:t>  ·  Trainerimpuls (ca. 5 Min.): Warum Berater C am meisten von Führungsmangel bedroht ist – obwohl (oder weil) die Zahlen grün sind. Anschließend Diskussion: „Wann haben Sie zuletzt mit Ihrem stärksten Berater ein proaktives Gespräch geführt – ohne Anlass durch Zahlen?" TN antworten offen; Trainer hält Muster fest.</a:t>
            </a:r>
          </a:p>
          <a:p>
            <a:pPr>
              <a:spcBef>
                <a:spcPts val="400"/>
              </a:spcBef>
              <a:spcAft>
                <a:spcPts val="100"/>
              </a:spcAft>
            </a:pPr>
            <a:r>
              <a:rPr sz="900">
                <a:solidFill>
                  <a:srgbClr val="78808C"/>
                </a:solidFill>
                <a:latin typeface="Consolas"/>
              </a:rPr>
              <a:t>150–165 Min.</a:t>
            </a:r>
            <a:r>
              <a:rPr sz="1200" b="1">
                <a:solidFill>
                  <a:srgbClr val="3D5466"/>
                </a:solidFill>
                <a:latin typeface="Arial"/>
              </a:rPr>
              <a:t>  AB-2: Gesprächsvorbereitung Berater A (Einzelarbeit)</a:t>
            </a:r>
            <a:r>
              <a:rPr sz="900">
                <a:solidFill>
                  <a:srgbClr val="78808C"/>
                </a:solidFill>
                <a:latin typeface="Arial"/>
              </a:rPr>
              <a:t>  ·  TN bereiten strukturiert ein Steuerungsgespräch mit Berater A vor (Schritte 1–5 des AB-2). Einzelarbeit, ca. 15 Min. Trainer gibt nach 8 Min. kurze Zwischenerinnerung: „Prüfen Sie, ob Ihr Einstiegssatz eine Frage oder eine Aussage ist."</a:t>
            </a:r>
          </a:p>
          <a:p>
            <a:pPr>
              <a:spcBef>
                <a:spcPts val="400"/>
              </a:spcBef>
              <a:spcAft>
                <a:spcPts val="100"/>
              </a:spcAft>
            </a:pPr>
            <a:r>
              <a:rPr sz="900">
                <a:solidFill>
                  <a:srgbClr val="78808C"/>
                </a:solidFill>
                <a:latin typeface="Consolas"/>
              </a:rPr>
              <a:t>165–185 Min.</a:t>
            </a:r>
            <a:r>
              <a:rPr sz="1200" b="1">
                <a:solidFill>
                  <a:srgbClr val="3D5466"/>
                </a:solidFill>
                <a:latin typeface="Arial"/>
              </a:rPr>
              <a:t>  Sprachcheck in 2er-Gruppen</a:t>
            </a:r>
            <a:r>
              <a:rPr sz="900">
                <a:solidFill>
                  <a:srgbClr val="78808C"/>
                </a:solidFill>
                <a:latin typeface="Arial"/>
              </a:rPr>
              <a:t>  ·  Je zwei TN lesen sich gegenseitig ihren Einstiegssatz (Schritt 2) und ihre Leitfragen (Schritt 3) vor. Rückmeldung aus der „Mitarbeiterperspektive": Klingt das einladend oder anklagend? Kein Rollenspiel – es geht um den Text, nicht um eine Situation. Trainer begleitet die Runden, gibt punktuell Rückmeldung auf konkrete Formulierungen. Ca. 20 Min. (5 Min. Einstiegssatz fertigstellen, 15 Min. gegenseitiges Vorlesen und Feedback).</a:t>
            </a:r>
          </a:p>
          <a:p>
            <a:pPr>
              <a:spcBef>
                <a:spcPts val="400"/>
              </a:spcBef>
              <a:spcAft>
                <a:spcPts val="100"/>
              </a:spcAft>
            </a:pPr>
            <a:r>
              <a:rPr sz="900">
                <a:solidFill>
                  <a:srgbClr val="78808C"/>
                </a:solidFill>
                <a:latin typeface="Consolas"/>
              </a:rPr>
              <a:t>185–200 Min.</a:t>
            </a:r>
            <a:r>
              <a:rPr sz="1200" b="1">
                <a:solidFill>
                  <a:srgbClr val="3D5466"/>
                </a:solidFill>
                <a:latin typeface="Arial"/>
              </a:rPr>
              <a:t>  AB-2: Plenum-Auswertung</a:t>
            </a:r>
            <a:r>
              <a:rPr sz="900">
                <a:solidFill>
                  <a:srgbClr val="78808C"/>
                </a:solidFill>
                <a:latin typeface="Arial"/>
              </a:rPr>
              <a:t>  ·  Zwei TN stellen ihre Gesprächsvorbereitung vor. Plenum kommentiert: Was wirkt entwicklungsorientiert, was klingt wie Kontrolle? Trainer schließt mit Merksatz: „Das Gespräch mit Berater A ist erfolgreich, wenn er das Gespräch mit einer eigenen Hypothese verlässt – nicht mit dem Wissen, dass er sein Ziel verfehlt hat."</a:t>
            </a:r>
          </a:p>
          <a:p>
            <a:pPr>
              <a:spcBef>
                <a:spcPts val="400"/>
              </a:spcBef>
              <a:spcAft>
                <a:spcPts val="100"/>
              </a:spcAft>
            </a:pPr>
            <a:r>
              <a:rPr sz="900">
                <a:solidFill>
                  <a:srgbClr val="78808C"/>
                </a:solidFill>
                <a:latin typeface="Consolas"/>
              </a:rPr>
              <a:t>200–210 Min.</a:t>
            </a:r>
            <a:r>
              <a:rPr sz="1200" b="1">
                <a:solidFill>
                  <a:srgbClr val="3D5466"/>
                </a:solidFill>
                <a:latin typeface="Arial"/>
              </a:rPr>
              <a:t>  PAUSE</a:t>
            </a:r>
            <a:r>
              <a:rPr sz="900">
                <a:solidFill>
                  <a:srgbClr val="78808C"/>
                </a:solidFill>
                <a:latin typeface="Arial"/>
              </a:rPr>
              <a:t>  ·  –</a:t>
            </a:r>
          </a:p>
          <a:p>
            <a:pPr>
              <a:spcBef>
                <a:spcPts val="400"/>
              </a:spcBef>
              <a:spcAft>
                <a:spcPts val="100"/>
              </a:spcAft>
            </a:pPr>
            <a:r>
              <a:rPr sz="900">
                <a:solidFill>
                  <a:srgbClr val="78808C"/>
                </a:solidFill>
                <a:latin typeface="Consolas"/>
              </a:rPr>
              <a:t>210–225 Min.</a:t>
            </a:r>
            <a:r>
              <a:rPr sz="1200" b="1">
                <a:solidFill>
                  <a:srgbClr val="3D5466"/>
                </a:solidFill>
                <a:latin typeface="Arial"/>
              </a:rPr>
              <a:t>  Transfer-Aufgaben besprechen &amp; Selbstcheck</a:t>
            </a:r>
            <a:r>
              <a:rPr sz="900">
                <a:solidFill>
                  <a:srgbClr val="78808C"/>
                </a:solidFill>
                <a:latin typeface="Arial"/>
              </a:rPr>
              <a:t>  ·  Trainer stellt die drei Transferaufgaben (Sec 5) kurz vor und gibt den Selbstcheck-Bogen aus. TN lesen den Selbstcheck durch und markieren, welche Fragen sie bereits heute mit 3+ beantworten würden und welche nicht. Kurzes Plenum: Was nehme ich konkret mit?</a:t>
            </a:r>
          </a:p>
          <a:p>
            <a:pPr>
              <a:spcBef>
                <a:spcPts val="400"/>
              </a:spcBef>
              <a:spcAft>
                <a:spcPts val="100"/>
              </a:spcAft>
            </a:pPr>
            <a:r>
              <a:rPr sz="900">
                <a:solidFill>
                  <a:srgbClr val="78808C"/>
                </a:solidFill>
                <a:latin typeface="Consolas"/>
              </a:rPr>
              <a:t>225–240 Min.</a:t>
            </a:r>
            <a:r>
              <a:rPr sz="1200" b="1">
                <a:solidFill>
                  <a:srgbClr val="3D5466"/>
                </a:solidFill>
                <a:latin typeface="Arial"/>
              </a:rPr>
              <a:t>  Evaluation &amp; Abschluss</a:t>
            </a:r>
            <a:r>
              <a:rPr sz="900">
                <a:solidFill>
                  <a:srgbClr val="78808C"/>
                </a:solidFill>
                <a:latin typeface="Arial"/>
              </a:rPr>
              <a:t>  ·  Feedbackbogen (Sec 6.1) ausfüllen (ca. 7 Min.). Wissenstest (Sec 6.2) falls Zeitfenster erlaubt alternativ als Hausaufgabe ausgeben. Trainer schließt mit dem Greenleaf-Test als persönlichem Prüfstein: „Nach jedem Steuerungsgespräch eine Frage: Hat der Berater das Gespräch mit mehr Klarheit über einen nächsten Schritt verlassen?"</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88920"/>
            <a:ext cx="548640" cy="381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017520"/>
            <a:ext cx="10817352" cy="1463040"/>
          </a:xfrm>
          <a:prstGeom prst="rect">
            <a:avLst/>
          </a:prstGeom>
          <a:noFill/>
        </p:spPr>
        <p:txBody>
          <a:bodyPr wrap="square">
            <a:spAutoFit/>
          </a:bodyPr>
          <a:lstStyle/>
          <a:p>
            <a:pPr algn="l"/>
            <a:r>
              <a:rPr sz="4000" b="1" i="0">
                <a:solidFill>
                  <a:srgbClr val="FFFFFF"/>
                </a:solidFill>
                <a:latin typeface="Arial"/>
              </a:rPr>
              <a:t>I · Steuerungslogik</a:t>
            </a:r>
          </a:p>
        </p:txBody>
      </p:sp>
      <p:sp>
        <p:nvSpPr>
          <p:cNvPr id="5" name="TextBox 4"/>
          <p:cNvSpPr txBox="1"/>
          <p:nvPr/>
        </p:nvSpPr>
        <p:spPr>
          <a:xfrm>
            <a:off x="685800" y="4480560"/>
            <a:ext cx="8653881" cy="1280160"/>
          </a:xfrm>
          <a:prstGeom prst="rect">
            <a:avLst/>
          </a:prstGeom>
          <a:noFill/>
        </p:spPr>
        <p:txBody>
          <a:bodyPr wrap="square">
            <a:spAutoFit/>
          </a:bodyPr>
          <a:lstStyle/>
          <a:p>
            <a:pPr algn="l"/>
            <a:r>
              <a:rPr sz="1600" b="0" i="0">
                <a:solidFill>
                  <a:srgbClr val="C8D2E6"/>
                </a:solidFill>
                <a:latin typeface="Arial"/>
              </a:rPr>
              <a:t>Warum steuern, wer zu spät schaut, immer zu spät reagiert</a:t>
            </a:r>
          </a:p>
        </p:txBody>
      </p:sp>
      <p:sp>
        <p:nvSpPr>
          <p:cNvPr id="6" name="TextBox 5"/>
          <p:cNvSpPr txBox="1"/>
          <p:nvPr/>
        </p:nvSpPr>
        <p:spPr>
          <a:xfrm>
            <a:off x="685800" y="6355080"/>
            <a:ext cx="10817352" cy="274320"/>
          </a:xfrm>
          <a:prstGeom prst="rect">
            <a:avLst/>
          </a:prstGeom>
          <a:noFill/>
        </p:spPr>
        <p:txBody>
          <a:bodyPr wrap="none">
            <a:spAutoFit/>
          </a:bodyPr>
          <a:lstStyle/>
          <a:p>
            <a:pPr algn="l"/>
            <a:r>
              <a:rPr sz="700">
                <a:solidFill>
                  <a:srgbClr val="8CA0C3"/>
                </a:solidFill>
                <a:latin typeface="Consolas"/>
              </a:rPr>
              <a:t>FKB Campus  ·  TL04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TL04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Das Steuerungsparadoxon: Ergebnisse kommen immer zu spät</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Der Umsatz von heute = Aktivitäten von gestern.</a:t>
            </a:r>
          </a:p>
          <a:p>
            <a:pPr marL="190500" indent="-190500">
              <a:spcBef>
                <a:spcPts val="400"/>
              </a:spcBef>
              <a:spcAft>
                <a:spcPts val="200"/>
              </a:spcAft>
            </a:pPr>
            <a:r>
              <a:rPr sz="1300">
                <a:solidFill>
                  <a:srgbClr val="3D5466"/>
                </a:solidFill>
                <a:latin typeface="Arial"/>
              </a:rPr>
              <a:t>▸  Spätindikatoren beschreiben, was war.</a:t>
            </a:r>
          </a:p>
          <a:p>
            <a:pPr marL="190500" indent="-190500">
              <a:spcBef>
                <a:spcPts val="400"/>
              </a:spcBef>
              <a:spcAft>
                <a:spcPts val="200"/>
              </a:spcAft>
            </a:pPr>
            <a:r>
              <a:rPr sz="1300">
                <a:solidFill>
                  <a:srgbClr val="3D5466"/>
                </a:solidFill>
                <a:latin typeface="Arial"/>
              </a:rPr>
              <a:t>▸  Steuern heißt: Frühindikatoren im Blick.</a:t>
            </a:r>
          </a:p>
          <a:p>
            <a:pPr marL="190500" indent="-190500">
              <a:spcBef>
                <a:spcPts val="400"/>
              </a:spcBef>
              <a:spcAft>
                <a:spcPts val="200"/>
              </a:spcAft>
            </a:pPr>
            <a:r>
              <a:rPr sz="1300">
                <a:solidFill>
                  <a:srgbClr val="3D5466"/>
                </a:solidFill>
                <a:latin typeface="Arial"/>
              </a:rPr>
              <a:t>▸  Druck auf Ergebnisse kommt strukturell zu spät.</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TL04  ·  ÜBERSICHT</a:t>
            </a:r>
          </a:p>
        </p:txBody>
      </p:sp>
      <p:sp>
        <p:nvSpPr>
          <p:cNvPr id="5" name="TextBox 4"/>
          <p:cNvSpPr txBox="1"/>
          <p:nvPr/>
        </p:nvSpPr>
        <p:spPr>
          <a:xfrm>
            <a:off x="685800" y="502920"/>
            <a:ext cx="10817352" cy="594360"/>
          </a:xfrm>
          <a:prstGeom prst="rect">
            <a:avLst/>
          </a:prstGeom>
          <a:noFill/>
        </p:spPr>
        <p:txBody>
          <a:bodyPr wrap="square">
            <a:spAutoFit/>
          </a:bodyPr>
          <a:lstStyle/>
          <a:p>
            <a:pPr algn="l"/>
            <a:r>
              <a:rPr sz="2000" b="1" i="0">
                <a:solidFill>
                  <a:srgbClr val="1F2C56"/>
                </a:solidFill>
                <a:latin typeface="Arial"/>
              </a:rPr>
              <a:t>Zwei Kennzahlenkategorien – zwei verschiedene Hebel</a:t>
            </a:r>
          </a:p>
        </p:txBody>
      </p:sp>
      <p:sp>
        <p:nvSpPr>
          <p:cNvPr id="6" name="Rectangle 5"/>
          <p:cNvSpPr/>
          <p:nvPr/>
        </p:nvSpPr>
        <p:spPr>
          <a:xfrm>
            <a:off x="685800" y="1143000"/>
            <a:ext cx="10817352" cy="254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85800" y="1417320"/>
          <a:ext cx="10817352" cy="1536192"/>
        </p:xfrm>
        <a:graphic>
          <a:graphicData uri="http://schemas.openxmlformats.org/drawingml/2006/table">
            <a:tbl>
              <a:tblPr firstRow="1" bandRow="1">
                <a:tableStyleId>{5C22544A-7EE6-4342-B048-85BDC9FD1C3A}</a:tableStyleId>
              </a:tblPr>
              <a:tblGrid>
                <a:gridCol w="10817352"/>
              </a:tblGrid>
              <a:tr h="384048">
                <a:tc>
                  <a:txBody>
                    <a:bodyPr/>
                    <a:lstStyle/>
                    <a:p/>
                  </a:txBody>
                  <a:tcPr/>
                </a:tc>
              </a:tr>
              <a:tr h="384048">
                <a:tc>
                  <a:txBody>
                    <a:bodyPr/>
                    <a:lstStyle/>
                    <a:p>
                      <a:r>
                        <a:rPr sz="1050">
                          <a:solidFill>
                            <a:srgbClr val="3D5466"/>
                          </a:solidFill>
                          <a:latin typeface="Arial"/>
                        </a:rPr>
                        <a:t>Kategorie</a:t>
                      </a:r>
                    </a:p>
                  </a:txBody>
                  <a:tcPr/>
                </a:tc>
              </a:tr>
              <a:tr h="384048">
                <a:tc>
                  <a:txBody>
                    <a:bodyPr/>
                    <a:lstStyle/>
                    <a:p>
                      <a:r>
                        <a:rPr sz="1050">
                          <a:solidFill>
                            <a:srgbClr val="3D5466"/>
                          </a:solidFill>
                          <a:latin typeface="Arial"/>
                        </a:rPr>
                        <a:t>Frühindikatoren</a:t>
                      </a:r>
                    </a:p>
                  </a:txBody>
                  <a:tcPr/>
                </a:tc>
              </a:tr>
              <a:tr h="384048">
                <a:tc>
                  <a:txBody>
                    <a:bodyPr/>
                    <a:lstStyle/>
                    <a:p>
                      <a:r>
                        <a:rPr sz="1050">
                          <a:solidFill>
                            <a:srgbClr val="3D5466"/>
                          </a:solidFill>
                          <a:latin typeface="Arial"/>
                        </a:rPr>
                        <a:t>Spätindikatoren</a:t>
                      </a:r>
                    </a:p>
                  </a:txBody>
                  <a:tcPr/>
                </a:tc>
              </a:tr>
            </a:tbl>
          </a:graphicData>
        </a:graphic>
      </p:graphicFrame>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
        <p:nvSpPr>
          <p:cNvPr id="10" name="TextBox 9"/>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Übersicht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17352" cy="365760"/>
          </a:xfrm>
          <a:prstGeom prst="rect">
            <a:avLst/>
          </a:prstGeom>
          <a:noFill/>
        </p:spPr>
        <p:txBody>
          <a:bodyPr wrap="none">
            <a:spAutoFit/>
          </a:bodyPr>
          <a:lstStyle/>
          <a:p>
            <a:pPr algn="l"/>
            <a:r>
              <a:rPr sz="1200">
                <a:solidFill>
                  <a:srgbClr val="D9C089"/>
                </a:solidFill>
                <a:latin typeface="Consolas"/>
              </a:rPr>
              <a:t>ANALYSE</a:t>
            </a:r>
          </a:p>
        </p:txBody>
      </p:sp>
      <p:sp>
        <p:nvSpPr>
          <p:cNvPr id="4" name="Rectangle 3"/>
          <p:cNvSpPr/>
          <p:nvPr/>
        </p:nvSpPr>
        <p:spPr>
          <a:xfrm>
            <a:off x="685800" y="2788920"/>
            <a:ext cx="548640" cy="381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017520"/>
            <a:ext cx="10817352" cy="1463040"/>
          </a:xfrm>
          <a:prstGeom prst="rect">
            <a:avLst/>
          </a:prstGeom>
          <a:noFill/>
        </p:spPr>
        <p:txBody>
          <a:bodyPr wrap="square">
            <a:spAutoFit/>
          </a:bodyPr>
          <a:lstStyle/>
          <a:p>
            <a:pPr algn="l"/>
            <a:r>
              <a:rPr sz="4000" b="1" i="0">
                <a:solidFill>
                  <a:srgbClr val="FFFFFF"/>
                </a:solidFill>
                <a:latin typeface="Arial"/>
              </a:rPr>
              <a:t>Fallarbeit am Muster-Cockpit</a:t>
            </a:r>
          </a:p>
        </p:txBody>
      </p:sp>
      <p:sp>
        <p:nvSpPr>
          <p:cNvPr id="6" name="TextBox 5"/>
          <p:cNvSpPr txBox="1"/>
          <p:nvPr/>
        </p:nvSpPr>
        <p:spPr>
          <a:xfrm>
            <a:off x="685800" y="4480560"/>
            <a:ext cx="8653881" cy="1280160"/>
          </a:xfrm>
          <a:prstGeom prst="rect">
            <a:avLst/>
          </a:prstGeom>
          <a:noFill/>
        </p:spPr>
        <p:txBody>
          <a:bodyPr wrap="square">
            <a:spAutoFit/>
          </a:bodyPr>
          <a:lstStyle/>
          <a:p>
            <a:pPr algn="l"/>
            <a:r>
              <a:rPr sz="1600" b="0" i="0">
                <a:solidFill>
                  <a:srgbClr val="C8D2E6"/>
                </a:solidFill>
                <a:latin typeface="Arial"/>
              </a:rPr>
              <a:t>Vier Berater – vier Muster – vier Führungshandlungen</a:t>
            </a:r>
          </a:p>
        </p:txBody>
      </p:sp>
      <p:sp>
        <p:nvSpPr>
          <p:cNvPr id="7" name="TextBox 6"/>
          <p:cNvSpPr txBox="1"/>
          <p:nvPr/>
        </p:nvSpPr>
        <p:spPr>
          <a:xfrm>
            <a:off x="685800" y="6355080"/>
            <a:ext cx="10817352" cy="274320"/>
          </a:xfrm>
          <a:prstGeom prst="rect">
            <a:avLst/>
          </a:prstGeom>
          <a:noFill/>
        </p:spPr>
        <p:txBody>
          <a:bodyPr wrap="none">
            <a:spAutoFit/>
          </a:bodyPr>
          <a:lstStyle/>
          <a:p>
            <a:pPr algn="l"/>
            <a:r>
              <a:rPr sz="700">
                <a:solidFill>
                  <a:srgbClr val="8CA0C3"/>
                </a:solidFill>
                <a:latin typeface="Consolas"/>
              </a:rPr>
              <a:t>FKB Campus  ·  TL04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TL04  ·  ÜBERSICHT</a:t>
            </a:r>
          </a:p>
        </p:txBody>
      </p:sp>
      <p:sp>
        <p:nvSpPr>
          <p:cNvPr id="5" name="TextBox 4"/>
          <p:cNvSpPr txBox="1"/>
          <p:nvPr/>
        </p:nvSpPr>
        <p:spPr>
          <a:xfrm>
            <a:off x="685800" y="502920"/>
            <a:ext cx="10817352" cy="594360"/>
          </a:xfrm>
          <a:prstGeom prst="rect">
            <a:avLst/>
          </a:prstGeom>
          <a:noFill/>
        </p:spPr>
        <p:txBody>
          <a:bodyPr wrap="square">
            <a:spAutoFit/>
          </a:bodyPr>
          <a:lstStyle/>
          <a:p>
            <a:pPr algn="l"/>
            <a:r>
              <a:rPr sz="2000" b="1" i="0">
                <a:solidFill>
                  <a:srgbClr val="1F2C56"/>
                </a:solidFill>
                <a:latin typeface="Arial"/>
              </a:rPr>
              <a:t>Muster-Cockpit Q2 – wer fällt Ihnen sofort auf?</a:t>
            </a:r>
          </a:p>
        </p:txBody>
      </p:sp>
      <p:sp>
        <p:nvSpPr>
          <p:cNvPr id="6" name="Rectangle 5"/>
          <p:cNvSpPr/>
          <p:nvPr/>
        </p:nvSpPr>
        <p:spPr>
          <a:xfrm>
            <a:off x="685800" y="1143000"/>
            <a:ext cx="10817352" cy="254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85800" y="1417320"/>
          <a:ext cx="10817352" cy="2688336"/>
        </p:xfrm>
        <a:graphic>
          <a:graphicData uri="http://schemas.openxmlformats.org/drawingml/2006/table">
            <a:tbl>
              <a:tblPr firstRow="1" bandRow="1">
                <a:tableStyleId>{5C22544A-7EE6-4342-B048-85BDC9FD1C3A}</a:tableStyleId>
              </a:tblPr>
              <a:tblGrid>
                <a:gridCol w="10817352"/>
              </a:tblGrid>
              <a:tr h="384048">
                <a:tc>
                  <a:txBody>
                    <a:bodyPr/>
                    <a:lstStyle/>
                    <a:p/>
                  </a:txBody>
                  <a:tcPr/>
                </a:tc>
              </a:tr>
              <a:tr h="384048">
                <a:tc>
                  <a:txBody>
                    <a:bodyPr/>
                    <a:lstStyle/>
                    <a:p>
                      <a:r>
                        <a:rPr sz="1050">
                          <a:solidFill>
                            <a:srgbClr val="3D5466"/>
                          </a:solidFill>
                          <a:latin typeface="Arial"/>
                        </a:rPr>
                        <a:t>Kennzahl (Ziel Q2)</a:t>
                      </a:r>
                    </a:p>
                  </a:txBody>
                  <a:tcPr/>
                </a:tc>
              </a:tr>
              <a:tr h="384048">
                <a:tc>
                  <a:txBody>
                    <a:bodyPr/>
                    <a:lstStyle/>
                    <a:p>
                      <a:r>
                        <a:rPr sz="1050">
                          <a:solidFill>
                            <a:srgbClr val="3D5466"/>
                          </a:solidFill>
                          <a:latin typeface="Arial"/>
                        </a:rPr>
                        <a:t>Kundentermine/Wo. (8)</a:t>
                      </a:r>
                    </a:p>
                  </a:txBody>
                  <a:tcPr/>
                </a:tc>
              </a:tr>
              <a:tr h="384048">
                <a:tc>
                  <a:txBody>
                    <a:bodyPr/>
                    <a:lstStyle/>
                    <a:p>
                      <a:r>
                        <a:rPr sz="1050">
                          <a:solidFill>
                            <a:srgbClr val="3D5466"/>
                          </a:solidFill>
                          <a:latin typeface="Arial"/>
                        </a:rPr>
                        <a:t>Anlassgespräche (12)</a:t>
                      </a:r>
                    </a:p>
                  </a:txBody>
                  <a:tcPr/>
                </a:tc>
              </a:tr>
              <a:tr h="384048">
                <a:tc>
                  <a:txBody>
                    <a:bodyPr/>
                    <a:lstStyle/>
                    <a:p>
                      <a:r>
                        <a:rPr sz="1050">
                          <a:solidFill>
                            <a:srgbClr val="3D5466"/>
                          </a:solidFill>
                          <a:latin typeface="Arial"/>
                        </a:rPr>
                        <a:t>Angebote abgegeben (18)</a:t>
                      </a:r>
                    </a:p>
                  </a:txBody>
                  <a:tcPr/>
                </a:tc>
              </a:tr>
              <a:tr h="384048">
                <a:tc>
                  <a:txBody>
                    <a:bodyPr/>
                    <a:lstStyle/>
                    <a:p>
                      <a:r>
                        <a:rPr sz="1050">
                          <a:solidFill>
                            <a:srgbClr val="3D5466"/>
                          </a:solidFill>
                          <a:latin typeface="Arial"/>
                        </a:rPr>
                        <a:t>Abschlüsse (10)</a:t>
                      </a:r>
                    </a:p>
                  </a:txBody>
                  <a:tcPr/>
                </a:tc>
              </a:tr>
              <a:tr h="384048">
                <a:tc>
                  <a:txBody>
                    <a:bodyPr/>
                    <a:lstStyle/>
                    <a:p>
                      <a:r>
                        <a:rPr sz="1050">
                          <a:solidFill>
                            <a:srgbClr val="3D5466"/>
                          </a:solidFill>
                          <a:latin typeface="Arial"/>
                        </a:rPr>
                        <a:t>Kreditvolumen Mio. € (2,5)</a:t>
                      </a:r>
                    </a:p>
                  </a:txBody>
                  <a:tcPr/>
                </a:tc>
              </a:tr>
            </a:tbl>
          </a:graphicData>
        </a:graphic>
      </p:graphicFrame>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
        <p:nvSpPr>
          <p:cNvPr id="10" name="TextBox 9"/>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Übersicht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TL04  ·  SCHAUBILD</a:t>
            </a:r>
          </a:p>
        </p:txBody>
      </p:sp>
      <p:sp>
        <p:nvSpPr>
          <p:cNvPr id="5" name="TextBox 4"/>
          <p:cNvSpPr txBox="1"/>
          <p:nvPr/>
        </p:nvSpPr>
        <p:spPr>
          <a:xfrm>
            <a:off x="685800" y="502920"/>
            <a:ext cx="10817352" cy="594360"/>
          </a:xfrm>
          <a:prstGeom prst="rect">
            <a:avLst/>
          </a:prstGeom>
          <a:noFill/>
        </p:spPr>
        <p:txBody>
          <a:bodyPr wrap="square">
            <a:spAutoFit/>
          </a:bodyPr>
          <a:lstStyle/>
          <a:p>
            <a:pPr algn="l"/>
            <a:r>
              <a:rPr sz="2000" b="1" i="0">
                <a:solidFill>
                  <a:srgbClr val="1F2C56"/>
                </a:solidFill>
                <a:latin typeface="Arial"/>
              </a:rPr>
              <a:t>Diagnose-Matrix: jedes Muster verlangt eine andere Führungsh</a:t>
            </a:r>
          </a:p>
        </p:txBody>
      </p:sp>
      <p:sp>
        <p:nvSpPr>
          <p:cNvPr id="6" name="Rectangle 5"/>
          <p:cNvSpPr/>
          <p:nvPr/>
        </p:nvSpPr>
        <p:spPr>
          <a:xfrm>
            <a:off x="685800" y="1143000"/>
            <a:ext cx="10817352" cy="254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971782" y="1325880"/>
            <a:ext cx="6245388" cy="4937760"/>
          </a:xfrm>
          <a:prstGeom prst="rect">
            <a:avLst/>
          </a:prstGeom>
        </p:spPr>
      </p:pic>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
        <p:nvSpPr>
          <p:cNvPr id="10" name="TextBox 9"/>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Schaubild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TL04  ·  ÜBERSICHT</a:t>
            </a:r>
          </a:p>
        </p:txBody>
      </p:sp>
      <p:sp>
        <p:nvSpPr>
          <p:cNvPr id="5" name="TextBox 4"/>
          <p:cNvSpPr txBox="1"/>
          <p:nvPr/>
        </p:nvSpPr>
        <p:spPr>
          <a:xfrm>
            <a:off x="685800" y="502920"/>
            <a:ext cx="10817352" cy="594360"/>
          </a:xfrm>
          <a:prstGeom prst="rect">
            <a:avLst/>
          </a:prstGeom>
          <a:noFill/>
        </p:spPr>
        <p:txBody>
          <a:bodyPr wrap="square">
            <a:spAutoFit/>
          </a:bodyPr>
          <a:lstStyle/>
          <a:p>
            <a:pPr algn="l"/>
            <a:r>
              <a:rPr sz="2000" b="1" i="0">
                <a:solidFill>
                  <a:srgbClr val="1F2C56"/>
                </a:solidFill>
                <a:latin typeface="Arial"/>
              </a:rPr>
              <a:t>Diagnose-Logik: gleiches Cockpit – vier verschiedene Gespräche</a:t>
            </a:r>
          </a:p>
        </p:txBody>
      </p:sp>
      <p:sp>
        <p:nvSpPr>
          <p:cNvPr id="6" name="Rectangle 5"/>
          <p:cNvSpPr/>
          <p:nvPr/>
        </p:nvSpPr>
        <p:spPr>
          <a:xfrm>
            <a:off x="685800" y="1143000"/>
            <a:ext cx="10817352" cy="254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85800" y="1417320"/>
          <a:ext cx="10817352" cy="2304288"/>
        </p:xfrm>
        <a:graphic>
          <a:graphicData uri="http://schemas.openxmlformats.org/drawingml/2006/table">
            <a:tbl>
              <a:tblPr firstRow="1" bandRow="1">
                <a:tableStyleId>{5C22544A-7EE6-4342-B048-85BDC9FD1C3A}</a:tableStyleId>
              </a:tblPr>
              <a:tblGrid>
                <a:gridCol w="10817352"/>
              </a:tblGrid>
              <a:tr h="384048">
                <a:tc>
                  <a:txBody>
                    <a:bodyPr/>
                    <a:lstStyle/>
                    <a:p/>
                  </a:txBody>
                  <a:tcPr/>
                </a:tc>
              </a:tr>
              <a:tr h="384048">
                <a:tc>
                  <a:txBody>
                    <a:bodyPr/>
                    <a:lstStyle/>
                    <a:p>
                      <a:r>
                        <a:rPr sz="1050">
                          <a:solidFill>
                            <a:srgbClr val="3D5466"/>
                          </a:solidFill>
                          <a:latin typeface="Arial"/>
                        </a:rPr>
                        <a:t>Aktivität</a:t>
                      </a:r>
                    </a:p>
                  </a:txBody>
                  <a:tcPr/>
                </a:tc>
              </a:tr>
              <a:tr h="384048">
                <a:tc>
                  <a:txBody>
                    <a:bodyPr/>
                    <a:lstStyle/>
                    <a:p>
                      <a:r>
                        <a:rPr sz="1050">
                          <a:solidFill>
                            <a:srgbClr val="3D5466"/>
                          </a:solidFill>
                          <a:latin typeface="Arial"/>
                        </a:rPr>
                        <a:t>Hoch</a:t>
                      </a:r>
                    </a:p>
                  </a:txBody>
                  <a:tcPr/>
                </a:tc>
              </a:tr>
              <a:tr h="384048">
                <a:tc>
                  <a:txBody>
                    <a:bodyPr/>
                    <a:lstStyle/>
                    <a:p>
                      <a:r>
                        <a:rPr sz="1050">
                          <a:solidFill>
                            <a:srgbClr val="3D5466"/>
                          </a:solidFill>
                          <a:latin typeface="Arial"/>
                        </a:rPr>
                        <a:t>Niedrig</a:t>
                      </a:r>
                    </a:p>
                  </a:txBody>
                  <a:tcPr/>
                </a:tc>
              </a:tr>
              <a:tr h="384048">
                <a:tc>
                  <a:txBody>
                    <a:bodyPr/>
                    <a:lstStyle/>
                    <a:p>
                      <a:r>
                        <a:rPr sz="1050">
                          <a:solidFill>
                            <a:srgbClr val="3D5466"/>
                          </a:solidFill>
                          <a:latin typeface="Arial"/>
                        </a:rPr>
                        <a:t>Hoch</a:t>
                      </a:r>
                    </a:p>
                  </a:txBody>
                  <a:tcPr/>
                </a:tc>
              </a:tr>
              <a:tr h="384048">
                <a:tc>
                  <a:txBody>
                    <a:bodyPr/>
                    <a:lstStyle/>
                    <a:p>
                      <a:r>
                        <a:rPr sz="1050">
                          <a:solidFill>
                            <a:srgbClr val="3D5466"/>
                          </a:solidFill>
                          <a:latin typeface="Arial"/>
                        </a:rPr>
                        <a:t>Niedrig</a:t>
                      </a:r>
                    </a:p>
                  </a:txBody>
                  <a:tcPr/>
                </a:tc>
              </a:tr>
            </a:tbl>
          </a:graphicData>
        </a:graphic>
      </p:graphicFrame>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
        <p:nvSpPr>
          <p:cNvPr id="10" name="TextBox 9"/>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Übersicht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17352" cy="365760"/>
          </a:xfrm>
          <a:prstGeom prst="rect">
            <a:avLst/>
          </a:prstGeom>
          <a:noFill/>
        </p:spPr>
        <p:txBody>
          <a:bodyPr wrap="none">
            <a:spAutoFit/>
          </a:bodyPr>
          <a:lstStyle/>
          <a:p>
            <a:pPr algn="l"/>
            <a:r>
              <a:rPr sz="1200">
                <a:solidFill>
                  <a:srgbClr val="D9C089"/>
                </a:solidFill>
                <a:latin typeface="Consolas"/>
              </a:rPr>
              <a:t>FALLVERTIEFUNG</a:t>
            </a:r>
          </a:p>
        </p:txBody>
      </p:sp>
      <p:sp>
        <p:nvSpPr>
          <p:cNvPr id="4" name="Rectangle 3"/>
          <p:cNvSpPr/>
          <p:nvPr/>
        </p:nvSpPr>
        <p:spPr>
          <a:xfrm>
            <a:off x="685800" y="2788920"/>
            <a:ext cx="548640" cy="381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017520"/>
            <a:ext cx="10817352" cy="1463040"/>
          </a:xfrm>
          <a:prstGeom prst="rect">
            <a:avLst/>
          </a:prstGeom>
          <a:noFill/>
        </p:spPr>
        <p:txBody>
          <a:bodyPr wrap="square">
            <a:spAutoFit/>
          </a:bodyPr>
          <a:lstStyle/>
          <a:p>
            <a:pPr algn="l"/>
            <a:r>
              <a:rPr sz="4000" b="1" i="0">
                <a:solidFill>
                  <a:srgbClr val="FFFFFF"/>
                </a:solidFill>
                <a:latin typeface="Arial"/>
              </a:rPr>
              <a:t>Die vier Berater-Fälle</a:t>
            </a:r>
          </a:p>
        </p:txBody>
      </p:sp>
      <p:sp>
        <p:nvSpPr>
          <p:cNvPr id="6" name="TextBox 5"/>
          <p:cNvSpPr txBox="1"/>
          <p:nvPr/>
        </p:nvSpPr>
        <p:spPr>
          <a:xfrm>
            <a:off x="685800" y="4480560"/>
            <a:ext cx="8653881" cy="1280160"/>
          </a:xfrm>
          <a:prstGeom prst="rect">
            <a:avLst/>
          </a:prstGeom>
          <a:noFill/>
        </p:spPr>
        <p:txBody>
          <a:bodyPr wrap="square">
            <a:spAutoFit/>
          </a:bodyPr>
          <a:lstStyle/>
          <a:p>
            <a:pPr algn="l"/>
            <a:r>
              <a:rPr sz="1600" b="0" i="0">
                <a:solidFill>
                  <a:srgbClr val="C8D2E6"/>
                </a:solidFill>
                <a:latin typeface="Arial"/>
              </a:rPr>
              <a:t>Von der Diagnose zur differenzierten Führungshandlung</a:t>
            </a:r>
          </a:p>
        </p:txBody>
      </p:sp>
      <p:sp>
        <p:nvSpPr>
          <p:cNvPr id="7" name="TextBox 6"/>
          <p:cNvSpPr txBox="1"/>
          <p:nvPr/>
        </p:nvSpPr>
        <p:spPr>
          <a:xfrm>
            <a:off x="685800" y="6355080"/>
            <a:ext cx="10817352" cy="274320"/>
          </a:xfrm>
          <a:prstGeom prst="rect">
            <a:avLst/>
          </a:prstGeom>
          <a:noFill/>
        </p:spPr>
        <p:txBody>
          <a:bodyPr wrap="none">
            <a:spAutoFit/>
          </a:bodyPr>
          <a:lstStyle/>
          <a:p>
            <a:pPr algn="l"/>
            <a:r>
              <a:rPr sz="700">
                <a:solidFill>
                  <a:srgbClr val="8CA0C3"/>
                </a:solidFill>
                <a:latin typeface="Consolas"/>
              </a:rPr>
              <a:t>FKB Campus  ·  TL04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TL04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Berater A: viele Termine, wenig Abschlüsse – der Hebel ist Qualität</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22 Angebote → 7 Abschlüsse (Quote: 32 %)</a:t>
            </a:r>
          </a:p>
          <a:p>
            <a:pPr marL="190500" indent="-190500">
              <a:spcBef>
                <a:spcPts val="400"/>
              </a:spcBef>
              <a:spcAft>
                <a:spcPts val="200"/>
              </a:spcAft>
            </a:pPr>
            <a:r>
              <a:rPr sz="1300">
                <a:solidFill>
                  <a:srgbClr val="3D5466"/>
                </a:solidFill>
                <a:latin typeface="Arial"/>
              </a:rPr>
              <a:t>▸  Ursache: Gesprächsstruktur, nicht Einsatz</a:t>
            </a:r>
          </a:p>
          <a:p>
            <a:pPr marL="190500" indent="-190500">
              <a:spcBef>
                <a:spcPts val="400"/>
              </a:spcBef>
              <a:spcAft>
                <a:spcPts val="200"/>
              </a:spcAft>
            </a:pPr>
            <a:r>
              <a:rPr sz="1300">
                <a:solidFill>
                  <a:srgbClr val="3D5466"/>
                </a:solidFill>
                <a:latin typeface="Arial"/>
              </a:rPr>
              <a:t>▸  Frage: Was passiert, wenn du ein Angebot präsentierst?</a:t>
            </a:r>
          </a:p>
          <a:p>
            <a:pPr marL="190500" indent="-190500">
              <a:spcBef>
                <a:spcPts val="400"/>
              </a:spcBef>
              <a:spcAft>
                <a:spcPts val="200"/>
              </a:spcAft>
            </a:pPr>
            <a:r>
              <a:rPr sz="1300">
                <a:solidFill>
                  <a:srgbClr val="3D5466"/>
                </a:solidFill>
                <a:latin typeface="Arial"/>
              </a:rPr>
              <a:t>▸  Kein Druck – ein Entwicklungsgespräch</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TL04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Berater D: gute Zahlen heute – leere Pipeline morgen</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Ergebnisse über Plan: 11 Abschlüsse, 2,6 Mio. €</a:t>
            </a:r>
          </a:p>
          <a:p>
            <a:pPr marL="190500" indent="-190500">
              <a:spcBef>
                <a:spcPts val="400"/>
              </a:spcBef>
              <a:spcAft>
                <a:spcPts val="200"/>
              </a:spcAft>
            </a:pPr>
            <a:r>
              <a:rPr sz="1300">
                <a:solidFill>
                  <a:srgbClr val="3D5466"/>
                </a:solidFill>
                <a:latin typeface="Arial"/>
              </a:rPr>
              <a:t>▸  Aktivitäten unter Plan: 7 Termine/Wo., 8 Anlassgespräche</a:t>
            </a:r>
          </a:p>
          <a:p>
            <a:pPr marL="190500" indent="-190500">
              <a:spcBef>
                <a:spcPts val="400"/>
              </a:spcBef>
              <a:spcAft>
                <a:spcPts val="200"/>
              </a:spcAft>
            </a:pPr>
            <a:r>
              <a:rPr sz="1300">
                <a:solidFill>
                  <a:srgbClr val="3D5466"/>
                </a:solidFill>
                <a:latin typeface="Arial"/>
              </a:rPr>
              <a:t>▸  Früchte früherer Aktivitäten – Zeitverzug-Logik</a:t>
            </a:r>
          </a:p>
          <a:p>
            <a:pPr marL="190500" indent="-190500">
              <a:spcBef>
                <a:spcPts val="400"/>
              </a:spcBef>
              <a:spcAft>
                <a:spcPts val="200"/>
              </a:spcAft>
            </a:pPr>
            <a:r>
              <a:rPr sz="1300">
                <a:solidFill>
                  <a:srgbClr val="3D5466"/>
                </a:solidFill>
                <a:latin typeface="Arial"/>
              </a:rPr>
              <a:t>▸  Kein Druck auf Ergebnisse; Mittelfristrisiko ansprechen</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TL04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Berater B: wenn die Matrix keine Hypothese liefert</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Alle Kennzahlen unter Plan – Aktivität UND Ergebnis</a:t>
            </a:r>
          </a:p>
          <a:p>
            <a:pPr marL="190500" indent="-190500">
              <a:spcBef>
                <a:spcPts val="400"/>
              </a:spcBef>
              <a:spcAft>
                <a:spcPts val="200"/>
              </a:spcAft>
            </a:pPr>
            <a:r>
              <a:rPr sz="1300">
                <a:solidFill>
                  <a:srgbClr val="3D5466"/>
                </a:solidFill>
                <a:latin typeface="Arial"/>
              </a:rPr>
              <a:t>▸  Vier mögliche Ursachen: Kapazität, Motivation, Priorisierung, Kompetenz</a:t>
            </a:r>
          </a:p>
          <a:p>
            <a:pPr marL="190500" indent="-190500">
              <a:spcBef>
                <a:spcPts val="400"/>
              </a:spcBef>
              <a:spcAft>
                <a:spcPts val="200"/>
              </a:spcAft>
            </a:pPr>
            <a:r>
              <a:rPr sz="1300">
                <a:solidFill>
                  <a:srgbClr val="3D5466"/>
                </a:solidFill>
                <a:latin typeface="Arial"/>
              </a:rPr>
              <a:t>▸  Zuerst Klärungsgespräch: Was macht dir die meisten Schwierigkeiten?</a:t>
            </a:r>
          </a:p>
          <a:p>
            <a:pPr marL="190500" indent="-190500">
              <a:spcBef>
                <a:spcPts val="400"/>
              </a:spcBef>
              <a:spcAft>
                <a:spcPts val="200"/>
              </a:spcAft>
            </a:pPr>
            <a:r>
              <a:rPr sz="1300">
                <a:solidFill>
                  <a:srgbClr val="3D5466"/>
                </a:solidFill>
                <a:latin typeface="Arial"/>
              </a:rPr>
              <a:t>▸  Erst Ursache, dann Maßnahme</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TL04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Die Leistungsträger-Falle: grüne Zahlen brauchen mehr Führung, nicht weniger</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Berater C: alle Kennzahlen über Plan</a:t>
            </a:r>
          </a:p>
          <a:p>
            <a:pPr marL="190500" indent="-190500">
              <a:spcBef>
                <a:spcPts val="400"/>
              </a:spcBef>
              <a:spcAft>
                <a:spcPts val="200"/>
              </a:spcAft>
            </a:pPr>
            <a:r>
              <a:rPr sz="1300">
                <a:solidFill>
                  <a:srgbClr val="3D5466"/>
                </a:solidFill>
                <a:latin typeface="Arial"/>
              </a:rPr>
              <a:t>▸  Führungsenergie folgt dem Problem – Berater C bekommt nichts</a:t>
            </a:r>
          </a:p>
          <a:p>
            <a:pPr marL="190500" indent="-190500">
              <a:spcBef>
                <a:spcPts val="400"/>
              </a:spcBef>
              <a:spcAft>
                <a:spcPts val="200"/>
              </a:spcAft>
            </a:pPr>
            <a:r>
              <a:rPr sz="1300">
                <a:solidFill>
                  <a:srgbClr val="3D5466"/>
                </a:solidFill>
                <a:latin typeface="Arial"/>
              </a:rPr>
              <a:t>▸  Risiko: Frustration, innere Kündigung, Abwanderung</a:t>
            </a:r>
          </a:p>
          <a:p>
            <a:pPr marL="190500" indent="-190500">
              <a:spcBef>
                <a:spcPts val="400"/>
              </a:spcBef>
              <a:spcAft>
                <a:spcPts val="200"/>
              </a:spcAft>
            </a:pPr>
            <a:r>
              <a:rPr sz="1300">
                <a:solidFill>
                  <a:srgbClr val="3D5466"/>
                </a:solidFill>
                <a:latin typeface="Arial"/>
              </a:rPr>
              <a:t>▸  Wann haben Sie zuletzt proaktiv mit Ihrem stärksten Berater gesprochen?</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17352" cy="365760"/>
          </a:xfrm>
          <a:prstGeom prst="rect">
            <a:avLst/>
          </a:prstGeom>
          <a:noFill/>
        </p:spPr>
        <p:txBody>
          <a:bodyPr wrap="none">
            <a:spAutoFit/>
          </a:bodyPr>
          <a:lstStyle/>
          <a:p>
            <a:pPr algn="l"/>
            <a:r>
              <a:rPr sz="1200">
                <a:solidFill>
                  <a:srgbClr val="D9C089"/>
                </a:solidFill>
                <a:latin typeface="Consolas"/>
              </a:rPr>
              <a:t>EINZELARBEIT (25 MIN.)</a:t>
            </a:r>
          </a:p>
        </p:txBody>
      </p:sp>
      <p:sp>
        <p:nvSpPr>
          <p:cNvPr id="4" name="Rectangle 3"/>
          <p:cNvSpPr/>
          <p:nvPr/>
        </p:nvSpPr>
        <p:spPr>
          <a:xfrm>
            <a:off x="685800" y="2788920"/>
            <a:ext cx="548640" cy="381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017520"/>
            <a:ext cx="10817352" cy="1463040"/>
          </a:xfrm>
          <a:prstGeom prst="rect">
            <a:avLst/>
          </a:prstGeom>
          <a:noFill/>
        </p:spPr>
        <p:txBody>
          <a:bodyPr wrap="square">
            <a:spAutoFit/>
          </a:bodyPr>
          <a:lstStyle/>
          <a:p>
            <a:pPr algn="l"/>
            <a:r>
              <a:rPr sz="4000" b="1" i="0">
                <a:solidFill>
                  <a:srgbClr val="FFFFFF"/>
                </a:solidFill>
                <a:latin typeface="Arial"/>
              </a:rPr>
              <a:t>AB-1: Cockpit-Analyse</a:t>
            </a:r>
          </a:p>
        </p:txBody>
      </p:sp>
      <p:sp>
        <p:nvSpPr>
          <p:cNvPr id="6" name="TextBox 5"/>
          <p:cNvSpPr txBox="1"/>
          <p:nvPr/>
        </p:nvSpPr>
        <p:spPr>
          <a:xfrm>
            <a:off x="685800" y="4480560"/>
            <a:ext cx="8653881" cy="1280160"/>
          </a:xfrm>
          <a:prstGeom prst="rect">
            <a:avLst/>
          </a:prstGeom>
          <a:noFill/>
        </p:spPr>
        <p:txBody>
          <a:bodyPr wrap="square">
            <a:spAutoFit/>
          </a:bodyPr>
          <a:lstStyle/>
          <a:p>
            <a:pPr algn="l"/>
            <a:r>
              <a:rPr sz="1600" b="0" i="0">
                <a:solidFill>
                  <a:srgbClr val="C8D2E6"/>
                </a:solidFill>
                <a:latin typeface="Arial"/>
              </a:rPr>
              <a:t>Kennzahlenmuster → Hypothese → Führungshandlung</a:t>
            </a:r>
          </a:p>
        </p:txBody>
      </p:sp>
      <p:sp>
        <p:nvSpPr>
          <p:cNvPr id="7" name="TextBox 6"/>
          <p:cNvSpPr txBox="1"/>
          <p:nvPr/>
        </p:nvSpPr>
        <p:spPr>
          <a:xfrm>
            <a:off x="685800" y="6355080"/>
            <a:ext cx="10817352" cy="274320"/>
          </a:xfrm>
          <a:prstGeom prst="rect">
            <a:avLst/>
          </a:prstGeom>
          <a:noFill/>
        </p:spPr>
        <p:txBody>
          <a:bodyPr wrap="none">
            <a:spAutoFit/>
          </a:bodyPr>
          <a:lstStyle/>
          <a:p>
            <a:pPr algn="l"/>
            <a:r>
              <a:rPr sz="700">
                <a:solidFill>
                  <a:srgbClr val="8CA0C3"/>
                </a:solidFill>
                <a:latin typeface="Consolas"/>
              </a:rPr>
              <a:t>FKB Campus  ·  TL04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TL04  ·  ARBEITSBLATT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AB-1: Ihr Analyseergebnis – Diagnose, Hypothese, Handlung</a:t>
            </a:r>
          </a:p>
        </p:txBody>
      </p:sp>
      <p:sp>
        <p:nvSpPr>
          <p:cNvPr id="8" name="TextBox 7"/>
          <p:cNvSpPr txBox="1"/>
          <p:nvPr/>
        </p:nvSpPr>
        <p:spPr>
          <a:xfrm>
            <a:off x="685800" y="1554480"/>
            <a:ext cx="10817352" cy="3840480"/>
          </a:xfrm>
          <a:prstGeom prst="rect">
            <a:avLst/>
          </a:prstGeom>
          <a:noFill/>
        </p:spPr>
        <p:txBody>
          <a:bodyPr wrap="square">
            <a:spAutoFit/>
          </a:bodyPr>
          <a:lstStyle/>
          <a:p>
            <a:pPr marL="190500" indent="-190500">
              <a:spcBef>
                <a:spcPts val="400"/>
              </a:spcBef>
              <a:spcAft>
                <a:spcPts val="200"/>
              </a:spcAft>
            </a:pPr>
            <a:r>
              <a:rPr sz="1400">
                <a:solidFill>
                  <a:srgbClr val="3D5466"/>
                </a:solidFill>
                <a:latin typeface="Arial"/>
              </a:rPr>
              <a:t>▸  Analysieren Sie das Muster-Cockpit für Berater A (vorgegeben) und einen Berater Ihrer Wahl.</a:t>
            </a:r>
          </a:p>
          <a:p>
            <a:pPr marL="190500" indent="-190500">
              <a:spcBef>
                <a:spcPts val="400"/>
              </a:spcBef>
              <a:spcAft>
                <a:spcPts val="200"/>
              </a:spcAft>
            </a:pPr>
            <a:r>
              <a:rPr sz="1400">
                <a:solidFill>
                  <a:srgbClr val="3D5466"/>
                </a:solidFill>
                <a:latin typeface="Arial"/>
              </a:rPr>
              <a:t>▸  Welche Kennzahlen fallen auf – Aktivitäts- oder Ergebnismuster?</a:t>
            </a:r>
          </a:p>
          <a:p>
            <a:pPr marL="190500" indent="-190500">
              <a:spcBef>
                <a:spcPts val="400"/>
              </a:spcBef>
              <a:spcAft>
                <a:spcPts val="200"/>
              </a:spcAft>
            </a:pPr>
            <a:r>
              <a:rPr sz="1400">
                <a:solidFill>
                  <a:srgbClr val="3D5466"/>
                </a:solidFill>
                <a:latin typeface="Arial"/>
              </a:rPr>
              <a:t>▸  Min. 2 Hypothesen zur Ursache formulieren.</a:t>
            </a:r>
          </a:p>
          <a:p>
            <a:pPr marL="190500" indent="-190500">
              <a:spcBef>
                <a:spcPts val="400"/>
              </a:spcBef>
              <a:spcAft>
                <a:spcPts val="200"/>
              </a:spcAft>
            </a:pPr>
            <a:r>
              <a:rPr sz="1400">
                <a:solidFill>
                  <a:srgbClr val="3D5466"/>
                </a:solidFill>
                <a:latin typeface="Arial"/>
              </a:rPr>
              <a:t>▸  Führungshandlung ableiten: Steuerungs- oder Entwicklungsgespräch?</a:t>
            </a:r>
          </a:p>
        </p:txBody>
      </p:sp>
      <p:sp>
        <p:nvSpPr>
          <p:cNvPr id="9" name="Rectangle 8"/>
          <p:cNvSpPr/>
          <p:nvPr/>
        </p:nvSpPr>
        <p:spPr>
          <a:xfrm>
            <a:off x="685800" y="5486400"/>
            <a:ext cx="10817352" cy="64008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596128"/>
            <a:ext cx="10451592" cy="457200"/>
          </a:xfrm>
          <a:prstGeom prst="rect">
            <a:avLst/>
          </a:prstGeom>
          <a:noFill/>
        </p:spPr>
        <p:txBody>
          <a:bodyPr wrap="square">
            <a:spAutoFit/>
          </a:bodyPr>
          <a:lstStyle/>
          <a:p>
            <a:pPr algn="l"/>
            <a:r>
              <a:rPr sz="1300" b="1" i="0">
                <a:solidFill>
                  <a:srgbClr val="FFFFFF"/>
                </a:solidFill>
                <a:latin typeface="Arial"/>
              </a:rPr>
              <a:t>→  Bearbeitung im Teilnehmer-Workbook (Arbeitsblatt mit Ausfüllfeldern)</a:t>
            </a:r>
          </a:p>
        </p:txBody>
      </p:sp>
      <p:sp>
        <p:nvSpPr>
          <p:cNvPr id="11" name="Rectangle 10"/>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17352" cy="365760"/>
          </a:xfrm>
          <a:prstGeom prst="rect">
            <a:avLst/>
          </a:prstGeom>
          <a:noFill/>
        </p:spPr>
        <p:txBody>
          <a:bodyPr wrap="none">
            <a:spAutoFit/>
          </a:bodyPr>
          <a:lstStyle/>
          <a:p>
            <a:pPr algn="l"/>
            <a:r>
              <a:rPr sz="1200">
                <a:solidFill>
                  <a:srgbClr val="D9C089"/>
                </a:solidFill>
                <a:latin typeface="Consolas"/>
              </a:rPr>
              <a:t>EINZELARBEIT + SPRACHCHECK (35 MIN.)</a:t>
            </a:r>
          </a:p>
        </p:txBody>
      </p:sp>
      <p:sp>
        <p:nvSpPr>
          <p:cNvPr id="4" name="Rectangle 3"/>
          <p:cNvSpPr/>
          <p:nvPr/>
        </p:nvSpPr>
        <p:spPr>
          <a:xfrm>
            <a:off x="685800" y="2788920"/>
            <a:ext cx="548640" cy="381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017520"/>
            <a:ext cx="10817352" cy="1463040"/>
          </a:xfrm>
          <a:prstGeom prst="rect">
            <a:avLst/>
          </a:prstGeom>
          <a:noFill/>
        </p:spPr>
        <p:txBody>
          <a:bodyPr wrap="square">
            <a:spAutoFit/>
          </a:bodyPr>
          <a:lstStyle/>
          <a:p>
            <a:pPr algn="l"/>
            <a:r>
              <a:rPr sz="4000" b="1" i="0">
                <a:solidFill>
                  <a:srgbClr val="FFFFFF"/>
                </a:solidFill>
                <a:latin typeface="Arial"/>
              </a:rPr>
              <a:t>AB-2: Gesprächsvorbereitung Berater A</a:t>
            </a:r>
          </a:p>
        </p:txBody>
      </p:sp>
      <p:sp>
        <p:nvSpPr>
          <p:cNvPr id="6" name="TextBox 5"/>
          <p:cNvSpPr txBox="1"/>
          <p:nvPr/>
        </p:nvSpPr>
        <p:spPr>
          <a:xfrm>
            <a:off x="685800" y="4480560"/>
            <a:ext cx="8653881" cy="1280160"/>
          </a:xfrm>
          <a:prstGeom prst="rect">
            <a:avLst/>
          </a:prstGeom>
          <a:noFill/>
        </p:spPr>
        <p:txBody>
          <a:bodyPr wrap="square">
            <a:spAutoFit/>
          </a:bodyPr>
          <a:lstStyle/>
          <a:p>
            <a:pPr algn="l"/>
            <a:r>
              <a:rPr sz="1600" b="0" i="0">
                <a:solidFill>
                  <a:srgbClr val="C8D2E6"/>
                </a:solidFill>
                <a:latin typeface="Arial"/>
              </a:rPr>
              <a:t>Entwicklungsorientiertes Steuerungsgespräch strukturiert vorbereiten</a:t>
            </a:r>
          </a:p>
        </p:txBody>
      </p:sp>
      <p:sp>
        <p:nvSpPr>
          <p:cNvPr id="7" name="TextBox 6"/>
          <p:cNvSpPr txBox="1"/>
          <p:nvPr/>
        </p:nvSpPr>
        <p:spPr>
          <a:xfrm>
            <a:off x="685800" y="6355080"/>
            <a:ext cx="10817352" cy="274320"/>
          </a:xfrm>
          <a:prstGeom prst="rect">
            <a:avLst/>
          </a:prstGeom>
          <a:noFill/>
        </p:spPr>
        <p:txBody>
          <a:bodyPr wrap="none">
            <a:spAutoFit/>
          </a:bodyPr>
          <a:lstStyle/>
          <a:p>
            <a:pPr algn="l"/>
            <a:r>
              <a:rPr sz="700">
                <a:solidFill>
                  <a:srgbClr val="8CA0C3"/>
                </a:solidFill>
                <a:latin typeface="Consolas"/>
              </a:rPr>
              <a:t>FKB Campus  ·  TL04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TL04  ·  ARBEITSBLATT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AB-2: Ein Gespräch vorbereiten – nicht proben, sondern formulieren</a:t>
            </a:r>
          </a:p>
        </p:txBody>
      </p:sp>
      <p:sp>
        <p:nvSpPr>
          <p:cNvPr id="8" name="TextBox 7"/>
          <p:cNvSpPr txBox="1"/>
          <p:nvPr/>
        </p:nvSpPr>
        <p:spPr>
          <a:xfrm>
            <a:off x="685800" y="1554480"/>
            <a:ext cx="10817352" cy="3840480"/>
          </a:xfrm>
          <a:prstGeom prst="rect">
            <a:avLst/>
          </a:prstGeom>
          <a:noFill/>
        </p:spPr>
        <p:txBody>
          <a:bodyPr wrap="square">
            <a:spAutoFit/>
          </a:bodyPr>
          <a:lstStyle/>
          <a:p>
            <a:pPr marL="190500" indent="-190500">
              <a:spcBef>
                <a:spcPts val="400"/>
              </a:spcBef>
              <a:spcAft>
                <a:spcPts val="200"/>
              </a:spcAft>
            </a:pPr>
            <a:r>
              <a:rPr sz="1400">
                <a:solidFill>
                  <a:srgbClr val="3D5466"/>
                </a:solidFill>
                <a:latin typeface="Arial"/>
              </a:rPr>
              <a:t>▸  Schritt 1: Konkretes Gesprächsziel – was soll Berater A am Ende wissen/planen?</a:t>
            </a:r>
          </a:p>
          <a:p>
            <a:pPr marL="190500" indent="-190500">
              <a:spcBef>
                <a:spcPts val="400"/>
              </a:spcBef>
              <a:spcAft>
                <a:spcPts val="200"/>
              </a:spcAft>
            </a:pPr>
            <a:r>
              <a:rPr sz="1400">
                <a:solidFill>
                  <a:srgbClr val="3D5466"/>
                </a:solidFill>
                <a:latin typeface="Arial"/>
              </a:rPr>
              <a:t>▸  Schritt 2: Einstiegssatz – einladend, nicht anklagend.</a:t>
            </a:r>
          </a:p>
          <a:p>
            <a:pPr marL="190500" indent="-190500">
              <a:spcBef>
                <a:spcPts val="400"/>
              </a:spcBef>
              <a:spcAft>
                <a:spcPts val="200"/>
              </a:spcAft>
            </a:pPr>
            <a:r>
              <a:rPr sz="1400">
                <a:solidFill>
                  <a:srgbClr val="3D5466"/>
                </a:solidFill>
                <a:latin typeface="Arial"/>
              </a:rPr>
              <a:t>▸  Schritt 3: 3–4 offene Leitfragen (Wie / Was / Inwiefern).</a:t>
            </a:r>
          </a:p>
          <a:p>
            <a:pPr marL="190500" indent="-190500">
              <a:spcBef>
                <a:spcPts val="400"/>
              </a:spcBef>
              <a:spcAft>
                <a:spcPts val="200"/>
              </a:spcAft>
            </a:pPr>
            <a:r>
              <a:rPr sz="1400">
                <a:solidFill>
                  <a:srgbClr val="3D5466"/>
                </a:solidFill>
                <a:latin typeface="Arial"/>
              </a:rPr>
              <a:t>▸  Schritt 4: Konkreter Entwicklungsimpuls (umsetzbar in 2–4 Wochen).</a:t>
            </a:r>
          </a:p>
          <a:p>
            <a:pPr marL="190500" indent="-190500">
              <a:spcBef>
                <a:spcPts val="400"/>
              </a:spcBef>
              <a:spcAft>
                <a:spcPts val="200"/>
              </a:spcAft>
            </a:pPr>
            <a:r>
              <a:rPr sz="1400">
                <a:solidFill>
                  <a:srgbClr val="3D5466"/>
                </a:solidFill>
                <a:latin typeface="Arial"/>
              </a:rPr>
              <a:t>▸  Schritt 5: Selbstreflexion – steuern oder drücken?</a:t>
            </a:r>
          </a:p>
        </p:txBody>
      </p:sp>
      <p:sp>
        <p:nvSpPr>
          <p:cNvPr id="9" name="Rectangle 8"/>
          <p:cNvSpPr/>
          <p:nvPr/>
        </p:nvSpPr>
        <p:spPr>
          <a:xfrm>
            <a:off x="685800" y="5486400"/>
            <a:ext cx="10817352" cy="64008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596128"/>
            <a:ext cx="10451592" cy="457200"/>
          </a:xfrm>
          <a:prstGeom prst="rect">
            <a:avLst/>
          </a:prstGeom>
          <a:noFill/>
        </p:spPr>
        <p:txBody>
          <a:bodyPr wrap="square">
            <a:spAutoFit/>
          </a:bodyPr>
          <a:lstStyle/>
          <a:p>
            <a:pPr algn="l"/>
            <a:r>
              <a:rPr sz="1300" b="1" i="0">
                <a:solidFill>
                  <a:srgbClr val="FFFFFF"/>
                </a:solidFill>
                <a:latin typeface="Arial"/>
              </a:rPr>
              <a:t>→  Bearbeitung im Teilnehmer-Workbook (Arbeitsblatt mit Ausfüllfeldern)</a:t>
            </a:r>
          </a:p>
        </p:txBody>
      </p:sp>
      <p:sp>
        <p:nvSpPr>
          <p:cNvPr id="11" name="Rectangle 10"/>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17352" cy="365760"/>
          </a:xfrm>
          <a:prstGeom prst="rect">
            <a:avLst/>
          </a:prstGeom>
          <a:noFill/>
        </p:spPr>
        <p:txBody>
          <a:bodyPr wrap="none">
            <a:spAutoFit/>
          </a:bodyPr>
          <a:lstStyle/>
          <a:p>
            <a:pPr algn="l"/>
            <a:r>
              <a:rPr sz="1200">
                <a:solidFill>
                  <a:srgbClr val="D9C089"/>
                </a:solidFill>
                <a:latin typeface="Consolas"/>
              </a:rPr>
              <a:t>ABSCHLUSS</a:t>
            </a:r>
          </a:p>
        </p:txBody>
      </p:sp>
      <p:sp>
        <p:nvSpPr>
          <p:cNvPr id="4" name="Rectangle 3"/>
          <p:cNvSpPr/>
          <p:nvPr/>
        </p:nvSpPr>
        <p:spPr>
          <a:xfrm>
            <a:off x="685800" y="2788920"/>
            <a:ext cx="548640" cy="381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017520"/>
            <a:ext cx="10817352" cy="1463040"/>
          </a:xfrm>
          <a:prstGeom prst="rect">
            <a:avLst/>
          </a:prstGeom>
          <a:noFill/>
        </p:spPr>
        <p:txBody>
          <a:bodyPr wrap="square">
            <a:spAutoFit/>
          </a:bodyPr>
          <a:lstStyle/>
          <a:p>
            <a:pPr algn="l"/>
            <a:r>
              <a:rPr sz="4000" b="1" i="0">
                <a:solidFill>
                  <a:srgbClr val="FFFFFF"/>
                </a:solidFill>
                <a:latin typeface="Arial"/>
              </a:rPr>
              <a:t>Transfer &amp; Haltung</a:t>
            </a:r>
          </a:p>
        </p:txBody>
      </p:sp>
      <p:sp>
        <p:nvSpPr>
          <p:cNvPr id="6" name="TextBox 5"/>
          <p:cNvSpPr txBox="1"/>
          <p:nvPr/>
        </p:nvSpPr>
        <p:spPr>
          <a:xfrm>
            <a:off x="685800" y="4480560"/>
            <a:ext cx="8653881" cy="1280160"/>
          </a:xfrm>
          <a:prstGeom prst="rect">
            <a:avLst/>
          </a:prstGeom>
          <a:noFill/>
        </p:spPr>
        <p:txBody>
          <a:bodyPr wrap="square">
            <a:spAutoFit/>
          </a:bodyPr>
          <a:lstStyle/>
          <a:p>
            <a:pPr algn="l"/>
            <a:r>
              <a:rPr sz="1600" b="0" i="0">
                <a:solidFill>
                  <a:srgbClr val="C8D2E6"/>
                </a:solidFill>
                <a:latin typeface="Arial"/>
              </a:rPr>
              <a:t>Vom Cockpit zum Führungsprinzip</a:t>
            </a:r>
          </a:p>
        </p:txBody>
      </p:sp>
      <p:sp>
        <p:nvSpPr>
          <p:cNvPr id="7" name="TextBox 6"/>
          <p:cNvSpPr txBox="1"/>
          <p:nvPr/>
        </p:nvSpPr>
        <p:spPr>
          <a:xfrm>
            <a:off x="685800" y="6355080"/>
            <a:ext cx="10817352" cy="274320"/>
          </a:xfrm>
          <a:prstGeom prst="rect">
            <a:avLst/>
          </a:prstGeom>
          <a:noFill/>
        </p:spPr>
        <p:txBody>
          <a:bodyPr wrap="none">
            <a:spAutoFit/>
          </a:bodyPr>
          <a:lstStyle/>
          <a:p>
            <a:pPr algn="l"/>
            <a:r>
              <a:rPr sz="700">
                <a:solidFill>
                  <a:srgbClr val="8CA0C3"/>
                </a:solidFill>
                <a:latin typeface="Consolas"/>
              </a:rPr>
              <a:t>FKB Campus  ·  TL04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TL04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Drei Transferaufgaben für die nächsten zwei Wochen</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1: Eigenes Cockpit nach Diagnose-Logik auswerten (AB-1-Struktur)</a:t>
            </a:r>
          </a:p>
          <a:p>
            <a:pPr marL="190500" indent="-190500">
              <a:spcBef>
                <a:spcPts val="400"/>
              </a:spcBef>
              <a:spcAft>
                <a:spcPts val="200"/>
              </a:spcAft>
            </a:pPr>
            <a:r>
              <a:rPr sz="1300">
                <a:solidFill>
                  <a:srgbClr val="3D5466"/>
                </a:solidFill>
                <a:latin typeface="Arial"/>
              </a:rPr>
              <a:t>▸  2: Ein Steuerungsgespräch nach AB-2 vorbereiten und führen</a:t>
            </a:r>
          </a:p>
          <a:p>
            <a:pPr marL="190500" indent="-190500">
              <a:spcBef>
                <a:spcPts val="400"/>
              </a:spcBef>
              <a:spcAft>
                <a:spcPts val="200"/>
              </a:spcAft>
            </a:pPr>
            <a:r>
              <a:rPr sz="1300">
                <a:solidFill>
                  <a:srgbClr val="3D5466"/>
                </a:solidFill>
                <a:latin typeface="Arial"/>
              </a:rPr>
              <a:t>▸  3: Proaktives Entwicklungsgespräch mit dem stärksten Berater</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TL04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steuern UND entwickeln – der Greenleaf-Test nach jedem Gespräch</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'Hat der Berater das Gespräch mit mehr Klarheit verlassen?'</a:t>
            </a:r>
          </a:p>
          <a:p>
            <a:pPr marL="190500" indent="-190500">
              <a:spcBef>
                <a:spcPts val="400"/>
              </a:spcBef>
              <a:spcAft>
                <a:spcPts val="200"/>
              </a:spcAft>
            </a:pPr>
            <a:r>
              <a:rPr sz="1300">
                <a:solidFill>
                  <a:srgbClr val="3D5466"/>
                </a:solidFill>
                <a:latin typeface="Arial"/>
              </a:rPr>
              <a:t>▸  Ja → Führungsgespräch. Nein → Kontrollgespräch.</a:t>
            </a:r>
          </a:p>
          <a:p>
            <a:pPr marL="190500" indent="-190500">
              <a:spcBef>
                <a:spcPts val="400"/>
              </a:spcBef>
              <a:spcAft>
                <a:spcPts val="200"/>
              </a:spcAft>
            </a:pPr>
            <a:r>
              <a:rPr sz="1300">
                <a:solidFill>
                  <a:srgbClr val="3D5466"/>
                </a:solidFill>
                <a:latin typeface="Arial"/>
              </a:rPr>
              <a:t>▸  Kennzahlen sind Gesprächsanlass – kein Druckmittel</a:t>
            </a:r>
          </a:p>
          <a:p>
            <a:pPr marL="190500" indent="-190500">
              <a:spcBef>
                <a:spcPts val="400"/>
              </a:spcBef>
              <a:spcAft>
                <a:spcPts val="200"/>
              </a:spcAft>
            </a:pPr>
            <a:r>
              <a:rPr sz="1300">
                <a:solidFill>
                  <a:srgbClr val="3D5466"/>
                </a:solidFill>
                <a:latin typeface="Arial"/>
              </a:rPr>
              <a:t>▸  Leistungsträger brauchen Führung, nicht Freiheit durch Vernachlässigung</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