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 Branchenrisikoanalyse als Basis für differenzierte Kreditentscheidungen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EK-Quote von 15 % bedeutet im Bauträgergeschäft etwas anderes als in der Arztpraxis – wer Branchen nicht unterscheidet, bewertet Risiken falsch.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Branchenstrukturen mit Porters Five Forces und arbeiten die Risikoprofile von sechs Kernbranchen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entwickeln Sie ein eigenes Branchenrisiko-Scoring für Ihre Geschäftsregion.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08:30–08:40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08:40–09:00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Blitzlicht-Runde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09:00–09:30 </a:t>
            </a:r>
            <a:r>
              <a:rPr sz="1500" b="1">
                <a:solidFill>
                  <a:srgbClr val="3D5466"/>
                </a:solidFill>
                <a:latin typeface="Arial"/>
              </a:rPr>
              <a:t>  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 + Plenumsvorstellung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Branchenstruktur und Risikoklassifikation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PORTER'S FIVE FORCES ALS ANALYSEGERÜST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fünf Kräfte im Überblick: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Bedrohung durch neue Konkurrenten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hoch sind Markteintrittsbarrieren? (Kapitalintensität, Skalenerfordernisse, Markenzugang)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Hohe Markteintrittsbarrieren → geringeres Überangebot → stabilere Margen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Verhandlungsmacht der Lieferanten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konzentriert ist der Liefermarkt?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Konzentrierte Lieferanten → Rohstoffpreisrisiko → Margenvolatilität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3. Verhandlungsmacht der Abnehmer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konzentriert ist der Kundenmarkt?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4. Bedrohung durch Substitute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Branchenspezifische Risikoklassen im KMU-Segment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BAUGEWERBE UND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Charakteristika: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Saisonalität: Wintermonate schwächer, Frühjahr/Sommer stärker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Kennzahlen (Benchmark Baugewerbe):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EBIT-Marge: 3–6 % (branchentypisch niedrig wg. Wettbewerbsintensität)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12–18 %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Kapitalumschlag: 0,8–1,2x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Forderungslaufzeit: 45–60 Tage (Rechnungsstellung an Bauherr 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Quellen: Creditreform Branchenberichte ; BVR-Branchenblätter ; Deutsche Bundesbank Unternehmensabschlussstatistik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Frühwarnindikatoren: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Handlungskarte: Vom Branchensignal zur Kreditmaßnahme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folgende Handlungsempfehlung-Karte verdichtet die Branchenrisikoprofile aus diesem Abschnitt zu konkreten Wenn-Dann-Impulsen für Kreditentscheidung und Kundengespräch.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4.3.1 AUFBAU DES VR-RATINGS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VR-Rating kombiniert quantitative und qualitative Komponenten: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Quantitativ (ca. 60–70 %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Rentabilitätskennzahlen (EBIT-Marge, Eigenkapitalrentabilität)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Liquiditätskennzahlen (Liquiditätsgrade, Cash-Flow-Relationen)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Verschuldungskennzahlen (Eigenkapitalquote, Verschuldungsgrad, Zinsdeckungsquote)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Trendindikatoren (Entwicklung über 3 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 (ca. 30–40 %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Unternehmerqualität und Management-Kompetenz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Branchenrisiko (Kerngegenstand dieses Moduls)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Marktposition und Wettbewerbsfähigkeit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Nachfolgeplanung (bei KMU kritisch)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Mindest-EK-Quote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Begründung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Verarbeitendes Gewerbe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Kapitalintensiv, Ausgleichspuffer nötig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Dienstleistung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Weniger kapitalintensiv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Einzelhandel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15–18 %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Margen, hohe Diskontobligationen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Gastronomie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≥ 12–15 %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Standortrisiken, Volatilität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Variable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Bedeutung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Betriebskapital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Kurzfristige Liquidität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Gewinnrücklagen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Langfristige Rentabilität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Operative Rentabilität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Marktwert EK / Gesamtverbindlichkeiten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Kapitalstruktur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X₅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 / Gesamtvermögen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Kapitaleffizienz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FINANZIELLE SITUATION (JAHRESABSCHLUSS 2024, AUSZÜGE)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Bilanzauszug: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Kapitalflussrechnung 2024 (vereinfacht):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KREDITANFRAGE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Anlass: Investition in neue Backstube Kempten-Süd (170.000 €) + Filialmodernisierung Sonthofen (80.000 €)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Gesamtkreditbedarf: 250.000 € | Eigenanteil: 30.000 € | Kreditwunsch: 250.000 €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4.4.4 GESPRÄCHSVERLAUF: BRANCHENRISIKOANALYSE (BER = BERATER, GF = GESCHÄFTSFÜHRERIN)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Session 1 – Erstgespräch Branchenrisiko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GF: „Nein, wir kaufen zu aktuellen Marktpreisen. Die Lieferanten bieten keine Festpreise an."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 (€)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Operativer Cashflow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+55.000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Investitionsausgaben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−20.000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Freier Cashflow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+35.000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Schuldentilgung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−23.000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Privatentnahmen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−12.000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Kassenveränderung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Branchenrisiko-Analyse-Template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ARBEITSBLATT: BRANCHENRISIKO-ANALYSE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A – BRANCHENIDENTIFIKATION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B – PORTER'S FIVE FORCES (1 = sehr gering, 5 = sehr hoch)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C – KENNZAHLEN IM BRANCHENVERGLEICH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Gesamteinschätzung: ☐ Deutlich besser als Branche ☐ Vergleichbar ☐ Schwächer als Branche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TEIL D – FRÜHWARNINDIKATOREN (☐ nicht relevant | ⚠ Warnung | ✗ kritisch)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Branchenumfeld: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Brancheninsolvenzquote gestiegen &gt;5 %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Branchenumsatz rückläufig &gt;3 %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ifo Geschäftsklimaindex Branche &lt;90 Punkte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Regulatorische Änderungen angekündigt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Rohstoffe &amp; Lieferkette: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Branchenrisiko-Analyse-Template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KMU-Wert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Branchenbenchmark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Kapitalumschlag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Personalkosten/Umsatz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Rohstoffkosten/Umsatz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 Besser ☐ Gleich ☐ Schlechter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