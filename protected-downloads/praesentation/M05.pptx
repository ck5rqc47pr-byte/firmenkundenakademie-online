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Branchenspezifische Risikosysteme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1081735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10817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v0.3_KERN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Branchenspezifische Risikotreiber anhand von Finanzkennzahlen und Marktdaten analysieren und gegenüber gesamtwirtschaftlichen Trends einordnen (Bloom 4)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Gesamtrisikoprofil eines KMU durch kritische Gegenüberstellung von Branchencharakteristiken mit unternehmensspezifischen Kennzahlen bewerten (Bloom 5)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Kreditanträge branchenübergreifend vergleichend beurteilen und Chancen wie Risiken transparent kommunizieren (Bloom 5)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individualisiertes Branchenrisiko-Scoring-Modell für die eigene Geschäftsregion entwickeln (Bloom 6)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Theorie-Input: Branchenstruktur und Risikoklassifikation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Theorie-Input: Branchenspezifische Risikoklassen im KMU-Segment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Theorie-Input: VR-Rating und branchenspezifische Ratingfaktoren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Praxiscase: Bäckerei &amp; Konditorei Hofmann GmbH (Stuttgart, fiktiv)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Arbeitsblatt: Branchenrisiko-Analyse-Template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Branchenstruktur und Risikoklassifikation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PORTER'S FIVE FORCES ALS ANALYSEGERÜST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fünf Kräfte im Überblick: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1. Bedrohung durch neue Konkurrenten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Wie hoch sind Markteintrittsbarrieren? (Kapitalintensität, Skalenerfordernisse, Markenzugang)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Hohe Markteintrittsbarrieren → geringeres Überangebot → stabilere Margen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2. Verhandlungsmacht der Lieferanten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Wie konzentriert ist der Liefermarkt?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Konzentrierte Lieferanten → Rohstoffpreisrisiko → Margenvolatilität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3. Verhandlungsmacht der Abnehmer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Wie konzentriert ist der Kundenmarkt?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Wenige Großkunden → Konzentrationsrisiko → erhöhte Insolvenzwahrscheinlichkeit bei Kundenverlust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4. Bedrohung durch Substitute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Branchenlebenszyklus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Branchenspezifische Risikoklassen im KMU-Segment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BAUGEWERBE UND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Charakteristika: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Projektgebundenheit: Jedes Objekt ist ein Einzelprojekt mit eigenen Fertigstellungs- und Kostenrisiken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Bauhandwerk: Umsätze 300.000–3 Mio. €, Eigenkapitalquote 10–20 %; Bauträger: Umsätze 1–20 Mio. €, EK-Quote oft 15–30 % (aber volumenabhängig)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Saisonalität: Wintermonate schwächer, Frühjahr/Sommer stärker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Typische Kennzahlen (Benchmark Baugewerbe):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EBIT-Marge: 3–6 % (branchentypisch niedrig wg. Wettbewerbsintensität)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12–18 %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Kapitalumschlag: 0,8–1,2x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Forderungslaufzeit: 45–60 Tage (Rechnungsstellung an Bauherr 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Quellen: Creditreform Branchenberichte ; BVR-Branchenblätter ; Deutsche Bundesbank Unternehmensabschlussstatistik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Kritische Frühwarnindikatoren: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4.3.1 AUFBAU DES VR-RATINGS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VR-Rating kombiniert quantitative und qualitative Komponenten: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Quantitativ (ca. 60–70 %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Rentabilitätskennzahlen (EBIT-Marge, Eigenkapitalrentabilität)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Liquiditätskennzahlen (Liquiditätsgrade, Cash-Flow-Relationen)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Verschuldungskennzahlen (Eigenkapitalquote, Verschuldungsgrad, Zinsdeckungsquote)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Trendindikatoren (Entwicklung über 3 Jahre)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Qualitativ (ca. 30–40 %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Unternehmerqualität und Management-Kompetenz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Branchenrisiko (Kerngegenstand dieses Moduls)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Marktposition und Wettbewerbsfähigkeit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Nachfolgeplanung (bei KMU kritisch)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Bäckerei &amp; Konditorei Hofmann GmbH (Stuttgart,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FINANZIELLE SITUATION (JAHRESABSCHLUSS 2024, AUSZÜGE)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Bilanzauszug: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Gewinn- und Verlustrechnung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Kapitalflussrechnung 2024 (vereinfacht):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KREDITANFRAGE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Anlass: Investition in neue Backstube Kempten-Süd (170.000 €) + Filialmodernisierung Sonthofen (80.000 €)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Gesamtkreditbedarf: 250.000 € | Eigenanteil: 30.000 € | Kreditwunsch: 250.000 €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4.4.4 GESPRÄCHSVERLAUF: BRANCHENRISIKOANALYSE (BER = BERATER, GF = GESCHÄFTSFÜHRERIN)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Session 1 – Erstgespräch Branchenrisiko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GF: „Wir konnten die Preise nur um etwa 8–10 % erhöhen, ohne Kunden zu verlieren. Das hat die Marge deutlich gedrückt."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GF: „Nein, wir kaufen zu aktuellen Marktpreisen. Die Lieferanten bieten keine Festpreise an."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Branchenrisiko-Analyse-Template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ARBEITSBLATT: BRANCHENRISIKO-ANALYSE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A – BRANCHENIDENTIFIKATION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B – PORTER'S FIVE FORCES (1 = sehr gering, 5 = sehr hoch)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C – KENNZAHLEN IM BRANCHENVERGLEICH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Gesamteinschätzung: ☐ Deutlich besser als Branche ☐ Vergleichbar ☐ Schwächer als Branche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D – FRÜHWARNINDIKATOREN (☐ nicht relevant | ⚠ Warnung | ✗ kritisch)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Branchenumfeld: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Brancheninsolvenzquote gestiegen &gt;5 %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Branchenumsatz rückläufig &gt;3 %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ifo Geschäftsklimaindex Branche &lt;90 Punkte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Regulatorische Änderungen angekündigt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Rohstoffe &amp; Lieferkette: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