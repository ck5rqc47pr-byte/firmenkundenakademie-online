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 „Was weiß ich über meine Kundenbranchen?", dann Branchenrätsel: vier anonymisierte Profile den Branchen zuordnen und begründen.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die Branchenrätsel-Ergebnisse anknüpfen: Warum war die Zuordnung schwer? Was hat den Ausschlag gegeben?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Forces am Bäckereihandwerk durchspielen – als Vorbereitung auf den Praxiscase Hofmann.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Bauhandwerk (stabile Reife) vs. Bauträger (ausgeprägt prozyklisch) als Schlüsselunterscheidung – dieselbe WZ-Nähe, völlig anderes Risiko.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Kurzdiskussion: Wo fließt Branchenrisiko heute schon in Ihre Kreditvorlagen ein – und wo nicht?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Trainer-Kommentar am Ende: Gemeinsamkeiten und Unterschiede der vier Branchen herausarbeiten.</a:t>
            </a:r>
          </a:p>
          <a:p>
            <a:r>
              <a:t>Kernbotschaft: dieselbe Methode, vier völlig verschiedene Risikobilder.</a:t>
            </a:r>
          </a:p>
          <a:p>
            <a:r>
              <a:t>Moderation (HB Sec 3): Moderationshinweis: Beim Peer-Feedback strukturiert vorgehen: "Drei Stärken, eine Entwicklungsmöglichkeit". Trainer gibt korrigierendes Feedback erst NACH dem Peer-Feedback. Erwartete Teilnehmerreaktion: Gruppen neigen dazu, zu allgemein zu bleiben. Intervention: "Was würde ein Unternehmer in dieser Branche auf Ihre Analyse antworten?"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Live-Demo der Quellen; TN notieren, welche Quelle sie für ihre Kundenbranchen künftig regelmäßig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Handlungskarte als Brücke von der Analyse zur Entscheidung – der eigentliche Praxisnutzen des Moduls.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Diagnose (Five-Forces-Score, Lebenszyklus) muss in ein quantifiziertes Adjustment übersetzt werden – diese Tabelle verbindet beides.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EK-Quote 16,2 % – für eine Bäckerei (Nähe Einzelhandel/Handwerk) grenzwertig; hohe Bankverbindlichkeiten, Grundstück als Sicherheit.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Bäckerei: Reife-/Abschwungphase, hoher Wettbewerbs- und Substitutionsdruck (Discounter, Backshops), Personalkostenintensiv. EK-Quote grenzwertig – Adjustment nach unten, Grundstück als werthaltige Sicherheit gegenrechnen.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Einzel-Coaching durch den Trainer während der Projektarbeit. Fokus auf Übertragbarkeit in den Alltag.</a:t>
            </a:r>
          </a:p>
          <a:p>
            <a:r>
              <a:t>Moderation (HB Sec 3): Moderationshinweis: Beim Peer-Feedback strukturiert vorgehen: "Drei Stärken, eine Entwicklungsmöglichkeit". Trainer gibt korrigierendes Feedback erst NACH dem Peer-Feedback. Erwartete Teilnehmerreaktion: Gruppen neigen dazu, zu allgemein zu bleiben. Intervention: "Was würde ein Unternehmer in dieser Branche auf Ihre Analyse antworten?"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zur Transferaufgabe und zum Selbstcheck (Sec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EK-Quote von 15 % bedeutet im Bauträgergeschäft etwas anderes als in der Arztpraxis – wer Branchen nicht unterscheidet, bewertet Risiken falsch.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Branchenstrukturen mit Porters Five Forces und arbeiten die Risikoprofile von sechs Kernbranchen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entwickeln Sie ein eigenes Branchenrisiko-Scoring für Ihre Geschäftsregion.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08:30–08:40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08:40–09:00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Blitzlicht-Runde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 + Plenumsvorstellung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08:40–09:30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Warming-up &amp; Branchenrätsel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eigenen Kundenbranchen sichtbar machen – konkrete Erfahrung zuerst.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ein einheitlicher Maßstab Risiken übersieht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Jede Branche hat ihre eigenen Frühwarnzeichen – ein einheitlicher Maßstab übersieht genau die Risiken, die in der jeweiligen Branche zählen.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Vier Unternehmen mit gleicher Kennzahl können völlig unterschiedliche Risiken tragen.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Branchenkenntnis macht aus einer Bilanz eine Diagnose.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09:30–10:30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Branchenstruktur analysieren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Five Forces, Branchenlebenszyklus und MaRisk als Analysegerüst nutzen.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Porter's Five Forces als Branchen-Analysegerüst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Fünf Kräfte bestimmen die Attraktivität und das Risiko einer Branche – nicht die einzelne Bilanz.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Wettbewerb, Lieferanten, Abnehmer, neue Anbieter, Substitute.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 Bäckereihandwerk: hoher Wettbewerbsdruck, Substitution durch Discounter und Backshops.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Wettbewerbskräfte einer Branche (Five Forces)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Branchenlebenszyklus und Zyklizität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Wo eine Branche im Lebenszyklus steht, entscheidet über ihre Risikoindikatoren – und ob sie prozyklisch oder antizyklisch reagiert.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Entstehung, Wachstum, Reife, Abschwung – jede Phase hat eigene Warnsignale.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Prozyklische Branchen (z. B. Bauträger) schwanken mit Zins und Konjunktur; antizyklische sind stabiler.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MaRisk BTO 1.2: was die Aufsicht erwartet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Aufsicht verlangt eine risikoorientierte Kreditanalyse – Branchenrisiken gehören ausdrücklich dazu.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MaRisk BTO 1.2 verankert die Trennung von Markt und Marktfolge und die Risikofrüherkennung.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Verknüpfung zu § 18 KWG: laufende Offenlegung als Datenbasis der Branchenbeurteilung.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10:55–12:30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Gruppenarbeit: vier Branchen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Branchenrisikoprofil erstellen – Porter, Lebenszyklus und MaRisk kombiniert.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Branchenrisikoprofil erstellen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ein Branchenrisikoprofil für Ihre Fallstudie (Metallverarbeitung, Zahnarztpraxis, Landwirtschaft oder Wohnimmobilien).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Wenden Sie Five Forces, Branchenlebenszyklus und die MaRisk-Checkliste 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Präsentieren Sie das Profil (8 Minuten) und geben Sie Peer-Feedback (2 Minuten).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13:15–14:00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Externe Quellen &amp; Frühwarnsignale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Wissen, wo Branchendaten herkommen – und welche Signale zählen.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Wo die Branchendaten herkommen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Gute Branchenanalyse stützt sich auf Quellen, nicht auf Bauchgefühl – die Daten liegen bereit, man muss sie nutzen.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ifo-Konjunkturberichte, Creditreform-Branchenmonitore, BVR-Branchenporträts.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Branchentypische Frühwarnsignale in die interne Risikofrüherkennung einbinden.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erkanntes Branchensignal ist erst dann wertvoll, wenn daraus eine konkrete Kredit- oder Gesprächsmaßnahme folgt.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Handlungskarte verdichtet die Branchenrisikoprofile zu Wenn-Dann-Impulsen.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Diagnose (Five-Forces-Score, Lebenszyklus) wird in ein quantifiziertes Rating-Adjustment übersetzt.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Handlungskarte: vom Branchensignal zur Kreditmaßnahme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14:00–14:15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VR-Rating &amp; Branchen-Adjustments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Branchenrisiko in konkrete Rating-Adjustments übersetzen.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Mindest-Eigenkapitalquoten nach Branche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Mindest-EK-Quote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Verarbeitendes Gewerbe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kapitalintensiv, Puffer nötig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Einzelhandel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15–18 %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Gastronomie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12–15 %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Standortrisiko, Volatilität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Dienstleistung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weniger kapitalintensiv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14:15–15:00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Praxiscase: Bäckerei Hofmann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erlernte Methode auf einen echten Kreditfall anwenden.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Bäckerei Hofmann: Bilanz im Überblick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Vermögen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Umlaufvermögen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193.000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Anlagevermögen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793.000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Bankverbindlichkeiten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600.000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davon Grundstück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Lieferantenverb.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327.000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1.193.000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1.193.000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Branchenrisiko-Analyse Hofmann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das Branchenrisikoprofil für die Bäckerei Hofmann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Wenden Sie Five Forces auf das Bäckereihandwerk an und leiten Sie das Rating-Adjustment ab.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eine Kredit-Empfehlung mit branchenspezifischer Begründung.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15:00–16:00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Projektarbeit: eigenes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Methode auf ein eigenes, anonymisiertes Engagement übertragen.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Eigenes Branchenrisikoprofil erstellen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Wählen Sie ein eigenes Engagement (anonymisiert) und erstellen Sie das Branchenrisikoprofil.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Nutzen Sie Five Forces, Lebenszyklus, externe Quellen und die Handlungskarte.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Blitzpräsentation (2 Minuten): eine Erkenntnis und eine offene Frage.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Jede Branche hat ihre eigenen Frühwarnzeichen.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einheitlicher Maßstab für alle Branchen übersieht genau die Risiken, die in der jeweiligen Branche zählen.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welche Ihrer Kundenbranchen fehlt Ihnen bislang ein klares Frühwarnbild?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externe Branchenquelle nehmen Sie ab morgen fest in Ihre Analyse auf?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Engagement würde ein Branchen-Adjustment Ihr Votum verändern?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