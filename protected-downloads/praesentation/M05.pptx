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Branchenspezifische Risikosysteme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Systematische Branchenrisikoanalyse als Basis für differenzierte Kreditentscheidungen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Kreditexpertise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Eine EK-Quote von 15 % bedeutet im Bauträgergeschäft etwas anderes als in der Arztpraxis – wer Branchen nicht unterscheidet, bewertet Risiken falsch.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analysieren Branchenstrukturen mit Porters Five Forces und arbeiten die Risikoprofile von sechs Kernbranchen durch.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entwickeln Sie ein eigenes Branchenrisiko-Scoring für Ihre Geschäftsregion.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Branchenspezifische Risikotreiber anhand von Finanzkennzahlen und Marktdaten analysieren und gegenüber gesamtwirtschaftlichen Trends einordnen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Gesamtrisikoprofil eines KMU durch kritische Gegenüberstellung von Branchencharakteristiken mit unternehmensspezifischen Kennzahlen bewerten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Kreditanträge branchenübergreifend vergleichend beurteilen und Chancen wie Risiken transparent kommunizieren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individualisiertes Branchenrisiko-Scoring-Modell für die eigene Geschäftsregion entwickeln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08:30–08:40 </a:t>
            </a:r>
            <a:r>
              <a:rPr sz="1500" b="1">
                <a:solidFill>
                  <a:srgbClr val="3D5466"/>
                </a:solidFill>
                <a:latin typeface="Arial"/>
              </a:rPr>
              <a:t>  </a:t>
            </a:r>
            <a:r>
              <a:rPr sz="1200">
                <a:solidFill>
                  <a:srgbClr val="78808C"/>
                </a:solidFill>
                <a:latin typeface="Arial"/>
              </a:rPr>
              <a:t>  ·  Trainerinput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08:40–09:00 </a:t>
            </a:r>
            <a:r>
              <a:rPr sz="1500" b="1">
                <a:solidFill>
                  <a:srgbClr val="3D5466"/>
                </a:solidFill>
                <a:latin typeface="Arial"/>
              </a:rPr>
              <a:t>  </a:t>
            </a:r>
            <a:r>
              <a:rPr sz="1200">
                <a:solidFill>
                  <a:srgbClr val="78808C"/>
                </a:solidFill>
                <a:latin typeface="Arial"/>
              </a:rPr>
              <a:t>  ·  Blitzlicht-Runde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09:00–09:30 </a:t>
            </a:r>
            <a:r>
              <a:rPr sz="1500" b="1">
                <a:solidFill>
                  <a:srgbClr val="3D5466"/>
                </a:solidFill>
                <a:latin typeface="Arial"/>
              </a:rPr>
              <a:t>  </a:t>
            </a:r>
            <a:r>
              <a:rPr sz="1200">
                <a:solidFill>
                  <a:srgbClr val="78808C"/>
                </a:solidFill>
                <a:latin typeface="Arial"/>
              </a:rPr>
              <a:t>  ·  Gruppenarbeit + Plenumsvorstellung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Branchenstruktur und Risikoklassifikation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4.1.1 PORTER'S FIVE FORCES ALS ANALYSEGERÜST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fünf Kräfte im Überblick: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1. Bedrohung durch neue Konkurrenten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hoch sind Markteintrittsbarrieren? (Kapitalintensität, Skalenerfordernisse, Markenzugang)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Kreditrelevanz: Hohe Markteintrittsbarrieren → geringeres Überangebot → stabilere Margen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2. Verhandlungsmacht der Lieferanten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konzentriert ist der Liefermarkt?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Kreditrelevanz: Konzentrierte Lieferanten → Rohstoffpreisrisiko → Margenvolatilität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3. Verhandlungsmacht der Abnehmer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konzentriert ist der Kundenmarkt?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Kreditrelevanz: Wenige Großkunden → Konzentrationsrisiko → erhöhte Insolvenzwahrscheinlichkeit bei Kundenverlust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4. Bedrohung durch Substitute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Five-Forces-Modell nach Porter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Branchenlebenszyklus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Branchenspezifische Risikoklassen im KMU-Segment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4.2.1 BAUGEWERBE UND BAUTRÄGER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Charakteristika: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Projektgebundenheit: Jedes Objekt ist ein Einzelprojekt mit eigenen Fertigstellungs- und Kostenrisiken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Bauhandwerk: Umsätze 300.000–3 Mio. €, Eigenkapitalquote 10–20 %; Bauträger: Umsätze 1–20 Mio. €, EK-Quote oft 15–30 % (aber volumenabhängig)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Saisonalität: Wintermonate schwächer, Frühjahr/Sommer stärker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Typische Kennzahlen (Benchmark Baugewerbe):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EBIT-Marge: 3–6 % (branchentypisch niedrig wg. Wettbewerbsintensität)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Eigenkapitalquote: 12–18 %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Kapitalumschlag: 0,8–1,2x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Forderungslaufzeit: 45–60 Tage (Rechnungsstellung an Bauherr verzögert)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Quellen: Creditreform Branchenberichte ; BVR-Branchenblätter ; Deutsche Bundesbank Unternehmensabschlussstatistik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Kritische Frühwarnindikatoren: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Handlungskarte: Vom Branchensignal zur Kreditmaßnahme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folgende Handlungsempfehlung-Karte verdichtet die Branchenrisikoprofile aus diesem Abschnitt zu konkreten Wenn-Dann-Impulsen für Kreditentscheidung und Kundengespräch.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VR-Rating und branchenspezifische Ratingfaktoren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4.3.1 AUFBAU DES VR-RATINGS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VR-Rating kombiniert quantitative und qualitative Komponenten: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Quantitativ (ca. 60–70 % Gewicht):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Rentabilitätskennzahlen (EBIT-Marge, Eigenkapitalrentabilität)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Liquiditätskennzahlen (Liquiditätsgrade, Cash-Flow-Relationen)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Verschuldungskennzahlen (Eigenkapitalquote, Verschuldungsgrad, Zinsdeckungsquote)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Trendindikatoren (Entwicklung über 3 Jahre)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Qualitativ (ca. 30–40 % Gewicht):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Unternehmerqualität und Management-Kompetenz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Branchenrisiko (Kerngegenstand dieses Moduls)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Marktposition und Wettbewerbsfähigkeit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Nachfolgeplanung (bei KMU kritisch)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Theorie-Input: VR-Rating und branchenspezifische Ratingfaktoren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Branche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Mindest-EK-Quote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Begründung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Verarbeitendes Gewerbe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≥ 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Kapitalintensiv, Ausgleichspuffer nötig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Dienstleistung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≥ 15 %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Weniger kapitalintensiv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Einzelhandel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≥ 15–18 %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Niedrige Margen, hohe Diskontobligationen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Gastronomie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≥ 12–15 %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Hohe Standortrisiken, Volatilität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Theorie-Input: VR-Rating und branchenspezifische Ratingfaktoren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Bedeutung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X₁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Betriebskapital / Gesamtvermögen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Kurzfristige Liquidität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X₂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Gewinnrücklagen / Gesamtvermögen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Langfristige Rentabilität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X₃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 / Gesamtvermögen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Operative Rentabilität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X₄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Marktwert EK / Gesamtverbindlichkeiten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Kapitalstruktur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X₅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Umsatz / Gesamtvermögen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Kapitaleffizienz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Praxiscase: Bäckerei &amp; Konditorei Hofmann GmbH (Stuttgart, fiktiv)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4.4.2 FINANZIELLE SITUATION (JAHRESABSCHLUSS 2024, AUSZÜGE)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Bilanzauszug: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Gewinn- und Verlustrechnung 2024: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Kapitalflussrechnung 2024 (vereinfacht):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4.4.3 KREDITANFRAGE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Anlass: Investition in neue Backstube Kempten-Süd (170.000 €) + Filialmodernisierung Sonthofen (80.000 €)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Gesamtkreditbedarf: 250.000 € | Eigenanteil: 30.000 € | Kreditwunsch: 250.000 €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4.4.4 GESPRÄCHSVERLAUF: BRANCHENRISIKOANALYSE (BER = BERATER, GF = GESCHÄFTSFÜHRERIN)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Session 1 – Erstgespräch Branchenrisiko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GF: „Wir konnten die Preise nur um etwa 8–10 % erhöhen, ohne Kunden zu verlieren. Das hat die Marge deutlich gedrückt."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GF: „Nein, wir kaufen zu aktuellen Marktpreisen. Die Lieferanten bieten keine Festpreise an."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Praxiscase: Bäckerei &amp; Konditorei Hofmann GmbH (Stuttgart, fiktiv)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676"/>
                <a:gridCol w="54086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Betrag (€)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Operativer Cashflow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+55.000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Investitionsausgaben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−20.000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Freier Cashflow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+35.000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Schuldentilgung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−23.000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Privatentnahmen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−12.000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Kassenveränderung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Branchenrisiko-Analyse-Template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ARBEITSBLATT: BRANCHENRISIKO-ANALYSE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TEIL A – BRANCHENIDENTIFIKATION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TEIL B – PORTER'S FIVE FORCES (1 = sehr gering, 5 = sehr hoch)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TEIL C – KENNZAHLEN IM BRANCHENVERGLEICH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Gesamteinschätzung: ☐ Deutlich besser als Branche ☐ Vergleichbar ☐ Schwächer als Branche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TEIL D – FRÜHWARNINDIKATOREN (☐ nicht relevant | ⚠ Warnung | ✗ kritisch)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Branchenumfeld: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Brancheninsolvenzquote gestiegen &gt;5 % ggü. Vorjahr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Branchenumsatz rückläufig &gt;3 % ggü. Vorjahr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ifo Geschäftsklimaindex Branche &lt;90 Punkte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Regulatorische Änderungen angekündigt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Rohstoffe &amp; Lieferkette: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AB-1: Branchenrisiko-Analyse-Template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KMU-Wert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Branchenbenchmark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Bewertung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☐ Besser ☐ Gleich ☐ Schlechter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EBIT-Marge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☐ Besser ☐ Gleich ☐ Schlechter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Kapitalumschlag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☐ Besser ☐ Gleich ☐ Schlechter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Personalkosten/Umsatz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☐ Besser ☐ Gleich ☐ Schlechter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Zinsdeckungsquote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☐ Besser ☐ Gleich ☐ Schlechter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Rohstoffkosten/Umsatz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☐ Besser ☐ Gleich ☐ Schlechter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