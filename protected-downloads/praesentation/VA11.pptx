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Organigramm am Flipchart schrittweise aufbauen. Aktivierende Frage: „Was passiert, wenn wir eine Beteiligungsgesellschaft vergessen?" Ketten-Beispiel an der Tafel vorrechnen.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Fehlerhaft gebildete Einheiten sind ein wiederkehrender Prüfungsbefund: zu eng = Großkreditgrenze unerkannt überschritten; zu weit = Kreditspielräume blockiert.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Meldung an die FIU (§ 43 GwG) macht der Geldwäschebeauftragte, nicht die Assistenz. Liegen Verdachtsmerkmale vor, ist die Meldung verpflichtend – unabhängig von Kundenwert oder Beraterwunsch (BaFin AuA).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Kernpunkt: die Muster Spedition GmbH steht unter zwei Einbeziehungsgründen. Rechenweg der wB-Kette gemeinsam vorführen. Taschenrechner bereitstellen.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GwG-Sorgfaltspflicht steht über dem Berater-Wunsch und ist nicht ermessensabhängig. Die Verantwortung der Assistenz ist abgesichert, wenn sie dokumentiert und eskaliert.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AB-1/AB-2 Musterlösung (Trainer-Version)</a:t>
            </a:r>
          </a:p>
          <a:p>
            <a:r>
              <a:t>Muster Spedition GmbH steht unter zwei Einbeziehungsgründen. wB-Kette über die Holding durchrechnen (über 25 % = wB).</a:t>
            </a:r>
          </a:p>
          <a:p>
            <a:r>
              <a:t>Trainer-Hinweis: das Tipping-off-Verbot an Szenario A explizit herausarbeiten – der Kunde darf nicht gewarnt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Kernbotschaften: Einheit bilden, wB ermitteln, Verdacht melden. VA11 schließt das Kompetenzfeld K-A06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Reflexionsfrage 3 im Plenum. Prüfkarte AB-5 übergeben, Evaluation austeilen.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Einheiten und Geldwäscheprävention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Kreditnehmer-/Betreuungseinheiten, wirtschaftlich Berechtigter und Sorgfaltspflichten nach GwG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Mehrere Firmenkunden eines Inhabers sind oft mehr als Einzelengagements – aufsichtsrechtlich können sie eine Kreditnehmereinheit bilden, und hinter jeder juristischen Person steht ein wirtschaftlich Berechtigter, der identifiziert werden muss.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Beteiligungsstrukturen zu lesen, Einheiten regelkonform zu bilden, den wirtschaftlich Berechtigten über Beteiligungsketten zu ermitteln und Verdachtsmomente nach GwG zu erkennen und richtig zu eskalieren – ohne selbst Entscheidungen zu treffen, die dem Geldwäschebeauftragten vorbehalten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Kreditnehmereinheiten nach § 19 Abs. 2 KWG aus einer vorgegebenen Beteiligungsstruktur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Kreditnehmereinheit und Betreuungseinheit anhand ihrer Zwecke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wirtschaftlich Berechtigten einer Gesellschaft über mehrstufige Beteiligungsketten ermitteln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Verdachtsmomente im Firmenkundeninnendienst analysieren und den korrekten Eskalationsweg einleiten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Kreditnehmereinheit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Flipchart-Entwicklung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Wirtschaftlich Berechtigter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00:30–00:40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3: Geldwäscheprävention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Plenum-Frage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00:40–00:45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00:45–01:00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Einzelarbeit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Prüfkarte AB-5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Kreditnehmereinheit bilden und den wirtschaftlich Berechtigten durchrechnen.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Einheit und wirtschaftlich Berechtigter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Mehrere Firmenkunden eines Inhabers sind oft mehr als Einzelengagements – aufsichtsrechtlich können sie eine Kreditnehmereinheit bilden.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KREDITNEHMEREINHEIT (§ 19 ABS. 2 KWG)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Zwei Tatbestände: Beherrschung oder wirtschaftliche Abhängigkeit – greift einer, gehören die Gesellschaften in eine Einheit.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Großkredit ab 10 % der anrechenbaren Eigenmittel (Art. 392 CRR); Meldepflichten aggregieren über die Einheit.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WIRTSCHAFTLICH BERECHTIGTER (§ 3 ABS. 2 GWG)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Schwelle über 25 %; Ketten durchrechnen (z. B. 80 % × 70 % = 56 %). Transparenzregister abgleichen, Unstimmigkeit nach § 23a GwG melden.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Beteiligungsstruktur lesen: Einheit bilden, wB durchrechnen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00:30–00:40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Verdachtsmomente erkennen und den Eskalationsweg sicher einhalten.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Geldwäscheprävention: erkennen und melden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Assistenz erkennt und meldet – sie entscheidet nicht. Wer dokumentiert und eskaliert, ist abgesichert.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Innendienst ist der erste Kontaktpunkt, an dem Unstimmigkeiten und ungewöhnliche Muster sichtbar werden.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Verdacht: schriftlich dokumentieren, nichts am Ablauf ändern, unverzüglich den Geldwäschebeauftragten informieren.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Tipping-off-Verbot (§ 47 GwG): den Kunden nicht auf den Verdacht ansprechen. Die Sorgfaltspflicht ist nicht ermessensabhängig.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Verdacht erkennen und richtig eskalieren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00:40–01:20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Muster Holding GmbH – Einheit bilden, wB ermitteln, Verdacht prüfen.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Beteiligungsstruktur Muster Holding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DER FALL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Fünf Gesellschaften und zwei natürliche Personen bilden eine mehrstufige Beteiligungsstruktur.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Sie erhalten das Organigramm mit den Beteiligungsquoten – und zwei Verdachtsszenarien.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IHRE AUFGABE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Bilden Sie die Kreditnehmereinheit, ermitteln Sie den wirtschaftlich Berechtigten und bewerten Sie die Verdachtsszenarien.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Struktur, Verdacht, Standhaftigkeit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mehrere Gesellschaften eines Inhabers im Bestand geführt werden — dann mit dem Berater die Kreditnehmereinheit nach § 19 Abs. 2 KWG klären und alle Engagements unter derselben Einheit erfassen.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Verdachtsmoment wahrgenommen wird — dann dokumentieren, nichts ändern, den Geldwäschebeauftragten informieren und den Kunden NICHT ansprechen (Tipping-off).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Berater Druck macht, trotz Verdacht „einfach durchzuführen" — dann freundlich, aber bestimmt auf Rücksprache mit dem Geldwäschebeauftragten bestehen; im Zweifel die Teamleitung hinzuziehen.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Einheit, wB, Verdacht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Bilden Sie die Kreditnehmereinheit aus dem Organigramm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Ermitteln Sie den wirtschaftlich Berechtigten durch Durchrechnen der Ketten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Kreditnehmereinheit und Betreuungseinheit korrekt zu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die Verdachtsszenarien A und B (AB-4) – Prüfkarte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die Struktur durchschaut, erkennt das Risiko.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Kreditnehmereinheit und wirtschaftlich Berechtigten über Beteiligungsketten zu ermitteln ist die Grundlage jeder rechtssicheren Entscheidung.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Beteiligungsstruktur in Ihrem Bestand haben Sie noch nie vollständig durchgerechnet?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würden Sie im Alltag einen meldepflichtigen Verdachtsmoment erkennen?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Sie, wenn ein Berater Sie bittet, einen Vorgang trotz Ihrer Bedenken „einfach zu machen"?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