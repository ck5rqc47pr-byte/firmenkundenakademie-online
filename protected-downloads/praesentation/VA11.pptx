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Einheitenprüfung:</a:t>
            </a:r>
          </a:p>
          <a:p>
            <a:r>
              <a:t>Georg Muster hält über die Muster Holding GmbH mittelbar 100 % an Muster Transport GmbH und Muster Logistik GmbH sowie mittelbar 40 % an Muster Spedition GmbH. Bei Muster Spedition GmbH hält Sandra Muster direkt 60 %. Da Georg Muster beherrschenden Einfluss auf die Holding ausübt und die Speditions-GmbH wirtschaftlich von der Logistik-GmbH abhängt (80 % Umsatzanteil), ist die gesamte Gruppe einzubeziehen. Sandra Muster hält direkt 60 % der Speditions-GmbH und übt damit selbst Beherrschung über diese Gesellschaft aus (§ 19 Abs. 2 KWG, Beherrschungstatbestand); als beherrschende natürliche Person ist sie deshalb – nicht „mit Vorbehalt", sondern regelhaft – in die Einheit einzubeziehen. Die Speditions-GmbH steht damit unter zwei Einbeziehungsgründen: Beherrschung durch Sandra Muster und wirtschaftliche Abhängigkeit von der Logistik-GmbH.</a:t>
            </a:r>
          </a:p>
          <a:p>
            <a:r>
              <a:t>Gesamtengagement der Einheit: 750 + 400 + 200 = 1.350 TEUR</a:t>
            </a:r>
          </a:p>
          <a:p>
            <a:r>
              <a:t>Kernbefund für Trainer: Der Fall zeigt zwei Einbeziehungsgründe nebeneinander: (1) Beherrschung – Sandra Muster ist mit 60 % beherrschende Gesellschafterin der Speditions-GmbH und damit klar einzubeziehen; (2) wirtschaftliche Abhängigkeit – die Speditions-GmbH hängt zu 80 % von der Logistik-GmbH ab, was sie zusätzlich an die Holding-Gruppe bindet. Lehrpointe: Einheitenbildung kann auch bei formaler Beteiligung &lt; 50 % greifen (über die wirtschaftliche Abhängigkeit). Die Assistenz erkennt und strukturiert beides; die verbindliche rechtliche Beurteilung schließt die Marktfolge ab.</a:t>
            </a:r>
          </a:p>
          <a:p>
            <a:r>
              <a:t>Trainer-Hinweis: Die korrekte Einheitenbildung liegt letztlich bei der Marktfolge/Compliance. Die Assistenz soll erkennen, dass die Holding-Struktur und die wirtschaftliche Abhängigkeit der Speditions-GmbH kritisch sind – nicht selbst entscheiden. Den Teilnehmern klarmachen: Die Assistenz liefert die Struktur und markiert offene Fragen; die Marktfolge schließt die rechtliche Beurteilung ab. Zahlenbeispiel: Gesamtengagement 1.350 TEUR ist für viele VR-Banken Süddeutschlands bereits im Bereich der Großkreditprüfung relevant.</a:t>
            </a:r>
          </a:p>
          <a:p>
            <a:r>
              <a:t>AB-2 Musterlösung (Trainer-Version)</a:t>
            </a:r>
          </a:p>
          <a:p>
            <a:r>
              <a:t>Wirtschaftlich Berechtigter Muster Transport GmbH:</a:t>
            </a:r>
          </a:p>
          <a:p>
            <a:r>
              <a:t>Direkt beteiligt: Muster Holding GmbH (100 %).</a:t>
            </a:r>
          </a:p>
          <a:p>
            <a:r>
              <a:t>Durchgerechnet: Georg Muster hält 100 % der Holding → 100 % × 100 % = 100 % Beteiligung an Muster Transport GmbH.</a:t>
            </a:r>
          </a:p>
          <a:p>
            <a:r>
              <a:t>Sandra Muster hat keine Beteiligung an der Transport GmbH (nur an der Speditions-GmbH direkt).</a:t>
            </a:r>
          </a:p>
          <a:p>
            <a:r>
              <a:t>Wirtschaftlich Berechtigter: Georg Muster (&gt; 25 % direkt/mittelbar, kein Zweifel). Transparenzregister-Abgleich ist durchzuführen und zu dokumentieren.</a:t>
            </a:r>
          </a:p>
          <a:p>
            <a:r>
              <a:t>Trainer-Hinweis: Betonen: In einer zweistufigen Kette (natürliche Person → Holding → GmbH) ist die Rechnung simpel, weil Georg Muster 100 % hält. In der Praxis sind Ketten komplexer (z. B. 70 % × 60 % = 42 % – immer noch &gt; 25 %). 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Einheiten und Geldwäscheprävention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Kreditnehmer-/Betreuungseinheiten, wirtschaftlich Berechtigter und Sorgfaltspflichten nach GwG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K-A06 Neugeschäft &amp; gesetzliche Sorgfaltspflichten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Mehrere Firmenkunden eines Inhabers sind oft mehr als Einzelengagements – aufsichtsrechtlich können sie eine Kreditnehmereinheit bilden, und hinter jeder juristischen Person steht ein wirtschaftlich Berechtigter, der identifiziert werden muss.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Beteiligungsstrukturen zu lesen, Einheiten regelkonform zu bilden, den wirtschaftlich Berechtigten über Beteiligungsketten zu ermitteln und Verdachtsmomente nach GwG zu erkennen und richtig zu eskalieren – ohne selbst Entscheidungen zu treffen, die dem Geldwäschebeauftragten vorbehalten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Kreditnehmereinheiten nach § 19 Abs. 2 KWG aus einer vorgegebenen Beteiligungsstruktur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Kreditnehmereinheit und Betreuungseinheit anhand ihrer Zwecke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wirtschaftlich Berechtigten einer Gesellschaft über mehrstufige Beteiligungsketten ermitteln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Verdachtsmomente im Firmenkundeninnendienst analysieren und den korrekten Eskalationsweg einleiten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1: Kreditnehmereinheit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Flipchart-Entwicklung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2: Wirtschaftlich Berechtigter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Rechenbeispiel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00:30–00:40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3: Geldwäscheprävention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Plenum-Frage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00:40–00:45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00:45–01:00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Einzelarbeit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01:00–01:10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9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Prüfkarte AB-5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Kreditnehmereinheit – Zweck und Bildungsregeln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bilden mehrere Kreditnehmer eine Einheit? § 19 Abs. 2 KWG kennt zwei Tatbestände: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Wichtige Abgrenzung: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Kreditnehmereinheit ist ein aufsichtsrechtliches Konzept – sie bestimmt, wie Kreditengagements gemessen und gemeldet werden. Sie sagt nichts darüber aus, wie die Betreuung organisiert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Betreuungseinheit – vertriebliche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mehrere Gesellschaften eines Inhabers im Bestand geführt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Wirtschaftlich Berechtigter – Ermittlung nach GwG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Zusammenfassung Ermittlungsschritte: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Geldwäscheprävention im Innendienst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Verdachtsmomente im Firmenkundeninnendienst: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Verdachtsmoment wahrgenommen wird (unübliche Transaktion, inkonsistente Angaben, strukturierter Barverkehr)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den Vorgang schriftlich dokumentieren, nichts am Ablauf ändern und unverzüglich den Geldwäschebeauftragten informieren – NICHT den Kunden ansprechen (Tipping-off-Verbot)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Berater Druck macht, eine Stammdatenänderung oder Transaktion trotz eines erkannten Verdachts „einfach durchzuführen"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wirtschaftlich Berechtigte nicht eindeutig ermittelt werden kann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Beteiligungsstruktur Muster Holding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Beteiligungsstruktur: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Georg Muster (natürliche Person)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Sandra Muster (Ehefrau Georg Muster)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Bestandskunden würden Sie sich heute anschauen, um zu prüfen, ob möglicherweise eine Kreditnehmereinheit vorliegt, die bisher nicht als solche erfasst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gehen Sie vor, wenn ein Geschäftsführer Ihnen sagt, er sei selbst der Eigentümer – und keine weiteren Beteiligungen vorhanden seien – Sie aber an anderer Stelle anders lautende Informationen haben?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würden Sie tun, wenn ein Berater Sie bittet, bei einem verdächtigen Vorgang erst einmal „nichts zu unternehmen, der Kunde ist wichtig"?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