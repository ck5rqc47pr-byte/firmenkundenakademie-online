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AB-2 Musterlösung (Trainer-Version)</a:t>
            </a:r>
          </a:p>
          <a:p>
            <a:r>
              <a:t>Vollständig/aktuell (✓): Kreditantrag, Kreditbeschluss/Votum, Kreditvertrag, Sicherheiten/Grundbuch, HR-Auszug/KYC.</a:t>
            </a:r>
          </a:p>
          <a:p>
            <a:r>
              <a:t>Veraltet (∼): aktuelle BWA (7 Monate – sollte ≤ 3 Monate sein), Selbstauskunft GGF (3 Jahre alt).</a:t>
            </a:r>
          </a:p>
          <a:p>
            <a:r>
              <a:t>Fehlt (✗): zweiter Jahresabschluss (nur ein Jahr vorhanden).</a:t>
            </a:r>
          </a:p>
          <a:p>
            <a:r>
              <a:t>Kernbefund: Die Akte ist formal und sicherheitenseitig in Ordnung, scheitert aber an der § 18 KWG-Offenlegung. Vor der Auszahlung sind nachzufordern: (1) Jahresabschluss Vor-Vorjahr, (2) aktuelle BWA, (3) aktualisierte Selbstauskunft. Erst danach ist die Akte auszahlungsreif; die Marktfolge ist über die Nachforderung zu informieren.</a:t>
            </a:r>
          </a:p>
          <a:p>
            <a:r>
              <a:t>Trainer-Hinweis: Ziel ist nicht das Auswendiglernen einer Liste, sondern das Prinzip: formale Vollständigkeit ≠ ordnungsgemäße Akte. Lassen Sie die Teilnehmer selbst erkennen, dass die „unscheinbaren" Offenlegungsunterlagen der häufigste reale Mangel sind. Die Drei-Monats-Faustregel für die BWA ist ein Orientierungswert; die haus­interne Arbeitsanweisung geht vor.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VA01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Die Kreditakte sicher führen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Aufbau, Pflichtbestandteile und Vollständigkeitsprüfung im Firmenkundenkreditgeschäft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K-A01 Auftrags- &amp; Kreditsachbearbeitung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Sachbearbeitung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VA01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Eine unvollständige Kreditakte kostet Zeit, verzögert Auszahlungen und ist im schlimmsten Fall ein Prüfungsmangel.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diesem Einstiegsmodul lernen Sie, wie eine Kreditakte im Firmenkundengeschäft aufgebaut ist, welche Unterlagen verpflichtend hineingehören und wie die Funktionstrennung von Markt und Marktfolge Ihre Rolle prägt.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prüfen Sie Akten sicher auf Vollständigkeit, ordnen die § 18 KWG-Unterlagen richtig zu und veranlassen fehlende Nachweise strukturiert nach.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VA01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Aufbau, Zweck und Pflichtbestandteile einer Kreditakte im Firmenkundengeschäft beschreiben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aufsichtsrechtliche Funktionstrennung von Markt und Marktfolge erklären und die Rolle der Sachbearbeitung darin beschreiben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Vollständigkeit einer Kreditakte anhand einer Checkliste prüfen und fehlende Unterlagen identifizieren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Unterlagen zur laufenden Offenlegung nach § 18 KWG einer Beispielakte zuordnen und auf Aktualität prüfen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Einen Nachforderungs- und Wiedervorlagevorgang für fehlende Unterlagen korrekt veranlassen und dokumentieren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VA01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VA01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00:00–00:05 </a:t>
            </a:r>
            <a:r>
              <a:rPr sz="1500" b="1">
                <a:solidFill>
                  <a:srgbClr val="3D5466"/>
                </a:solidFill>
                <a:latin typeface="Arial"/>
              </a:rPr>
              <a:t>  Begrüßung &amp; Einstieg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00:05–00:20 </a:t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 1: Kreditakte</a:t>
            </a:r>
            <a:r>
              <a:rPr sz="1200">
                <a:solidFill>
                  <a:srgbClr val="78808C"/>
                </a:solidFill>
                <a:latin typeface="Arial"/>
              </a:rPr>
              <a:t>  ·  Kurzvortrag + aktivierendes Fragen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00:20–00:30 </a:t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 2: Funktionstrennung &amp; § 18 KWG</a:t>
            </a:r>
            <a:r>
              <a:rPr sz="1200">
                <a:solidFill>
                  <a:srgbClr val="78808C"/>
                </a:solidFill>
                <a:latin typeface="Arial"/>
              </a:rPr>
              <a:t>  ·  Kurzvortrag + Frage-Antwort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00:30–00:35 </a:t>
            </a:r>
            <a:r>
              <a:rPr sz="1500" b="1">
                <a:solidFill>
                  <a:srgbClr val="3D5466"/>
                </a:solidFill>
                <a:latin typeface="Arial"/>
              </a:rPr>
              <a:t>  Fallübergabe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00:35–00:50 </a:t>
            </a:r>
            <a:r>
              <a:rPr sz="1500" b="1">
                <a:solidFill>
                  <a:srgbClr val="3D5466"/>
                </a:solidFill>
                <a:latin typeface="Arial"/>
              </a:rPr>
              <a:t>  AB-1 &amp; AB-2 in Einzelarbeit</a:t>
            </a:r>
            <a:r>
              <a:rPr sz="1200">
                <a:solidFill>
                  <a:srgbClr val="78808C"/>
                </a:solidFill>
                <a:latin typeface="Arial"/>
              </a:rPr>
              <a:t>  ·  Einzelarbeit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00:50–01:05 </a:t>
            </a:r>
            <a:r>
              <a:rPr sz="1500" b="1">
                <a:solidFill>
                  <a:srgbClr val="3D5466"/>
                </a:solidFill>
                <a:latin typeface="Arial"/>
              </a:rPr>
              <a:t>  Plenumsbesprechung AB-1/AB-2</a:t>
            </a:r>
            <a:r>
              <a:rPr sz="1200">
                <a:solidFill>
                  <a:srgbClr val="78808C"/>
                </a:solidFill>
                <a:latin typeface="Arial"/>
              </a:rPr>
              <a:t>  ·  Moderierte Diskussion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01:05–01:15 </a:t>
            </a:r>
            <a:r>
              <a:rPr sz="1500" b="1">
                <a:solidFill>
                  <a:srgbClr val="3D5466"/>
                </a:solidFill>
                <a:latin typeface="Arial"/>
              </a:rPr>
              <a:t>  AB-3 &amp; AB-4</a:t>
            </a:r>
            <a:r>
              <a:rPr sz="1200">
                <a:solidFill>
                  <a:srgbClr val="78808C"/>
                </a:solidFill>
                <a:latin typeface="Arial"/>
              </a:rPr>
              <a:t>  ·  Einzel-/Partnerarbeit +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01:15–01:25 </a:t>
            </a:r>
            <a:r>
              <a:rPr sz="1500" b="1">
                <a:solidFill>
                  <a:srgbClr val="3D5466"/>
                </a:solidFill>
                <a:latin typeface="Arial"/>
              </a:rPr>
              <a:t>  Reflexion &amp; Transfer</a:t>
            </a:r>
            <a:r>
              <a:rPr sz="1200">
                <a:solidFill>
                  <a:srgbClr val="78808C"/>
                </a:solidFill>
                <a:latin typeface="Arial"/>
              </a:rPr>
              <a:t>  ·  Plenumsgespräch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01:25–01:30 </a:t>
            </a:r>
            <a:r>
              <a:rPr sz="1500" b="1">
                <a:solidFill>
                  <a:srgbClr val="3D5466"/>
                </a:solidFill>
                <a:latin typeface="Arial"/>
              </a:rPr>
              <a:t>  Abschluss &amp; Ausblick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VA01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VA01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Die Kreditakte – Zweck, Aufbau, Pflichtbestandteile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Typische Bestandteile einer Firmenkunden-Kreditakte: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Praxishinweis – Digitale oder physische Akte?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VA01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VA01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Funktionstrennung und § 18 KWG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Praxishinweis – Interne Offenlegungsgrenze beachten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VA01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VA01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Praxisfall: Holzbau Musterregion GmbH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Unternehmensportrait (anonymisiert, branchentypisch)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Akteninhalt (Ist-Stand):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folgende Handlungsempfehlung verknüpft typische Aktenmängel mit der passenden Reaktion – nutzen Sie sie bei der Fallarbeit.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Pflichtbestandteile zuordnen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Anleitung: Ordnen Sie die Unterlagen des Falls den sechs Aktenbereichen zu. Tragen Sie je Bereich mindestens eine Unterlage ein.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VA01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VA01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 Unterlage fehlt in Ihrer Praxis am häufigsten – und woran liegt das?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Wie erklären Sie einem Berater freundlich, dass eine Akte vor der Auszahlung noch nicht vollständig ist?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Woran erkennen Sie, dass eine Offenlegungsunterlage „nicht mehr aktuell genug" ist?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Wie reagieren Sie, wenn ein Firmenkunde direkt bei Ihnen anruft und nach dem Stand seiner Auszahlung fragt – aber noch Unterlagen fehlen und der Berater im Termin ist?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VA01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