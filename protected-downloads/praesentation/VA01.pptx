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Aktivierende Einstiegsfrage an die Gruppe: „Was ist das häufigste Defizit in einer Akte vor der Auszahlung?" Antworten sammeln, noch nicht auflösen – kommt beim Fall zurück.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Kernbotschaft betonen – formale Vollständigkeit ist nicht gleich ordnungsgemäße Akte. Eine veraltete BWA ist ein Mangel, auch wenn etwas hinterlegt 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Hausinterne Grenze thematisieren – liegt oft deutlich unter 750 TEUR (häufig 50–100 TEUR). Entscheidend für den Alltag ist, was das Haus festgelegt hat.</a:t>
            </a:r>
          </a:p>
          <a:p>
            <a:r>
              <a:t>Erwartbare Frage „Ich dachte, das gilt erst ab einer Million" – gesetzliche Grenze klar benennen, dann auf die Kreditpolitik verweisen.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Fall ruhig vorstellen, dann die Gruppe selbst prüfen lassen (Einzelarbeit). Trainer geht durch den Raum, hält sich zurück, beobachtet.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Kernbefund des Falls – formal und sicherheitenseitig in Ordnung, scheitert aber an der § 18-Offenlegung. Nachzufordern: (1) Jahresabschluss Vor-Vorjahr, (2) aktuelle BWA, (3) aktualisierte Selbstauskunft.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AB-2 Musterlösung (Trainer-Version)</a:t>
            </a:r>
          </a:p>
          <a:p>
            <a:r>
              <a:t>Vollständig/aktuell: Kreditantrag, Kreditbeschluss/Votum, Kreditvertrag, Sicherheiten/Grundbuch, HR-Auszug/KYC.</a:t>
            </a:r>
          </a:p>
          <a:p>
            <a:r>
              <a:t>Veraltet: aktuelle BWA (7 Monate – sollte höchstens 3 Monate sein), Selbstauskunft GGF (3 Jahre alt). Fehlt: zweiter Jahresabschluss.</a:t>
            </a:r>
          </a:p>
          <a:p>
            <a:r>
              <a:t>Trainer-Hinweis: Ziel ist das Prinzip formale Vollständigkeit ist nicht gleich ordnungsgemäße Akte, nicht das Auswendiglernen einer 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 zum Transfer – die Checkliste AB-5 ist das Werkzeug für morgen früh.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 Plenum Frage 1 oder 4 besprechen; Fragen 2 und 3 als schriftliche Aufgabe mitgeben (Fundament für VA02).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VA01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Die Kreditakte sicher führen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Aufbau, Pflichtbestandteile und Vollständigkeitsprüfung im Firmenkundenkreditgeschäft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K-A01 Auftrags- &amp; Kreditsachbearbeitung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Sachbearbeitung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VA01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Eine unvollständige Kreditakte kostet Zeit, verzögert Auszahlungen und ist im schlimmsten Fall ein Prüfungsmangel.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In diesem Einstiegsmodul lernen Sie, wie eine Kreditakte im Firmenkundengeschäft aufgebaut ist, welche Unterlagen verpflichtend hineingehören und wie die Funktionstrennung von Markt und Marktfolge Ihre Rolle prägt.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prüfen Sie Akten sicher auf Vollständigkeit, ordnen die § 18 KWG-Unterlagen richtig zu und veranlassen fehlende Nachweise strukturiert nach.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VA01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Aufbau, Zweck und Pflichtbestandteile einer Kreditakte im Firmenkundengeschäft beschreiben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aufsichtsrechtliche Funktionstrennung von Markt und Marktfolge erklären und die Rolle der Sachbearbeitung darin beschreiben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Vollständigkeit einer Kreditakte anhand einer Checkliste prüfen und fehlende Unterlagen identifizieren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Unterlagen zur laufenden Offenlegung nach § 18 KWG einer Beispielakte zuordnen und auf Aktualität prüfen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Einen Nachforderungs- und Wiedervorlagevorgang für fehlende Unterlagen korrekt veranlassen und dokumentieren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VA01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00:00–00:05 </a:t>
            </a:r>
            <a:r>
              <a:rPr sz="1500" b="1">
                <a:solidFill>
                  <a:srgbClr val="3D5466"/>
                </a:solidFill>
                <a:latin typeface="Arial"/>
              </a:rPr>
              <a:t>  Begrüßung &amp; Einstieg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00:05–00:20 </a:t>
            </a:r>
            <a:r>
              <a:rPr sz="1500" b="1">
                <a:solidFill>
                  <a:srgbClr val="3D5466"/>
                </a:solidFill>
                <a:latin typeface="Arial"/>
              </a:rPr>
              <a:t>  Theorie-Input 1: Kreditakte</a:t>
            </a:r>
            <a:r>
              <a:rPr sz="1200">
                <a:solidFill>
                  <a:srgbClr val="78808C"/>
                </a:solidFill>
                <a:latin typeface="Arial"/>
              </a:rPr>
              <a:t>  ·  Kurzvortrag + aktivierendes Fragen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00:20–00:30 </a:t>
            </a:r>
            <a:r>
              <a:rPr sz="1500" b="1">
                <a:solidFill>
                  <a:srgbClr val="3D5466"/>
                </a:solidFill>
                <a:latin typeface="Arial"/>
              </a:rPr>
              <a:t>  Theorie-Input 2: Funktionstrennung &amp; § 18 KWG</a:t>
            </a:r>
            <a:r>
              <a:rPr sz="1200">
                <a:solidFill>
                  <a:srgbClr val="78808C"/>
                </a:solidFill>
                <a:latin typeface="Arial"/>
              </a:rPr>
              <a:t>  ·  Kurzvortrag + Frage-Antwort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00:30–00:35 </a:t>
            </a:r>
            <a:r>
              <a:rPr sz="1500" b="1">
                <a:solidFill>
                  <a:srgbClr val="3D5466"/>
                </a:solidFill>
                <a:latin typeface="Arial"/>
              </a:rPr>
              <a:t>  Fallübergabe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00:35–00:50 </a:t>
            </a:r>
            <a:r>
              <a:rPr sz="1500" b="1">
                <a:solidFill>
                  <a:srgbClr val="3D5466"/>
                </a:solidFill>
                <a:latin typeface="Arial"/>
              </a:rPr>
              <a:t>  AB-1 &amp; AB-2 in Einzelarbeit</a:t>
            </a:r>
            <a:r>
              <a:rPr sz="1200">
                <a:solidFill>
                  <a:srgbClr val="78808C"/>
                </a:solidFill>
                <a:latin typeface="Arial"/>
              </a:rPr>
              <a:t>  ·  Einzelarbeit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00:50–01:05 </a:t>
            </a:r>
            <a:r>
              <a:rPr sz="1500" b="1">
                <a:solidFill>
                  <a:srgbClr val="3D5466"/>
                </a:solidFill>
                <a:latin typeface="Arial"/>
              </a:rPr>
              <a:t>  Plenumsbesprechung AB-1/AB-2</a:t>
            </a:r>
            <a:r>
              <a:rPr sz="1200">
                <a:solidFill>
                  <a:srgbClr val="78808C"/>
                </a:solidFill>
                <a:latin typeface="Arial"/>
              </a:rPr>
              <a:t>  ·  Moderierte Diskussion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01:05–01:20 </a:t>
            </a:r>
            <a:r>
              <a:rPr sz="1500" b="1">
                <a:solidFill>
                  <a:srgbClr val="3D5466"/>
                </a:solidFill>
                <a:latin typeface="Arial"/>
              </a:rPr>
              <a:t>  AB-3 &amp; AB-4</a:t>
            </a:r>
            <a:r>
              <a:rPr sz="1200">
                <a:solidFill>
                  <a:srgbClr val="78808C"/>
                </a:solidFill>
                <a:latin typeface="Arial"/>
              </a:rPr>
              <a:t>  ·  Einzel-/Partnerarbeit +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01:20–01:25 </a:t>
            </a:r>
            <a:r>
              <a:rPr sz="1500" b="1">
                <a:solidFill>
                  <a:srgbClr val="3D5466"/>
                </a:solidFill>
                <a:latin typeface="Arial"/>
              </a:rPr>
              <a:t>  Reflexion &amp; Transfer</a:t>
            </a:r>
            <a:r>
              <a:rPr sz="1200">
                <a:solidFill>
                  <a:srgbClr val="78808C"/>
                </a:solidFill>
                <a:latin typeface="Arial"/>
              </a:rPr>
              <a:t>  ·  Plenumsgespräch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01:25–01:30 </a:t>
            </a:r>
            <a:r>
              <a:rPr sz="1500" b="1">
                <a:solidFill>
                  <a:srgbClr val="3D5466"/>
                </a:solidFill>
                <a:latin typeface="Arial"/>
              </a:rPr>
              <a:t>  Abschluss &amp; Ausblick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00:05–00:20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Theorie-Input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Aufbau, Zweck und die sechs Bereiche einer Kreditakte verstehen.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Die Kreditakte: Zweck und Aufbau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Die Kreditakte ist das Gedächtnis des Engagements – sie belegt lückenlos, dass die Bank sorgfältig entschieden hat und laufend überwacht.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Sie dokumentiert die gesamte Geschäftsbeziehung von der Antragstellung bis zur Rückzahlung.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Sie ist Grundlage jeder Prüfung durch Interne Revision, Wirtschaftsprüfer und Bankenaufsicht.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Ordnungsmäßigkeit heißt zweierlei – alle Pflichtunterlagen vorhanden und aktuell genug.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VA01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Die sechs Bereiche einer Firmenkunden-Kreditakte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63" y="1325880"/>
            <a:ext cx="8170026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00:20–00:30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Theorie-Input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Funktionstrennung Markt/Marktfolge und § 18 KWG in der eigenen Rolle verorten.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Funktionstrennung und § 18 KWG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Die Trennung von Markt und Marktfolge (MaRisk BTO 1.2) sichert das Vier-Augen-Prinzip – der Innendienst ist die unabhängige zweite Instanz.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LAUFENDE OFFENLEGUNG NACH § 18 KWG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Ab 750.000 EUR Gesamtverschuldung muss sich die Bank die wirtschaftlichen Verhältnisse laufend offenlegen lassen – nicht nur bei Antragstellung.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Dazu zählen aktuelle Jahresabschlüsse und unterjährige Auswertungen (BWA).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Fehlende Offenlegung ist ein klassischer Prüfungsmangel und im Innendienst der häufigste Nachforderungsgrund.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VA01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Funktionstrennung: Markt und Marktfolge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63" y="1325880"/>
            <a:ext cx="8170026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00:30–01:20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Fallübergabe &amp; Fallarbeit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Ist die Akte der Holzbau Musterregion GmbH auszahlungsreif?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VA01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Praxisfall: Holzbau Musterregion GmbH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DER FALL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Zimmerei- und Holzbaubetrieb, 18 Mitarbeiter, Hausbank VR-Bank Musterregion eG.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Investitionskredit 900 TEUR (Abbundanlage und Hallenerweiterung) – die Auszahlung steht kurz bevor.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IHRE AUFGABE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Kreditakte liegt Ihnen zur abschließenden Bearbeitung vor. Prüfen Sie vor der Auszahlungsfreigabe die Vollständigkeit.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Handlungsempfehlung: von der Lücke zur Handlung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aktuelle BWA älter als drei Monate — dann BWA beim Kunden bzw. Steuerberater nachfordern und Wiedervorlage setzen.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Offenlegungsunterlagen nach § 18 KWG unvollständig — dann vor Auszahlung die vollständige Offenlegung einholen und die Marktfolge informieren.</a:t>
            </a:r>
          </a:p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Wenn Selbstauskunft des Gesellschafter-GF veraltet — dann aktualisierte Selbstauskunft anfordern und Eingang dokumentieren.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VA01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 bearbeiten: Kreditakte prüfen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Ordnen Sie die Unterlagen des Falls den sechs Aktenbereichen zu (AB-1).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Prüfen Sie die Vollständigkeit mit der Checkliste AB-5 – markieren Sie: vollständig, veraltet oder fehlt.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Ordnen Sie die § 18 KWG-Unterlagen zu und bewerten Sie ihre Aktualität (AB-3).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Legen Sie für jede fehlende/veraltete Unterlage einen Nachforderungsvorgang an (AB-4).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Prinzip dieses Moduls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Eine vollständige Akte ist gelebte Marktfolge.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Sachbearbeitung sichert die aufsichtsrechtliche Funktionstrennung; eine lückenlose Kreditakte schützt Bank und Kunde.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VA01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Reflexionsfragen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 Unterlage fehlt in Ihrer Praxis am häufigsten – und woran liegt das?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Wie erklären Sie einem Berater freundlich, dass eine Akte vor der Auszahlung noch nicht vollständig ist?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Woran erkennen Sie, dass eine Offenlegungsunterlage nicht mehr aktuell genug ist?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Wie reagieren Sie, wenn ein Firmenkunde direkt nach dem Stand seiner Auszahlung fragt – aber noch Unterlagen fehlen und der Berater im Termin ist?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VA01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