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aus dem Ablaufplan (Sektion 3.1). Timing und Pausen siehe Trainerhandbuch.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Moderation (HB Sec 3): Kein fertiges Tool – Pinnwand und Moderationskarten reichen Anleitung: Jede Person des Teams als Feld, darunter ihre Kernwissensgebiete notieren; Lücken rot markieren Häufiges Ergebnis: TN erkennen, dass Schlüsselwissen bei einer Person liegt (Single Point of Failure) Für neue Berater (&lt; 3 Jahre im Team): Wenn TN ihr Team noch nicht gut kennen, umformulieren: „Tragen Sie ein, was Sie wissen – und markieren Sie rot, was Sie nicht wissen. Dieses Ergebnis ist genauso wertvoll: Es zeigt die Wissenstransparenz-Lücke in Ihrem Team." Das „Nicht-Wissen" ist kein Scheitern, sondern das ehrlichste Ergebnis der Übung.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817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C8D2E6"/>
                </a:solidFill>
                <a:latin typeface="Consolas"/>
              </a:rPr>
              <a:t>FKB CAMPUS  ·  FIRMENKUNDENAKADEMIE  ·  M19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173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Arial"/>
              </a:rPr>
              <a:t>Wissenstransfer im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977639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BECDE6"/>
                </a:solidFill>
                <a:latin typeface="Arial"/>
              </a:rPr>
              <a:t>Implizites Expertenwissen systematisch weitergeben und Lerngemeinschaften im FK-Team aufbauen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029200"/>
            <a:ext cx="10817352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KOMPETENZFELD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K-06 Führung &amp; Entwicklung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1584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KOMPETENZSTUFE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1584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Sparringspartner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7368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7368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v1.0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96A5BE"/>
                </a:solidFill>
                <a:latin typeface="Consolas"/>
              </a:rPr>
              <a:t>FKB Campus  · 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4476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96A5BE"/>
                </a:solidFill>
                <a:latin typeface="Consolas"/>
              </a:rPr>
              <a:t>Trainer-Präsentation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ÜBERBLICK  ·  M19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Worum geht es heute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97200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Das wertvollste Wissen Ihres Teams steckt in den Köpfen einzelner – und geht mit jeder Verrentung verloren.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Sie lernen Formate des Wissenstransfers (kollegiale Fallberatung, SECI-Modell) und trainieren deren Moderation.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Danach etablieren Sie Routinen, mit denen Erfahrungswissen im Team systematisch weitergegeben wird.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LERNZIELE  ·  M19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Was Sie heute mitnehmen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81735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Explizites und implizites Wissen im Beratungsalltag analysieren und ungenutzte Transferbereiche identifizieren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Mindestens zwei Wissenstransfer-Methoden auf den eigenen Teamkontext anwenden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Typische Transferbarrieren analysieren und Gegenmaßnahmen ableiten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Eine geeignete Wissenstransfer-Routine für den Teamkontext auswählen und die Wahl anhand von Transferbarrieren begründen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Den Nutzen des Teams als Community of Practice bewerten und konkrete Stärkungsschritte begründen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AGENDA  ·  M19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So läuft das Modul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1081735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00:00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Einstieg: Wissens-Inventur</a:t>
            </a:r>
            <a:r>
              <a:rPr sz="900">
                <a:solidFill>
                  <a:srgbClr val="78808C"/>
                </a:solidFill>
                <a:latin typeface="Arial"/>
              </a:rPr>
              <a:t>  ·  Einzelarbeit + Sammlung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00:10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Theorie-Block I</a:t>
            </a:r>
            <a:r>
              <a:rPr sz="900">
                <a:solidFill>
                  <a:srgbClr val="78808C"/>
                </a:solidFill>
                <a:latin typeface="Arial"/>
              </a:rPr>
              <a:t>  ·  Vortrag + Folie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00:30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Wissenslandkarte</a:t>
            </a:r>
            <a:r>
              <a:rPr sz="900">
                <a:solidFill>
                  <a:srgbClr val="78808C"/>
                </a:solidFill>
                <a:latin typeface="Arial"/>
              </a:rPr>
              <a:t>  ·  Gruppenarbeit (Pinnwand)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00:40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Theorie-Block II</a:t>
            </a:r>
            <a:r>
              <a:rPr sz="900">
                <a:solidFill>
                  <a:srgbClr val="78808C"/>
                </a:solidFill>
                <a:latin typeface="Arial"/>
              </a:rPr>
              <a:t>  ·  Vortrag + Methodenblatt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00:55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Methoden-Auswahl</a:t>
            </a:r>
            <a:r>
              <a:rPr sz="900">
                <a:solidFill>
                  <a:srgbClr val="78808C"/>
                </a:solidFill>
                <a:latin typeface="Arial"/>
              </a:rPr>
              <a:t>  ·  Gruppenarbeit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01:05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Kurzpräsentationen</a:t>
            </a:r>
            <a:r>
              <a:rPr sz="900">
                <a:solidFill>
                  <a:srgbClr val="78808C"/>
                </a:solidFill>
                <a:latin typeface="Arial"/>
              </a:rPr>
              <a:t>  ·  Plenum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01:15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Transfer &amp; Commitment</a:t>
            </a:r>
            <a:r>
              <a:rPr sz="900">
                <a:solidFill>
                  <a:srgbClr val="78808C"/>
                </a:solidFill>
                <a:latin typeface="Arial"/>
              </a:rPr>
              <a:t>  ·  Einzelarbeit schriftlich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01:20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Abschluss</a:t>
            </a:r>
            <a:r>
              <a:rPr sz="900">
                <a:solidFill>
                  <a:srgbClr val="78808C"/>
                </a:solidFill>
                <a:latin typeface="Arial"/>
              </a:rPr>
              <a:t>  ·  Plenum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01:25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Feedbackbogen</a:t>
            </a:r>
            <a:r>
              <a:rPr sz="900">
                <a:solidFill>
                  <a:srgbClr val="78808C"/>
                </a:solidFill>
                <a:latin typeface="Arial"/>
              </a:rPr>
              <a:t>  ·  Einzeln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01:30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Ende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M19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SECI-Modell Wissensspirale nach Nonaka &amp; Takeuchi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4863" y="1325880"/>
            <a:ext cx="7079225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M19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Kolb-Lernzyklus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4863" y="1325880"/>
            <a:ext cx="7079225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M19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Methode 1: Tandem-Kundenbesuch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Was: Zwei Berater besuchen gemeinsam einen Kunden – einer führt, einer beobachtet.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Wann: Bei speziellem Branchenwissen oder neuem Kundensegment.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Ablauf: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Kurze Vorbesprechung (10 Min.): Wer übernimmt welche Rolle? Welche Beobachtungsaufgabe hat der Gast?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Kundenbesuch (gemeinsam, einer führt)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Nachbesprechung (15 Min.): Beobachter gibt strukturiertes Feedback; Berater teilt Hintergrundwissen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Qualitätsfaktor: Der Beobachter hat vorab eine konkrete Beobachtungsaufgabe (z.B. „achte auf, wie der Kollege das Thema Nachfolge einführt").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M19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Methode 2: Strukturierte Fallbesprechung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Was: 45-minütiges Team-Format, in dem ein Berater einen aktuellen Fall vorstellt und das Team kollektiv reflektiert.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Struktur: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Qualitätsfaktor: Die stille Reflexion vor der Diskussion verhindert Gruppendenken (Anchoring-Bias).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M19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Methode 3: Wissenslandkarte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Was: Visualisierung, wer im Team über welches Spezialwissen verfügt.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Wann: Einmalig erstellen, halbjährlich aktualisieren.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Inhalt: Pro Berater: Branchenexpertise, Sonderwissen (z.B. Nachfolge, Landwirtschaft, Heilberufe), bevorzugte Methoden, Kontaktnetzwerk.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Nutzen: Neue Berater wissen sofort, wen sie bei welchem Thema fragen sollen. Der Teamleiter erkennt Wissensinseln und -lücken.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M19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Methode 4: Lunch-and-Learn (15 Minuten)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Was: Kurzes, informelles Wissensformat – ein Berater erklärt an einem konkreten Beispiel eine Technik oder ein Konzept.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Wann: Spontan oder geplant, 1–2× pro Monat.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Qualitätsfaktor: Keine Präsentation, keine Vorbereitung – nur Erzählen + Fragen.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M19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Hinweis: Hybride und standortverteilte Teams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Viele VR-Bank-FK-Teams arbeiten inzwischen über mehrere Geschäftsstellen verteilt oder hybrid. Die o.g. Methoden funktionieren auch auf Distanz – mit kleinen Anpassungen: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M19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Methode 5: Reverse Mentoring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Was: Jüngere/neuere Berater unterweisen erfahrene Berater in Digitalthemen oder neuen Systemfunktionen.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Wann: Bei Einführung neuer Tools (z.B. agree-Updates, CRM-Erweiterungen).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Nutzen: Durchbricht die Hierarchie als Wissensbarriere; wertet beide Seiten auf.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## 4.6 Typische Transferbarrieren und Gegenmaßnahmen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## 4.7 Praxiscase: Team Ostbayern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Ausgangssituation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Gleichzeitig sind drei jüngere Berater seit 2–4 Jahren im Team. Sie beherrschen agree gut, kennen aber die regionalen Besonderheiten kaum.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Maßnahmen von Claudia Möller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Schritt 1 – Wissenslandkarte erstellen (Monat 1):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Schritt 2 – Tandem-Besuche einführen (Monat 2–3):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Schritt 3 – Monatliche Fallbesprechung (ab Monat 2):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Ergebnis nach 6 Monaten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M19  ·  ÜBERSICHT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AB-1: Wissenslandkarte – eigener Steckbrief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17352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8676"/>
                <a:gridCol w="5408676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Frage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Ihre Antwort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Meine Branchenschwerpunkte (Top 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Wissen, das ich habe und andere kaum (implizit)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Erfahrungen, die ich gerne weitergeben würde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Themen, bei denen ich von anderen lernen möchte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Kollegen, die ich gerne als Tandem-Partner hätte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Übersicht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M19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AB-2: Fallbesprechung vorbereiten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(für den Fallbringer)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M19  ·  ÜBERSICHT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AB-3: Wissenstransfer-Maßnahmenplan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17352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3470"/>
                <a:gridCol w="2163470"/>
                <a:gridCol w="2163470"/>
                <a:gridCol w="2163470"/>
                <a:gridCol w="2163472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Methode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Wann?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Wer organisiert?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Wer nimmt teil?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Erfolgskriterium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Tandem-Besuche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Monatliche Fallbesprechung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Wissenslandkarte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Lunch-and-Learn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Reverse Mentoring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Übersicht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