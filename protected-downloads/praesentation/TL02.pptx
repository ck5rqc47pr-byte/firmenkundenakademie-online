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Trainer-Hinweis: Das situative Modell diagnostiziert Sigrids Zurückhaltung als D3 (hohe Kompetenz, sinkendes Engagement). Das greift, wenn die Ursache Selbstzweifel oder Komfortzonenverlust ist. Wenn Sigrid das Tool jedoch aus einer grundsätzlichen Überzeugung ablehnt – sie hält maschinelle Ratings prinzipiell für fachlich minderwertig – dann liegt kein D3-Problem vor, sondern ein Wertekonflikt. Das situative Modell trennt Kompetenz und Commitment, nicht Kompetenz und Wertekongruenz. Ein Berater, der eine Vorgabe aus Überzeugung ablehnt, braucht kein anderes S3/S4-Führungsverhalten, sondern ein klärendes Gespräch über Erwartungen und Verbindlichkeiten. Diese Grenze des Modells ist für den Seminarkontext wichtig: Führungsstile lösen keine Wertekonflikte – sie strukturieren die Beziehungsqualität.</a:t>
            </a:r>
          </a:p>
          <a:p>
            <a:r>
              <a:t>Trainer-Hinweis: Die Sequenz Vereinbarung → Nicht-Einhalten → Konsequenz ist der häufigste Punkt, an dem neue Teamleiter ausweichen – sie führen lieber ein drittes Erklärungsgespräch, als die Nicht-Erfüllung direkt zu benennen. Das kostet Glaubwürdigkeit. Die entscheidende Faustregel: Sobald eine Vereinbarung nicht eingehalten wurde, ändert sich der Gesprächstyp. Es ist dann kein S3-Gespräch mehr, sondern ein Klärungsgespräch mit Konsequenzklarheit. Dieses Format wird in TL05 (Feedbackgespräche) und TL06 (schwierige Gespräche) vertieft.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Trainer-Hinweis: Der Sprachcheck ist kein Bewertungsformat, sondern ein Kalibrierungsformat. Ziel ist, dass Teilnehmer die Wirkung ihrer Formulierungen aus der Empfängerperspektive einschätzen können – ohne zu simulieren. Häufige Beobachtung: Einstiege sind entweder zu weich (Entschuldigung für das Gespräch) oder zu scharf (Vorwurfscharakter). Der richtige Ton ist: neutral, sachlich, erwartungsklar.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Trainer-Hinweis: Keine Sammlung im Plenum – die Selbstreflexion bleibt persönlich. Sie dient als Einstieg in die kollegiale Fallberatung: Die Frage 4 kann freiwillig als Ausgangsfall eingebracht werden.</a:t>
            </a:r>
          </a:p>
          <a:p>
            <a:r>
              <a:t>AB-1 Musterlösung (Trainer-Version)</a:t>
            </a:r>
          </a:p>
          <a:p>
            <a:r>
              <a:t>Ausfüllbeispiel (Orientierung für den Trainer, wird nicht ausgeteilt)</a:t>
            </a:r>
          </a:p>
          <a:p>
            <a:r>
              <a:t>Mitarbeiter: Jonas W. | Aufgabe: Erste eigenständige Kreditunterlagenprüfung</a:t>
            </a:r>
          </a:p>
          <a:p>
            <a:r>
              <a:t>Reifegrad: D1 | Führungsstil: S1 (Dirigieren)</a:t>
            </a:r>
          </a:p>
          <a:p>
            <a:r>
              <a:t>Konkretes Verhalten: Schritt-für-Schritt-Checkliste, tägl. 10-Minuten-Check, wenig Diskussion, viel Struktur.</a:t>
            </a:r>
          </a:p>
          <a:p>
            <a:r>
              <a:t>Bisheriger Stil: oft spontan S2 (erklärt viel, geht auf Fragen ein) – kostet Zeit und verwirrt Jonas, da er noch keine Basis hat, auf der er die Erklärungen einordnen kann.</a:t>
            </a:r>
          </a:p>
          <a:p>
            <a:r>
              <a:t>Trainer-Hinweis: Häufige Fehlerquelle: Engagement (Jonas fragt viel, ist sichtbar motiviert) wird mit hohem Reifegrad verwechselt. Das Modell trennt Können und Wollen bewusst – Jonas hat viel Wollen (D1) und braucht deshalb keine Partizipation, sondern Struktur. Hohe Sichtbarkeit (fragt viel, ist enthusiastisch) ist kein Reifegrad-Merkmal – es ist ein Engagement-Merkmal.</a:t>
            </a:r>
          </a:p>
          <a:p>
            <a:r>
              <a:t>Trainer-Hinweis: Die Formulierungsbausteine decken S1, S4 und S2/S3 ab. Die TN sollen den passenden für ihre eigene Situation wählen und ggf. eigene Formulierungen entwickeln. Kein Richtig/Falsch, sondern Sprachfähigkeit für Stilentscheidungen aufbauen.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Consolas"/>
              </a:rPr>
              <a:t>FKB CAMPUS  ·  FIRMENKUNDENAKADEMIE  ·  TL02</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Arial"/>
              </a:rPr>
              <a:t>Führungsstile &amp; situatives Führen</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Arial"/>
              </a:rPr>
              <a:t>Den Führungsstil an Mensch und Situation anpassen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Consolas"/>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K-F01 Führung &amp; Teamentwicklung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Consolas"/>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Teamleiter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Consolas"/>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v0.2</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Consolas"/>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Consolas"/>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ÜBERBLICK  ·  TL02</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Es gibt nicht den einen richtigen Führungsstil – sondern den zur Situation und zum Reifegrad des Mitarbeiters passenden.</a:t>
            </a:r>
          </a:p>
          <a:p>
            <a:pPr>
              <a:spcAft>
                <a:spcPts val="1200"/>
              </a:spcAft>
            </a:pPr>
            <a:r>
              <a:rPr sz="1700">
                <a:solidFill>
                  <a:srgbClr val="3D5466"/>
                </a:solidFill>
                <a:latin typeface="Arial"/>
              </a:rPr>
              <a:t>In diesem Halbtags-Workshop erarbeiten Sie die theoretischen Grundlagen der wichtigsten Stilmodelle (Verhaltensgitter, Kontingenz, situatives Führen) und übersetzen sie unmittelbar in Ihren eigenen Führungsalltag: Welchen Stil braucht Ihr Neuling bei der ersten eigenständigen Kreditanalyse?</a:t>
            </a:r>
          </a:p>
          <a:p>
            <a:pPr>
              <a:spcAft>
                <a:spcPts val="1200"/>
              </a:spcAft>
            </a:pPr>
            <a:r>
              <a:rPr sz="1700">
                <a:solidFill>
                  <a:srgbClr val="3D5466"/>
                </a:solidFill>
                <a:latin typeface="Arial"/>
              </a:rPr>
              <a:t>Welchen braucht Ihr 20-jähriger Profi beim Umstieg auf ein neues Bewertungssystem?</a:t>
            </a:r>
          </a:p>
          <a:p>
            <a:pPr>
              <a:spcAft>
                <a:spcPts val="1200"/>
              </a:spcAft>
            </a:pPr>
            <a:r>
              <a:rPr sz="1700">
                <a:solidFill>
                  <a:srgbClr val="3D5466"/>
                </a:solidFill>
                <a:latin typeface="Arial"/>
              </a:rPr>
              <a:t>Über Diagnose-Übungen und kollegiale Fallberatung schärfen Sie Ihren Blick für Reifegrade – und entwickeln für zwei konkrete Mitarbeiter aus Ihrem Team einen begründeten Führungsstil-Entscheid.</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LERNZIELE  ·  TL02</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Die vier Führungsstile des situativen Modells nach Hersey und Blanchard (dirigieren, coachen/trainieren, sekundieren, delegieren) sowie das zugrundeliegende Reifegrad-Konstrukt (Kompetenz × Motivation) erklären</a:t>
            </a:r>
          </a:p>
          <a:p>
            <a:pPr>
              <a:spcBef>
                <a:spcPts val="800"/>
              </a:spcBef>
              <a:spcAft>
                <a:spcPts val="200"/>
              </a:spcAft>
            </a:pPr>
            <a:r>
              <a:rPr sz="1400">
                <a:solidFill>
                  <a:srgbClr val="3D5466"/>
                </a:solidFill>
                <a:latin typeface="Arial"/>
              </a:rPr>
              <a:t>▸  Den Reifegrad eines konkreten Mitarbeiters in Bezug auf eine spezifische Aufgabe einschätzen und den passenden Führungsstil begründet auswählen</a:t>
            </a:r>
          </a:p>
          <a:p>
            <a:pPr>
              <a:spcBef>
                <a:spcPts val="800"/>
              </a:spcBef>
              <a:spcAft>
                <a:spcPts val="200"/>
              </a:spcAft>
            </a:pPr>
            <a:r>
              <a:rPr sz="1400">
                <a:solidFill>
                  <a:srgbClr val="3D5466"/>
                </a:solidFill>
                <a:latin typeface="Arial"/>
              </a:rPr>
              <a:t>▸  Das eigene Führungsverhalten mit Blick auf den bevorzugten Standard-Führungsstil reflektieren und Situationen benennen, in denen ein anderer Stil wirksamer wäre</a:t>
            </a:r>
          </a:p>
          <a:p>
            <a:pPr>
              <a:spcBef>
                <a:spcPts val="800"/>
              </a:spcBef>
              <a:spcAft>
                <a:spcPts val="200"/>
              </a:spcAft>
            </a:pPr>
            <a:r>
              <a:rPr sz="1400">
                <a:solidFill>
                  <a:srgbClr val="3D5466"/>
                </a:solidFill>
                <a:latin typeface="Arial"/>
              </a:rPr>
              <a:t>▸  Die Kernidee transformationaler Führung (vier I nach Bass &amp; Avolio) als Entwicklungsrichtung über das situative Führen hinaus einordnen und mit dem Servant-Leadership-Leitbild der VR-Bank verbinden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AGENDA  ·  TL02</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08:30–08:45 </a:t>
            </a:r>
            <a:r>
              <a:rPr sz="1200" b="1">
                <a:solidFill>
                  <a:srgbClr val="3D5466"/>
                </a:solidFill>
                <a:latin typeface="Arial"/>
              </a:rPr>
              <a:t>  Ankommen &amp; Einstieg</a:t>
            </a:r>
            <a:r>
              <a:rPr sz="900">
                <a:solidFill>
                  <a:srgbClr val="78808C"/>
                </a:solidFill>
                <a:latin typeface="Arial"/>
              </a:rPr>
              <a:t>  ·  Begrüßung, Vorstellungsrunde (Name, Team, eine Führungssituation aus der letzten Woche)</a:t>
            </a:r>
          </a:p>
          <a:p>
            <a:pPr>
              <a:spcBef>
                <a:spcPts val="400"/>
              </a:spcBef>
              <a:spcAft>
                <a:spcPts val="100"/>
              </a:spcAft>
            </a:pPr>
            <a:r>
              <a:rPr sz="900">
                <a:solidFill>
                  <a:srgbClr val="78808C"/>
                </a:solidFill>
                <a:latin typeface="Consolas"/>
              </a:rPr>
              <a:t>08:45–09:00 </a:t>
            </a:r>
            <a:r>
              <a:rPr sz="1200" b="1">
                <a:solidFill>
                  <a:srgbClr val="3D5466"/>
                </a:solidFill>
                <a:latin typeface="Arial"/>
              </a:rPr>
              <a:t>  Aktivierung: Stilbefragung</a:t>
            </a:r>
            <a:r>
              <a:rPr sz="900">
                <a:solidFill>
                  <a:srgbClr val="78808C"/>
                </a:solidFill>
                <a:latin typeface="Arial"/>
              </a:rPr>
              <a:t>  ·  Einzelarbeit: Jeder notiert, welchen Führungsstil er gestern oder vorgestern eingesetzt hat – und warum. Kurze Spontanmeldungen im Plenum (kein Bewertungsformat).</a:t>
            </a:r>
          </a:p>
          <a:p>
            <a:pPr>
              <a:spcBef>
                <a:spcPts val="400"/>
              </a:spcBef>
              <a:spcAft>
                <a:spcPts val="100"/>
              </a:spcAft>
            </a:pPr>
            <a:r>
              <a:rPr sz="900">
                <a:solidFill>
                  <a:srgbClr val="78808C"/>
                </a:solidFill>
                <a:latin typeface="Consolas"/>
              </a:rPr>
              <a:t>09:00–09:40 </a:t>
            </a:r>
            <a:r>
              <a:rPr sz="1200" b="1">
                <a:solidFill>
                  <a:srgbClr val="3D5466"/>
                </a:solidFill>
                <a:latin typeface="Arial"/>
              </a:rPr>
              <a:t>  Theorie-Input: Vom Verhaltensgitter zum situativen Modell</a:t>
            </a:r>
            <a:r>
              <a:rPr sz="900">
                <a:solidFill>
                  <a:srgbClr val="78808C"/>
                </a:solidFill>
                <a:latin typeface="Arial"/>
              </a:rPr>
              <a:t>  ·  Trainerinput mit Visualisierung (Folie/Flipchart): Forschungsbogen Blake/Mouton → Fiedler → Hersey/Blanchard. D1–D4/S1–S4-Matrix erarbeiten. D2 als kritisches Stadium besonders erläutern. Aufgabenbezug des Reifegrades betonen.</a:t>
            </a:r>
          </a:p>
          <a:p>
            <a:pPr>
              <a:spcBef>
                <a:spcPts val="400"/>
              </a:spcBef>
              <a:spcAft>
                <a:spcPts val="100"/>
              </a:spcAft>
            </a:pPr>
            <a:r>
              <a:rPr sz="900">
                <a:solidFill>
                  <a:srgbClr val="78808C"/>
                </a:solidFill>
                <a:latin typeface="Consolas"/>
              </a:rPr>
              <a:t>09:40–10:00 </a:t>
            </a:r>
            <a:r>
              <a:rPr sz="1200" b="1">
                <a:solidFill>
                  <a:srgbClr val="3D5466"/>
                </a:solidFill>
                <a:latin typeface="Arial"/>
              </a:rPr>
              <a:t>  Theorie verankern: Vier-Felder-Quiz</a:t>
            </a:r>
            <a:r>
              <a:rPr sz="900">
                <a:solidFill>
                  <a:srgbClr val="78808C"/>
                </a:solidFill>
                <a:latin typeface="Arial"/>
              </a:rPr>
              <a:t>  ·  Trainer nennt 4 Kurzfälle (je 2–3 Sätze), TN ordnen auf Karten: Welcher Reifegrad? Welcher Stil? Karten hochhalten, kurzes Blitzfeedback. Keine Auflösung als Richtig/Falsch – Diskussion der Einschätzungsunterschiede.</a:t>
            </a:r>
          </a:p>
          <a:p>
            <a:pPr>
              <a:spcBef>
                <a:spcPts val="400"/>
              </a:spcBef>
              <a:spcAft>
                <a:spcPts val="100"/>
              </a:spcAft>
            </a:pPr>
            <a:r>
              <a:rPr sz="900">
                <a:solidFill>
                  <a:srgbClr val="78808C"/>
                </a:solidFill>
                <a:latin typeface="Consolas"/>
              </a:rPr>
              <a:t>10:00–10:15 </a:t>
            </a:r>
            <a:r>
              <a:rPr sz="1200" b="1">
                <a:solidFill>
                  <a:srgbClr val="3D5466"/>
                </a:solidFill>
                <a:latin typeface="Arial"/>
              </a:rPr>
              <a:t>  Pause</a:t>
            </a:r>
          </a:p>
          <a:p>
            <a:pPr>
              <a:spcBef>
                <a:spcPts val="400"/>
              </a:spcBef>
              <a:spcAft>
                <a:spcPts val="100"/>
              </a:spcAft>
            </a:pPr>
            <a:r>
              <a:rPr sz="900">
                <a:solidFill>
                  <a:srgbClr val="78808C"/>
                </a:solidFill>
                <a:latin typeface="Consolas"/>
              </a:rPr>
              <a:t>10:15–10:25 </a:t>
            </a:r>
            <a:r>
              <a:rPr sz="1200" b="1">
                <a:solidFill>
                  <a:srgbClr val="3D5466"/>
                </a:solidFill>
                <a:latin typeface="Arial"/>
              </a:rPr>
              <a:t>  Selbstreflexion: Mein Standard-Führungsstil</a:t>
            </a:r>
            <a:r>
              <a:rPr sz="900">
                <a:solidFill>
                  <a:srgbClr val="78808C"/>
                </a:solidFill>
                <a:latin typeface="Arial"/>
              </a:rPr>
              <a:t>  ·  Einzelarbeit, still (5–7 Min.): Selbstreflexionsfragen aus Sec 4 (Leitfragen 1–3). Kein Sammeln im Plenum – Ergebnis bleibt persönlich. Überleitung: „Was Sie jetzt aufgeschrieben haben, bringen Sie gleich in die Fallarbeit mit."</a:t>
            </a:r>
          </a:p>
          <a:p>
            <a:pPr>
              <a:spcBef>
                <a:spcPts val="400"/>
              </a:spcBef>
              <a:spcAft>
                <a:spcPts val="100"/>
              </a:spcAft>
            </a:pPr>
            <a:r>
              <a:rPr sz="900">
                <a:solidFill>
                  <a:srgbClr val="78808C"/>
                </a:solidFill>
                <a:latin typeface="Consolas"/>
              </a:rPr>
              <a:t>10:25–10:45 </a:t>
            </a:r>
            <a:r>
              <a:rPr sz="1200" b="1">
                <a:solidFill>
                  <a:srgbClr val="3D5466"/>
                </a:solidFill>
                <a:latin typeface="Arial"/>
              </a:rPr>
              <a:t>  Praxisfall Marlies/Jonas/Sigrid</a:t>
            </a:r>
            <a:r>
              <a:rPr sz="900">
                <a:solidFill>
                  <a:srgbClr val="78808C"/>
                </a:solidFill>
                <a:latin typeface="Arial"/>
              </a:rPr>
              <a:t>  ·  Trainerinput: Praxisfall vorstellen (bis inkl. Führungsstil-Entscheidung). TN lesen parallel mit (Teilnehmerunterlagen). Impuls-Frage: „Wie würden Sie bei Sigrid vorgehen – und warum?" Plenumsblitz (max. 3 Wortmeldungen). Trainer klärt D3-Diagnose und Grenze Wertekonflikt vs. D3.</a:t>
            </a:r>
          </a:p>
          <a:p>
            <a:pPr>
              <a:spcBef>
                <a:spcPts val="400"/>
              </a:spcBef>
              <a:spcAft>
                <a:spcPts val="100"/>
              </a:spcAft>
            </a:pPr>
            <a:r>
              <a:rPr sz="900">
                <a:solidFill>
                  <a:srgbClr val="78808C"/>
                </a:solidFill>
                <a:latin typeface="Consolas"/>
              </a:rPr>
              <a:t>10:45–11:10 </a:t>
            </a:r>
            <a:r>
              <a:rPr sz="1200" b="1">
                <a:solidFill>
                  <a:srgbClr val="3D5466"/>
                </a:solidFill>
                <a:latin typeface="Arial"/>
              </a:rPr>
              <a:t>  Fall-Fortführung: Konsequenzgespräch</a:t>
            </a:r>
            <a:r>
              <a:rPr sz="900">
                <a:solidFill>
                  <a:srgbClr val="78808C"/>
                </a:solidFill>
                <a:latin typeface="Arial"/>
              </a:rPr>
              <a:t>  ·  Trainer führt Fall-Fortführung ein (Sigrid hat Tool weiterhin nicht genutzt). Erläutert Struktur des Konsequenzgesprächs (Sachverhalt, Vereinbarung, Erwartung).</a:t>
            </a:r>
          </a:p>
          <a:p>
            <a:pPr>
              <a:spcBef>
                <a:spcPts val="400"/>
              </a:spcBef>
              <a:spcAft>
                <a:spcPts val="100"/>
              </a:spcAft>
            </a:pPr>
            <a:r>
              <a:rPr sz="900">
                <a:solidFill>
                  <a:srgbClr val="78808C"/>
                </a:solidFill>
                <a:latin typeface="Consolas"/>
              </a:rPr>
              <a:t>11:10–11:45 </a:t>
            </a:r>
            <a:r>
              <a:rPr sz="1200" b="1">
                <a:solidFill>
                  <a:srgbClr val="3D5466"/>
                </a:solidFill>
                <a:latin typeface="Arial"/>
              </a:rPr>
              <a:t>  Kollegiale Fallberatung: Sprachcheck</a:t>
            </a:r>
            <a:r>
              <a:rPr sz="900">
                <a:solidFill>
                  <a:srgbClr val="78808C"/>
                </a:solidFill>
                <a:latin typeface="Arial"/>
              </a:rPr>
              <a:t>  ·  Dreiergruppen (35 Min. inkl. Einzelarbeit). Format aus Sec 4: Ausgangsfall A oder eigener Fall (Fall B). Schritt 1 (5 Min.), Schritt 2 (7–10 Min. Einzelarbeit), Schritt 3 (ca. 15 Min. Dreiergruppe). Trainer rotiert durch die Gruppen (kein Eingriff in die Inhalte – nur Zeitcheck und ggf. Prozesshinweis). Kurzauswertung im Plenum (5 Min.): Was hat überrascht? Was ändert sich an der Formulierung?</a:t>
            </a:r>
          </a:p>
          <a:p>
            <a:pPr>
              <a:spcBef>
                <a:spcPts val="400"/>
              </a:spcBef>
              <a:spcAft>
                <a:spcPts val="100"/>
              </a:spcAft>
            </a:pPr>
            <a:r>
              <a:rPr sz="900">
                <a:solidFill>
                  <a:srgbClr val="78808C"/>
                </a:solidFill>
                <a:latin typeface="Consolas"/>
              </a:rPr>
              <a:t>11:45–12:05 </a:t>
            </a:r>
            <a:r>
              <a:rPr sz="1200" b="1">
                <a:solidFill>
                  <a:srgbClr val="3D5466"/>
                </a:solidFill>
                <a:latin typeface="Arial"/>
              </a:rPr>
              <a:t>  AB-1: Diagnose-Arbeitsblatt</a:t>
            </a:r>
            <a:r>
              <a:rPr sz="900">
                <a:solidFill>
                  <a:srgbClr val="78808C"/>
                </a:solidFill>
                <a:latin typeface="Arial"/>
              </a:rPr>
              <a:t>  ·  Einzelarbeit: AB-1 vollständig ausfüllen (12 Min.). Trainer kündigt an: „Bitte einen echten Mitarbeiter, eine echte Aufgabe." Danach: Ein TN stellt seine Einschätzung freiwillig vor – kollegialer Abgleich der Diagnose-Logik (5 Min., kein Richtig/Falsch).</a:t>
            </a:r>
          </a:p>
          <a:p>
            <a:pPr>
              <a:spcBef>
                <a:spcPts val="400"/>
              </a:spcBef>
              <a:spcAft>
                <a:spcPts val="100"/>
              </a:spcAft>
            </a:pPr>
            <a:r>
              <a:rPr sz="900">
                <a:solidFill>
                  <a:srgbClr val="78808C"/>
                </a:solidFill>
                <a:latin typeface="Consolas"/>
              </a:rPr>
              <a:t>12:05–12:15 </a:t>
            </a:r>
            <a:r>
              <a:rPr sz="1200" b="1">
                <a:solidFill>
                  <a:srgbClr val="3D5466"/>
                </a:solidFill>
                <a:latin typeface="Arial"/>
              </a:rPr>
              <a:t>  Transformationale Führung &amp; Servant Leadership</a:t>
            </a:r>
            <a:r>
              <a:rPr sz="900">
                <a:solidFill>
                  <a:srgbClr val="78808C"/>
                </a:solidFill>
                <a:latin typeface="Arial"/>
              </a:rPr>
              <a:t>  ·  Kurzinput (10 Min.): Vier I nach Bass/Avolio als Entwicklungsrichtung. Servant-Leadership-Leitbild des FKB Campus – genossenschaftliche Verknüpfung (§ 1 GenG). Reflexionsfragen aus Sec 4 als Leseauftrag für nach dem Workshop.</a:t>
            </a:r>
          </a:p>
          <a:p>
            <a:pPr>
              <a:spcBef>
                <a:spcPts val="400"/>
              </a:spcBef>
              <a:spcAft>
                <a:spcPts val="100"/>
              </a:spcAft>
            </a:pPr>
            <a:r>
              <a:rPr sz="900">
                <a:solidFill>
                  <a:srgbClr val="78808C"/>
                </a:solidFill>
                <a:latin typeface="Consolas"/>
              </a:rPr>
              <a:t>12:15–12:25 </a:t>
            </a:r>
            <a:r>
              <a:rPr sz="1200" b="1">
                <a:solidFill>
                  <a:srgbClr val="3D5466"/>
                </a:solidFill>
                <a:latin typeface="Arial"/>
              </a:rPr>
              <a:t>  Transfer &amp; Abschluss</a:t>
            </a:r>
            <a:r>
              <a:rPr sz="900">
                <a:solidFill>
                  <a:srgbClr val="78808C"/>
                </a:solidFill>
                <a:latin typeface="Arial"/>
              </a:rPr>
              <a:t>  ·  Praxistransfer-Aufgabe vorstellen (Sec 5: zwei Mitarbeiter, je AB-1 + bewusster Stilentscheid; AB-2 als Transferaufgabe für zuhause). Selbstcheck-Formular aushändigen. Ausblick TL04.</a:t>
            </a:r>
          </a:p>
          <a:p>
            <a:pPr>
              <a:spcBef>
                <a:spcPts val="400"/>
              </a:spcBef>
              <a:spcAft>
                <a:spcPts val="100"/>
              </a:spcAft>
            </a:pPr>
            <a:r>
              <a:rPr sz="900">
                <a:solidFill>
                  <a:srgbClr val="78808C"/>
                </a:solidFill>
                <a:latin typeface="Consolas"/>
              </a:rPr>
              <a:t>12:25–12:30 </a:t>
            </a:r>
            <a:r>
              <a:rPr sz="1200" b="1">
                <a:solidFill>
                  <a:srgbClr val="3D5466"/>
                </a:solidFill>
                <a:latin typeface="Arial"/>
              </a:rPr>
              <a:t>  Evaluation</a:t>
            </a:r>
            <a:r>
              <a:rPr sz="900">
                <a:solidFill>
                  <a:srgbClr val="78808C"/>
                </a:solidFill>
                <a:latin typeface="Arial"/>
              </a:rPr>
              <a:t>  ·  Feedbackbogen austeilen und ausfüllen lassen. Wissenstest optional als Take-away.</a:t>
            </a:r>
          </a:p>
          <a:p>
            <a:pPr>
              <a:spcBef>
                <a:spcPts val="400"/>
              </a:spcBef>
              <a:spcAft>
                <a:spcPts val="100"/>
              </a:spcAft>
            </a:pPr>
            <a:r>
              <a:rPr sz="900">
                <a:solidFill>
                  <a:srgbClr val="78808C"/>
                </a:solidFill>
                <a:latin typeface="Consolas"/>
              </a:rPr>
              <a:t>Gesamt      </a:t>
            </a:r>
            <a:r>
              <a:rPr sz="1200" b="1">
                <a:solidFill>
                  <a:srgbClr val="3D5466"/>
                </a:solidFill>
                <a:latin typeface="Arial"/>
              </a:rPr>
              <a:t>  </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TL02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Warum es keinen universell richtigen Führungsstil gibt</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Die Grundfrage</a:t>
            </a:r>
          </a:p>
          <a:p>
            <a:pPr>
              <a:spcBef>
                <a:spcPts val="400"/>
              </a:spcBef>
              <a:spcAft>
                <a:spcPts val="200"/>
              </a:spcAft>
            </a:pPr>
            <a:r>
              <a:rPr sz="1200">
                <a:solidFill>
                  <a:srgbClr val="3D5466"/>
                </a:solidFill>
                <a:latin typeface="Arial"/>
              </a:rPr>
              <a:t>Die Frage ist deshalb nicht „Was ist mein Führungsstil?", sondern: „Welcher Stil ist hier, jetzt, für diesen Menschen bei dieser Aufgabe richtig?"</a:t>
            </a:r>
          </a:p>
          <a:p>
            <a:pPr>
              <a:spcBef>
                <a:spcPts val="400"/>
              </a:spcBef>
              <a:spcAft>
                <a:spcPts val="200"/>
              </a:spcAft>
            </a:pPr>
            <a:r>
              <a:rPr sz="1200">
                <a:solidFill>
                  <a:srgbClr val="3D5466"/>
                </a:solidFill>
                <a:latin typeface="Arial"/>
              </a:rPr>
              <a:t>Kurzer Bogen der Stilforschung</a:t>
            </a:r>
          </a:p>
          <a:p>
            <a:pPr>
              <a:spcBef>
                <a:spcPts val="400"/>
              </a:spcBef>
              <a:spcAft>
                <a:spcPts val="200"/>
              </a:spcAft>
            </a:pPr>
            <a:r>
              <a:rPr sz="1200">
                <a:solidFill>
                  <a:srgbClr val="3D5466"/>
                </a:solidFill>
                <a:latin typeface="Arial"/>
              </a:rPr>
              <a:t>Das Kernmodell: Situatives Führen nach Hersey und Blanchard</a:t>
            </a:r>
          </a:p>
          <a:p>
            <a:pPr>
              <a:spcBef>
                <a:spcPts val="400"/>
              </a:spcBef>
              <a:spcAft>
                <a:spcPts val="200"/>
              </a:spcAft>
            </a:pPr>
            <a:r>
              <a:rPr sz="1200">
                <a:solidFill>
                  <a:srgbClr val="3D5466"/>
                </a:solidFill>
                <a:latin typeface="Arial"/>
              </a:rPr>
              <a:t>Der Reifegrad ergibt sich aus zwei Dimensionen:</a:t>
            </a:r>
          </a:p>
          <a:p>
            <a:pPr marL="190500" indent="-190500">
              <a:spcBef>
                <a:spcPts val="400"/>
              </a:spcBef>
              <a:spcAft>
                <a:spcPts val="200"/>
              </a:spcAft>
            </a:pPr>
            <a:r>
              <a:rPr sz="1300">
                <a:solidFill>
                  <a:srgbClr val="3D5466"/>
                </a:solidFill>
                <a:latin typeface="Arial"/>
              </a:rPr>
              <a:t>▸  Kompetenz: Fachliches Können, Erfahrung, relevante Kenntnisse für genau diese Aufgabe</a:t>
            </a:r>
          </a:p>
          <a:p>
            <a:pPr marL="190500" indent="-190500">
              <a:spcBef>
                <a:spcPts val="400"/>
              </a:spcBef>
              <a:spcAft>
                <a:spcPts val="200"/>
              </a:spcAft>
            </a:pPr>
            <a:r>
              <a:rPr sz="1300">
                <a:solidFill>
                  <a:srgbClr val="3D5466"/>
                </a:solidFill>
                <a:latin typeface="Arial"/>
              </a:rPr>
              <a:t>▸  Engagement/Selbstvertrauen: Motivation, Bereitschaft, Zutrauen in die eigene Leistung</a:t>
            </a:r>
          </a:p>
          <a:p>
            <a:pPr>
              <a:spcBef>
                <a:spcPts val="400"/>
              </a:spcBef>
              <a:spcAft>
                <a:spcPts val="200"/>
              </a:spcAft>
            </a:pPr>
            <a:r>
              <a:rPr sz="1200">
                <a:solidFill>
                  <a:srgbClr val="3D5466"/>
                </a:solidFill>
                <a:latin typeface="Arial"/>
              </a:rPr>
              <a:t>Tabelle nach Hersey &amp; Blanchard (1996, S. 189–213)</a:t>
            </a:r>
          </a:p>
          <a:p>
            <a:pPr>
              <a:spcBef>
                <a:spcPts val="400"/>
              </a:spcBef>
              <a:spcAft>
                <a:spcPts val="200"/>
              </a:spcAft>
            </a:pPr>
            <a:r>
              <a:rPr sz="1200">
                <a:solidFill>
                  <a:srgbClr val="3D5466"/>
                </a:solidFill>
                <a:latin typeface="Arial"/>
              </a:rPr>
              <a:t>Hinweis zu D2 – das kritischste Stadium</a:t>
            </a:r>
          </a:p>
          <a:p>
            <a:pPr>
              <a:spcBef>
                <a:spcPts val="400"/>
              </a:spcBef>
              <a:spcAft>
                <a:spcPts val="200"/>
              </a:spcAft>
            </a:pPr>
            <a:r>
              <a:rPr sz="1200">
                <a:solidFill>
                  <a:srgbClr val="3D5466"/>
                </a:solidFill>
                <a:latin typeface="Arial"/>
              </a:rPr>
              <a:t>Tabelle nach Hersey &amp; Blanchard (1996, S. 200–208)</a:t>
            </a:r>
          </a:p>
          <a:p>
            <a:pPr>
              <a:spcBef>
                <a:spcPts val="400"/>
              </a:spcBef>
              <a:spcAft>
                <a:spcPts val="200"/>
              </a:spcAft>
            </a:pPr>
            <a:r>
              <a:rPr sz="1200">
                <a:solidFill>
                  <a:srgbClr val="3D5466"/>
                </a:solidFill>
                <a:latin typeface="Arial"/>
              </a:rPr>
              <a:t>Brücke zur transformationalen Führung</a:t>
            </a:r>
          </a:p>
          <a:p>
            <a:pPr marL="190500" indent="-190500">
              <a:spcBef>
                <a:spcPts val="400"/>
              </a:spcBef>
              <a:spcAft>
                <a:spcPts val="200"/>
              </a:spcAft>
            </a:pPr>
            <a:r>
              <a:rPr sz="1300">
                <a:solidFill>
                  <a:srgbClr val="3D5466"/>
                </a:solidFill>
                <a:latin typeface="Arial"/>
              </a:rPr>
              <a:t>▸  I1 – Idealized Influence (Vorbildwirkung): Die Führungskraft verkörpert Werte, schafft Identifikation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TL02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Situatives Führen nach Hersey und Blanchard: Die vier Führungsstile S1</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877694" y="1325880"/>
            <a:ext cx="6433563"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Schaubild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TL02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Praxisfall: Zwei Berater, ein Teamleiter, zwei Führungsstile</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Ausgangslage</a:t>
            </a:r>
          </a:p>
          <a:p>
            <a:pPr>
              <a:spcBef>
                <a:spcPts val="400"/>
              </a:spcBef>
              <a:spcAft>
                <a:spcPts val="200"/>
              </a:spcAft>
            </a:pPr>
            <a:r>
              <a:rPr sz="1200">
                <a:solidFill>
                  <a:srgbClr val="3D5466"/>
                </a:solidFill>
                <a:latin typeface="Arial"/>
              </a:rPr>
              <a:t>Die Führungssituation</a:t>
            </a:r>
          </a:p>
          <a:p>
            <a:pPr>
              <a:spcBef>
                <a:spcPts val="400"/>
              </a:spcBef>
              <a:spcAft>
                <a:spcPts val="200"/>
              </a:spcAft>
            </a:pPr>
            <a:r>
              <a:rPr sz="1200">
                <a:solidFill>
                  <a:srgbClr val="3D5466"/>
                </a:solidFill>
                <a:latin typeface="Arial"/>
              </a:rPr>
              <a:t>Marlies steht vor zwei gleichzeitigen Führungsaufgaben:</a:t>
            </a:r>
          </a:p>
          <a:p>
            <a:pPr marL="190500" indent="-190500">
              <a:spcBef>
                <a:spcPts val="400"/>
              </a:spcBef>
              <a:spcAft>
                <a:spcPts val="200"/>
              </a:spcAft>
            </a:pPr>
            <a:r>
              <a:rPr sz="1300">
                <a:solidFill>
                  <a:srgbClr val="3D5466"/>
                </a:solidFill>
                <a:latin typeface="Arial"/>
              </a:rPr>
              <a:t>▸  Jonas soll die erste eigenständige Kreditunterlagenprüfung für einen mittelständischen Kunden (Umsatz ca. 12 Mio. EUR, Jahresabschluss vorliegend) vorbereiten – eine Aufgabe, die er strukturiert angehen kann, bei der er aber noch fachliche Unterstützung braucht.</a:t>
            </a:r>
          </a:p>
          <a:p>
            <a:pPr marL="190500" indent="-190500">
              <a:spcBef>
                <a:spcPts val="400"/>
              </a:spcBef>
              <a:spcAft>
                <a:spcPts val="200"/>
              </a:spcAft>
            </a:pPr>
            <a:r>
              <a:rPr sz="1300">
                <a:solidFill>
                  <a:srgbClr val="3D5466"/>
                </a:solidFill>
                <a:latin typeface="Arial"/>
              </a:rPr>
              <a:t>▸  Sigrid soll das neue Ratingtool bis Ende des Quartals für alle ihre Kreditfälle routinemäßig nutzen. Die Ablehnung gefährdet die Datenkonsistenz im Team und verstößt gegen die interne Vorgabe zur Nutzung des Bewertungssystems gem. § 18 KWG-Dokumentationsstandard.</a:t>
            </a:r>
          </a:p>
          <a:p>
            <a:pPr>
              <a:spcBef>
                <a:spcPts val="400"/>
              </a:spcBef>
              <a:spcAft>
                <a:spcPts val="200"/>
              </a:spcAft>
            </a:pPr>
            <a:r>
              <a:rPr sz="1200">
                <a:solidFill>
                  <a:srgbClr val="3D5466"/>
                </a:solidFill>
                <a:latin typeface="Arial"/>
              </a:rPr>
              <a:t>Führungsstil-Entscheidung von Marlies</a:t>
            </a:r>
          </a:p>
          <a:p>
            <a:pPr>
              <a:spcBef>
                <a:spcPts val="400"/>
              </a:spcBef>
              <a:spcAft>
                <a:spcPts val="200"/>
              </a:spcAft>
            </a:pPr>
            <a:r>
              <a:rPr sz="1200">
                <a:solidFill>
                  <a:srgbClr val="3D5466"/>
                </a:solidFill>
                <a:latin typeface="Arial"/>
              </a:rPr>
              <a:t>Für Jonas (Aufgabe: eigenständige Kreditunterlagenprüfung):</a:t>
            </a:r>
          </a:p>
          <a:p>
            <a:pPr>
              <a:spcBef>
                <a:spcPts val="400"/>
              </a:spcBef>
              <a:spcAft>
                <a:spcPts val="200"/>
              </a:spcAft>
            </a:pPr>
            <a:r>
              <a:rPr sz="1200">
                <a:solidFill>
                  <a:srgbClr val="3D5466"/>
                </a:solidFill>
                <a:latin typeface="Arial"/>
              </a:rPr>
              <a:t>Reifegrad: D1 – Jonas will und ist motiviert (hohes Engagement), kann die Aufgabe aber noch nicht eigenständig sicher bearbeiten (geringes aufgabenbezogenes Können).</a:t>
            </a:r>
          </a:p>
          <a:p>
            <a:pPr>
              <a:spcBef>
                <a:spcPts val="400"/>
              </a:spcBef>
              <a:spcAft>
                <a:spcPts val="200"/>
              </a:spcAft>
            </a:pPr>
            <a:r>
              <a:rPr sz="1200">
                <a:solidFill>
                  <a:srgbClr val="3D5466"/>
                </a:solidFill>
                <a:latin typeface="Arial"/>
              </a:rPr>
              <a:t>Für Sigrid (Aufgabe: Ratingtool-Nutzung):</a:t>
            </a:r>
          </a:p>
          <a:p>
            <a:pPr>
              <a:spcBef>
                <a:spcPts val="400"/>
              </a:spcBef>
              <a:spcAft>
                <a:spcPts val="200"/>
              </a:spcAft>
            </a:pPr>
            <a:r>
              <a:rPr sz="1200">
                <a:solidFill>
                  <a:srgbClr val="3D5466"/>
                </a:solidFill>
                <a:latin typeface="Arial"/>
              </a:rPr>
              <a:t>Fall-Fortführung: Was macht Marlies, wenn Sigrid das Tool trotzdem nicht nutzt?</a:t>
            </a:r>
          </a:p>
          <a:p>
            <a:pPr>
              <a:spcBef>
                <a:spcPts val="400"/>
              </a:spcBef>
              <a:spcAft>
                <a:spcPts val="200"/>
              </a:spcAft>
            </a:pPr>
            <a:r>
              <a:rPr sz="1200">
                <a:solidFill>
                  <a:srgbClr val="3D5466"/>
                </a:solidFill>
                <a:latin typeface="Arial"/>
              </a:rPr>
              <a:t>Das ist keine Kommunikationsfrage mehr. Es ist eine Führungsfrage.</a:t>
            </a:r>
          </a:p>
          <a:p>
            <a:pPr>
              <a:spcBef>
                <a:spcPts val="400"/>
              </a:spcBef>
              <a:spcAft>
                <a:spcPts val="200"/>
              </a:spcAft>
            </a:pPr>
            <a:r>
              <a:rPr sz="1200">
                <a:solidFill>
                  <a:srgbClr val="3D5466"/>
                </a:solidFill>
                <a:latin typeface="Arial"/>
              </a:rPr>
              <a:t>Warum das Gespräch jetzt anders ist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TL02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Kollegiale Fallberatung: Wenn die Vereinbarung nicht eingehalten wird</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Format: Kollegiale Fallberatung (kein Rollenspiel) in Dreiergruppen, ca. 20 Minuten</a:t>
            </a:r>
          </a:p>
          <a:p>
            <a:pPr>
              <a:spcBef>
                <a:spcPts val="400"/>
              </a:spcBef>
              <a:spcAft>
                <a:spcPts val="200"/>
              </a:spcAft>
            </a:pPr>
            <a:r>
              <a:rPr sz="1200">
                <a:solidFill>
                  <a:srgbClr val="3D5466"/>
                </a:solidFill>
                <a:latin typeface="Arial"/>
              </a:rPr>
              <a:t>Aufgabe: Bereiten Sie für einen der folgenden Ausgangsfälle ein Konsequenzgespräch vor. Wählen Sie den Fall, der Ihrer eigenen Führungssituation am nächsten ist.</a:t>
            </a:r>
          </a:p>
          <a:p>
            <a:pPr>
              <a:spcBef>
                <a:spcPts val="400"/>
              </a:spcBef>
              <a:spcAft>
                <a:spcPts val="200"/>
              </a:spcAft>
            </a:pPr>
            <a:r>
              <a:rPr sz="1200">
                <a:solidFill>
                  <a:srgbClr val="3D5466"/>
                </a:solidFill>
                <a:latin typeface="Arial"/>
              </a:rPr>
              <a:t>Ausgangsfall A (orientiert am Sigrid-Fall):</a:t>
            </a:r>
          </a:p>
          <a:p>
            <a:pPr>
              <a:spcBef>
                <a:spcPts val="400"/>
              </a:spcBef>
              <a:spcAft>
                <a:spcPts val="200"/>
              </a:spcAft>
            </a:pPr>
            <a:r>
              <a:rPr sz="1200">
                <a:solidFill>
                  <a:srgbClr val="3D5466"/>
                </a:solidFill>
                <a:latin typeface="Arial"/>
              </a:rPr>
              <a:t>Ausgangsfall B (eigener Fall):</a:t>
            </a:r>
          </a:p>
          <a:p>
            <a:pPr>
              <a:spcBef>
                <a:spcPts val="400"/>
              </a:spcBef>
              <a:spcAft>
                <a:spcPts val="200"/>
              </a:spcAft>
            </a:pPr>
            <a:r>
              <a:rPr sz="1200">
                <a:solidFill>
                  <a:srgbClr val="3D5466"/>
                </a:solidFill>
                <a:latin typeface="Arial"/>
              </a:rPr>
              <a:t>Sie bringen eine eigene Führungssituation aus Ihrem Team mit, in der eine Vereinbarung nicht eingehalten wurde.</a:t>
            </a:r>
          </a:p>
          <a:p>
            <a:pPr>
              <a:spcBef>
                <a:spcPts val="400"/>
              </a:spcBef>
              <a:spcAft>
                <a:spcPts val="200"/>
              </a:spcAft>
            </a:pPr>
            <a:r>
              <a:rPr sz="1200">
                <a:solidFill>
                  <a:srgbClr val="3D5466"/>
                </a:solidFill>
                <a:latin typeface="Arial"/>
              </a:rPr>
              <a:t>Schritt 1 – Sachverhalt klären (5 Min., Einzelarbeit):</a:t>
            </a:r>
          </a:p>
          <a:p>
            <a:pPr>
              <a:spcBef>
                <a:spcPts val="400"/>
              </a:spcBef>
              <a:spcAft>
                <a:spcPts val="200"/>
              </a:spcAft>
            </a:pPr>
            <a:r>
              <a:rPr sz="1200">
                <a:solidFill>
                  <a:srgbClr val="3D5466"/>
                </a:solidFill>
                <a:latin typeface="Arial"/>
              </a:rPr>
              <a:t>Schritt 2 – Gesprächseinstieg formulieren (5 Min., Einzelarbeit):</a:t>
            </a:r>
          </a:p>
          <a:p>
            <a:pPr>
              <a:spcBef>
                <a:spcPts val="400"/>
              </a:spcBef>
              <a:spcAft>
                <a:spcPts val="200"/>
              </a:spcAft>
            </a:pPr>
            <a:r>
              <a:rPr sz="1200">
                <a:solidFill>
                  <a:srgbClr val="3D5466"/>
                </a:solidFill>
                <a:latin typeface="Arial"/>
              </a:rPr>
              <a:t>Formulieren Sie Ihren Gesprächseinstieg in 2–3 Sätzen: sachlich, direkt, nicht anklagend.</a:t>
            </a:r>
          </a:p>
          <a:p>
            <a:pPr>
              <a:spcBef>
                <a:spcPts val="400"/>
              </a:spcBef>
              <a:spcAft>
                <a:spcPts val="200"/>
              </a:spcAft>
            </a:pPr>
            <a:r>
              <a:rPr sz="1200">
                <a:solidFill>
                  <a:srgbClr val="3D5466"/>
                </a:solidFill>
                <a:latin typeface="Arial"/>
              </a:rPr>
              <a:t>Schritt 3 – Kollegiale Rückmeldung (10 Min., Dreiergruppe):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TL02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Selbstreflexion: Mein Standard-Führungsstil</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Nehmen Sie sich 5–7 Minuten und beantworten Sie die folgenden Fragen für sich – keine richtigen oder falschen Antworten, kein Test.</a:t>
            </a:r>
          </a:p>
          <a:p>
            <a:pPr marL="190500" indent="-190500">
              <a:spcBef>
                <a:spcPts val="400"/>
              </a:spcBef>
              <a:spcAft>
                <a:spcPts val="200"/>
              </a:spcAft>
            </a:pPr>
            <a:r>
              <a:rPr sz="1400">
                <a:solidFill>
                  <a:srgbClr val="3D5466"/>
                </a:solidFill>
                <a:latin typeface="Arial"/>
              </a:rPr>
              <a:t>▸  Leitfragen:</a:t>
            </a:r>
          </a:p>
          <a:p>
            <a:pPr marL="190500" indent="-190500">
              <a:spcBef>
                <a:spcPts val="400"/>
              </a:spcBef>
              <a:spcAft>
                <a:spcPts val="200"/>
              </a:spcAft>
            </a:pPr>
            <a:r>
              <a:rPr sz="1400">
                <a:solidFill>
                  <a:srgbClr val="3D5466"/>
                </a:solidFill>
                <a:latin typeface="Arial"/>
              </a:rPr>
              <a:t>▸  Welchen Führungsstil setze ich in meinem Alltag am häufigsten ein? (Dirigieren / Coachen / Sekundieren / Delegieren)</a:t>
            </a:r>
          </a:p>
          <a:p>
            <a:pPr marL="190500" indent="-190500">
              <a:spcBef>
                <a:spcPts val="400"/>
              </a:spcBef>
              <a:spcAft>
                <a:spcPts val="200"/>
              </a:spcAft>
            </a:pPr>
            <a:r>
              <a:rPr sz="1400">
                <a:solidFill>
                  <a:srgbClr val="3D5466"/>
                </a:solidFill>
                <a:latin typeface="Arial"/>
              </a:rPr>
              <a:t>▸  Bei welchem Mitarbeitertyp fühle ich mich als Führungskraft am sichersten / wirksamsten?</a:t>
            </a:r>
          </a:p>
          <a:p>
            <a:pPr marL="190500" indent="-190500">
              <a:spcBef>
                <a:spcPts val="400"/>
              </a:spcBef>
              <a:spcAft>
                <a:spcPts val="200"/>
              </a:spcAft>
            </a:pPr>
            <a:r>
              <a:rPr sz="1400">
                <a:solidFill>
                  <a:srgbClr val="3D5466"/>
                </a:solidFill>
                <a:latin typeface="Arial"/>
              </a:rPr>
              <a:t>▸  Gibt es Stile, die mir schwerfallen oder die ich selten bewusst einsetze? Welche?</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TL02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Stil- und Merkkarte: Situatives Führen auf einen Blick</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Die vier Führungsstile nach Hersey &amp; Blanchard (1996)</a:t>
            </a:r>
          </a:p>
          <a:p>
            <a:pPr>
              <a:spcBef>
                <a:spcPts val="400"/>
              </a:spcBef>
              <a:spcAft>
                <a:spcPts val="200"/>
              </a:spcAft>
            </a:pPr>
            <a:r>
              <a:rPr sz="1200">
                <a:solidFill>
                  <a:srgbClr val="3D5466"/>
                </a:solidFill>
                <a:latin typeface="Arial"/>
              </a:rPr>
              <a:t>Der Diagnosepfad:</a:t>
            </a:r>
          </a:p>
          <a:p>
            <a:pPr marL="190500" indent="-190500">
              <a:spcBef>
                <a:spcPts val="400"/>
              </a:spcBef>
              <a:spcAft>
                <a:spcPts val="200"/>
              </a:spcAft>
            </a:pPr>
            <a:r>
              <a:rPr sz="1300">
                <a:solidFill>
                  <a:srgbClr val="3D5466"/>
                </a:solidFill>
                <a:latin typeface="Arial"/>
              </a:rPr>
              <a:t>▸  Aufgabe benennen – Reifegrad ist immer aufgabenbezogen, nicht personenbezogen</a:t>
            </a:r>
          </a:p>
          <a:p>
            <a:pPr marL="190500" indent="-190500">
              <a:spcBef>
                <a:spcPts val="400"/>
              </a:spcBef>
              <a:spcAft>
                <a:spcPts val="200"/>
              </a:spcAft>
            </a:pPr>
            <a:r>
              <a:rPr sz="1300">
                <a:solidFill>
                  <a:srgbClr val="3D5466"/>
                </a:solidFill>
                <a:latin typeface="Arial"/>
              </a:rPr>
              <a:t>▸  Kompetenz einschätzen – Kann er/sie das? (Können, Wissen, Erfahrung für genau dies)</a:t>
            </a:r>
          </a:p>
          <a:p>
            <a:pPr marL="190500" indent="-190500">
              <a:spcBef>
                <a:spcPts val="400"/>
              </a:spcBef>
              <a:spcAft>
                <a:spcPts val="200"/>
              </a:spcAft>
            </a:pPr>
            <a:r>
              <a:rPr sz="1300">
                <a:solidFill>
                  <a:srgbClr val="3D5466"/>
                </a:solidFill>
                <a:latin typeface="Arial"/>
              </a:rPr>
              <a:t>▸  Engagement einschätzen – Will er/sie das? (Motivation, Selbstvertrauen, Bereitschaft)</a:t>
            </a:r>
          </a:p>
          <a:p>
            <a:pPr marL="190500" indent="-190500">
              <a:spcBef>
                <a:spcPts val="400"/>
              </a:spcBef>
              <a:spcAft>
                <a:spcPts val="200"/>
              </a:spcAft>
            </a:pPr>
            <a:r>
              <a:rPr sz="1300">
                <a:solidFill>
                  <a:srgbClr val="3D5466"/>
                </a:solidFill>
                <a:latin typeface="Arial"/>
              </a:rPr>
              <a:t>▸  Reifegrad bestimmen (D1–D4)</a:t>
            </a:r>
          </a:p>
          <a:p>
            <a:pPr marL="190500" indent="-190500">
              <a:spcBef>
                <a:spcPts val="400"/>
              </a:spcBef>
              <a:spcAft>
                <a:spcPts val="200"/>
              </a:spcAft>
            </a:pPr>
            <a:r>
              <a:rPr sz="1300">
                <a:solidFill>
                  <a:srgbClr val="3D5466"/>
                </a:solidFill>
                <a:latin typeface="Arial"/>
              </a:rPr>
              <a:t>▸  Stil ableiten (S1–S4) und im Gespräch zeigen</a:t>
            </a:r>
          </a:p>
          <a:p>
            <a:pPr>
              <a:spcBef>
                <a:spcPts val="400"/>
              </a:spcBef>
              <a:spcAft>
                <a:spcPts val="200"/>
              </a:spcAft>
            </a:pPr>
            <a:r>
              <a:rPr sz="1200">
                <a:solidFill>
                  <a:srgbClr val="3D5466"/>
                </a:solidFill>
                <a:latin typeface="Arial"/>
              </a:rPr>
              <a:t>Warnsignale für Stil-Mismatch:</a:t>
            </a:r>
          </a:p>
          <a:p>
            <a:pPr marL="190500" indent="-190500">
              <a:spcBef>
                <a:spcPts val="400"/>
              </a:spcBef>
              <a:spcAft>
                <a:spcPts val="200"/>
              </a:spcAft>
            </a:pPr>
            <a:r>
              <a:rPr sz="1300">
                <a:solidFill>
                  <a:srgbClr val="3D5466"/>
                </a:solidFill>
                <a:latin typeface="Arial"/>
              </a:rPr>
              <a:t>▸  Engagierter Mitarbeiter wird zunehmend passiv → Überführungsgefahr (zu viel S1 bei steigendem Reifegrad)</a:t>
            </a:r>
          </a:p>
          <a:p>
            <a:pPr marL="190500" indent="-190500">
              <a:spcBef>
                <a:spcPts val="400"/>
              </a:spcBef>
              <a:spcAft>
                <a:spcPts val="200"/>
              </a:spcAft>
            </a:pPr>
            <a:r>
              <a:rPr sz="1300">
                <a:solidFill>
                  <a:srgbClr val="3D5466"/>
                </a:solidFill>
                <a:latin typeface="Arial"/>
              </a:rPr>
              <a:t>▸  Kompetenter Mitarbeiter macht Fehler, die er eigentlich nicht macht → möglicherweise S3 nötig statt S4 (Selbstvertrauen gesunken)</a:t>
            </a:r>
          </a:p>
          <a:p>
            <a:pPr marL="190500" indent="-190500">
              <a:spcBef>
                <a:spcPts val="400"/>
              </a:spcBef>
              <a:spcAft>
                <a:spcPts val="200"/>
              </a:spcAft>
            </a:pPr>
            <a:r>
              <a:rPr sz="1300">
                <a:solidFill>
                  <a:srgbClr val="3D5466"/>
                </a:solidFill>
                <a:latin typeface="Arial"/>
              </a:rPr>
              <a:t>▸  Mitarbeiter fragt bei Kleinigkeiten ständig nach → Delegationslücke, S4 noch nicht eingesetzt</a:t>
            </a:r>
          </a:p>
          <a:p>
            <a:pPr marL="190500" indent="-190500">
              <a:spcBef>
                <a:spcPts val="400"/>
              </a:spcBef>
              <a:spcAft>
                <a:spcPts val="200"/>
              </a:spcAft>
            </a:pPr>
            <a:r>
              <a:rPr sz="1300">
                <a:solidFill>
                  <a:srgbClr val="3D5466"/>
                </a:solidFill>
                <a:latin typeface="Arial"/>
              </a:rPr>
              <a:t>▸  Motivation bricht nach neuer Aufgabe ein → Reifegrad ist aufgabenspezifisch auf D1/D2 zurückgefallen → zurück zu S1/S2</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TL02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Checkliste: Führungsstil situativ anpassen</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Vor jedem Führungsgespräch (&lt; 2 Minuten)</a:t>
            </a:r>
          </a:p>
          <a:p>
            <a:pPr marL="190500" indent="-190500">
              <a:spcBef>
                <a:spcPts val="400"/>
              </a:spcBef>
              <a:spcAft>
                <a:spcPts val="200"/>
              </a:spcAft>
            </a:pPr>
            <a:r>
              <a:rPr sz="1300">
                <a:solidFill>
                  <a:srgbClr val="3D5466"/>
                </a:solidFill>
                <a:latin typeface="Arial"/>
              </a:rPr>
              <a:t>▸  [ ] Habe ich den Reifegrad des Mitarbeiters für diese konkrete Aufgabe eingeschätzt?</a:t>
            </a:r>
          </a:p>
          <a:p>
            <a:pPr marL="190500" indent="-190500">
              <a:spcBef>
                <a:spcPts val="400"/>
              </a:spcBef>
              <a:spcAft>
                <a:spcPts val="200"/>
              </a:spcAft>
            </a:pPr>
            <a:r>
              <a:rPr sz="1300">
                <a:solidFill>
                  <a:srgbClr val="3D5466"/>
                </a:solidFill>
                <a:latin typeface="Arial"/>
              </a:rPr>
              <a:t>▸  [ ] Habe ich bewusst einen Führungsstil gewählt – und nicht meinen Standard-Stil eingesetzt?</a:t>
            </a:r>
          </a:p>
          <a:p>
            <a:pPr marL="190500" indent="-190500">
              <a:spcBef>
                <a:spcPts val="400"/>
              </a:spcBef>
              <a:spcAft>
                <a:spcPts val="200"/>
              </a:spcAft>
            </a:pPr>
            <a:r>
              <a:rPr sz="1300">
                <a:solidFill>
                  <a:srgbClr val="3D5466"/>
                </a:solidFill>
                <a:latin typeface="Arial"/>
              </a:rPr>
              <a:t>▸  [ ] Kenne ich den Unterschied zwischen dem Können und dem Wollen des Mitarbeiters in dieser Situation?</a:t>
            </a:r>
          </a:p>
          <a:p>
            <a:pPr marL="190500" indent="-190500">
              <a:spcBef>
                <a:spcPts val="400"/>
              </a:spcBef>
              <a:spcAft>
                <a:spcPts val="200"/>
              </a:spcAft>
            </a:pPr>
            <a:r>
              <a:rPr sz="1300">
                <a:solidFill>
                  <a:srgbClr val="3D5466"/>
                </a:solidFill>
                <a:latin typeface="Arial"/>
              </a:rPr>
              <a:t>▸  [ ] Habe ich einen konkreten Einstiegssatz oder eine Frage vorbereitet, die meinen gewählten Stil zeigt?</a:t>
            </a:r>
          </a:p>
          <a:p>
            <a:pPr>
              <a:spcBef>
                <a:spcPts val="400"/>
              </a:spcBef>
              <a:spcAft>
                <a:spcPts val="200"/>
              </a:spcAft>
            </a:pPr>
            <a:r>
              <a:rPr sz="1200">
                <a:solidFill>
                  <a:srgbClr val="3D5466"/>
                </a:solidFill>
                <a:latin typeface="Arial"/>
              </a:rPr>
              <a:t>Nach dem Gespräch (Kurzreflexion, &lt; 3 Minuten)</a:t>
            </a:r>
          </a:p>
          <a:p>
            <a:pPr marL="190500" indent="-190500">
              <a:spcBef>
                <a:spcPts val="400"/>
              </a:spcBef>
              <a:spcAft>
                <a:spcPts val="200"/>
              </a:spcAft>
            </a:pPr>
            <a:r>
              <a:rPr sz="1300">
                <a:solidFill>
                  <a:srgbClr val="3D5466"/>
                </a:solidFill>
                <a:latin typeface="Arial"/>
              </a:rPr>
              <a:t>▸  [ ] Hat mein Führungsverhalten zur Situation gepasst? Woran habe ich das gemerkt?</a:t>
            </a:r>
          </a:p>
          <a:p>
            <a:pPr marL="190500" indent="-190500">
              <a:spcBef>
                <a:spcPts val="400"/>
              </a:spcBef>
              <a:spcAft>
                <a:spcPts val="200"/>
              </a:spcAft>
            </a:pPr>
            <a:r>
              <a:rPr sz="1300">
                <a:solidFill>
                  <a:srgbClr val="3D5466"/>
                </a:solidFill>
                <a:latin typeface="Arial"/>
              </a:rPr>
              <a:t>▸  [ ] Hat der Mitarbeiter so reagiert, wie ich es erwartet habe? Was hat mich überrascht?</a:t>
            </a:r>
          </a:p>
          <a:p>
            <a:pPr marL="190500" indent="-190500">
              <a:spcBef>
                <a:spcPts val="400"/>
              </a:spcBef>
              <a:spcAft>
                <a:spcPts val="200"/>
              </a:spcAft>
            </a:pPr>
            <a:r>
              <a:rPr sz="1300">
                <a:solidFill>
                  <a:srgbClr val="3D5466"/>
                </a:solidFill>
                <a:latin typeface="Arial"/>
              </a:rPr>
              <a:t>▸  [ ] Müsste ich beim nächsten Gespräch den Stil anpassen?</a:t>
            </a:r>
          </a:p>
          <a:p>
            <a:pPr>
              <a:spcBef>
                <a:spcPts val="400"/>
              </a:spcBef>
              <a:spcAft>
                <a:spcPts val="200"/>
              </a:spcAft>
            </a:pPr>
            <a:r>
              <a:rPr sz="1200">
                <a:solidFill>
                  <a:srgbClr val="3D5466"/>
                </a:solidFill>
                <a:latin typeface="Arial"/>
              </a:rPr>
              <a:t>Im Team-Rhythmus (monatlich)</a:t>
            </a:r>
          </a:p>
          <a:p>
            <a:pPr marL="190500" indent="-190500">
              <a:spcBef>
                <a:spcPts val="400"/>
              </a:spcBef>
              <a:spcAft>
                <a:spcPts val="200"/>
              </a:spcAft>
            </a:pPr>
            <a:r>
              <a:rPr sz="1300">
                <a:solidFill>
                  <a:srgbClr val="3D5466"/>
                </a:solidFill>
                <a:latin typeface="Arial"/>
              </a:rPr>
              <a:t>▸  [ ] Bei welchem Mitarbeiter hat sich der Reifegrad in den letzten Wochen verändert?</a:t>
            </a:r>
          </a:p>
          <a:p>
            <a:pPr marL="190500" indent="-190500">
              <a:spcBef>
                <a:spcPts val="400"/>
              </a:spcBef>
              <a:spcAft>
                <a:spcPts val="200"/>
              </a:spcAft>
            </a:pPr>
            <a:r>
              <a:rPr sz="1300">
                <a:solidFill>
                  <a:srgbClr val="3D5466"/>
                </a:solidFill>
                <a:latin typeface="Arial"/>
              </a:rPr>
              <a:t>▸  [ ] Habe ich meinen Führungsstil entsprechend angepasst – oder führe ich ihn/sie noch wie vor sechs Monaten?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TL02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Reflexionsfragen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a:spcBef>
                <a:spcPts val="400"/>
              </a:spcBef>
              <a:spcAft>
                <a:spcPts val="200"/>
              </a:spcAft>
            </a:pPr>
            <a:r>
              <a:rPr sz="1200">
                <a:solidFill>
                  <a:srgbClr val="3D5466"/>
                </a:solidFill>
                <a:latin typeface="Arial"/>
              </a:rPr>
              <a:t>Die folgenden Fragen dienen der persönlichen Vertiefung nach dem Workshop – keine Pflicht, aber eine Einladung.</a:t>
            </a:r>
          </a:p>
          <a:p>
            <a:pPr marL="190500" indent="-190500">
              <a:spcBef>
                <a:spcPts val="400"/>
              </a:spcBef>
              <a:spcAft>
                <a:spcPts val="200"/>
              </a:spcAft>
            </a:pPr>
            <a:r>
              <a:rPr sz="1300">
                <a:solidFill>
                  <a:srgbClr val="3D5466"/>
                </a:solidFill>
                <a:latin typeface="Arial"/>
              </a:rPr>
              <a:t>▸  Hersey und Blanchard betonen, dass Reifegrad aufgaben- und situationsbezogen ist. Denken Sie an einen Berater in Ihrem Team, den Sie für einen „D4-Typ" halten. Bei welcher Aufgabe könnte er heute auf D1 oder D2 stehen – und haben Sie Ihren Führungsstil darauf abgestimmt?</a:t>
            </a:r>
          </a:p>
          <a:p>
            <a:pPr marL="190500" indent="-190500">
              <a:spcBef>
                <a:spcPts val="400"/>
              </a:spcBef>
              <a:spcAft>
                <a:spcPts val="200"/>
              </a:spcAft>
            </a:pPr>
            <a:r>
              <a:rPr sz="1300">
                <a:solidFill>
                  <a:srgbClr val="3D5466"/>
                </a:solidFill>
                <a:latin typeface="Arial"/>
              </a:rPr>
              <a:t>▸  Transformationale Führung zielt darauf ab, die Motivation und Werthaltungen von Mitarbeitenden zu entwickeln – nicht nur Verhalten zu steuern. Was tun Sie konkret, um bei Ihren Beratern intrinsische Motivation für Beratungsqualität zu wecken?</a:t>
            </a:r>
          </a:p>
          <a:p>
            <a:pPr marL="190500" indent="-190500">
              <a:spcBef>
                <a:spcPts val="400"/>
              </a:spcBef>
              <a:spcAft>
                <a:spcPts val="200"/>
              </a:spcAft>
            </a:pPr>
            <a:r>
              <a:rPr sz="1300">
                <a:solidFill>
                  <a:srgbClr val="3D5466"/>
                </a:solidFill>
                <a:latin typeface="Arial"/>
              </a:rPr>
              <a:t>▸  Greenleaf formuliert als Test guter Führung: „Wachsen die Menschen, denen gedient wird?" Woran würden Sie für Ihr Team in den nächsten sechs Monaten erkennen, dass Ihre Mitarbeitenden als Berater und als Persönlichkeiten gewachsen sind?</a:t>
            </a:r>
          </a:p>
          <a:p>
            <a:pPr marL="190500" indent="-190500">
              <a:spcBef>
                <a:spcPts val="400"/>
              </a:spcBef>
              <a:spcAft>
                <a:spcPts val="200"/>
              </a:spcAft>
            </a:pPr>
            <a:r>
              <a:rPr sz="1300">
                <a:solidFill>
                  <a:srgbClr val="3D5466"/>
                </a:solidFill>
                <a:latin typeface="Arial"/>
              </a:rPr>
              <a:t>▸  Welche Situation in Ihrem Führungsalltag finden Sie im situativen Modell am schwersten einzuordnen – und warum?</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