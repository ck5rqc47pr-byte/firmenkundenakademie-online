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Aktivierung: Jeder notiert kurz, welchen Stil er gestern eingesetzt hat – und warum. Keine Bewertung, nur Bestandsaufnahme.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Fünf Minuten. Blake/Mouton nur als Fundament zeigen, nicht vertiefen.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Fünf Minuten. Fiedler als kritische Brücke: es gibt keinen allgemein überlegenen Stil – aber Fiedler macht den Wechsel schwer praktikabel.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Kernaussage: aufgabenbezogener Reifegrad ist das dritte Konstrukt, das das Modell von seinen Vorgängern unterscheidet. Auf Flipchart von Hand erarbeiten.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D2 besonders betonen: subtile Signale, häufigste Führungslücke. Frage in die Runde: Haben Sie gerade jemanden, der Ihnen D2 macht?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Tabelle als Ergebnis der Flipchart-Erarbeitung zeigen – nicht als Einstieg.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Quiz-Fälle sind nah an Jonas/Sigrid gebaut (Wiedererkennungseffekt). Keine Auflösung als Test – Diskussion der Unterschiede ist das Lernformat.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Impuls-Frage nach Sigrid: Wie würden Sie bei Sigrid vorgehen – und warum? Zwei bis drei Wortmeldungen stehen lassen, bevor D3-Diagnose erklärt wird.</a:t>
            </a:r>
          </a:p>
          <a:p>
            <a:r>
              <a:t>Wichtige Grenze: D3 (Kompetenz hoch, Engagement schwankend) vs. Wertekonflikt (grundsätzliche Ablehnung). Modell löst Wertekonflikte nicht – das ist ein anderes Gesprächsformat.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Häufigster Denkfehler: S1 = Misstrauen. Servant-Leadership-Brücke: der richtige Stil ist der, der den Mitarbeiter am schnellsten zur nächsten Entwicklungsstufe bringt.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Grenz-Faustformel (max. 2 Sätze, dann direkt zum Gesprächseinstieg): D2 zeigt sich in der Frageform ('Schaffe ich das?' – Zweifel am Können), Wertekonflikt in der Aussageform ('Das halte ich für falsch' – Ablehnung der Sache). Vertiefung nur auf Nachfrage.</a:t>
            </a:r>
          </a:p>
          <a:p>
            <a:r>
              <a:t>Trainer-Eröffnung von Marlies wörtlich vorlesen: 'Sigrid, ich schaue mir die Systemdaten der letzten zwei Wochen an…' – demonstriert den Tonraum zwischen Anklage und Entschuldigung.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 Rollenspiel. Trainer rotiert – nur Zeitcheck und Prozesshinweis, kein inhaltlicher Eingriff.</a:t>
            </a:r>
          </a:p>
          <a:p>
            <a:r>
              <a:t>Häufiges Muster: Einstiege sind zu weich (Entschuldigung für das Gespräch) oder zu scharf (Vorwurfscharakter). Zielton: neutral, sachlich, erwartungsklar.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Musterlösung (Jonas-Beispiel) bleibt Trainer-Unterlage. Im Plenum-Abgleich kann der Trainer Aspekte einbringen, ohne die Lösung vollständig zu zeigen.</a:t>
            </a:r>
          </a:p>
          <a:p>
            <a:r>
              <a:t>Wichtig: hohe Sichtbarkeit (fragt viel, enthusiastisch) ist Engagement-Merkmal, kein Reifegrad-Merkmal.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Transferaufgabe für zuhause – AB-2 wird zum nächsten Teamleiter-Treffen mitgebracht.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Vier I nach Bass &amp; Avolio als Entwicklungsrichtung, nicht als Handlungsanleitung für heute.</a:t>
            </a:r>
          </a:p>
          <a:p>
            <a:r>
              <a:t>Bei Zeitdruck: nur vier Dimensionen benennen und einen Satz zum Servant-Leadership-Leitbild sprechen – Block kann auf 5 Minuten komprimiert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Reflexionsfragen aus Sec 4 als Leseauftrag mitgeben, nicht im Plenum besprechen.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Transferaufgabe als Verabredung kommunizieren, nicht als Hausaufgabe. Ausblick: TL04 Vertriebssteuerung – wer situativ führen kann, steuert wirkungsvoller.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TL02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Führungsstile &amp; situatives Führen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Den Führungsstil an Mensch und Situation anpassen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K-F01 Führung &amp; Teamentwicklung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Teamleiter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TL02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Es gibt nicht den einen richtigen Führungsstil – sondern den zur Situation und zum Reifegrad des Mitarbeiters passenden.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Halbtags-Workshop erarbeiten Sie die theoretischen Grundlagen der wichtigsten Stilmodelle (Verhaltensgitter, Kontingenz, situatives Führen) und übersetzen sie unmittelbar in Ihren eigenen Führungsalltag: Welchen Stil braucht Ihr Neuling bei der ersten eigenständigen Kreditanalyse?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Welchen braucht Ihr 20-jähriger Profi beim Umstieg auf ein neues Bewertungssystem?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Über Diagnose-Übungen und kollegiale Fallberatung schärfen Sie Ihren Blick für Reifegrade – und entwickeln für zwei konkrete Mitarbeiter aus Ihrem Team einen begründeten Führungsstil-Entscheid.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TL02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vier Führungsstile des situativen Modells nach Hersey und Blanchard (dirigieren, coachen/trainieren, sekundieren, delegieren) sowie das zugrundeliegende Reifegrad-Konstrukt (Kompetenz × Motivation) erklären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Reifegrad eines konkreten Mitarbeiters in Bezug auf eine spezifische Aufgabe einschätzen und den passenden Führungsstil begründet auswählen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Das eigene Führungsverhalten mit Blick auf den bevorzugten Standard-Führungsstil reflektieren und Situationen benennen, in denen ein anderer Stil wirksamer wäre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Kernidee transformationaler Führung (vier I nach Bass &amp; Avolio) als Entwicklungsrichtung über das situative Führen hinaus einordnen und mit dem Servant-Leadership-Leitbild der VR-Bank verbinden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TL02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08:30–08:45 </a:t>
            </a:r>
            <a:r>
              <a:rPr sz="1200" b="1">
                <a:solidFill>
                  <a:srgbClr val="3D5466"/>
                </a:solidFill>
                <a:latin typeface="Arial"/>
              </a:rPr>
              <a:t>  Ankommen &amp; Einstieg</a:t>
            </a:r>
            <a:r>
              <a:rPr sz="900">
                <a:solidFill>
                  <a:srgbClr val="78808C"/>
                </a:solidFill>
                <a:latin typeface="Arial"/>
              </a:rPr>
              <a:t>  ·  Begrüßung, Vorstellungsrunde (Name, Team, eine Führungssituation aus der letzten Woche)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08:45–09:00 </a:t>
            </a:r>
            <a:r>
              <a:rPr sz="1200" b="1">
                <a:solidFill>
                  <a:srgbClr val="3D5466"/>
                </a:solidFill>
                <a:latin typeface="Arial"/>
              </a:rPr>
              <a:t>  Aktivierung: Stilbefragung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Einzelarbeit: Jeder notiert, welchen Führungsstil er gestern oder vorgestern eingesetzt hat – und warum. Kurze Spontanmeldungen im Plenum (kein Bewertungsformat).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09:00–09:40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Vom Verhaltensgitter zum situativen Modell</a:t>
            </a:r>
            <a:r>
              <a:rPr sz="900">
                <a:solidFill>
                  <a:srgbClr val="78808C"/>
                </a:solidFill>
                <a:latin typeface="Arial"/>
              </a:rPr>
              <a:t>  ·  Trainerinput mit Visualisierung (Folie/Flipchart): Forschungsbogen Blake/Mouton → Fiedler → Hersey/Blanchard. D1–D4/S1–S4-Matrix erarbeiten. D2 als kritisches Stadium besonders erläutern. Aufgabenbezug des Reifegrades betonen.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09:40–10:00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 verankern: Vier-Felder-Quiz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nennt 4 Kurzfälle (je 2–3 Sätze), TN ordnen auf Karten: Welcher Reifegrad? Welcher Stil? Karten hochhalten, kurzes Blitzfeedback. Keine Auflösung als Richtig/Falsch – Diskussion der Einschätzungsunterschiede.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10:00–10:15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10:15–10:25 </a:t>
            </a:r>
            <a:r>
              <a:rPr sz="1200" b="1">
                <a:solidFill>
                  <a:srgbClr val="3D5466"/>
                </a:solidFill>
                <a:latin typeface="Arial"/>
              </a:rPr>
              <a:t>  Selbstreflexion: Mein Standard-Führungsstil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Einzelarbeit, still (5–7 Min.): Selbstreflexionsfragen aus Sec 4 (Leitfragen 1–3). Kein Sammeln im Plenum – Ergebnis bleibt persönlich. Überleitung: „Bitte lassen Sie das Formular offen – Sie brauchen Frage 4 gleich für die Fallberatung. Was Sie jetzt aufgeschrieben haben, bringen Sie gleich in die Fallarbeit mit."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10:25–10:45 </a:t>
            </a:r>
            <a:r>
              <a:rPr sz="1200" b="1">
                <a:solidFill>
                  <a:srgbClr val="3D5466"/>
                </a:solidFill>
                <a:latin typeface="Arial"/>
              </a:rPr>
              <a:t>  Praxisfall Marlies/Jonas/Sigrid</a:t>
            </a:r>
            <a:r>
              <a:rPr sz="900">
                <a:solidFill>
                  <a:srgbClr val="78808C"/>
                </a:solidFill>
                <a:latin typeface="Arial"/>
              </a:rPr>
              <a:t>  ·  Trainerinput: Praxisfall vorstellen (bis inkl. Führungsstil-Entscheidung). TN lesen parallel mit (Teilnehmerunterlagen). Impuls-Frage: „Wie würden Sie bei Sigrid vorgehen – und warum?" Plenumsblitz (max. 3 Wortmeldungen). Trainer klärt D3-Diagnose und Grenze Wertekonflikt vs. D3.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10:45–11:10 </a:t>
            </a:r>
            <a:r>
              <a:rPr sz="1200" b="1">
                <a:solidFill>
                  <a:srgbClr val="3D5466"/>
                </a:solidFill>
                <a:latin typeface="Arial"/>
              </a:rPr>
              <a:t>  Fall-Fortführung: Konsequenzgespräch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führt Fall-Fortführung ein (Sigrid hat Tool weiterhin nicht genutzt). Erläutert Struktur des Konsequenzgesprächs (Sachverhalt, Vereinbarung, Erwartung).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11:10–11:45 </a:t>
            </a:r>
            <a:r>
              <a:rPr sz="1200" b="1">
                <a:solidFill>
                  <a:srgbClr val="3D5466"/>
                </a:solidFill>
                <a:latin typeface="Arial"/>
              </a:rPr>
              <a:t>  Kollegiale Fallberatung: Sprachcheck</a:t>
            </a:r>
            <a:r>
              <a:rPr sz="900">
                <a:solidFill>
                  <a:srgbClr val="78808C"/>
                </a:solidFill>
                <a:latin typeface="Arial"/>
              </a:rPr>
              <a:t>  ·  Dreiergruppen (35 Min. inkl. Einzelarbeit). Format aus Sec 4: Ausgangsfall A oder eigener Fall (Fall B). Schritt 1 (5 Min.), Schritt 2 (7–10 Min. Einzelarbeit), Schritt 3 (ca. 15 Min. Dreiergruppe). Trainer rotiert durch die Gruppen (kein Eingriff in die Inhalte – nur Zeitcheck und ggf. Prozesshinweis). Kurzauswertung im Plenum (5 Min.): Was hat überrascht? Was ändert sich an der Formulierung?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11:45–12:05 </a:t>
            </a:r>
            <a:r>
              <a:rPr sz="1200" b="1">
                <a:solidFill>
                  <a:srgbClr val="3D5466"/>
                </a:solidFill>
                <a:latin typeface="Arial"/>
              </a:rPr>
              <a:t>  AB-1: Diagnose-Arbeitsblatt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Einzelarbeit: AB-1 vollständig ausfüllen (12 Min.). Trainer kündigt an: „Bitte einen echten Mitarbeiter, eine echte Aufgabe." Danach: Ein TN stellt seine Einschätzung freiwillig vor – kollegialer Abgleich der Diagnose-Logik (5 Min., kein Richtig/Falsch).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12:05–12:15 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Transformationale Führung &amp; Servant Leadership</a:t>
            </a:r>
            <a:r>
              <a:rPr sz="900">
                <a:solidFill>
                  <a:srgbClr val="78808C"/>
                </a:solidFill>
                <a:latin typeface="Arial"/>
              </a:rPr>
              <a:t>  ·  Kurzinput (10 Min.): Vier I nach Bass/Avolio als Entwicklungsrichtung. Servant-Leadership-Leitbild des FKB Campus – genossenschaftliche Verknüpfung (§ 1 GenG). Reflexionsfragen aus Sec 4 als Leseauftrag für nach dem Workshop.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12:15–12:25 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 &amp;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Praxistransfer-Aufgabe vorstellen (Sec 5: zwei Mitarbeiter, je AB-1 + bewusster Stilentscheid; AB-2 als Transferaufgabe für zuhause). Selbstcheck-Formular aushändigen. Ausblick TL04.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12:25–12:30 </a:t>
            </a:r>
            <a:r>
              <a:rPr sz="1200" b="1">
                <a:solidFill>
                  <a:srgbClr val="3D5466"/>
                </a:solidFill>
                <a:latin typeface="Arial"/>
              </a:rPr>
              <a:t>  Evaluation</a:t>
            </a:r>
            <a:r>
              <a:rPr sz="900">
                <a:solidFill>
                  <a:srgbClr val="78808C"/>
                </a:solidFill>
                <a:latin typeface="Arial"/>
              </a:rPr>
              <a:t>  ·  Feedbackbogen austeilen und ausfüllen lassen. Wissenstest optional als Take-away.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Gesamt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EINSTIEG &amp; AKTIVIERUNG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Es gibt keinen universell richtigen Führungsstil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Den eigenen Standard-Stil bewusst machen – Ausgangspunkt für den Workshop.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Was haben Sie gestern geführt – und wie?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Die Frage ist nicht: Was ist mein Stil? – sondern: Welcher Stil passt hier?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Jeder hat einen bevorzugten Führungsstil.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Bevorzugt heißt nicht: immer richtig.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Ziel heute: das Unbewusste bewusst machen.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Wie die Forschung zum situativen Modell kam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Forschungsgenerationen in 15 Minuten – nur so weit, wie es die Fortentwicklung erklärbar macht.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Blake/Mouton: Aufgabe UND Mensch – kein Entweder-oder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Hohe Aufgaben- und hohe Mitarbeiterorientierung schließen sich nicht aus.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Verhaltensgitter (1964): zwei unabhängige Dimensionen.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Haken: definiert einen Idealstil – ignoriert die Situation.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Fiedler: Der Stil allein entscheidet nicht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Führungswirksamkeit = Stil × Situationsgünstigkeit.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Aufgabenorientiert: wirksam bei sehr günstigen und sehr ungünstigen Lagen.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Mitarbeiterorientiert: wirksam bei mittlerer Situationsgünstigkeit.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Problem: Stil ist bei Fiedler fix – die Situation die Variable.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Hersey/Blanchard: Der Reifegrad entscheidet – aufgabenbezogen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Nicht: Wer ist der Mensch? – sondern: Wer ist er bei dieser Aufgabe?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Reifegrad = Kompetenz × Engagement – immer aufgabenspezifisch.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Vier Reifegrade (D1–D4), vier korrespondierende Stile (S1–S4).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 D4-Berater für Jahresabschluss kann D1 für ein neues Tool sein.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Reifegrad-Diagnose: Vier Stufen, zwei Dimensionen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Reifegrad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Vier Stile – je zwei Verhaltensachsen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Stil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Die Reifegrad-Matrix: D1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694" y="1325880"/>
            <a:ext cx="643356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Vier-Felder-Quiz: Schnell urteilen – und dann besprechen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Vier Kurzfälle: Welcher Reifegrad? Welcher Stil? Karte hochhalten.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Kein Richtig/Falsch – Einschätzungsunterschiede zeigen, wie Diagnose Kontext braucht.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Besonders: Grenzfall D2/D3 – wo liegt der Unterschied?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PRAXISFALL &amp; KONSEQUENZGESPRÄCH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Marlies, Jonas und Sigrid – ein Team, zwei Führungsstile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Das Modell auf eine konkrete, dreidimensionale Führungssituation anwenden.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Gleiche Teamleiterin, gleicher Tag – zwei völlig verschiedene Stile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Profil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Aufgabe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Kompetenz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Engagement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Reifegrad → Stil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S1 ist kein Misstrauensvotum – es ist situative Fürsorge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Dirigieren als Akt der Fürsorge – nicht als Kontrollbedürfnis.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Jonas braucht Struktur, weil die Aufgabe neu ist – nicht weil Marlies ihm nicht vertraut.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Schritt-für-Schritt-Checkliste + tägliche 10-Min-Check-ins = S1 in der Praxis.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Stilentscheidung kommunizieren: bewusste Ansage, kein stiller Methodenwechsel.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Wenn eine Vereinbarung nicht eingehalten wird – der Gesprächstyp ändert sich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Sobald eine Vereinbarung nicht eingehalten wurde, ändert sich der Gesprächstyp.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Zwei Wochen nach dem S3-Gespräch: Sigrid nutzt Tool in 2 von 11 Fällen.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Drittes Erklärungsgespräch kostet Glaubwürdigkeit – nicht Überzeugung, sondern Konsequenz.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Konsequenzgespräch: Sachverhalt · Vereinbarung · Erwartung – sachlich, direkt, nicht anklagend.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KOLLEGIALE FALLBERATUNG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Sprachcheck unter Führungskräften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Den eigenen Gesprächseinstieg aus der Empfängerperspektive kalibrieren.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Kollegiale Fallberatung: Wie klingt Ihr Einstieg bei dem, der ihn hört?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Ausgangsfall A (Sigrid-Variante) oder eigener Fall (Fall B).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1: Sachverhalt klären (5 Min., Einzelarbeit).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2: Gesprächseinstieg formulieren – 2–3 Sätze, sachlich, direkt (5 Min., Einzelarbeit).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3: Sprachcheck im Dreier – Empfängerperspektive, kein Rollenspiel (10 Min.).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AB-1 &amp; AB-2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Den eigenen Mitarbeiter diagnostizieren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Reifegrad-Diagnose und Stilentscheid für eine echte Führungssituation.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Einen echten Mitarbeiter, eine echte Aufgabe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Aufgabe und Mitarbeiter benennen (kein Fantasiefall).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Kompetenz und Engagement separat einschätzen und begründen.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Reifegrad D1–D4 ableiten und passenden Stil S1–S4 wählen.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Lücke zum bisherigen Stil benennen: Was ändere ich konkret?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Den Stilwechsel ansagen – damit er nicht wie Launenhaftigkeit wirkt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Gesprächseinstieg in 2–3 Sätzen formulieren (aus AB-1-Situation).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Erwartete Reaktion des Mitarbeiters antizipieren.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Formulierungsbausteine als Inspiration – eigene Sprache entwickeln.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TRANSFORMATIONALE FÜHRUNG &amp; SERVANT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Über das Situative hinaus: Führung als Entwicklung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Entwicklungsrichtung aufzeigen – kein zweiter Theorieblock, sondern eine Brücke.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Transformationale Führung: Nicht Verhalten steuern – Haltungen entwickeln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Situatives Führen steuert das Verhalten. Transformationale Führung entwickelt die Haltung.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I1 Idealized Influence – Vorbild: Werte verkörpern, Identifikation schaffen.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I2 Inspirational Motivation – Sinn stiften: Vision vermitteln, nicht nur Aufgaben verteilen.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I3 Intellectual Stimulation – Denken anregen: Fehler als Lernchance, Eigenständigkeit fördern.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I4 Individualized Consideration – Jeden als Individuum sehen und entwickeln.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Servant Leadership: Dirigieren ist Fürsorge – nicht Kontrolle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Wachsen die Menschen, denen gedient wird? (Greenleaf, 1977)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Förderauftrag § 1 GenG: Mitglieder fördern → Mitarbeitende entwickeln.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S1 nicht weil Kontrolle – sondern weil dieser Mensch in dieser Situation Struktur braucht.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Steuern UND entwickeln – nicht steuern statt entwickeln.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TRANSFER &amp; ABSCHLUSS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Zwei Mitarbeiter, vier Wochen, ein Selbstcheck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Verbindliche Transferaufgabe vereinbaren – kein Appell, sondern eine Verabredung.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Der richtige Stil ist der, den Ihr Mitarbeiter jetzt braucht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Der richtige Führungsstil ist der, den Ihr Mitarbeiter in dieser Situation braucht – nicht der, den Sie am besten können.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Bis Ende nächster Woche: AB-1 für zwei Mitarbeiter ausfüllen.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Bewussten Stilentscheid treffen – und beim nächsten Treffen berichten.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Selbstcheck nach 4 Wochen: Reaktion des Mitarbeiters, eigener Lernmoment.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