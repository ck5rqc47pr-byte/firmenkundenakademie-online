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 (nur für Trainer und GF-Rolle sichtbar): Martin Klemm hat einen Großauftrag über 1,2 Mio. EUR an Land gezogen, der die Vorlauffinanzierung belastet. Zusätzlich lief eine CNC-Maschine (400 TEUR) aus dem Eigenkapital. Die Auftragslage ist gut, der Cash-Engpass temporär. Diese Infos gibt der GF nur preis, wenn der Berater konkret und respektvoll danach fragt – nie freiwillig.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M02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Bilanzgespräch auf Augenhöhe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Jahresabschlüsse im Kundengespräch professionell einsetzen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M02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Analyse liegt vor – aber wie spricht man kritische Zahlen an, ohne den Kunden zu belehren?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einen 5-Phasen-Rahmen und Fragetechniken für das Bilanzgespräch und üben beides im Rollenspiel an einem realistischen Mittelstandsfall.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führen Sie Bilanzgespräche auf Augenhöhe – auch wenn die Botschaft unbequem ist.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M02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Bilanzgespräch anhand eines strukturierten 5-Phasen-Rahmens situativ planen und durchführen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Kritische Kennzahlenentwicklungen im Kundendialog differenziert einordnen und Analysefragen stellen, ohne eine Abwehrhaltung auszulösen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Qualitative Unternehmenssignale mit quantitativen Kennzahlen verknüpfen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Einwände mit Fragetechniken konstruktiv aufgreifen und das Gespräch weiterführen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 der Bilanzanalyse bedarfsorientierte Beratungsimpulse für Verbundprodukte ableiten (DZ BANK, R+V, Union Investment, VR-Leasing)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M02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0–15 min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 &amp; Aktivierung</a:t>
            </a:r>
            <a:r>
              <a:rPr sz="900">
                <a:solidFill>
                  <a:srgbClr val="78808C"/>
                </a:solidFill>
                <a:latin typeface="Arial"/>
              </a:rPr>
              <a:t>  ·  Blitzlichtrunde,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15–35 min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35–50 min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II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Kurzvortrag, interaktiv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50–65 min   </a:t>
            </a:r>
            <a:r>
              <a:rPr sz="1200" b="1">
                <a:solidFill>
                  <a:srgbClr val="3D5466"/>
                </a:solidFill>
                <a:latin typeface="Arial"/>
              </a:rPr>
              <a:t>  Rollenspielvorbereitung</a:t>
            </a:r>
            <a:r>
              <a:rPr sz="900">
                <a:solidFill>
                  <a:srgbClr val="78808C"/>
                </a:solidFill>
                <a:latin typeface="Arial"/>
              </a:rPr>
              <a:t>  ·  Stille Einzelarbeit, dann 3er-Gruppe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65–95 min   </a:t>
            </a:r>
            <a:r>
              <a:rPr sz="1200" b="1">
                <a:solidFill>
                  <a:srgbClr val="3D5466"/>
                </a:solidFill>
                <a:latin typeface="Arial"/>
              </a:rPr>
              <a:t>  Rollenspiel Runde 1</a:t>
            </a:r>
            <a:r>
              <a:rPr sz="900">
                <a:solidFill>
                  <a:srgbClr val="78808C"/>
                </a:solidFill>
                <a:latin typeface="Arial"/>
              </a:rPr>
              <a:t>  ·  Rollenspiel, Peer-Feedback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95–115 min  </a:t>
            </a:r>
            <a:r>
              <a:rPr sz="1200" b="1">
                <a:solidFill>
                  <a:srgbClr val="3D5466"/>
                </a:solidFill>
                <a:latin typeface="Arial"/>
              </a:rPr>
              <a:t>  Debriefing Runde 1</a:t>
            </a:r>
            <a:r>
              <a:rPr sz="900">
                <a:solidFill>
                  <a:srgbClr val="78808C"/>
                </a:solidFill>
                <a:latin typeface="Arial"/>
              </a:rPr>
              <a:t>  ·  Moderiertes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115–125 min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—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125–155 min </a:t>
            </a:r>
            <a:r>
              <a:rPr sz="1200" b="1">
                <a:solidFill>
                  <a:srgbClr val="3D5466"/>
                </a:solidFill>
                <a:latin typeface="Arial"/>
              </a:rPr>
              <a:t>  Rollenspiel Runde 2</a:t>
            </a:r>
            <a:r>
              <a:rPr sz="900">
                <a:solidFill>
                  <a:srgbClr val="78808C"/>
                </a:solidFill>
                <a:latin typeface="Arial"/>
              </a:rPr>
              <a:t>  ·  Rollenspiel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155–170 min </a:t>
            </a:r>
            <a:r>
              <a:rPr sz="1200" b="1">
                <a:solidFill>
                  <a:srgbClr val="3D5466"/>
                </a:solidFill>
                <a:latin typeface="Arial"/>
              </a:rPr>
              <a:t>  Debriefing Runde 2</a:t>
            </a:r>
            <a:r>
              <a:rPr sz="900">
                <a:solidFill>
                  <a:srgbClr val="78808C"/>
                </a:solidFill>
                <a:latin typeface="Arial"/>
              </a:rPr>
              <a:t>  ·  Moderiertes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170–175 min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Plenum, Einzelreflexion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175–180 min </a:t>
            </a:r>
            <a:r>
              <a:rPr sz="1200" b="1">
                <a:solidFill>
                  <a:srgbClr val="3D5466"/>
                </a:solidFill>
                <a:latin typeface="Arial"/>
              </a:rPr>
              <a:t>  Evaluation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Theorie-Input: Vom Zahlenleser zum Gesprächsführer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DIE GRENZEN DER REINEN KENNZAHLENANALYSE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Jahresabschluss beantwortet die Frage: „Wie ist die finanzielle Situation?" . Diese Analyse ist die Grundlage des Kreditgeschäfts – und gleichzeitig nur die Hälfte der Geschichte.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KOMMUNIKATION AUF AUGENHÖHE: INHALTS- VS. BEZIEHUNGSEBENE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Muster: Beobachtung + offene Frage statt Beobachtung + Bewertung.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DER 5-PHASEN-RAHMEN FÜR DAS BILANZGESPRÄCH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 1 – Vorbereitung (30–45 Min. vor dem Termin)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Mindestens 4 Kennzahlen berechnen (EK-Quote, Liquidität, Verschuldungsgrad, EBIT-Marge)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Zeitreihe: Vergleich zu mindestens 2 Vorjahren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Branchenwert recherchieren: In agree (Firmenkundenanalyse) stehen aktuelle Branchenbenchmarks aus der Creditreform/Bisnode-Lizenz direkt im Analysebogen – diese Werte für das Gespräch bevorzugen. Alternativ: Bundesbank Unternehmensabschlussstatistik (kostenfrei, aber teils 2 Jahre zeitverzögert)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3 Schlüsselbotschaften + 5 offene Fragen schriftlich vorbereiten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 2 – Eröffnung (ca. 10 Min.)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Kontext und Ziel setzen: „Heute möchte ich mit Ihnen Ihren Jahresabschluss durchgehen und verstehen, wie sich Ihre Lage entwickelt hat."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Vier-Ohren-Modell nach Schulz von Thun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5-Phasen-Rahmen für das strukturierte Bilanzgespräch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951" y="1325880"/>
            <a:ext cx="884705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Praxiscase: Schwäbische Metallbau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Finanzdaten (fiktiv):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Quelle: Deutsche Bundesbank, Unternehmensabschlussstatistik (laufend)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Rollenbeschreibungen: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 A – Berater (erhält nur diese Informationen — keine Hintergrundinfos)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 B – GF Martin Klemm (+ Trainer-Karte mit Hintergrundinfos)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 C – Beobachter: Beobachtungsbogen nutzen (s. u.), konkrete Gesprächssequenzen festhalten, nicht nur Urteile.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BEOBACHTUNGSBOGEN ROLLENSPIEL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Skala: 1 = gar nicht sichtbar · 3 = ansatzweise · 5 = sehr gut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M02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Praxiscase: Schwäbische Metallbau GmbH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Branche (Ø)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22,4 %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15,1 %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28–32 %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Liquidität 2. Grades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0,94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1,0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Verschuldungsgrad (FK/EK)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3,5x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5,6x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2,5–3,5x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EBIT-Marge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4,1 %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4–6 %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Personalaufwandsquote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38–42 %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M02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Praxiscase: Schwäbische Metallbau GmbH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Kriterium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Beobachtung / Beispiel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1–5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5-Phasen-Rahmen eingehalten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Offene Fragen eingesetzt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Beobachtung + Frage statt Beobachtung + Urteil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Qualitative Info aktiv erfragt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Konkrete Beratungsimpulse aus Analyse abgeleitet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Gespräch wirkte wie Dialog auf Augenhöhe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AB-1: Checkliste – Bilanzgespräch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 dem Gespräch: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Jahresabschluss und Vorjahresvergleich ausgewertet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4+ Kennzahlen berechnet, Branchenvergleich notiert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5 offene Fragen schriftlich vorbereitet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Gesprächsziel definiert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Kreditlinie / § 18 KWG-Unterlagen geprüft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Verbundpartner-Bedarf gesichtet (R+V, Union Investment, DZ BANK)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 Gespräch: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Positiver Einstieg, Agenda gesetzt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Mindestens 40 % Redezeit für den Kunden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Kritische Punkte mit offener Frage angesprochen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Handlungsoptionen gemeinsam entwickelt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 welcher Stelle im Rollenspiel haben Sie sich am wohlsten gefühlt? Warum?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 haben Sie gemerkt, dass Ihnen eine Technik noch nicht in Fleisch und Blut übergegangen ist?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Welchen konkreten Kunden würden Sie gerne beim nächsten Gespräch mit den neuen Techniken ansprechen?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nehmen Sie sich vor, beim nächsten echten Bilanzgespräch anders zu machen?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