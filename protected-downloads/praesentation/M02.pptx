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aus dem Ablaufplan (Sektion 3.1). Timing und Pausen siehe Trainerhandbuch.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Einstieg: „Wie reagiert Ihr Kunde, wenn Sie eine schlechte Kennzahl ansprechen – und wie liegt das an der Formulierung?"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 nur Zahlen vorträgt, löst Rechtfertigung aus; wer fragt, löst Erklärung aus.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Fragetechniken je Phase: offene Fragen zur Analyse, hypothetische Fragen im Lösungsraum.</a:t>
            </a:r>
          </a:p>
          <a:p>
            <a:r>
              <a:t>Moderation (HB Sec 3): Theorie-Input II (min 35–50) Trainer-Hinweis: Stellen Sie beim Input II explizit klar: „Der 5-Phasen-Rahmen gibt Ihnen eine Struktur – im echten Gespräch dauert das Ganze 60 bis 75 Minuten, nicht 180. Was wir heute im Seminar üben, ist die Qualität jeder Phase, nicht die Länge." So vermeiden Sie den (in der Praxis häufigen) Eindruck, ein Bilanzgespräch müsse drei Stunden dauern. Rollenspiel-Einstieg (min 50–65) Trainer-Hinweis: Viele Teilnehmer empfinden Rollenspiele als unangenehm. Normalisieren Sie das explizit: „Rollenspiele sind seltsam – das ist normal." Betonen Sie, dass Beobachter eine aktive, wertvolle Rolle haben. Das Ziel ist nicht Perfektion, sondern das Ausprobieren. Umgang mit Widerstand im Rollenspiel Trainer-Tipp: Nutzen Sie die „Freeze-Technik": Rufen Sie während eines Rollenspiels „Freeze!" – alle frieren ein. Fragen Sie den Berater: „Was überlegen Sie gerade? Welche Frage könnten Sie jetzt stellen?" Dann weiter. Diese Methode erhöht die Reflexionstiefe. Debriefing-Struktur (min 95–115 und 155–170) Trainer-Hinweis: Strukturieren Sie das Debriefing immer in dieser Reihenfolge: (1) Beschreibung – Was ist passiert? (2) Analyse – Warum? (3) Generalisierung – Was lernen wir? (4) Transfer – Was mache ich nächste Woche? Schweigen aushalten: 15 Sekunden Stille nach einer Frage sind produktiv. Trainer-Hinweis (gemischte Erfahrungsstufen): Wenn erfahrene Teilnehmer im Debriefing Fragen in Richtung M03 oder regulatorischer Konsequenzen (§ 18 KWG, Grenze des Gesprächs) stellen: Diese kurz beantworten, dann explizit zurückschalten: „Das ist eine wichtige Frage – die vertiefen wir in M03. Für heute: Was nehmen die mit uns, die vielleicht noch kein Bilanzgespräch mit dieser Komplexität hatten?" Damit holen Sie unerfahrene TN aktiv zurück in den Dialog, statt sie durch Spezialdiskussionen zu verlieren. Transfer-Vorsatz (min 170–175) Trainer-Hinweis: Der Transfer-Vorsatz muss konkret und verhaltensbasiert sein – nicht „Ich möchte besser zuhören", sondern „Ich werde beim nächsten Gespräch mit Müller GmbH mindestens eine Implikationsfrage stellen." Notieren Sie alle Vorsätze auf Flipchart. Empfehlen Sie den TN, sofort nach dem Seminar (spätestens heute) eine agree-Wiedervorlage auf 4 Wochen zu setzen – so wird aus dem Vorsatz ein institutionell verankerter Termin statt eines „Ehrensystems".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Schwäbische Metallbau: kritische Kennzahlen auffällig – die Kunst ist, sie als Frage einzubringen. Debriefing: Wann kippte das Gespräch in Rechtfertigung?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zum Selbstcheck.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Selbstcheck nach 4 Wochen als Transferanker.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817352" cy="256032"/>
          </a:xfrm>
          <a:prstGeom prst="rect">
            <a:avLst/>
          </a:prstGeom>
          <a:noFill/>
        </p:spPr>
        <p:txBody>
          <a:bodyPr wrap="none">
            <a:spAutoFit/>
          </a:bodyPr>
          <a:lstStyle/>
          <a:p>
            <a:pPr algn="l"/>
            <a:r>
              <a:rPr sz="800">
                <a:solidFill>
                  <a:srgbClr val="C8D2E6"/>
                </a:solidFill>
                <a:latin typeface="Consolas"/>
              </a:rPr>
              <a:t>FKB CAMPUS  ·  FIRMENKUNDENAKADEMIE  ·  M02</a:t>
            </a:r>
          </a:p>
        </p:txBody>
      </p:sp>
      <p:sp>
        <p:nvSpPr>
          <p:cNvPr id="5" name="TextBox 4"/>
          <p:cNvSpPr txBox="1"/>
          <p:nvPr/>
        </p:nvSpPr>
        <p:spPr>
          <a:xfrm>
            <a:off x="685800" y="1828800"/>
            <a:ext cx="10817352" cy="2011680"/>
          </a:xfrm>
          <a:prstGeom prst="rect">
            <a:avLst/>
          </a:prstGeom>
          <a:noFill/>
        </p:spPr>
        <p:txBody>
          <a:bodyPr wrap="square">
            <a:spAutoFit/>
          </a:bodyPr>
          <a:lstStyle/>
          <a:p>
            <a:pPr algn="l"/>
            <a:r>
              <a:rPr sz="4600" b="1" i="0">
                <a:solidFill>
                  <a:srgbClr val="FFFFFF"/>
                </a:solidFill>
                <a:latin typeface="Arial"/>
              </a:rPr>
              <a:t>Bilanzgespräch auf Augenhöhe</a:t>
            </a:r>
          </a:p>
        </p:txBody>
      </p:sp>
      <p:sp>
        <p:nvSpPr>
          <p:cNvPr id="6" name="TextBox 5"/>
          <p:cNvSpPr txBox="1"/>
          <p:nvPr/>
        </p:nvSpPr>
        <p:spPr>
          <a:xfrm>
            <a:off x="685800" y="3977639"/>
            <a:ext cx="10817352" cy="731520"/>
          </a:xfrm>
          <a:prstGeom prst="rect">
            <a:avLst/>
          </a:prstGeom>
          <a:noFill/>
        </p:spPr>
        <p:txBody>
          <a:bodyPr wrap="square">
            <a:spAutoFit/>
          </a:bodyPr>
          <a:lstStyle/>
          <a:p>
            <a:pPr algn="l"/>
            <a:r>
              <a:rPr sz="1900" b="0" i="1">
                <a:solidFill>
                  <a:srgbClr val="BECDE6"/>
                </a:solidFill>
                <a:latin typeface="Arial"/>
              </a:rPr>
              <a:t>Jahresabschlüsse im Kundengespräch professionell einsetzen</a:t>
            </a:r>
          </a:p>
        </p:txBody>
      </p:sp>
      <p:sp>
        <p:nvSpPr>
          <p:cNvPr id="7" name="Rectangle 6"/>
          <p:cNvSpPr/>
          <p:nvPr/>
        </p:nvSpPr>
        <p:spPr>
          <a:xfrm>
            <a:off x="685800" y="5029200"/>
            <a:ext cx="10817352"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193792"/>
            <a:ext cx="3605784" cy="201168"/>
          </a:xfrm>
          <a:prstGeom prst="rect">
            <a:avLst/>
          </a:prstGeom>
          <a:noFill/>
        </p:spPr>
        <p:txBody>
          <a:bodyPr wrap="none">
            <a:spAutoFit/>
          </a:bodyPr>
          <a:lstStyle/>
          <a:p>
            <a:pPr algn="l"/>
            <a:r>
              <a:rPr sz="700">
                <a:solidFill>
                  <a:srgbClr val="A0B4D2"/>
                </a:solidFill>
                <a:latin typeface="Consolas"/>
              </a:rPr>
              <a:t>KOMPETENZFELD</a:t>
            </a:r>
          </a:p>
        </p:txBody>
      </p:sp>
      <p:sp>
        <p:nvSpPr>
          <p:cNvPr id="9" name="TextBox 8"/>
          <p:cNvSpPr txBox="1"/>
          <p:nvPr/>
        </p:nvSpPr>
        <p:spPr>
          <a:xfrm>
            <a:off x="685800" y="5394960"/>
            <a:ext cx="3605784" cy="320040"/>
          </a:xfrm>
          <a:prstGeom prst="rect">
            <a:avLst/>
          </a:prstGeom>
          <a:noFill/>
        </p:spPr>
        <p:txBody>
          <a:bodyPr wrap="square">
            <a:spAutoFit/>
          </a:bodyPr>
          <a:lstStyle/>
          <a:p>
            <a:pPr algn="l"/>
            <a:r>
              <a:rPr sz="1100" b="0" i="0">
                <a:solidFill>
                  <a:srgbClr val="FFFFFF"/>
                </a:solidFill>
                <a:latin typeface="Arial"/>
              </a:rPr>
              <a:t>K-01 Finanzanalyse &amp; Kreditexpertise</a:t>
            </a:r>
          </a:p>
        </p:txBody>
      </p:sp>
      <p:sp>
        <p:nvSpPr>
          <p:cNvPr id="10" name="TextBox 9"/>
          <p:cNvSpPr txBox="1"/>
          <p:nvPr/>
        </p:nvSpPr>
        <p:spPr>
          <a:xfrm>
            <a:off x="4291584" y="5193792"/>
            <a:ext cx="3605784" cy="201168"/>
          </a:xfrm>
          <a:prstGeom prst="rect">
            <a:avLst/>
          </a:prstGeom>
          <a:noFill/>
        </p:spPr>
        <p:txBody>
          <a:bodyPr wrap="none">
            <a:spAutoFit/>
          </a:bodyPr>
          <a:lstStyle/>
          <a:p>
            <a:pPr algn="l"/>
            <a:r>
              <a:rPr sz="700">
                <a:solidFill>
                  <a:srgbClr val="A0B4D2"/>
                </a:solidFill>
                <a:latin typeface="Consolas"/>
              </a:rPr>
              <a:t>KOMPETENZSTUFE</a:t>
            </a:r>
          </a:p>
        </p:txBody>
      </p:sp>
      <p:sp>
        <p:nvSpPr>
          <p:cNvPr id="11" name="TextBox 10"/>
          <p:cNvSpPr txBox="1"/>
          <p:nvPr/>
        </p:nvSpPr>
        <p:spPr>
          <a:xfrm>
            <a:off x="4291584" y="5394960"/>
            <a:ext cx="3605784" cy="320040"/>
          </a:xfrm>
          <a:prstGeom prst="rect">
            <a:avLst/>
          </a:prstGeom>
          <a:noFill/>
        </p:spPr>
        <p:txBody>
          <a:bodyPr wrap="square">
            <a:spAutoFit/>
          </a:bodyPr>
          <a:lstStyle/>
          <a:p>
            <a:pPr algn="l"/>
            <a:r>
              <a:rPr sz="1100" b="0" i="0">
                <a:solidFill>
                  <a:srgbClr val="FFFFFF"/>
                </a:solidFill>
                <a:latin typeface="Arial"/>
              </a:rPr>
              <a:t>Sparringspartner</a:t>
            </a:r>
          </a:p>
        </p:txBody>
      </p:sp>
      <p:sp>
        <p:nvSpPr>
          <p:cNvPr id="12" name="TextBox 11"/>
          <p:cNvSpPr txBox="1"/>
          <p:nvPr/>
        </p:nvSpPr>
        <p:spPr>
          <a:xfrm>
            <a:off x="7897368" y="5193792"/>
            <a:ext cx="3605784" cy="201168"/>
          </a:xfrm>
          <a:prstGeom prst="rect">
            <a:avLst/>
          </a:prstGeom>
          <a:noFill/>
        </p:spPr>
        <p:txBody>
          <a:bodyPr wrap="none">
            <a:spAutoFit/>
          </a:bodyPr>
          <a:lstStyle/>
          <a:p>
            <a:pPr algn="l"/>
            <a:r>
              <a:rPr sz="700">
                <a:solidFill>
                  <a:srgbClr val="A0B4D2"/>
                </a:solidFill>
                <a:latin typeface="Consolas"/>
              </a:rPr>
              <a:t>VERSION</a:t>
            </a:r>
          </a:p>
        </p:txBody>
      </p:sp>
      <p:sp>
        <p:nvSpPr>
          <p:cNvPr id="13" name="TextBox 12"/>
          <p:cNvSpPr txBox="1"/>
          <p:nvPr/>
        </p:nvSpPr>
        <p:spPr>
          <a:xfrm>
            <a:off x="7897368" y="5394960"/>
            <a:ext cx="3605784" cy="320040"/>
          </a:xfrm>
          <a:prstGeom prst="rect">
            <a:avLst/>
          </a:prstGeom>
          <a:noFill/>
        </p:spPr>
        <p:txBody>
          <a:bodyPr wrap="square">
            <a:spAutoFit/>
          </a:bodyPr>
          <a:lstStyle/>
          <a:p>
            <a:pPr algn="l"/>
            <a:r>
              <a:rPr sz="1100" b="0" i="0">
                <a:solidFill>
                  <a:srgbClr val="FFFFFF"/>
                </a:solidFill>
                <a:latin typeface="Arial"/>
              </a:rPr>
              <a:t>v1.0</a:t>
            </a:r>
          </a:p>
        </p:txBody>
      </p:sp>
      <p:sp>
        <p:nvSpPr>
          <p:cNvPr id="14" name="Rectangle 13"/>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583680"/>
            <a:ext cx="5408676" cy="256032"/>
          </a:xfrm>
          <a:prstGeom prst="rect">
            <a:avLst/>
          </a:prstGeom>
          <a:noFill/>
        </p:spPr>
        <p:txBody>
          <a:bodyPr wrap="none">
            <a:spAutoFit/>
          </a:bodyPr>
          <a:lstStyle/>
          <a:p>
            <a:pPr algn="l"/>
            <a:r>
              <a:rPr sz="700">
                <a:solidFill>
                  <a:srgbClr val="96A5BE"/>
                </a:solidFill>
                <a:latin typeface="Consolas"/>
              </a:rPr>
              <a:t>FKB Campus  ·  2026</a:t>
            </a:r>
          </a:p>
        </p:txBody>
      </p:sp>
      <p:sp>
        <p:nvSpPr>
          <p:cNvPr id="16" name="TextBox 15"/>
          <p:cNvSpPr txBox="1"/>
          <p:nvPr/>
        </p:nvSpPr>
        <p:spPr>
          <a:xfrm>
            <a:off x="6094476" y="6583680"/>
            <a:ext cx="5408676" cy="256032"/>
          </a:xfrm>
          <a:prstGeom prst="rect">
            <a:avLst/>
          </a:prstGeom>
          <a:noFill/>
        </p:spPr>
        <p:txBody>
          <a:bodyPr wrap="none">
            <a:spAutoFit/>
          </a:bodyPr>
          <a:lstStyle/>
          <a:p>
            <a:pPr algn="r"/>
            <a:r>
              <a:rPr sz="700">
                <a:solidFill>
                  <a:srgbClr val="96A5BE"/>
                </a:solidFill>
                <a:latin typeface="Consolas"/>
              </a:rPr>
              <a:t>Trainer-Präsentation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ÜBERBLICK  ·  M02</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Worum geht es heute</a:t>
            </a:r>
          </a:p>
        </p:txBody>
      </p:sp>
      <p:sp>
        <p:nvSpPr>
          <p:cNvPr id="7" name="TextBox 6"/>
          <p:cNvSpPr txBox="1"/>
          <p:nvPr/>
        </p:nvSpPr>
        <p:spPr>
          <a:xfrm>
            <a:off x="685800" y="1737360"/>
            <a:ext cx="9720072" cy="4206240"/>
          </a:xfrm>
          <a:prstGeom prst="rect">
            <a:avLst/>
          </a:prstGeom>
          <a:noFill/>
        </p:spPr>
        <p:txBody>
          <a:bodyPr wrap="square">
            <a:spAutoFit/>
          </a:bodyPr>
          <a:lstStyle/>
          <a:p>
            <a:pPr>
              <a:spcAft>
                <a:spcPts val="1200"/>
              </a:spcAft>
            </a:pPr>
            <a:r>
              <a:rPr sz="1700">
                <a:solidFill>
                  <a:srgbClr val="3D5466"/>
                </a:solidFill>
                <a:latin typeface="Arial"/>
              </a:rPr>
              <a:t>Die Analyse liegt vor – aber wie spricht man kritische Zahlen an, ohne den Kunden zu belehren?</a:t>
            </a:r>
          </a:p>
          <a:p>
            <a:pPr>
              <a:spcAft>
                <a:spcPts val="1200"/>
              </a:spcAft>
            </a:pPr>
            <a:r>
              <a:rPr sz="1700">
                <a:solidFill>
                  <a:srgbClr val="3D5466"/>
                </a:solidFill>
                <a:latin typeface="Arial"/>
              </a:rPr>
              <a:t>Sie lernen einen 5-Phasen-Rahmen und Fragetechniken für das Bilanzgespräch und üben beides im Rollenspiel an einem realistischen Mittelstandsfall.</a:t>
            </a:r>
          </a:p>
          <a:p>
            <a:pPr>
              <a:spcAft>
                <a:spcPts val="1200"/>
              </a:spcAft>
            </a:pPr>
            <a:r>
              <a:rPr sz="1700">
                <a:solidFill>
                  <a:srgbClr val="3D5466"/>
                </a:solidFill>
                <a:latin typeface="Arial"/>
              </a:rPr>
              <a:t>Danach führen Sie Bilanzgespräche auf Augenhöhe – auch wenn die Botschaft unbequem ist.</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LERNZIELE  ·  M02</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Was Sie heute mitnehmen</a:t>
            </a:r>
          </a:p>
        </p:txBody>
      </p:sp>
      <p:sp>
        <p:nvSpPr>
          <p:cNvPr id="7" name="TextBox 6"/>
          <p:cNvSpPr txBox="1"/>
          <p:nvPr/>
        </p:nvSpPr>
        <p:spPr>
          <a:xfrm>
            <a:off x="685800" y="1371600"/>
            <a:ext cx="10817352" cy="5120640"/>
          </a:xfrm>
          <a:prstGeom prst="rect">
            <a:avLst/>
          </a:prstGeom>
          <a:noFill/>
        </p:spPr>
        <p:txBody>
          <a:bodyPr wrap="square">
            <a:spAutoFit/>
          </a:bodyPr>
          <a:lstStyle/>
          <a:p>
            <a:pPr>
              <a:spcBef>
                <a:spcPts val="800"/>
              </a:spcBef>
              <a:spcAft>
                <a:spcPts val="200"/>
              </a:spcAft>
            </a:pPr>
            <a:r>
              <a:rPr sz="1400">
                <a:solidFill>
                  <a:srgbClr val="3D5466"/>
                </a:solidFill>
                <a:latin typeface="Arial"/>
              </a:rPr>
              <a:t>▸  Ein Bilanzgespräch anhand eines strukturierten 5-Phasen-Rahmens situativ planen und durchführen</a:t>
            </a:r>
          </a:p>
          <a:p>
            <a:pPr>
              <a:spcBef>
                <a:spcPts val="800"/>
              </a:spcBef>
              <a:spcAft>
                <a:spcPts val="200"/>
              </a:spcAft>
            </a:pPr>
            <a:r>
              <a:rPr sz="1400">
                <a:solidFill>
                  <a:srgbClr val="3D5466"/>
                </a:solidFill>
                <a:latin typeface="Arial"/>
              </a:rPr>
              <a:t>▸  Kritische Kennzahlenentwicklungen im Kundendialog differenziert einordnen und Analysefragen stellen, ohne eine Abwehrhaltung auszulösen</a:t>
            </a:r>
          </a:p>
          <a:p>
            <a:pPr>
              <a:spcBef>
                <a:spcPts val="800"/>
              </a:spcBef>
              <a:spcAft>
                <a:spcPts val="200"/>
              </a:spcAft>
            </a:pPr>
            <a:r>
              <a:rPr sz="1400">
                <a:solidFill>
                  <a:srgbClr val="3D5466"/>
                </a:solidFill>
                <a:latin typeface="Arial"/>
              </a:rPr>
              <a:t>▸  Qualitative Unternehmenssignale mit quantitativen Kennzahlen verknüpfen</a:t>
            </a:r>
          </a:p>
          <a:p>
            <a:pPr>
              <a:spcBef>
                <a:spcPts val="800"/>
              </a:spcBef>
              <a:spcAft>
                <a:spcPts val="200"/>
              </a:spcAft>
            </a:pPr>
            <a:r>
              <a:rPr sz="1400">
                <a:solidFill>
                  <a:srgbClr val="3D5466"/>
                </a:solidFill>
                <a:latin typeface="Arial"/>
              </a:rPr>
              <a:t>▸  Einwände mit Fragetechniken konstruktiv aufgreifen und das Gespräch weiterführen</a:t>
            </a:r>
          </a:p>
          <a:p>
            <a:pPr>
              <a:spcBef>
                <a:spcPts val="800"/>
              </a:spcBef>
              <a:spcAft>
                <a:spcPts val="200"/>
              </a:spcAft>
            </a:pPr>
            <a:r>
              <a:rPr sz="1400">
                <a:solidFill>
                  <a:srgbClr val="3D5466"/>
                </a:solidFill>
                <a:latin typeface="Arial"/>
              </a:rPr>
              <a:t>▸  Aus der Bilanzanalyse bedarfsorientierte Beratungsimpulse für Verbundprodukte ableiten (DZ BANK, R+V, Union Investment, VR-Leasing)</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AGENDA  ·  M02</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So läuft das Modul</a:t>
            </a:r>
          </a:p>
        </p:txBody>
      </p:sp>
      <p:sp>
        <p:nvSpPr>
          <p:cNvPr id="7" name="TextBox 6"/>
          <p:cNvSpPr txBox="1"/>
          <p:nvPr/>
        </p:nvSpPr>
        <p:spPr>
          <a:xfrm>
            <a:off x="685800" y="1463040"/>
            <a:ext cx="10817352" cy="4937760"/>
          </a:xfrm>
          <a:prstGeom prst="rect">
            <a:avLst/>
          </a:prstGeom>
          <a:noFill/>
        </p:spPr>
        <p:txBody>
          <a:bodyPr wrap="square">
            <a:spAutoFit/>
          </a:bodyPr>
          <a:lstStyle/>
          <a:p>
            <a:pPr>
              <a:spcBef>
                <a:spcPts val="400"/>
              </a:spcBef>
              <a:spcAft>
                <a:spcPts val="100"/>
              </a:spcAft>
            </a:pPr>
            <a:r>
              <a:rPr sz="900">
                <a:solidFill>
                  <a:srgbClr val="78808C"/>
                </a:solidFill>
                <a:latin typeface="Consolas"/>
              </a:rPr>
              <a:t>0–15 min    </a:t>
            </a:r>
            <a:r>
              <a:rPr sz="1200" b="1">
                <a:solidFill>
                  <a:srgbClr val="3D5466"/>
                </a:solidFill>
                <a:latin typeface="Arial"/>
              </a:rPr>
              <a:t>  Einstieg &amp; Aktivierung</a:t>
            </a:r>
            <a:r>
              <a:rPr sz="900">
                <a:solidFill>
                  <a:srgbClr val="78808C"/>
                </a:solidFill>
                <a:latin typeface="Arial"/>
              </a:rPr>
              <a:t>  ·  Blitzlichtrunde, Plenum</a:t>
            </a:r>
          </a:p>
          <a:p>
            <a:pPr>
              <a:spcBef>
                <a:spcPts val="400"/>
              </a:spcBef>
              <a:spcAft>
                <a:spcPts val="100"/>
              </a:spcAft>
            </a:pPr>
            <a:r>
              <a:rPr sz="900">
                <a:solidFill>
                  <a:srgbClr val="78808C"/>
                </a:solidFill>
                <a:latin typeface="Consolas"/>
              </a:rPr>
              <a:t>15–35 min   </a:t>
            </a:r>
            <a:r>
              <a:rPr sz="1200" b="1">
                <a:solidFill>
                  <a:srgbClr val="3D5466"/>
                </a:solidFill>
                <a:latin typeface="Arial"/>
              </a:rPr>
              <a:t>  Theorie-Input I</a:t>
            </a:r>
            <a:r>
              <a:rPr sz="900">
                <a:solidFill>
                  <a:srgbClr val="78808C"/>
                </a:solidFill>
                <a:latin typeface="Arial"/>
              </a:rPr>
              <a:t>  ·  Kurzvortrag + Diskussion</a:t>
            </a:r>
          </a:p>
          <a:p>
            <a:pPr>
              <a:spcBef>
                <a:spcPts val="400"/>
              </a:spcBef>
              <a:spcAft>
                <a:spcPts val="100"/>
              </a:spcAft>
            </a:pPr>
            <a:r>
              <a:rPr sz="900">
                <a:solidFill>
                  <a:srgbClr val="78808C"/>
                </a:solidFill>
                <a:latin typeface="Consolas"/>
              </a:rPr>
              <a:t>35–50 min   </a:t>
            </a:r>
            <a:r>
              <a:rPr sz="1200" b="1">
                <a:solidFill>
                  <a:srgbClr val="3D5466"/>
                </a:solidFill>
                <a:latin typeface="Arial"/>
              </a:rPr>
              <a:t>  Theorie-Input II</a:t>
            </a:r>
            <a:r>
              <a:rPr sz="900">
                <a:solidFill>
                  <a:srgbClr val="78808C"/>
                </a:solidFill>
                <a:latin typeface="Arial"/>
              </a:rPr>
              <a:t>  ·  Kurzvortrag, interaktiv</a:t>
            </a:r>
          </a:p>
          <a:p>
            <a:pPr>
              <a:spcBef>
                <a:spcPts val="400"/>
              </a:spcBef>
              <a:spcAft>
                <a:spcPts val="100"/>
              </a:spcAft>
            </a:pPr>
            <a:r>
              <a:rPr sz="900">
                <a:solidFill>
                  <a:srgbClr val="78808C"/>
                </a:solidFill>
                <a:latin typeface="Consolas"/>
              </a:rPr>
              <a:t>50–65 min   </a:t>
            </a:r>
            <a:r>
              <a:rPr sz="1200" b="1">
                <a:solidFill>
                  <a:srgbClr val="3D5466"/>
                </a:solidFill>
                <a:latin typeface="Arial"/>
              </a:rPr>
              <a:t>  Rollenspielvorbereitung</a:t>
            </a:r>
            <a:r>
              <a:rPr sz="900">
                <a:solidFill>
                  <a:srgbClr val="78808C"/>
                </a:solidFill>
                <a:latin typeface="Arial"/>
              </a:rPr>
              <a:t>  ·  Stille Einzelarbeit, dann 3er-Gruppe</a:t>
            </a:r>
          </a:p>
          <a:p>
            <a:pPr>
              <a:spcBef>
                <a:spcPts val="400"/>
              </a:spcBef>
              <a:spcAft>
                <a:spcPts val="100"/>
              </a:spcAft>
            </a:pPr>
            <a:r>
              <a:rPr sz="900">
                <a:solidFill>
                  <a:srgbClr val="78808C"/>
                </a:solidFill>
                <a:latin typeface="Consolas"/>
              </a:rPr>
              <a:t>65–95 min   </a:t>
            </a:r>
            <a:r>
              <a:rPr sz="1200" b="1">
                <a:solidFill>
                  <a:srgbClr val="3D5466"/>
                </a:solidFill>
                <a:latin typeface="Arial"/>
              </a:rPr>
              <a:t>  Rollenspiel Runde 1</a:t>
            </a:r>
            <a:r>
              <a:rPr sz="900">
                <a:solidFill>
                  <a:srgbClr val="78808C"/>
                </a:solidFill>
                <a:latin typeface="Arial"/>
              </a:rPr>
              <a:t>  ·  Rollenspiel, Peer-Feedback</a:t>
            </a:r>
          </a:p>
          <a:p>
            <a:pPr>
              <a:spcBef>
                <a:spcPts val="400"/>
              </a:spcBef>
              <a:spcAft>
                <a:spcPts val="100"/>
              </a:spcAft>
            </a:pPr>
            <a:r>
              <a:rPr sz="900">
                <a:solidFill>
                  <a:srgbClr val="78808C"/>
                </a:solidFill>
                <a:latin typeface="Consolas"/>
              </a:rPr>
              <a:t>95–115 min  </a:t>
            </a:r>
            <a:r>
              <a:rPr sz="1200" b="1">
                <a:solidFill>
                  <a:srgbClr val="3D5466"/>
                </a:solidFill>
                <a:latin typeface="Arial"/>
              </a:rPr>
              <a:t>  Debriefing Runde 1</a:t>
            </a:r>
            <a:r>
              <a:rPr sz="900">
                <a:solidFill>
                  <a:srgbClr val="78808C"/>
                </a:solidFill>
                <a:latin typeface="Arial"/>
              </a:rPr>
              <a:t>  ·  Moderiertes Plenum</a:t>
            </a:r>
          </a:p>
          <a:p>
            <a:pPr>
              <a:spcBef>
                <a:spcPts val="400"/>
              </a:spcBef>
              <a:spcAft>
                <a:spcPts val="100"/>
              </a:spcAft>
            </a:pPr>
            <a:r>
              <a:rPr sz="900">
                <a:solidFill>
                  <a:srgbClr val="78808C"/>
                </a:solidFill>
                <a:latin typeface="Consolas"/>
              </a:rPr>
              <a:t>115–125 min </a:t>
            </a:r>
            <a:r>
              <a:rPr sz="1200" b="1">
                <a:solidFill>
                  <a:srgbClr val="3D5466"/>
                </a:solidFill>
                <a:latin typeface="Arial"/>
              </a:rPr>
              <a:t>  Pause</a:t>
            </a:r>
            <a:r>
              <a:rPr sz="900">
                <a:solidFill>
                  <a:srgbClr val="78808C"/>
                </a:solidFill>
                <a:latin typeface="Arial"/>
              </a:rPr>
              <a:t>  ·  —</a:t>
            </a:r>
          </a:p>
          <a:p>
            <a:pPr>
              <a:spcBef>
                <a:spcPts val="400"/>
              </a:spcBef>
              <a:spcAft>
                <a:spcPts val="100"/>
              </a:spcAft>
            </a:pPr>
            <a:r>
              <a:rPr sz="900">
                <a:solidFill>
                  <a:srgbClr val="78808C"/>
                </a:solidFill>
                <a:latin typeface="Consolas"/>
              </a:rPr>
              <a:t>125–155 min </a:t>
            </a:r>
            <a:r>
              <a:rPr sz="1200" b="1">
                <a:solidFill>
                  <a:srgbClr val="3D5466"/>
                </a:solidFill>
                <a:latin typeface="Arial"/>
              </a:rPr>
              <a:t>  Rollenspiel Runde 2</a:t>
            </a:r>
            <a:r>
              <a:rPr sz="900">
                <a:solidFill>
                  <a:srgbClr val="78808C"/>
                </a:solidFill>
                <a:latin typeface="Arial"/>
              </a:rPr>
              <a:t>  ·  Rollenspiel</a:t>
            </a:r>
          </a:p>
          <a:p>
            <a:pPr>
              <a:spcBef>
                <a:spcPts val="400"/>
              </a:spcBef>
              <a:spcAft>
                <a:spcPts val="100"/>
              </a:spcAft>
            </a:pPr>
            <a:r>
              <a:rPr sz="900">
                <a:solidFill>
                  <a:srgbClr val="78808C"/>
                </a:solidFill>
                <a:latin typeface="Consolas"/>
              </a:rPr>
              <a:t>155–170 min </a:t>
            </a:r>
            <a:r>
              <a:rPr sz="1200" b="1">
                <a:solidFill>
                  <a:srgbClr val="3D5466"/>
                </a:solidFill>
                <a:latin typeface="Arial"/>
              </a:rPr>
              <a:t>  Debriefing Runde 2</a:t>
            </a:r>
            <a:r>
              <a:rPr sz="900">
                <a:solidFill>
                  <a:srgbClr val="78808C"/>
                </a:solidFill>
                <a:latin typeface="Arial"/>
              </a:rPr>
              <a:t>  ·  Moderiertes Plenum</a:t>
            </a:r>
          </a:p>
          <a:p>
            <a:pPr>
              <a:spcBef>
                <a:spcPts val="400"/>
              </a:spcBef>
              <a:spcAft>
                <a:spcPts val="100"/>
              </a:spcAft>
            </a:pPr>
            <a:r>
              <a:rPr sz="900">
                <a:solidFill>
                  <a:srgbClr val="78808C"/>
                </a:solidFill>
                <a:latin typeface="Consolas"/>
              </a:rPr>
              <a:t>170–175 min </a:t>
            </a:r>
            <a:r>
              <a:rPr sz="1200" b="1">
                <a:solidFill>
                  <a:srgbClr val="3D5466"/>
                </a:solidFill>
                <a:latin typeface="Arial"/>
              </a:rPr>
              <a:t>  Transfer &amp; Abschluss</a:t>
            </a:r>
            <a:r>
              <a:rPr sz="900">
                <a:solidFill>
                  <a:srgbClr val="78808C"/>
                </a:solidFill>
                <a:latin typeface="Arial"/>
              </a:rPr>
              <a:t>  ·  Plenum, Einzelreflexion</a:t>
            </a:r>
          </a:p>
          <a:p>
            <a:pPr>
              <a:spcBef>
                <a:spcPts val="400"/>
              </a:spcBef>
              <a:spcAft>
                <a:spcPts val="100"/>
              </a:spcAft>
            </a:pPr>
            <a:r>
              <a:rPr sz="900">
                <a:solidFill>
                  <a:srgbClr val="78808C"/>
                </a:solidFill>
                <a:latin typeface="Consolas"/>
              </a:rPr>
              <a:t>175–180 min </a:t>
            </a:r>
            <a:r>
              <a:rPr sz="1200" b="1">
                <a:solidFill>
                  <a:srgbClr val="3D5466"/>
                </a:solidFill>
                <a:latin typeface="Arial"/>
              </a:rPr>
              <a:t>  Evaluation</a:t>
            </a:r>
            <a:r>
              <a:rPr sz="900">
                <a:solidFill>
                  <a:srgbClr val="78808C"/>
                </a:solidFill>
                <a:latin typeface="Arial"/>
              </a:rPr>
              <a:t>  ·  Einzelarbeit</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M02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Kritische Zahlen ins Gespräch bringen – ohne Abwehr</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77800" indent="-177800">
              <a:spcBef>
                <a:spcPts val="600"/>
              </a:spcBef>
              <a:spcAft>
                <a:spcPts val="200"/>
              </a:spcAft>
            </a:pPr>
            <a:r>
              <a:rPr sz="1200" i="1">
                <a:solidFill>
                  <a:srgbClr val="3D5466"/>
                </a:solidFill>
                <a:latin typeface="Arial"/>
              </a:rPr>
              <a:t>→  Bring kritische Zahlen ins Gespräch, ohne Abwehr auszulösen.</a:t>
            </a:r>
          </a:p>
          <a:p>
            <a:pPr marL="190500" indent="-190500">
              <a:spcBef>
                <a:spcPts val="400"/>
              </a:spcBef>
              <a:spcAft>
                <a:spcPts val="200"/>
              </a:spcAft>
            </a:pPr>
            <a:r>
              <a:rPr sz="1300">
                <a:solidFill>
                  <a:srgbClr val="3D5466"/>
                </a:solidFill>
                <a:latin typeface="Arial"/>
              </a:rPr>
              <a:t>▸  Wer im offenen Dialog fragt statt anklagt, erhält die Erklärung – und den nächsten Beratungsansatz.</a:t>
            </a:r>
          </a:p>
          <a:p>
            <a:pPr marL="190500" indent="-190500">
              <a:spcBef>
                <a:spcPts val="400"/>
              </a:spcBef>
              <a:spcAft>
                <a:spcPts val="200"/>
              </a:spcAft>
            </a:pPr>
            <a:r>
              <a:rPr sz="1300">
                <a:solidFill>
                  <a:srgbClr val="3D5466"/>
                </a:solidFill>
                <a:latin typeface="Arial"/>
              </a:rPr>
              <a:t>▸  Vom Zahlenleser zum Gesprächsführer: die Analyse ist die halbe Miete, das Gespräch die andere.</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M02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Reine Kennzahlenanalyse stößt an ihre Grenzen</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77800" indent="-177800">
              <a:spcBef>
                <a:spcPts val="600"/>
              </a:spcBef>
              <a:spcAft>
                <a:spcPts val="200"/>
              </a:spcAft>
            </a:pPr>
            <a:r>
              <a:rPr sz="1200" i="1">
                <a:solidFill>
                  <a:srgbClr val="3D5466"/>
                </a:solidFill>
                <a:latin typeface="Arial"/>
              </a:rPr>
              <a:t>→  Eine Kennzahl erklärt sich nicht selbst – erst das Gespräch macht aus der Zahl eine Geschichte.</a:t>
            </a:r>
          </a:p>
          <a:p>
            <a:pPr marL="190500" indent="-190500">
              <a:spcBef>
                <a:spcPts val="400"/>
              </a:spcBef>
              <a:spcAft>
                <a:spcPts val="200"/>
              </a:spcAft>
            </a:pPr>
            <a:r>
              <a:rPr sz="1300">
                <a:solidFill>
                  <a:srgbClr val="3D5466"/>
                </a:solidFill>
                <a:latin typeface="Arial"/>
              </a:rPr>
              <a:t>▸  Kommunikation auf Augenhöhe: die Beziehungsebene trägt die Sachebene.</a:t>
            </a:r>
          </a:p>
          <a:p>
            <a:pPr marL="190500" indent="-190500">
              <a:spcBef>
                <a:spcPts val="400"/>
              </a:spcBef>
              <a:spcAft>
                <a:spcPts val="200"/>
              </a:spcAft>
            </a:pPr>
            <a:r>
              <a:rPr sz="1300">
                <a:solidFill>
                  <a:srgbClr val="3D5466"/>
                </a:solidFill>
                <a:latin typeface="Arial"/>
              </a:rPr>
              <a:t>▸  Das Vier-Ohren-Modell hilft, Einwände als Beziehungs- oder Appellbotschaft zu verstehen.</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M02  ·  SCHAUBILD</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Das Vier-Ohren-Modell nach Schulz von Thun</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54863" y="1325880"/>
            <a:ext cx="7079225" cy="4937760"/>
          </a:xfrm>
          <a:prstGeom prst="rect">
            <a:avLst/>
          </a:prstGeom>
        </p:spPr>
      </p:pic>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Schaubild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M02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Der 5-Phasen-Rahmen für das Bilanzgespräch</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77800" indent="-177800">
              <a:spcBef>
                <a:spcPts val="600"/>
              </a:spcBef>
              <a:spcAft>
                <a:spcPts val="200"/>
              </a:spcAft>
            </a:pPr>
            <a:r>
              <a:rPr sz="1200" i="1">
                <a:solidFill>
                  <a:srgbClr val="3D5466"/>
                </a:solidFill>
                <a:latin typeface="Arial"/>
              </a:rPr>
              <a:t>→  Ein strukturiertes Bilanzgespräch folgt fünf Phasen – vom Rahmen über die Analyse bis zum vereinbarten nächsten Schritt.</a:t>
            </a:r>
          </a:p>
          <a:p>
            <a:pPr marL="190500" indent="-190500">
              <a:spcBef>
                <a:spcPts val="400"/>
              </a:spcBef>
              <a:spcAft>
                <a:spcPts val="200"/>
              </a:spcAft>
            </a:pPr>
            <a:r>
              <a:rPr sz="1300">
                <a:solidFill>
                  <a:srgbClr val="3D5466"/>
                </a:solidFill>
                <a:latin typeface="Arial"/>
              </a:rPr>
              <a:t>▸  Eröffnung, gemeinsame Standortbestimmung, kritische Punkte, Lösungsraum, Abschluss.</a:t>
            </a:r>
          </a:p>
          <a:p>
            <a:pPr marL="190500" indent="-190500">
              <a:spcBef>
                <a:spcPts val="400"/>
              </a:spcBef>
              <a:spcAft>
                <a:spcPts val="200"/>
              </a:spcAft>
            </a:pPr>
            <a:r>
              <a:rPr sz="1300">
                <a:solidFill>
                  <a:srgbClr val="3D5466"/>
                </a:solidFill>
                <a:latin typeface="Arial"/>
              </a:rPr>
              <a:t>▸  Kritische Zahlen kommen in Phase 3 – eingebettet in Verständnis, nicht am Anfang.</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M02  ·  SCHAUBILD</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Der 5-Phasen-Rahmen für das strukturierte Bilanzgespräch</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670951" y="1325880"/>
            <a:ext cx="8847050" cy="4937760"/>
          </a:xfrm>
          <a:prstGeom prst="rect">
            <a:avLst/>
          </a:prstGeom>
        </p:spPr>
      </p:pic>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Schaubild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FALLARBEIT</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Praxiscase &amp; Rollenspiel</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Ein kritisches Bilanzgespräch vorbereiten und im Rollenspiel führen.</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M02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M02  ·  ARBEITSBLATT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Bilanzgespräch Schwäbische Metallbau bearbeiten</a:t>
            </a:r>
          </a:p>
        </p:txBody>
      </p:sp>
      <p:sp>
        <p:nvSpPr>
          <p:cNvPr id="8" name="TextBox 7"/>
          <p:cNvSpPr txBox="1"/>
          <p:nvPr/>
        </p:nvSpPr>
        <p:spPr>
          <a:xfrm>
            <a:off x="685800" y="1554480"/>
            <a:ext cx="10817352" cy="3840480"/>
          </a:xfrm>
          <a:prstGeom prst="rect">
            <a:avLst/>
          </a:prstGeom>
          <a:noFill/>
        </p:spPr>
        <p:txBody>
          <a:bodyPr wrap="square">
            <a:spAutoFit/>
          </a:bodyPr>
          <a:lstStyle/>
          <a:p>
            <a:pPr marL="190500" indent="-190500">
              <a:spcBef>
                <a:spcPts val="400"/>
              </a:spcBef>
              <a:spcAft>
                <a:spcPts val="200"/>
              </a:spcAft>
            </a:pPr>
            <a:r>
              <a:rPr sz="1400">
                <a:solidFill>
                  <a:srgbClr val="3D5466"/>
                </a:solidFill>
                <a:latin typeface="Arial"/>
              </a:rPr>
              <a:t>▸  Bereiten Sie das Bilanzgespräch mit der Schwäbischen Metallbau GmbH vor (AB-1).</a:t>
            </a:r>
          </a:p>
          <a:p>
            <a:pPr marL="190500" indent="-190500">
              <a:spcBef>
                <a:spcPts val="400"/>
              </a:spcBef>
              <a:spcAft>
                <a:spcPts val="200"/>
              </a:spcAft>
            </a:pPr>
            <a:r>
              <a:rPr sz="1400">
                <a:solidFill>
                  <a:srgbClr val="3D5466"/>
                </a:solidFill>
                <a:latin typeface="Arial"/>
              </a:rPr>
              <a:t>▸  Ordnen Sie die kritischen Kennzahlen den fünf Gesprächsphasen zu.</a:t>
            </a:r>
          </a:p>
          <a:p>
            <a:pPr marL="190500" indent="-190500">
              <a:spcBef>
                <a:spcPts val="400"/>
              </a:spcBef>
              <a:spcAft>
                <a:spcPts val="200"/>
              </a:spcAft>
            </a:pPr>
            <a:r>
              <a:rPr sz="1400">
                <a:solidFill>
                  <a:srgbClr val="3D5466"/>
                </a:solidFill>
                <a:latin typeface="Arial"/>
              </a:rPr>
              <a:t>▸  Führen Sie das Gespräch im Rollenspiel und nutzen Sie den Beobachtungsbogen.</a:t>
            </a:r>
          </a:p>
        </p:txBody>
      </p:sp>
      <p:sp>
        <p:nvSpPr>
          <p:cNvPr id="9" name="Rectangle 8"/>
          <p:cNvSpPr/>
          <p:nvPr/>
        </p:nvSpPr>
        <p:spPr>
          <a:xfrm>
            <a:off x="685800" y="5486400"/>
            <a:ext cx="10817352" cy="64008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596128"/>
            <a:ext cx="10451592" cy="457200"/>
          </a:xfrm>
          <a:prstGeom prst="rect">
            <a:avLst/>
          </a:prstGeom>
          <a:noFill/>
        </p:spPr>
        <p:txBody>
          <a:bodyPr wrap="square">
            <a:spAutoFit/>
          </a:bodyPr>
          <a:lstStyle/>
          <a:p>
            <a:pPr algn="l"/>
            <a:r>
              <a:rPr sz="1300" b="1" i="0">
                <a:solidFill>
                  <a:srgbClr val="FFFFFF"/>
                </a:solidFill>
                <a:latin typeface="Arial"/>
              </a:rPr>
              <a:t>→  Bearbeitung im Teilnehmer-Workbook (Arbeitsblatt mit Ausfüllfeldern)</a:t>
            </a:r>
          </a:p>
        </p:txBody>
      </p:sp>
      <p:sp>
        <p:nvSpPr>
          <p:cNvPr id="11" name="Rectangle 10"/>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M02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Prinzip dieses Moduls</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77800" indent="-177800">
              <a:spcBef>
                <a:spcPts val="600"/>
              </a:spcBef>
              <a:spcAft>
                <a:spcPts val="200"/>
              </a:spcAft>
            </a:pPr>
            <a:r>
              <a:rPr sz="1200" i="1">
                <a:solidFill>
                  <a:srgbClr val="3D5466"/>
                </a:solidFill>
                <a:latin typeface="Arial"/>
              </a:rPr>
              <a:t>→  Bring kritische Zahlen ins Gespräch, ohne Abwehr auszulösen.</a:t>
            </a:r>
          </a:p>
          <a:p>
            <a:pPr marL="190500" indent="-190500">
              <a:spcBef>
                <a:spcPts val="400"/>
              </a:spcBef>
              <a:spcAft>
                <a:spcPts val="200"/>
              </a:spcAft>
            </a:pPr>
            <a:r>
              <a:rPr sz="1300">
                <a:solidFill>
                  <a:srgbClr val="3D5466"/>
                </a:solidFill>
                <a:latin typeface="Arial"/>
              </a:rPr>
              <a:t>▸  Wer im offenen Dialog fragt statt anklagt, erhält die Erklärung – und den nächsten Beratungsansatz.</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M02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Reflexion und Selbstcheck</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Bei welcher kritischen Kennzahl löst Ihre Formulierung bisher am ehesten Abwehr aus?</a:t>
            </a:r>
          </a:p>
          <a:p>
            <a:pPr marL="190500" indent="-190500">
              <a:spcBef>
                <a:spcPts val="400"/>
              </a:spcBef>
              <a:spcAft>
                <a:spcPts val="200"/>
              </a:spcAft>
            </a:pPr>
            <a:r>
              <a:rPr sz="1300">
                <a:solidFill>
                  <a:srgbClr val="3D5466"/>
                </a:solidFill>
                <a:latin typeface="Arial"/>
              </a:rPr>
              <a:t>▸  Welche der fünf Phasen überspringen Sie im Alltag am häufigsten?</a:t>
            </a:r>
          </a:p>
          <a:p>
            <a:pPr marL="190500" indent="-190500">
              <a:spcBef>
                <a:spcPts val="400"/>
              </a:spcBef>
              <a:spcAft>
                <a:spcPts val="200"/>
              </a:spcAft>
            </a:pPr>
            <a:r>
              <a:rPr sz="1300">
                <a:solidFill>
                  <a:srgbClr val="3D5466"/>
                </a:solidFill>
                <a:latin typeface="Arial"/>
              </a:rPr>
              <a:t>▸  Wie formulieren Sie eine schlechte Kennzahl als Frage statt als Vorwurf?</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