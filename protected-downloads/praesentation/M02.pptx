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Agenda aus dem Ablaufplan (Sektion 3.1). Timing und Pausen siehe Trainerhandbuch.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Trainer-Hinweis (nur für Trainer und GF-Rolle sichtbar): Martin Klemm hat einen Großauftrag über 1,2 Mio. EUR an Land gezogen, der die Vorlauffinanzierung belastet. Zusätzlich lief eine CNC-Maschine (400 TEUR) aus dem Eigenkapital. Die Auftragslage ist gut, der Cash-Engpass temporär. Diese Infos gibt der GF nur preis, wenn der Berater konkret und respektvoll danach fragt – nie freiwillig.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81735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>
                <a:solidFill>
                  <a:srgbClr val="C8D2E6"/>
                </a:solidFill>
                <a:latin typeface="JetBrains Mono"/>
              </a:rPr>
              <a:t>FKB CAMPUS  ·  FIRMENKUNDENAKADEMIE  ·  M02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81735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Source Serif 4"/>
              </a:rPr>
              <a:t>Bilanzgespräch auf Augenhöhe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977639"/>
            <a:ext cx="108173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1">
                <a:solidFill>
                  <a:srgbClr val="BECDE6"/>
                </a:solidFill>
                <a:latin typeface="Source Serif 4"/>
              </a:rPr>
              <a:t>Jahresabschlüsse im Kundengespräch professionell einsetzen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5029200"/>
            <a:ext cx="10817352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KOMPETENZFELD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K-01 Finanzanalyse &amp; Kreditexpertise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1584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KOMPETENZSTUFE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1584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Sparringspartner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7368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VERSION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97368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v0.2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96A5BE"/>
                </a:solidFill>
                <a:latin typeface="JetBrains Mono"/>
              </a:rPr>
              <a:t>FKB Campus  · 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4476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96A5BE"/>
                </a:solidFill>
                <a:latin typeface="JetBrains Mono"/>
              </a:rPr>
              <a:t>Trainer-Präsentation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ÜBERBLICK  ·  M02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Worum geht es heute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9720072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Die Analyse liegt vor – aber wie spricht man kritische Zahlen an, ohne den Kunden zu belehren?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Sie lernen einen 5-Phasen-Rahmen und Fragetechniken für das Bilanzgespräch und üben beides im Rollenspiel an einem realistischen Mittelstandsfall.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Danach führen Sie Bilanzgespräche auf Augenhöhe – auch wenn die Botschaft unbequem ist.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LERNZIELE  ·  M02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Was Sie heute mitnehmen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71600"/>
            <a:ext cx="10817352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Ein Bilanzgespräch anhand eines strukturierten 5-Phasen-Rahmens situativ planen und durchführen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Kritische Kennzahlenentwicklungen im Kundendialog differenziert einordnen und Analysefragen stellen, ohne eine Abwehrhaltung auszulösen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Qualitative Unternehmenssignale mit quantitativen Kennzahlen verknüpfen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Einwände mit Fragetechniken konstruktiv aufgreifen und das Gespräch weiterführen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Aus der Bilanzanalyse bedarfsorientierte Beratungsimpulse für Verbundprodukte ableiten (DZ BANK, R+V, Union Investment, VR-Leasing)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M02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AGENDA  ·  M02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So läuft das Modul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63040"/>
            <a:ext cx="10817352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0–15 min    </a:t>
            </a:r>
            <a:r>
              <a:rPr sz="1200" b="1">
                <a:solidFill>
                  <a:srgbClr val="3D5466"/>
                </a:solidFill>
                <a:latin typeface="Arial"/>
              </a:rPr>
              <a:t>  Einstieg &amp; Aktivierung</a:t>
            </a:r>
            <a:r>
              <a:rPr sz="900">
                <a:solidFill>
                  <a:srgbClr val="78808C"/>
                </a:solidFill>
                <a:latin typeface="Arial"/>
              </a:rPr>
              <a:t>  ·  Blitzlichtrunde, Plenum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15–35 min   </a:t>
            </a:r>
            <a:r>
              <a:rPr sz="1200" b="1">
                <a:solidFill>
                  <a:srgbClr val="3D5466"/>
                </a:solidFill>
                <a:latin typeface="Arial"/>
              </a:rPr>
              <a:t>  Theorie-Input I</a:t>
            </a:r>
            <a:r>
              <a:rPr sz="900">
                <a:solidFill>
                  <a:srgbClr val="78808C"/>
                </a:solidFill>
                <a:latin typeface="Arial"/>
              </a:rPr>
              <a:t>  ·  Kurzvortrag + Diskussion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35–50 min   </a:t>
            </a:r>
            <a:r>
              <a:rPr sz="1200" b="1">
                <a:solidFill>
                  <a:srgbClr val="3D5466"/>
                </a:solidFill>
                <a:latin typeface="Arial"/>
              </a:rPr>
              <a:t>  Theorie-Input II</a:t>
            </a:r>
            <a:r>
              <a:rPr sz="900">
                <a:solidFill>
                  <a:srgbClr val="78808C"/>
                </a:solidFill>
                <a:latin typeface="Arial"/>
              </a:rPr>
              <a:t>  ·  Kurzvortrag, interaktiv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50–65 min   </a:t>
            </a:r>
            <a:r>
              <a:rPr sz="1200" b="1">
                <a:solidFill>
                  <a:srgbClr val="3D5466"/>
                </a:solidFill>
                <a:latin typeface="Arial"/>
              </a:rPr>
              <a:t>  Rollenspielvorbereitung</a:t>
            </a:r>
            <a:r>
              <a:rPr sz="900">
                <a:solidFill>
                  <a:srgbClr val="78808C"/>
                </a:solidFill>
                <a:latin typeface="Arial"/>
              </a:rPr>
              <a:t>  ·  Stille Einzelarbeit, dann 3er-Gruppe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65–95 min   </a:t>
            </a:r>
            <a:r>
              <a:rPr sz="1200" b="1">
                <a:solidFill>
                  <a:srgbClr val="3D5466"/>
                </a:solidFill>
                <a:latin typeface="Arial"/>
              </a:rPr>
              <a:t>  Rollenspiel Runde 1</a:t>
            </a:r>
            <a:r>
              <a:rPr sz="900">
                <a:solidFill>
                  <a:srgbClr val="78808C"/>
                </a:solidFill>
                <a:latin typeface="Arial"/>
              </a:rPr>
              <a:t>  ·  Rollenspiel, Peer-Feedback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95–115 min  </a:t>
            </a:r>
            <a:r>
              <a:rPr sz="1200" b="1">
                <a:solidFill>
                  <a:srgbClr val="3D5466"/>
                </a:solidFill>
                <a:latin typeface="Arial"/>
              </a:rPr>
              <a:t>  Debriefing Runde 1</a:t>
            </a:r>
            <a:r>
              <a:rPr sz="900">
                <a:solidFill>
                  <a:srgbClr val="78808C"/>
                </a:solidFill>
                <a:latin typeface="Arial"/>
              </a:rPr>
              <a:t>  ·  Moderiertes Plenum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115–125 min </a:t>
            </a:r>
            <a:r>
              <a:rPr sz="1200" b="1">
                <a:solidFill>
                  <a:srgbClr val="3D5466"/>
                </a:solidFill>
                <a:latin typeface="Arial"/>
              </a:rPr>
              <a:t>  Pause</a:t>
            </a:r>
            <a:r>
              <a:rPr sz="900">
                <a:solidFill>
                  <a:srgbClr val="78808C"/>
                </a:solidFill>
                <a:latin typeface="Arial"/>
              </a:rPr>
              <a:t>  ·  —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125–155 min </a:t>
            </a:r>
            <a:r>
              <a:rPr sz="1200" b="1">
                <a:solidFill>
                  <a:srgbClr val="3D5466"/>
                </a:solidFill>
                <a:latin typeface="Arial"/>
              </a:rPr>
              <a:t>  Rollenspiel Runde 2</a:t>
            </a:r>
            <a:r>
              <a:rPr sz="900">
                <a:solidFill>
                  <a:srgbClr val="78808C"/>
                </a:solidFill>
                <a:latin typeface="Arial"/>
              </a:rPr>
              <a:t>  ·  Rollenspiel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155–170 min </a:t>
            </a:r>
            <a:r>
              <a:rPr sz="1200" b="1">
                <a:solidFill>
                  <a:srgbClr val="3D5466"/>
                </a:solidFill>
                <a:latin typeface="Arial"/>
              </a:rPr>
              <a:t>  Debriefing Runde 2</a:t>
            </a:r>
            <a:r>
              <a:rPr sz="900">
                <a:solidFill>
                  <a:srgbClr val="78808C"/>
                </a:solidFill>
                <a:latin typeface="Arial"/>
              </a:rPr>
              <a:t>  ·  Moderiertes Plenum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170–175 min </a:t>
            </a:r>
            <a:r>
              <a:rPr sz="1200" b="1">
                <a:solidFill>
                  <a:srgbClr val="3D5466"/>
                </a:solidFill>
                <a:latin typeface="Arial"/>
              </a:rPr>
              <a:t>  Transfer &amp; Abschluss</a:t>
            </a:r>
            <a:r>
              <a:rPr sz="900">
                <a:solidFill>
                  <a:srgbClr val="78808C"/>
                </a:solidFill>
                <a:latin typeface="Arial"/>
              </a:rPr>
              <a:t>  ·  Plenum, Einzelreflexion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175–180 min </a:t>
            </a:r>
            <a:r>
              <a:rPr sz="1200" b="1">
                <a:solidFill>
                  <a:srgbClr val="3D5466"/>
                </a:solidFill>
                <a:latin typeface="Arial"/>
              </a:rPr>
              <a:t>  Evaluation</a:t>
            </a:r>
            <a:r>
              <a:rPr sz="900">
                <a:solidFill>
                  <a:srgbClr val="78808C"/>
                </a:solidFill>
                <a:latin typeface="Arial"/>
              </a:rPr>
              <a:t>  ·  Einzelarbeit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M02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M02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Theorie-Input: Vom Zahlenleser zum Gesprächsführer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DIE GRENZEN DER REINEN KENNZAHLENANALYSE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Der Jahresabschluss beantwortet die Frage: „Wie ist die finanzielle Situation?" . Diese Analyse ist die Grundlage des Kreditgeschäfts – und gleichzeitig nur die Hälfte der Geschichte.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KOMMUNIKATION AUF AUGENHÖHE: INHALTS- VS. BEZIEHUNGSEBENE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Das Muster: Beobachtung + offene Frage statt Beobachtung + Bewertung.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DER 5-PHASEN-RAHMEN FÜR DAS BILANZGESPRÄCH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Phase 1 – Vorbereitung (30–45 Min. vor dem Termin)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Mindestens 4 Kennzahlen berechnen (EK-Quote, Liquidität, Verschuldungsgrad, EBIT-Marge)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Zeitreihe: Vergleich zu mindestens 2 Vorjahren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Branchenwert recherchieren: In agree (Firmenkundenanalyse) stehen aktuelle Branchenbenchmarks aus der Creditreform/Bisnode-Lizenz direkt im Analysebogen – diese Werte für das Gespräch bevorzugen. Alternativ: Bundesbank Unternehmensabschlussstatistik (kostenfrei, aber teils 2 Jahre zeitverzögert)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3 Schlüsselbotschaften + 5 offene Fragen schriftlich vorbereiten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Phase 2 – Eröffnung (ca. 10 Min.)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Kontext und Ziel setzen: „Heute möchte ich mit Ihnen Ihren Jahresabschluss durchgehen und verstehen, wie sich Ihre Lage entwickelt hat."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M02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M02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Vier-Ohren-Modell nach Schulz von Thun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4863" y="1325880"/>
            <a:ext cx="7079225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Schaubild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M02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5-Phasen-Rahmen für das strukturierte Bilanzgespräch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70951" y="1325880"/>
            <a:ext cx="8847050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Schaubild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M02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Praxiscase: Schwäbische Metallbau GmbH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Finanzdaten (fiktiv):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Quelle: Deutsche Bundesbank, Unternehmensabschlussstatistik (laufend)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Rollenbeschreibungen: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Rolle A – Berater (erhält nur diese Informationen — keine Hintergrundinfos)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Rolle B – GF Martin Klemm (+ Trainer-Karte mit Hintergrundinfos)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Rolle C – Beobachter: Beobachtungsbogen nutzen (s. u.), konkrete Gesprächssequenzen festhalten, nicht nur Urteile.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BEOBACHTUNGSBOGEN ROLLENSPIEL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Skala: 1 = gar nicht sichtbar · 3 = ansatzweise · 5 = sehr gut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M02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M02  ·  ÜBERSICHT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Praxiscase: Schwäbische Metallbau GmbH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417320"/>
          <a:ext cx="10817352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04338"/>
                <a:gridCol w="2704338"/>
                <a:gridCol w="2704338"/>
                <a:gridCol w="2704338"/>
              </a:tblGrid>
              <a:tr h="38404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Kennzahl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2024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2025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Branche (Ø)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Eigenkapitalquote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22,4 %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15,1 %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28–32 %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Liquidität 2. Grades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1,18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0,94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&gt; 1,0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Verschuldungsgrad (FK/EK)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3,5x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5,6x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2,5–3,5x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EBIT-Marge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4,1 %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2,8 %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4–6 %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Personalaufwandsquote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38 %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44 %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38–42 %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Übersicht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M02  ·  ÜBERSICHT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Praxiscase: Schwäbische Metallbau GmbH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417320"/>
          <a:ext cx="10817352" cy="26883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5784"/>
                <a:gridCol w="3605784"/>
                <a:gridCol w="3605784"/>
              </a:tblGrid>
              <a:tr h="38404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Kriterium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Beobachtung / Beispiel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1–5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5-Phasen-Rahmen eingehalten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Offene Fragen eingesetzt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Beobachtung + Frage statt Beobachtung + Urteil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Qualitative Info aktiv erfragt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Konkrete Beratungsimpulse aus Analyse abgeleitet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Gespräch wirkte wie Dialog auf Augenhöhe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Übersicht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M02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Checkliste: Bilanzgespräch vorbereiten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Vor dem Gespräch: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[ ] Jahresabschluss und Vorjahresvergleich ausgewertet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[ ] 4+ Kennzahlen berechnet, Branchenvergleich notiert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[ ] 5 offene Fragen schriftlich vorbereitet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[ ] Gesprächsziel definiert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[ ] Kreditlinie / § 18 KWG-Unterlagen geprüft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[ ] Verbundpartner-Bedarf gesichtet (R+V, Union Investment, DZ BANK)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Im Gespräch: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[ ] Positiver Einstieg, Agenda gesetzt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[ ] Mindestens 40 % Redezeit für den Kunden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[ ] Kritische Punkte mit offener Frage angesprochen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[ ] Handlungsoptionen gemeinsam entwickelt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M02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M02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Reflexionsfragen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An welcher Stelle im Rollenspiel haben Sie sich am wohlsten gefühlt? Warum?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Wo haben Sie gemerkt, dass Ihnen eine Technik noch nicht in Fleisch und Blut übergegangen ist?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Welchen konkreten Kunden würden Sie gerne beim nächsten Gespräch mit den neuen Techniken ansprechen?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Was nehmen Sie sich vor, beim nächsten echten Bilanzgespräch anders zu machen?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M02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