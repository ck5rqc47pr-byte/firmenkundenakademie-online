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Kern des Inputs: Warum CEO-Dialoge scheitern – und was strukturell anders ist. Fokus: McClelland &amp; Burnham (Q-154) zu Machtmotivation, Edmondson (Q-148) zu psychologischer Sicherheit. Visualisierung: „Gesprächsarchitektur eines CEO-Dialogs" auf Flipchart (3 Ebenen: Einstieg → Vertiefung → Commitment). Trainer-Hinweis: Kein akademischer Vortrag – jede Theorie an einem eigenen Erlebnis verankern. „Ich hatte mal einen Kunden, der nach 15 Jahren zum ersten Mal über sein Unternehmen gesprochen hat – weil ich eine andere Frage gestellt habe." Persönliche Glaubwürdigkeit ist die Eintrittskarte zur Stufe-4-Kompetenzentwicklung. Trainer-Hinweis Formulierungs-Kontraste: Das Board-Room-Mindset bleibt sonst abstrakt – machen Sie es an Sprache fest. Flipchart in zwei Spalten teilen: links „Dienstleister-Sprache" / rechts „Augenhöhe-Sprache" (Kontraste aus Sec 4.1 nutzen). Lassen Sie die TN zuerst ihre eigenen Einstiegsformulierungen für ein CEO-Gespräch nennen („Was sagen Sie, wenn Sie aktuell in ein CEO-Gespräch einsteigen?"), sammeln Sie diese in der linken Spalte und entwickeln Sie das Reframing rechts gemeinsam. Dauer: ca. 5 Minuten Extra-Interaktion – der Schritt von Prinzip zu Praxis, den der Vortrag allein nicht leistet.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Einführung der drei Kernwerkzeuge: 1. Wunderfrage (de Shazer, 1985 ): Angenommen, über Nacht wäre das Problem gelöst – was wäre morgen anders? 2. Zirkuläre Frage (Penn, 1982 ; Tomm, 1987 ): Was würde Ihr Steuerberater sagen, wenn ich ihn fragen würde, was Ihr größtes Hindernis ist? 3. Hypothetische Frage: Wenn Sie wüssten, dass Ihr Unternehmen in 5 Jahren verkauft wird – was würden Sie heute anders machen? Übung im Plenum (pragmatisch, ohne Typ-Zwang): Jeder TN formuliert „eine Frage, die eine andere Perspektive ins Gespräch bringt – aus der Sicht einer Person, die nicht im Raum ist." Muss keine zirkuläre Frage im Lehrbuch-Sinne sein – Hauptsache, der TN verlässt die Ich-Perspektive des Unternehmers. Kurze Partnerdiskussion (5 min), dann zwei Beispiele im Plenum vorstellen. Wichtig: Nicht die korrekte Kategorie bewerten, sondern die Wirkung der Frage. Die Drei-Typen-Taxonomie ist eine Lernhilfe, kein Anwendungsraster (siehe Kasten in Sec 4.2).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4 Kleingruppen à 2 Personen analysieren denselben Fall mit unterschiedlichen Fragestellungen (Aufgabenverteilung auf Analysekarten). Jede Gruppe präsentiert 5 Minuten, dann Plenumsdiskussion zu den divergierenden Empfehlungen. Trainer-Hinweis: Divergierende Gruppenempfehlungen sind erwünscht und lehrreich. Der Trainer moderiert die Debatte, gibt keine „richtige" Antwort vor – stattdessen: „Was würden Sie dem Unternehmer tatsächlich sagen? Und warum?" Der Mut zur eigenen Einschätzung ist ein Kennzeichen von Stufe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CEO-Dialog &amp; Nachfolge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Auf Augenhöhe mit dem Unternehmer – Nachfolge begleiten und gestalten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K-03 Gesprächsführung &amp; Beratung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Bei der Unternehmensnachfolge geht es um Lebenswerke – wer hier nur Finanzierung anbietet, verliert den Kunden an den ersten Berater, der zuhört.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die Phasen des Nachfolgeprozesses und die emotionale Dynamik dahinter kennen und trainieren den CEO-Dialog in einer Simulation mit externem Coach.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begleiten Sie Nachfolgesituationen strukturiert und binden die richtigen Verbundpartner ein.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Psychologische und strategische Dimensionen eines CEO-Dialogs analysieren und zwischen Statusgefühlen, Kontrollbedarf und echten Strategiefragen unterscheiden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psychologische Gesprächsdynamik im CEO-Dialog analysieren und das Fragemuster nach systemischen und zirkulären Techniken strukturieren, um latente Zukunftsängste aufzudecken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Nachfolgeoptionen (familienintern, MBO, strategischer Verkauf, Stiftung) anhand von Unternehmensdaten und Unternehmerpersönlichkeit evaluieren und empfehlen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Individualisiertes Nachfolgezeitkonzept (Roadmap 3–7 Jahre) mit Finanzierungs-, Steuer- und emotionalen Meilensteinen entwickeln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Emotionale Bereitschaft eines Unternehmers zur Übergabe beurteilen und Loslasswiderstände konstruktiv adressieren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08:30–09:00 </a:t>
            </a:r>
            <a:r>
              <a:rPr sz="1200" b="1">
                <a:solidFill>
                  <a:srgbClr val="3D5466"/>
                </a:solidFill>
                <a:latin typeface="Arial"/>
              </a:rPr>
              <a:t>  Ankommen &amp; Check-in</a:t>
            </a:r>
            <a:r>
              <a:rPr sz="900">
                <a:solidFill>
                  <a:srgbClr val="78808C"/>
                </a:solidFill>
                <a:latin typeface="Arial"/>
              </a:rPr>
              <a:t>  ·  Plenumrunde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09:00–09:45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CEO-Dialog Mindset</a:t>
            </a:r>
            <a:r>
              <a:rPr sz="900">
                <a:solidFill>
                  <a:srgbClr val="78808C"/>
                </a:solidFill>
                <a:latin typeface="Arial"/>
              </a:rPr>
              <a:t>  ·  Kurzinput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09:45–10:30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Systemische Fragetechniken</a:t>
            </a:r>
            <a:r>
              <a:rPr sz="900">
                <a:solidFill>
                  <a:srgbClr val="78808C"/>
                </a:solidFill>
                <a:latin typeface="Arial"/>
              </a:rPr>
              <a:t>  ·  Kurzinput + Übung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10:30–10:45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10:45–12:00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Fallstudie Wagner KG: Analyse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 (4×2)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12:00–13:00 </a:t>
            </a:r>
            <a:r>
              <a:rPr sz="1200" b="1">
                <a:solidFill>
                  <a:srgbClr val="3D5466"/>
                </a:solidFill>
                <a:latin typeface="Arial"/>
              </a:rPr>
              <a:t>  Mittagspause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13:00–13:30 </a:t>
            </a:r>
            <a:r>
              <a:rPr sz="1200" b="1">
                <a:solidFill>
                  <a:srgbClr val="3D5466"/>
                </a:solidFill>
                <a:latin typeface="Arial"/>
              </a:rPr>
              <a:t>  Systemische Fragetechniken in der Praxis</a:t>
            </a:r>
            <a:r>
              <a:rPr sz="900">
                <a:solidFill>
                  <a:srgbClr val="78808C"/>
                </a:solidFill>
                <a:latin typeface="Arial"/>
              </a:rPr>
              <a:t>  ·  Live-Demo durch externen Coach (Fallback: Trainer/Video, s. 3.2)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13:30–15:00 </a:t>
            </a:r>
            <a:r>
              <a:rPr sz="1200" b="1">
                <a:solidFill>
                  <a:srgbClr val="3D5466"/>
                </a:solidFill>
                <a:latin typeface="Arial"/>
              </a:rPr>
              <a:t>  Simulation CEO-Dialog I: Erstkontakt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 à 4 TN (Rotation)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15:00–15:15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15:15–16:30 </a:t>
            </a:r>
            <a:r>
              <a:rPr sz="1200" b="1">
                <a:solidFill>
                  <a:srgbClr val="3D5466"/>
                </a:solidFill>
                <a:latin typeface="Arial"/>
              </a:rPr>
              <a:t>  Simulation CEO-Dialog II: Nachfolge-Vertiefung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 à 4 TN (Rotation)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16:30–17:00 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Plenumreflexion &amp; Transferplanung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17:00–17:30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Abschluss: Nachfolge-Roadmap skizzieren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Das CEO-Gespräch – Mindset und Vorbereitung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DEN ERSTEN SCHRITT GEHEN: WIE INITIIERT MAN DAS CEO-GESPRÄCH BEI EINEM BESTANDSKUNDEN?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Drei bewährte Einstiegs-Anlässe: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PSYCHOLOGISCHE SICHERHEIT ALS GESPRÄCHSGRUNDLAGE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Gleichwertigkeit: „Ich bin nicht hier, um Sie zu prüfen oder zu belehren, sondern um gemeinsam zu schauen, was für Ihre Zukunft sinnvoll ist."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Vertraulichkeit: „Was Sie mir anvertrauen, bleibt zwischen uns."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Kompetenz: Subtile Signale, dass der FK das Nachfolge-Thema ernst nimmt und Erfahrung hat.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DAS BOARD-ROOM-MINDSET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unterordnend sprechen („Ich möchte ja nicht in Ihre Geschäfte reingrätschen, aber…") → stattdessen direkt: „Das habe ich in ähnlichen Fällen anders gesehen. Darf ich dazu eine Frage stellen?"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Eigene Expertise einbringen ohne Demut: „Nachfolgen begleite ich seit Jahren. Wir sehen dabei Muster, die nicht sofort auffallen."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Produktiven Widerspruch anbringen, wenn nötig: „Das ergibt für mich weniger Sinn, weil … Was denken Sie dazu?"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Fragetechniken auf Strategieebene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SYSTEMISCHE FRAGEN (JENSEITS VON SPIN)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Systemische Fragen machen die Vernetzung von Elementen sichtbar: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„Wie hängt Ihre Nachfolgeplanung mit der Situation Ihrer Kinder zusammen?"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„Welche Rolle spielt Ihr Unternehmen in Ihrem Selbstverständnis – und was würde sich ändern, wenn Sie es übergeben?"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„Welche Stakeholder (Mitarbeiter, Familie, Kunden, Bank) haben ein Interesse an einer Nachfolge – und wo könnte es Konflikte geben?"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Zirkuläre Fragen (Penn, 1982 ) erforschen, wie andere den Unternehmer und sein Dilemma wahrnehmen: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„Wie würde Ihr ältester Sohn die aktuelle Situation beschreiben – denken Sie?"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„Was würde Ihr engster Mitarbeiter sagen, wenn ich ihn fragen würde, ob er eine Übergabe an Ihren Sohn für sinnvoll hält?"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„Wenn wir in fünf Jahren hier säßen und Sie hätten die Nachfolge geregelt: Wie hätte Ihr Ehepartner den Prozess erlebt?"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Zirkuläre Fragen decken implizite Ängste und Blockaden auf, ohne direkt zu fragen: „Haben Sie Angst vor Kontrollverlust?"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LÖSUNGSORIENTIERTE ZUKUNFTSFRAGEN (DE SHAZER, 1985)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lösungsorientierte Gesprächsführung hilft, den Unternehmer aus Lähmung oder Verdrängung herauszuholen: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Nachfolge-Typen und Prozess im 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NACHFOLGEPROZESS – FÜNF PHASEN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Erfolgreiche Unternehmernachfolgen benötigen empirisch 3–7 Jahre Vorlaufzeit (IfM Bonn, 2016 ):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REGULATORISCHE ECKPUNKTE (ORIENTIERUNGSRAHMEN)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FK zeigt dem Unternehmer die wichtigsten Felder auf und verweist an Spezialisten: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Erbschaftsteuer / Schenkungsteuer: § 13a ErbStG regelt die Begünstigungen für Betriebsvermögen bei familieninterner Übergabe (Verschonungsabschlag 85 %; Optionsverschonung 100 %; Behaltensfristen 5 bzw. 7 Jahre). Der persönliche Freibetrag nach § 16 Abs. 1 Nr. 2 ErbStG beträgt 400.000 EUR je Elternteil und je Kind – d.h. ein Kind kann im Erbfall von beiden Elternteilen zusammen bis zu 800.000 EUR steuerfrei erhalten. Wichtig: Dieser Freibetrag kann alle 10 Jahre erneut genutzt werden – eine schrittweise Schenkung über mehrere Jahre kann daher steuerlich deutlich günstiger sein als eine Einmal-Übertragung. Hinweis: Diese Orientierungsinformation ersetzt keine steuerrechtliche Beratung – stets Steuerberater einbinden.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Gesellschaftsrechtliche Fragen (GmbH-G, HGB): Sind Gesellschafterverträge aktuell? Gibt es Vorkaufsrechte?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Praxishinweis: Der Steuerberater als Gatekeeper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Strategische Partnerschaft statt Konkurrenz: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- Gemeinsame Termine mit Steuerberater und Kunden als Stärke positionieren, nicht als Verlust von Kontrolle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- Dem Steuerberater nützliche Informationen geben (Finanzierbarkeits-Check), ohne das Mandat anzutasten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- Aufbau einer längerfristigen Beziehung: Steuerberater im Kammerbezirk kennenlernen, z.B. über IHK-Veranstaltungen oder gemeinsame Unternehmer-Foren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Nachfolge-Phasenmodell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Die emotionale Dimension der Nachfolge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KONTROLLVERLUST UND IDENTITÄTSBEDROHUNG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 existenzielle Angst wird oft verdrängt oder rationalisiert. Psychologisch handelt es sich um einen Trauerprozess (adaptiert nach Kübler-Ross, 1969 ):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Verleugnung: „Das Thema ist noch gar nicht aktuell."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Widerstand: „Mein Sohn ist noch nicht bereit."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Verhandeln: „Vielleicht mache ich noch ein paar Jahre."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Trauer: Tiefe emotionale Aufarbeitung des Loslassens.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Akzeptanz: Umgestaltung der Identität: „Ich bin jetzt Mentor."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FK, der diesen Prozess versteht, behandelt Loslasswiderstände nicht als Irrationalität, sondern als normal und bearbeitbar.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DAS VERMÄCHTNIS-DILEMMA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Viele Unternehmer tragen zwei widersprüchliche Wünsche: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Kontrolle bewahren: „Nur ich kann das Unternehmen richtig führen."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Vermächtnis hinterlassen: „Mein Lebenswerk soll weiterleben und florieren."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Veränderungskurve nach Kübler-Ross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Metallverarbeitung Wagner KG, Stuttgart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DIAGNOSTISCHE AUFGABEN FÜR CLAUDIA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Emotionaler Zustand: Ist Karl müde, oder ist das eine echte Nachfolgekrise?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Nachfolgepotenziale: Sind die Kinder wirklich ausgeschlossen, oder ist die Kommunikation schlecht?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Alternativen: Wären MBO (Meister Dieter als Käufer) oder strategischer Verkauf denkbar?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Finanzielle Lage: Ist das Unternehmen stabil genug für eine Nachfolgeplanung?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Zeithorizont: Wie dringend ist das Thema (gesundheitliche Gründe? Burnout?)?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BEISPIEL-GESPRÄCHSVERLAUF (SYSTEMISCHE TECHNIK)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Karl: [Nickt]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Claudia: „Wenn Sie sagen ‚ich weiß nicht, wie ich das übergeben soll' – was ist das Größte daran, das Ihnen Sorge macht?"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Karl: „Dass das Unternehmen in schlechte Hände kommt. Meine Mitarbeiter sind wie meine Familie. Ich kann mir nicht vorstellen, dass jemand Fremdes einfach reinkommt und alles ändert."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M12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Nachfolge-Erstgespräch strukturieren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VORBEREITUNG (VOR DEM GESPRÄCH)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Unternehmensdaten zusammentragen (Umsatz, Gewinn, Mitarbeiter, Branche)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Familie erkunden: Wer sind potenzielle Nachfolger? Alter, Ausbildung, Interesse?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Frühere FK-Notizen lesen: Hat der Unternehmer schon mal Nachfolge erwähnt?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Emotional-Register einschätzen: Wirkt er bereit – oder verdrängt er das Thema?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ERÖFFNUNGSPHASE (5 MIN)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Psychologische Sicherheit signalisieren: „Was Sie mir erzählen, bleibt vertraulich."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Gleichwertigkeit klarstellen: „Ich bin nicht als Prüfer hier, sondern als Begleiter."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Agenda transparent machen: „Ich möchte heute verstehen, wie es für Sie um die Nachfolge steht – ohne Druck."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DIAGNOSTISCHE PHASE (20–30 MIN)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Zur Bewusstseinsbildung: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„Wie lange beschäftigt Sie das Nachfolge-Thema schon?"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