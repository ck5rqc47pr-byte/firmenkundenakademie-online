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Check-in: Erwartungen abholen. Eröffnungsfrage: „Denken Sie an einen Kunden, bei dem Nachfolge ein Thema ist, den Sie aber noch nie darauf angesprochen haben. Was hat Sie abgehalten?"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Rollenwechsel vom Produktanbieter zum Gesprächspartner ist der Kern des Moduls.</a:t>
            </a:r>
          </a:p>
          <a:p>
            <a:r>
              <a:t>Moderation (HB Sec 3): Kern des Inputs: Warum CEO-Dialoge scheitern – und was strukturell anders ist. Fokus: McClelland &amp; Burnham (Q-154) zu Machtmotivation, Edmondson (Q-148) zu psychologischer Sicherheit. Visualisierung: „Gesprächsarchitektur eines CEO-Dialogs" auf Flipchart (3 Ebenen: Einstieg → Vertiefung → Commitment). Trainer-Hinweis: Kein akademischer Vortrag – jede Theorie an einem eigenen Erlebnis verankern. „Ich hatte mal einen Kunden, der nach 15 Jahren zum ersten Mal über sein Unternehmen gesprochen hat – weil ich eine andere Frage gestellt habe." Persönliche Glaubwürdigkeit ist die Eintrittskarte zur Stufe-4-Kompetenzentwicklung. Trainer-Hinweis Formulierungs-Kontraste: Das Board-Room-Mindset bleibt sonst abstrakt – machen Sie es an Sprache fest. Flipchart in zwei Spalten teilen: links „Dienstleister-Sprache" / rechts „Augenhöhe-Sprache" (Kontraste aus Sec 4.1 nutzen). Lassen Sie die TN zuerst ihre eigenen Einstiegsformulierungen für ein CEO-Gespräch nennen („Was sagen Sie, wenn Sie aktuell in ein CEO-Gespräch einsteigen?"), sammeln Sie diese in der linken Spalte und entwickeln Sie das Reframing rechts gemeinsam. Dauer: ca. 5 Minuten Extra-Interaktion – der Schritt von Prinzip zu Praxis, den der Vortrag allein nicht leistet.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Übung: jede/r formuliert „eine Frage aus der Sicht einer Person, die nicht im Raum ist". Nicht die Kategorie bewerten, sondern die Wirkung. Die Drei-Typen-Taxonomie ist Lernhilfe, kein Anwendungsraster.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Phasenmodell als Landkarte des Prozesses nutzen.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Kübler-Ross auf den Unternehmer übertragen: Wo im Prozess steht er emotional – und was heißt das für das Gespräch?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Kleingruppen (4×2). Fokus auf die Bewertung der Optionen, nicht auf die vollständige Finanzierungsstruktur (das ist Realprozess mit Teamleiter und Verbund).</a:t>
            </a:r>
          </a:p>
          <a:p>
            <a:r>
              <a:t>Moderation (HB Sec 3): 4 Kleingruppen à 2 Personen analysieren denselben Fall mit unterschiedlichen Fragestellungen (Aufgabenverteilung auf Analysekarten). Jede Gruppe präsentiert 5 Minuten, dann Plenumsdiskussion zu den divergierenden Empfehlungen. Trainer-Hinweis: Divergierende Gruppenempfehlungen sind erwünscht und lehrreich. Der Trainer moderiert die Debatte, gibt keine „richtige" Antwort vor – stattdessen: „Was würden Sie dem Unternehmer tatsächlich sagen? Und warum?" Der Mut zur eigenen Einschätzung ist ein Kennzeichen von Stufe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Beobachtung und Analyse zuerst, dann selbst üben. Rotation, damit jede/r die Beraterrolle übernimmt.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Debriefing nach jeder Runde: Welche Frage hat den Raum geöffnet? Wo wurde zu früh zur Lösung gewechselt?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Plenumreflexion: Muster benennen. Dann Einzelarbeit: erste Nachfolge-Roadmap für einen realen Kunden.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Überleitung zur Transferplanung.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Selbstcheck als Transferanker; die Roadmap-Skizze ist der erste konkrete Schritt.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CEO-Dialog &amp; Nachfolge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Auf Augenhöhe mit dem Unternehmer – Nachfolge begleiten und gestalten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Bei der Unternehmensnachfolge geht es um Lebenswerke – wer hier nur Finanzierung anbietet, verliert den Kunden an den ersten Berater, der zuhört.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Phasen des Nachfolgeprozesses und die emotionale Dynamik dahinter kennen und trainieren den CEO-Dialog in einer Simulation mit externem Coach.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begleiten Sie Nachfolgesituationen strukturiert und binden die richtigen Verbundpartner ein.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Psychologische und strategische Dimensionen eines CEO-Dialogs analysieren und zwischen Statusgefühlen, Kontrollbedarf und echten Strategiefragen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psychologische Gesprächsdynamik im CEO-Dialog analysieren und das Fragemuster nach systemischen und zirkulären Techniken strukturieren, um latente Zukunftsängste aufzudecken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Nachfolgeoptionen (familienintern, MBO, strategischer Verkauf, Stiftung) anhand von Unternehmensdaten und Unternehmerpersönlichkeit evaluieren und empfehlen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Individualisiertes Nachfolgezeitkonzept (Roadmap 3–7 Jahre) mit Finanzierungs-, Steuer- und emotionalen Meilensteinen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Emotionale Bereitschaft eines Unternehmers zur Übergabe beurteilen und Loslasswiderstände konstruktiv adressieren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08:30–09:00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Ankommen &amp; Check-in</a:t>
            </a:r>
            <a:r>
              <a:rPr sz="900">
                <a:solidFill>
                  <a:srgbClr val="78808C"/>
                </a:solidFill>
                <a:latin typeface="Arial"/>
              </a:rPr>
              <a:t>  ·  Plenumrunde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09:00–09:45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CEO-Dialog Mindset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09:45–10:30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Systemische Fragetechniken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+ Übung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10:30–10:45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10:45–12:00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 Wagner KG: Analyse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(4×2)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12:00–13:00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13:00–13:30 </a:t>
            </a:r>
            <a:r>
              <a:rPr sz="1200" b="1">
                <a:solidFill>
                  <a:srgbClr val="3D5466"/>
                </a:solidFill>
                <a:latin typeface="Arial"/>
              </a:rPr>
              <a:t>  Systemische Fragetechniken in der Praxis</a:t>
            </a:r>
            <a:r>
              <a:rPr sz="900">
                <a:solidFill>
                  <a:srgbClr val="78808C"/>
                </a:solidFill>
                <a:latin typeface="Arial"/>
              </a:rPr>
              <a:t>  ·  Live-Demo durch externen Coach (Fallback: Trainer/Video, s. 3.2)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13:30–15:00 </a:t>
            </a:r>
            <a:r>
              <a:rPr sz="1200" b="1">
                <a:solidFill>
                  <a:srgbClr val="3D5466"/>
                </a:solidFill>
                <a:latin typeface="Arial"/>
              </a:rPr>
              <a:t>  Simulation CEO-Dialog I: Erstkontakt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à 4 TN (Rotation)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15:00–15:15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15:15–16:30 </a:t>
            </a:r>
            <a:r>
              <a:rPr sz="1200" b="1">
                <a:solidFill>
                  <a:srgbClr val="3D5466"/>
                </a:solidFill>
                <a:latin typeface="Arial"/>
              </a:rPr>
              <a:t>  Simulation CEO-Dialog II: Nachfolge-Vertiefung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à 4 TN (Rotation)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16:30–17:00 </a:t>
            </a:r>
            <a:r>
              <a:rPr sz="1200" b="1">
                <a:solidFill>
                  <a:srgbClr val="3D5466"/>
                </a:solidFill>
                <a:latin typeface="Arial"/>
              </a:rPr>
              <a:t>  Plenumreflexion &amp; Transferplanung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17:00–17:30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Abschluss: Nachfolge-Roadmap skizzieren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09:00–09:45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CEO-Dialog: Mindset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Auf Augenhöhe ins Gespräch gehen – nicht als Anbieter, sondern als Sparringspartner.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Das CEO-Gespräch: Mindset und psychologische Sicherheit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Auf Augenhöhe fragt man – man argumentiert nicht. Echte Neugier öffnet einen Raum, den kein Produktpitch je erreicht.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Board-Room-Mindset: der Unternehmer spricht mit einem Denkpartner, nicht mit einem Verkäufer.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Psychologische Sicherheit ist die Voraussetzung dafür, dass existenzielle Themen wie Nachfolge überhaupt zur Sprache kommen.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09:45–10:30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Systemische Fragetechniken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Fragen stellen, die Perspektiven öffnen – statt Antworten zu verkaufen.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Fragen, die eine andere Perspektive öffnen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SPIN löst Probleme – Nachfolge ist existenziell. Hier brauchen Sie systemische und zirkuläre Fragen, die Muster sichtbar machen.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Wunderfrage: den gewünschten Zielzustand ohne Zwänge durchspielen.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Zirkuläre Frage: erkunden, wie andere den Unternehmer und sein Dilemma wahrnehmen.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Hypothetische Frage: Szenarien durchspielen, ohne festzulegen.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10:45–11:00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Nachfolge verstehen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Nachfolge-Typen, Prozessphasen und die emotionale Dimension kennen.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Nachfolge-Typen und Prozess im Überblick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Nachfolge ist kein Zeitpunkt, sondern ein Prozess über Jahre – mit sachlichen und emotionalen Phasen.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Typen: Familieninterne Nachfolge, MBO/MBI, externer Verkauf, Stiftung.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Jede Phase hat eigene Beratungsanlässe und Verbundpartner (DZ BANK, Steuerberater, Notar).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Nachfolge-Phasenmodell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Die emotionale Dimension der Nachfolge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Loslassen ist ein Trauerprozess – wer das ignoriert, verliert den Unternehmer, bevor die Zahlen überhaupt zur Sprache kommen.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Veränderungskurve (Kübler-Ross) beschreibt die Phasen von Verleugnung bis Akzeptanz.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Loslassenwiderstände sind normal – sie werden adressiert, nicht wegargumentiert.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Veränderungskurve nach Kübler-Ross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10:45–12:00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Fallstudie Wagner 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Nachfolgeoptionen analysieren und bewerten.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 Wagner KG: Nachfolge bearbeiten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Analysieren Sie die Nachfolgeoptionen der Metallverarbeitung Wagner KG (AB-1).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Bewerten Sie je Option: familieninterne Lösung, MBO, externer Verkauf.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Strukturieren Sie das Nachfolge-Erstgespräch mit dem Inhaber.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13:30–15:00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Simulation CEO-Dialog I: Erstkontakt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Ein Gespräch eröffnen und psychologische Sicherheit herstellen.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Erstkontakt: den Raum öffnen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SO LÄUFT ES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Kleingruppen à 4 TN (Rotation); Live-Demo eines Gesprächsausschnitts als Beobachtungsanker.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WORAUF ES ANKOMMT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Gespräch eröffnen, ohne Produkt; Sicherheit herstellen, bevor das Thema Nachfolge fällt.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Zuhören und spiegeln statt argumentieren – die erste systemische Frage platzieren.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15:15–16:30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Simulation CEO-Dialog II: Nachfolge-Vertiefung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Mit systemischen Fragen die Loslassenwiderstände adressieren.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Vertiefung: das existenzielle Thema führen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Zirkuläre Fragen decken implizite Ängste auf, ohne direkt zu fragen „Haben Sie Angst vor Kontrollverlust?".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systemischen Fragekarten (Wunderfrage, zirkulär, hypothetisch) im Gespräch einsetzen.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Loslassenwiderstände benennen und halten – nicht auflösen wollen.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16:30–17:30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Reflexion &amp;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Muster benennen und die ersten Schritte für einen echten Kunden skizzieren.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M12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Handlungsempfehlung für den 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Sie bei einem Kunden Nachfolge vermuten, aber Scheu haben — dann mit einer offenen, nicht wertenden Frage eröffnen statt mit einem Produkt.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 Unternehmer Widerstand gegen das Loslassen zeigt — dann den Widerstand benennen und halten, nicht wegargumentieren.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eine Nachfolgeoption reift — dann früh Verbundpartner (DZ BANK, Steuerberater, Notar) einbinden und eine Roadmap skizzieren.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Auf Augenhöhe fragt man – man argumentiert nicht.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 CEO-Dialog öffnen zirkuläre Fragen und echte Neugier einen Raum, den kein Produktpitch je erreicht.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 und 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welchem Kunden wissen Sie, dass Nachfolge ein Thema ist – und was hält Sie vom Ansprechen ab?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systemische Frage nehmen Sie als Erstes in Ihr nächstes Strategiegespräch mit?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Woran erkennen Sie, dass Sie vom Argumentieren ins Fragen gewechselt sind?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