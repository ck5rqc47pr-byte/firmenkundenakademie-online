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Schätzfrage: Zahlen am Flipchart sammeln, nicht auflösen – Spannung bis Markus-Wagner halten.</a:t>
            </a:r>
          </a:p>
          <a:p>
            <a:r>
              <a:t>Wer schätzt über 50 %? Wer unter 30 %? Beide Extreme ansprechen.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Formel einmal klar zeigen, dann sofort auf die 5 Kategorien überleiten – abstrakt halten schadet hier.</a:t>
            </a:r>
          </a:p>
          <a:p>
            <a:r>
              <a:t>Abgrenzung KNM explizit ansprechen: NMZ = Zeit im Markt; KNM (M16) = Marge je Kunde. Klingt ähnlich, misst Verschiedenes.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{'Diese Tabelle ist Einordnung, nicht Druck. Satz für den Trainer': '„Diese Werte beschämen niemanden – sie zeigen, was passiert, wenn man die Woche nicht aktiv führt."'}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Kernpunkt: B + C zusammen oft 40–50 % der Zeit – dort liegt das größte Hebelpotenzial.</a:t>
            </a:r>
          </a:p>
          <a:p>
            <a:r>
              <a:t>TN sollen für sich schon grob einschätzen, wo sie stehen – das bereitet AB-1 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 erst selbst benennen lassen, wo das Problem liegt (Zuruf), DANN Analyse zeigen.</a:t>
            </a:r>
          </a:p>
          <a:p>
            <a:r>
              <a:t>Drei Auffälligkeiten: Montag/Freitag fast ohne Kundenkontakt, Admin zu hoch, Compliance-Projekt ohne Filter.</a:t>
            </a:r>
          </a:p>
          <a:p>
            <a:r>
              <a:t>Hebel-Ergebnis: 12,5 h → 18,5 h NMZ = 46 % durch vier konkrete Maßnahmen.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Klarer Auftrag, dann Stille – 20 Minuten Einzelarbeit.</a:t>
            </a:r>
          </a:p>
          <a:p>
            <a:r>
              <a:t>Wer keine belastbaren Zahlen hat: ehrliche Schätzung reicht für die Diagnose.</a:t>
            </a:r>
          </a:p>
          <a:p>
            <a:r>
              <a:t>Ergebnisse werden NICHT verglichen oder bewertet – nur Bewusstsein schaffen.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Kernbefund für Berater: QII-Tätigkeiten haben keine eigene Dringlichkeit und werden von QI/QIII systematisch verdrängt.</a:t>
            </a:r>
          </a:p>
          <a:p>
            <a:r>
              <a:t>TN sollen markieren, wie viel Zeit sie schätzungsweise in QIII verbringen – das ist der Aha-Moment.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dozieren – TN sollen für sich markieren, welche ein bis zwei Hebel am meisten bringen.</a:t>
            </a:r>
          </a:p>
          <a:p>
            <a:r>
              <a:t>Hebel 4 und 3 mit Verweis verankern: Delegation → VA-Track; agree-Effizienz → M17.</a:t>
            </a:r>
          </a:p>
          <a:p>
            <a:r>
              <a:t>Formulierungshilfen für Hebel 5 kurz zeigen: „Ich bin heute bis 15 Uhr in Kundengesprächen – ich melde mich danach."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Erste Maßnahme: sofort umsetzbar (diese oder nächste Woche).</a:t>
            </a:r>
          </a:p>
          <a:p>
            <a:r>
              <a:t>Zweite Maßnahme: mittelfristig (nächste vier Wochen).</a:t>
            </a:r>
          </a:p>
          <a:p>
            <a:r>
              <a:t>Abschluss-Impuls: agree-Wiedervorlage „NMZ-Selbstcheck" auf den Tag in vier Wochen anlegen – direkt hier im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Format: Runde im Plenum, jeder ein Satz, kein Kommentar. Tempo halten.</a:t>
            </a:r>
          </a:p>
          <a:p>
            <a:r>
              <a:t>Transfer-Aufgabe benennen – Zeitprotokoll eine Woche führen, in vier Wochen Selbstcheck.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Abschluss-Botschaft aktiv setzen: „Wer 46 % NMZ mit exzellenter Vorbereitung kombiniert, schlägt jeden, der 55 % mit schlechten Gesprächen verbringt."</a:t>
            </a:r>
          </a:p>
          <a:p>
            <a:r>
              <a:t>Brücke zu M16 ziehen (Ertragskennzahl) und VA-Track (Delegation als struktureller Hebel).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Nettomarktzeit &amp; Selbstmanagement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Kundenkontaktzeit erhöhen, Zeitfresser eliminieren, vertriebsaktive Zeit systematisch steigern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Wie viel Ihrer Arbeitszeit verbringen Sie tatsächlich mit Kunden – in Gesprächen, am Telefon, auf Terminen?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Nettomarktzeit (NMZ) macht diesen Anteil messbar und zeigt, wo Zeit zwischen Vorbereitung, Administration und internen Meetings versickert.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analysieren Sie Ihre eigene Woche, identifizieren die drei größten Zeitfresser und entwickeln einen konkreten Maßnahmenplan, mit dem Sie mehr Zeit im Markt verbringen – ohne länger zu arbeiten.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Nettomarktzeit (NMZ) als betriebswirtschaftliche Kennzahl erklären, ihre typischen Benchmarkwerte im FK-Vertrieb benennen und von der Kundennettomarge (KNM/M16) abgrenzen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Zeitverwendung anhand von fünf Kategorien (Kundenkontakt, Vor-/Nachbereitung, Administration, Meetings, Wege) beschreiben und die dominante Zeitfresser-Kategorie klassifizieren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Mindestens drei NMZ-Hebel (Terminblockung, effiziente Vor-/Nachbereitung, agree-Routinen) auf die eigene Wochenstruktur anwenden und in einem konkreten Maßnahmenplan festhalten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Zeitverwendung nach dem Eisenhower-Prinzip analysieren, Quadrant-I/III-Tätigkeiten von vertriebsaktiven Quadrant-II-Aufgaben unterscheiden und Priorisierungsregeln ableiten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Einstieg: „Wie viel Ihrer Woche verbringen Sie wirklich beim Kunden?"</a:t>
            </a:r>
            <a:r>
              <a:rPr sz="900">
                <a:solidFill>
                  <a:srgbClr val="78808C"/>
                </a:solidFill>
                <a:latin typeface="Arial"/>
              </a:rPr>
              <a:t>  ·  Plenum, Schätzung auf Zuruf, am Flipchart notieren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Nettomarktzeit – Definition, Formel, Benchmark; die fünf Zeitkategorien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Folie (Nettomarktzeit-Balken)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Markus Wagner: Ist-Analyse im Plenum</a:t>
            </a:r>
            <a:r>
              <a:rPr sz="900">
                <a:solidFill>
                  <a:srgbClr val="78808C"/>
                </a:solidFill>
                <a:latin typeface="Arial"/>
              </a:rPr>
              <a:t>  ·  Gemeinsame Analyse des Wochenprotokolls (Sec 4)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AB-1: Eigene Zeit-/NMZ-Analyse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(Zeitprotokoll-Rückblick, Kategorien, größte Zeitfresser)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00:55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Eisenhower-Priorisierung &amp; die fünf NMZ-Hebel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+ kurze Zuruf-Aktivierung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AB-2: Mein NMZ-Maßnahmenplan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(zwei konkrete Hebel + Termin)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Blitzlicht: „Mein einer Hebel für nächste Woche"</a:t>
            </a:r>
            <a:r>
              <a:rPr sz="900">
                <a:solidFill>
                  <a:srgbClr val="78808C"/>
                </a:solidFill>
                <a:latin typeface="Arial"/>
              </a:rPr>
              <a:t>  ·  Plenum, jeder ein Satz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Zeitprotokoll-Auftrag (Sec 5), Feedbackbogen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Wie viel Ihrer Woche verbringen Sie wirklich beim Kunden?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meisten Berater überschätzen ihre Marktzeit um 10 bis 15 Prozentpunkte.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Erste Schätzung auf Zuruf – wir vergleichen am Ende.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NMZ macht das Unsichtbare sichtbar und damit steuerbar.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NMZ – die eine Zeitkennzahl, die Vertrieb messbar macht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NMZ (%) = vertriebsaktive Kundenkontaktzeit ÷ Gesamtarbeitszeit × 100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Benchmark im FK-Vertrieb – 25–35 % Durchschnitt, 45–55 % Top-Performer.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NMZ ist Diagnose-Instrument, kein Leistungsranking.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NMZ-Werte einordnen – wo stehen Sie?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NMZ-Wert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Einordnung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Exzellent – systematisch vertriebsoptimiert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40–50 %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Gut – effizient, Potenziale vorhanden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30–40 %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Durchschnitt – klare Hebel erkennbar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Kritisch – strukturelle Zeitfresser aktiv angehen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Fünf Kategorien – eine verbraucht Ihre Marktzeit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Kategorie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Inhalt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Zählt zur NMZ?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 – Kundenkontakt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Gespräche, Telefonate, Außentermine mit Vertriebsinhalt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Ja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 – Vor-/Nachbereitung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Gesprächsvorbereitung, Angebotserstellung, Nachfass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Nein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 –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agree-Datenpflege, Dokumentation, Compliance-Unterlagen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Nein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 – Interne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Teambesprechungen, Abstimmungen ohne Kundenbezug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Nein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 – Wege &amp; Sonstiges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Fahrzeit, Pausen, Weiterbildung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Nettomarktzeit Vorher / Nachher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450" y="1325880"/>
            <a:ext cx="6852052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ANALYSE IM PLENUM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 Markus Wagner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Auffälligkeiten im Wochenprotokoll identifizieren – bevor die Musteranalyse gezeigt wird.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Markus Wagner – 31 % NMZ, obwohl er „immer beschäftigt" 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Kategorie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Summe/Woche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Anteil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 – Kundenkontakt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12,5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31 %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 – Vor-/Nachbereitung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9,0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23 %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 –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9,0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23 %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 – Interne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7,5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19 %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 – Wege &amp; Sonstiges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Meine eigene Zeitanalyse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Schätzen Sie Ihre durchschnittliche Zeitverteilung auf die 5 Kategorien (A–E).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Berechnen Sie Ihre aktuelle NMZ in Prozent.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Benennen Sie Ihre dominante Zeitfresser-Kategorie.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Eisenhower – Quadrant II ist der blinde Fleck im Berateralltag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Was dringend ist, erledigt sich von selbst. Was wichtig ist, muss aktiv geschützt werden.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QI (wichtig + dringend) – Krisenfälle, dringende Kundenanliegen → sofort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QII (wichtig + nicht dringend) – Jahresgesprächsplanung, Bestandsanalyse → aktiv blocken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QIII (nicht wichtig + dringend) – interne Anfragen, Meetings ohne Agenda → delegieren oder ablehnen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Fünf Hebel – einer davon verändert Ihre nächste Woche sofort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 1 – Terminblockung: Kundentage und Akquise-Blöcke fest im Kalender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 2 – Effiziente Vor-/Nachbereitung: 10-Minuten-Limit, agree-Standardansicht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 3 – agree-Effizienz: Favoriten, Wiedervorlagen, Aktivitätenjournal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 4 – Delegation: Assistenz übernimmt Koordination, Standardunterlagen, Datenpflege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 5 – Nein sagen: Formulierungen für interne Anfragen aus QIII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Mein NMZ-Maßnahmenplan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Zwei konkrete Hebel mit Termin – umsetzbar ab morgen.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Maßnahmenplan – zwei Hebel, zwei Termine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Leiten Sie aus AB-1 und den 5 Hebeln mindestens zwei konkrete Maßnahmen ab.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Notieren Sie den Hebel (1–5), die erwartete NMZ-Wirkung und den Umsetzungstermin.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Legen Sie Ihr NMZ-Ziel für die nächsten vier Wochen 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Blitzlicht – mein einer Hebel für nächste Woche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Jeder nennt einen Satz – Hebel + konkreter Schritt.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Gemeinsames Commitment ist stärker als stille Absicht.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Zeitprotokoll-Auftrag als Transferanker (Sec 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Nettomarktzeit ist Mittel, nicht Selbstzweck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Wirksame Kundenzeit = Qualität × Quantität – nicht Stunden um der Stunden willen.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NMZ ohne Gesprächsqualität ist Aktivismus.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NMZ + KNM (M16) = vollständige Vertriebssteuerung.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gemessen wird, wird gesteuert – fangen Sie diese Woche 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