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Strategische Partner werden empfohlen – dafür braucht es Sichtbarkeit im regionalen Wirtschaftsleben.</a:t>
            </a:r>
          </a:p>
          <a:p>
            <a:pPr>
              <a:spcAft>
                <a:spcPts val="1200"/>
              </a:spcAft>
            </a:pPr>
            <a:r>
              <a:rPr sz="1700">
                <a:solidFill>
                  <a:srgbClr val="3D5466"/>
                </a:solidFill>
                <a:latin typeface="Arial"/>
              </a:rPr>
              <a:t>In diesem Praxisprojekt entwickeln Sie Ihre Netzwerkstrategie über drei Monate und setzen sie in konkreten Schritten um.</a:t>
            </a:r>
          </a:p>
          <a:p>
            <a:pPr>
              <a:spcAft>
                <a:spcPts val="1200"/>
              </a:spcAft>
            </a:pPr>
            <a:r>
              <a:rPr sz="1700">
                <a:solidFill>
                  <a:srgbClr val="3D5466"/>
                </a:solidFill>
                <a:latin typeface="Arial"/>
              </a:rPr>
              <a:t>Danach haben Sie ein tragfähiges regionales Netzwerk und eine persönliche Positionierung als Ansprechpartner für Unternehmer.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       </a:t>
            </a:r>
            <a:r>
              <a:rPr sz="1200" b="1">
                <a:solidFill>
                  <a:srgbClr val="3D5466"/>
                </a:solidFill>
                <a:latin typeface="Arial"/>
              </a:rPr>
              <a:t>  Einstieg</a:t>
            </a:r>
            <a:r>
              <a:rPr sz="900">
                <a:solidFill>
                  <a:srgbClr val="78808C"/>
                </a:solidFill>
                <a:latin typeface="Arial"/>
              </a:rPr>
              <a:t>  ·  Plenum</a:t>
            </a:r>
          </a:p>
          <a:p>
            <a:pPr>
              <a:spcBef>
                <a:spcPts val="400"/>
              </a:spcBef>
              <a:spcAft>
                <a:spcPts val="100"/>
              </a:spcAft>
            </a:pPr>
            <a:r>
              <a:rPr sz="900">
                <a:solidFill>
                  <a:srgbClr val="78808C"/>
                </a:solidFill>
                <a:latin typeface="Consolas"/>
              </a:rPr>
              <a:t>00:08       </a:t>
            </a:r>
            <a:r>
              <a:rPr sz="1200" b="1">
                <a:solidFill>
                  <a:srgbClr val="3D5466"/>
                </a:solidFill>
                <a:latin typeface="Arial"/>
              </a:rPr>
              <a:t>  Theorie-Block I</a:t>
            </a:r>
            <a:r>
              <a:rPr sz="900">
                <a:solidFill>
                  <a:srgbClr val="78808C"/>
                </a:solidFill>
                <a:latin typeface="Arial"/>
              </a:rPr>
              <a:t>  ·  Vortrag + Folie</a:t>
            </a:r>
          </a:p>
          <a:p>
            <a:pPr>
              <a:spcBef>
                <a:spcPts val="400"/>
              </a:spcBef>
              <a:spcAft>
                <a:spcPts val="100"/>
              </a:spcAft>
            </a:pPr>
            <a:r>
              <a:rPr sz="900">
                <a:solidFill>
                  <a:srgbClr val="78808C"/>
                </a:solidFill>
                <a:latin typeface="Consolas"/>
              </a:rPr>
              <a:t>00:30       </a:t>
            </a:r>
            <a:r>
              <a:rPr sz="1200" b="1">
                <a:solidFill>
                  <a:srgbClr val="3D5466"/>
                </a:solidFill>
                <a:latin typeface="Arial"/>
              </a:rPr>
              <a:t>  Einzelarbeit I: Netzwerkkarte</a:t>
            </a:r>
            <a:r>
              <a:rPr sz="900">
                <a:solidFill>
                  <a:srgbClr val="78808C"/>
                </a:solidFill>
                <a:latin typeface="Arial"/>
              </a:rPr>
              <a:t>  ·  Stille Einzelarbeit</a:t>
            </a:r>
          </a:p>
          <a:p>
            <a:pPr>
              <a:spcBef>
                <a:spcPts val="400"/>
              </a:spcBef>
              <a:spcAft>
                <a:spcPts val="100"/>
              </a:spcAft>
            </a:pPr>
            <a:r>
              <a:rPr sz="900">
                <a:solidFill>
                  <a:srgbClr val="78808C"/>
                </a:solidFill>
                <a:latin typeface="Consolas"/>
              </a:rPr>
              <a:t>00:45       </a:t>
            </a:r>
            <a:r>
              <a:rPr sz="1200" b="1">
                <a:solidFill>
                  <a:srgbClr val="3D5466"/>
                </a:solidFill>
                <a:latin typeface="Arial"/>
              </a:rPr>
              <a:t>  Zweier-Austausch</a:t>
            </a:r>
            <a:r>
              <a:rPr sz="900">
                <a:solidFill>
                  <a:srgbClr val="78808C"/>
                </a:solidFill>
                <a:latin typeface="Arial"/>
              </a:rPr>
              <a:t>  ·  Partnerarbeit</a:t>
            </a:r>
          </a:p>
          <a:p>
            <a:pPr>
              <a:spcBef>
                <a:spcPts val="400"/>
              </a:spcBef>
              <a:spcAft>
                <a:spcPts val="100"/>
              </a:spcAft>
            </a:pPr>
            <a:r>
              <a:rPr sz="900">
                <a:solidFill>
                  <a:srgbClr val="78808C"/>
                </a:solidFill>
                <a:latin typeface="Consolas"/>
              </a:rPr>
              <a:t>00:55       </a:t>
            </a:r>
            <a:r>
              <a:rPr sz="1200" b="1">
                <a:solidFill>
                  <a:srgbClr val="3D5466"/>
                </a:solidFill>
                <a:latin typeface="Arial"/>
              </a:rPr>
              <a:t>  Theorie-Block II</a:t>
            </a:r>
            <a:r>
              <a:rPr sz="900">
                <a:solidFill>
                  <a:srgbClr val="78808C"/>
                </a:solidFill>
                <a:latin typeface="Arial"/>
              </a:rPr>
              <a:t>  ·  Kurzvortrag + Beispiele</a:t>
            </a:r>
          </a:p>
          <a:p>
            <a:pPr>
              <a:spcBef>
                <a:spcPts val="400"/>
              </a:spcBef>
              <a:spcAft>
                <a:spcPts val="100"/>
              </a:spcAft>
            </a:pPr>
            <a:r>
              <a:rPr sz="900">
                <a:solidFill>
                  <a:srgbClr val="78808C"/>
                </a:solidFill>
                <a:latin typeface="Consolas"/>
              </a:rPr>
              <a:t>01:05       </a:t>
            </a:r>
            <a:r>
              <a:rPr sz="1200" b="1">
                <a:solidFill>
                  <a:srgbClr val="3D5466"/>
                </a:solidFill>
                <a:latin typeface="Arial"/>
              </a:rPr>
              <a:t>  Einzelarbeit II: Sichtbarkeits-Canvas</a:t>
            </a:r>
            <a:r>
              <a:rPr sz="900">
                <a:solidFill>
                  <a:srgbClr val="78808C"/>
                </a:solidFill>
                <a:latin typeface="Arial"/>
              </a:rPr>
              <a:t>  ·  Einzelarbeit</a:t>
            </a:r>
          </a:p>
          <a:p>
            <a:pPr>
              <a:spcBef>
                <a:spcPts val="400"/>
              </a:spcBef>
              <a:spcAft>
                <a:spcPts val="100"/>
              </a:spcAft>
            </a:pPr>
            <a:r>
              <a:rPr sz="900">
                <a:solidFill>
                  <a:srgbClr val="78808C"/>
                </a:solidFill>
                <a:latin typeface="Consolas"/>
              </a:rPr>
              <a:t>01:17       </a:t>
            </a:r>
            <a:r>
              <a:rPr sz="1200" b="1">
                <a:solidFill>
                  <a:srgbClr val="3D5466"/>
                </a:solidFill>
                <a:latin typeface="Arial"/>
              </a:rPr>
              <a:t>  Einzelarbeit III: 90-Tage-Plan</a:t>
            </a:r>
            <a:r>
              <a:rPr sz="900">
                <a:solidFill>
                  <a:srgbClr val="78808C"/>
                </a:solidFill>
                <a:latin typeface="Arial"/>
              </a:rPr>
              <a:t>  ·  Einzelarbeit</a:t>
            </a:r>
          </a:p>
          <a:p>
            <a:pPr>
              <a:spcBef>
                <a:spcPts val="400"/>
              </a:spcBef>
              <a:spcAft>
                <a:spcPts val="100"/>
              </a:spcAft>
            </a:pPr>
            <a:r>
              <a:rPr sz="900">
                <a:solidFill>
                  <a:srgbClr val="78808C"/>
                </a:solidFill>
                <a:latin typeface="Consolas"/>
              </a:rPr>
              <a:t>01:25       </a:t>
            </a:r>
            <a:r>
              <a:rPr sz="1200" b="1">
                <a:solidFill>
                  <a:srgbClr val="3D5466"/>
                </a:solidFill>
                <a:latin typeface="Arial"/>
              </a:rPr>
              <a:t>  Abschluss-Blitzlicht</a:t>
            </a:r>
            <a:r>
              <a:rPr sz="900">
                <a:solidFill>
                  <a:srgbClr val="78808C"/>
                </a:solidFill>
                <a:latin typeface="Arial"/>
              </a:rPr>
              <a:t>  ·  Plenum</a:t>
            </a:r>
          </a:p>
          <a:p>
            <a:pPr>
              <a:spcBef>
                <a:spcPts val="400"/>
              </a:spcBef>
              <a:spcAft>
                <a:spcPts val="100"/>
              </a:spcAft>
            </a:pPr>
            <a:r>
              <a:rPr sz="900">
                <a:solidFill>
                  <a:srgbClr val="78808C"/>
                </a:solidFill>
                <a:latin typeface="Consolas"/>
              </a:rPr>
              <a:t>01:35       </a:t>
            </a:r>
            <a:r>
              <a:rPr sz="1200" b="1">
                <a:solidFill>
                  <a:srgbClr val="3D5466"/>
                </a:solidFill>
                <a:latin typeface="Arial"/>
              </a:rPr>
              <a:t>  Feedbackbogen</a:t>
            </a:r>
            <a:r>
              <a:rPr sz="900">
                <a:solidFill>
                  <a:srgbClr val="78808C"/>
                </a:solidFill>
                <a:latin typeface="Arial"/>
              </a:rPr>
              <a:t>  ·  Einzeln</a:t>
            </a:r>
          </a:p>
          <a:p>
            <a:pPr>
              <a:spcBef>
                <a:spcPts val="400"/>
              </a:spcBef>
              <a:spcAft>
                <a:spcPts val="100"/>
              </a:spcAft>
            </a:pPr>
            <a:r>
              <a:rPr sz="900">
                <a:solidFill>
                  <a:srgbClr val="78808C"/>
                </a:solidFill>
                <a:latin typeface="Consolas"/>
              </a:rPr>
              <a:t>01:40       </a:t>
            </a:r>
            <a:r>
              <a:rPr sz="1200" b="1">
                <a:solidFill>
                  <a:srgbClr val="3D5466"/>
                </a:solidFill>
                <a:latin typeface="Arial"/>
              </a:rPr>
              <a:t>  Ende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300">
                <a:solidFill>
                  <a:srgbClr val="3D5466"/>
                </a:solidFill>
                <a:latin typeface="Arial"/>
              </a:rPr>
              <a:t>▸  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Strategischer Nutzen: Verbundpartner können den Berater bei ihren eigenen Kundenkontakten empfehlen; der Berater positioniert sich als Koordinator der gesamten Verbundleistung.</a:t>
            </a:r>
          </a:p>
          <a:p>
            <a:pPr>
              <a:spcBef>
                <a:spcPts val="400"/>
              </a:spcBef>
              <a:spcAft>
                <a:spcPts val="200"/>
              </a:spcAft>
            </a:pPr>
            <a:r>
              <a:rPr sz="1300">
                <a:solidFill>
                  <a:srgbClr val="3D5466"/>
                </a:solidFill>
                <a:latin typeface="Arial"/>
              </a:rPr>
              <a:t>▸  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4.3 Netzwerkanalyse: Den eigenen Status realistisch einschätzen</a:t>
            </a:r>
          </a:p>
          <a:p>
            <a:pPr>
              <a:spcBef>
                <a:spcPts val="400"/>
              </a:spcBef>
              <a:spcAft>
                <a:spcPts val="200"/>
              </a:spcAft>
            </a:pPr>
            <a:r>
              <a:rPr sz="1300">
                <a:solidFill>
                  <a:srgbClr val="3D5466"/>
                </a:solidFill>
                <a:latin typeface="Arial"/>
              </a:rPr>
              <a:t>▸  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Frage 1: Stärke meiner bestehenden Verbindungen</a:t>
            </a:r>
          </a:p>
          <a:p>
            <a:pPr>
              <a:spcBef>
                <a:spcPts val="400"/>
              </a:spcBef>
              <a:spcAft>
                <a:spcPts val="200"/>
              </a:spcAft>
            </a:pPr>
            <a:r>
              <a:rPr sz="1300">
                <a:solidFill>
                  <a:srgbClr val="3D5466"/>
                </a:solidFill>
                <a:latin typeface="Arial"/>
              </a:rPr>
              <a:t>▸  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300">
                <a:solidFill>
                  <a:srgbClr val="3D5466"/>
                </a:solidFill>
                <a:latin typeface="Arial"/>
              </a:rPr>
              <a:t>▸  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300">
                <a:solidFill>
                  <a:srgbClr val="3D5466"/>
                </a:solidFill>
                <a:latin typeface="Arial"/>
              </a:rPr>
              <a:t>▸  ## 4.4 Sichtbarkeit: Expertise sichtbar machen ohne Eigenwerbung</a:t>
            </a:r>
          </a:p>
          <a:p>
            <a:pPr>
              <a:spcBef>
                <a:spcPts val="400"/>
              </a:spcBef>
              <a:spcAft>
                <a:spcPts val="200"/>
              </a:spcAft>
            </a:pPr>
            <a:r>
              <a:rPr sz="1300">
                <a:solidFill>
                  <a:srgbClr val="3D5466"/>
                </a:solidFill>
                <a:latin typeface="Arial"/>
              </a:rPr>
              <a:t>▸  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Was: Kurze, prägnante Wissensimpulse – nicht als Werbung, sondern als echten Mehrwert für Netzwerkkontakte.</a:t>
            </a:r>
          </a:p>
          <a:p>
            <a:pPr>
              <a:spcBef>
                <a:spcPts val="400"/>
              </a:spcBef>
              <a:spcAft>
                <a:spcPts val="200"/>
              </a:spcAft>
            </a:pPr>
            <a:r>
              <a:rPr sz="1300">
                <a:solidFill>
                  <a:srgbClr val="3D5466"/>
                </a:solidFill>
                <a:latin typeface="Arial"/>
              </a:rPr>
              <a:t>▸  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300">
                <a:solidFill>
                  <a:srgbClr val="3D5466"/>
                </a:solidFill>
                <a:latin typeface="Arial"/>
              </a:rPr>
              <a:t>▸  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4.5 Der 90-Tage-Netzwerkplan</a:t>
            </a:r>
          </a:p>
          <a:p>
            <a:pPr>
              <a:spcBef>
                <a:spcPts val="400"/>
              </a:spcBef>
              <a:spcAft>
                <a:spcPts val="200"/>
              </a:spcAft>
            </a:pPr>
            <a:r>
              <a:rPr sz="1300">
                <a:solidFill>
                  <a:srgbClr val="3D5466"/>
                </a:solidFill>
                <a:latin typeface="Arial"/>
              </a:rPr>
              <a:t>▸  Ein Netzwerk entsteht nicht durch einmalige Aktionen. Es braucht ein System – klein, aber regelmäßig.</a:t>
            </a:r>
          </a:p>
          <a:p>
            <a:pPr>
              <a:spcBef>
                <a:spcPts val="400"/>
              </a:spcBef>
              <a:spcAft>
                <a:spcPts val="200"/>
              </a:spcAft>
            </a:pPr>
            <a:r>
              <a:rPr sz="1300">
                <a:solidFill>
                  <a:srgbClr val="3D5466"/>
                </a:solidFill>
                <a:latin typeface="Arial"/>
              </a:rPr>
              <a:t>▸  ## 4.6 Praxiscase: Stefan Köhler – vom Geheimtipp zur Autorität</a:t>
            </a:r>
          </a:p>
          <a:p>
            <a:pPr>
              <a:spcBef>
                <a:spcPts val="400"/>
              </a:spcBef>
              <a:spcAft>
                <a:spcPts val="200"/>
              </a:spcAft>
            </a:pPr>
            <a:r>
              <a:rPr sz="1300">
                <a:solidFill>
                  <a:srgbClr val="3D5466"/>
                </a:solidFill>
                <a:latin typeface="Arial"/>
              </a:rPr>
              <a:t>▸  Ausgangssituation</a:t>
            </a:r>
          </a:p>
          <a:p>
            <a:pPr>
              <a:spcBef>
                <a:spcPts val="400"/>
              </a:spcBef>
              <a:spcAft>
                <a:spcPts val="200"/>
              </a:spcAft>
            </a:pPr>
            <a:r>
              <a:rPr sz="1300">
                <a:solidFill>
                  <a:srgbClr val="3D5466"/>
                </a:solidFill>
                <a:latin typeface="Arial"/>
              </a:rPr>
              <a:t>▸  Stefan arbeitet hart, berät gut – aber er ist unsichtbar.</a:t>
            </a:r>
          </a:p>
          <a:p>
            <a:pPr>
              <a:spcBef>
                <a:spcPts val="400"/>
              </a:spcBef>
              <a:spcAft>
                <a:spcPts val="200"/>
              </a:spcAft>
            </a:pPr>
            <a:r>
              <a:rPr sz="1300">
                <a:solidFill>
                  <a:srgbClr val="3D5466"/>
                </a:solidFill>
                <a:latin typeface="Arial"/>
              </a:rPr>
              <a:t>▸  Was Stefan verändert (in 90 Tagen)</a:t>
            </a:r>
          </a:p>
          <a:p>
            <a:pPr>
              <a:spcBef>
                <a:spcPts val="400"/>
              </a:spcBef>
              <a:spcAft>
                <a:spcPts val="200"/>
              </a:spcAft>
            </a:pPr>
            <a:r>
              <a:rPr sz="1300">
                <a:solidFill>
                  <a:srgbClr val="3D5466"/>
                </a:solidFill>
                <a:latin typeface="Arial"/>
              </a:rPr>
              <a:t>▸  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300">
                <a:solidFill>
                  <a:srgbClr val="3D5466"/>
                </a:solidFill>
                <a:latin typeface="Arial"/>
              </a:rPr>
              <a:t>▸  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Arbeitsblatt 1: Persönliche Netzwerkkarte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3456432"/>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Bereich</a:t>
                      </a:r>
                    </a:p>
                  </a:txBody>
                  <a:tcPr>
                    <a:solidFill>
                      <a:srgbClr val="1F2C56"/>
                    </a:solidFill>
                  </a:tcPr>
                </a:tc>
                <a:tc>
                  <a:txBody>
                    <a:bodyPr/>
                    <a:lstStyle/>
                    <a:p>
                      <a:r>
                        <a:rPr sz="1100" b="1">
                          <a:solidFill>
                            <a:srgbClr val="FFFFFF"/>
                          </a:solidFill>
                          <a:latin typeface="Arial"/>
                        </a:rPr>
                        <a:t>Meine wichtigsten Kontakte</a:t>
                      </a:r>
                    </a:p>
                  </a:txBody>
                  <a:tcPr>
                    <a:solidFill>
                      <a:srgbClr val="1F2C56"/>
                    </a:solidFill>
                  </a:tcPr>
                </a:tc>
                <a:tc>
                  <a:txBody>
                    <a:bodyPr/>
                    <a:lstStyle/>
                    <a:p>
                      <a:r>
                        <a:rPr sz="1100" b="1">
                          <a:solidFill>
                            <a:srgbClr val="FFFFFF"/>
                          </a:solidFill>
                          <a:latin typeface="Arial"/>
                        </a:rPr>
                        <a:t>Qualität (1–5)</a:t>
                      </a:r>
                    </a:p>
                  </a:txBody>
                  <a:tcPr>
                    <a:solidFill>
                      <a:srgbClr val="1F2C56"/>
                    </a:solidFill>
                  </a:tcPr>
                </a:tc>
                <a:tc>
                  <a:txBody>
                    <a:bodyPr/>
                    <a:lstStyle/>
                    <a:p>
                      <a:r>
                        <a:rPr sz="1100" b="1">
                          <a:solidFill>
                            <a:srgbClr val="FFFFFF"/>
                          </a:solidFill>
                          <a:latin typeface="Arial"/>
                        </a:rPr>
                        <a:t>Letzte Interaktion</a:t>
                      </a:r>
                    </a:p>
                  </a:txBody>
                  <a:tcPr>
                    <a:solidFill>
                      <a:srgbClr val="1F2C56"/>
                    </a:solidFill>
                  </a:tcPr>
                </a:tc>
                <a:tc>
                  <a:txBody>
                    <a:bodyPr/>
                    <a:lstStyle/>
                    <a:p>
                      <a:r>
                        <a:rPr sz="1100" b="1">
                          <a:solidFill>
                            <a:srgbClr val="FFFFFF"/>
                          </a:solidFill>
                          <a:latin typeface="Arial"/>
                        </a:rPr>
                        <a:t>Nächster Schritt</a:t>
                      </a:r>
                    </a:p>
                  </a:txBody>
                  <a:tcPr>
                    <a:solidFill>
                      <a:srgbClr val="1F2C56"/>
                    </a:solidFill>
                  </a:tcPr>
                </a:tc>
              </a:tr>
              <a:tr h="384048">
                <a:tc>
                  <a:txBody>
                    <a:bodyPr/>
                    <a:lstStyle/>
                    <a:p>
                      <a:r>
                        <a:rPr sz="1050">
                          <a:solidFill>
                            <a:srgbClr val="3D5466"/>
                          </a:solidFill>
                          <a:latin typeface="Arial"/>
                        </a:rPr>
                        <a:t>Internes FK-Team</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Interne Spezialisten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Verbundpartner</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Steuerberater / WP</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Rechtsanwälte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Branchenverbände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Unternehmerclubs / Gremien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Digitale Kontakte</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Arbeitsblatt 3: 90-Tage-Aktionsplan</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920240"/>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Zeitraum</a:t>
                      </a:r>
                    </a:p>
                  </a:txBody>
                  <a:tcPr>
                    <a:solidFill>
                      <a:srgbClr val="1F2C56"/>
                    </a:solidFill>
                  </a:tcPr>
                </a:tc>
                <a:tc>
                  <a:txBody>
                    <a:bodyPr/>
                    <a:lstStyle/>
                    <a:p>
                      <a:r>
                        <a:rPr sz="1100" b="1">
                          <a:solidFill>
                            <a:srgbClr val="FFFFFF"/>
                          </a:solidFill>
                          <a:latin typeface="Arial"/>
                        </a:rPr>
                        <a:t>Aktivität</a:t>
                      </a:r>
                    </a:p>
                  </a:txBody>
                  <a:tcPr>
                    <a:solidFill>
                      <a:srgbClr val="1F2C56"/>
                    </a:solidFill>
                  </a:tcPr>
                </a:tc>
                <a:tc>
                  <a:txBody>
                    <a:bodyPr/>
                    <a:lstStyle/>
                    <a:p>
                      <a:r>
                        <a:rPr sz="1100" b="1">
                          <a:solidFill>
                            <a:srgbClr val="FFFFFF"/>
                          </a:solidFill>
                          <a:latin typeface="Arial"/>
                        </a:rPr>
                        <a:t>Zielkontakt</a:t>
                      </a:r>
                    </a:p>
                  </a:txBody>
                  <a:tcPr>
                    <a:solidFill>
                      <a:srgbClr val="1F2C56"/>
                    </a:solidFill>
                  </a:tcPr>
                </a:tc>
                <a:tc>
                  <a:txBody>
                    <a:bodyPr/>
                    <a:lstStyle/>
                    <a:p>
                      <a:r>
                        <a:rPr sz="1100" b="1">
                          <a:solidFill>
                            <a:srgbClr val="FFFFFF"/>
                          </a:solidFill>
                          <a:latin typeface="Arial"/>
                        </a:rPr>
                        <a:t>Ziel</a:t>
                      </a:r>
                    </a:p>
                  </a:txBody>
                  <a:tcPr>
                    <a:solidFill>
                      <a:srgbClr val="1F2C56"/>
                    </a:solidFill>
                  </a:tcPr>
                </a:tc>
                <a:tc>
                  <a:txBody>
                    <a:bodyPr/>
                    <a:lstStyle/>
                    <a:p>
                      <a:r>
                        <a:rPr sz="1100" b="1">
                          <a:solidFill>
                            <a:srgbClr val="FFFFFF"/>
                          </a:solidFill>
                          <a:latin typeface="Arial"/>
                        </a:rPr>
                        <a:t>Erledigt?</a:t>
                      </a:r>
                    </a:p>
                  </a:txBody>
                  <a:tcPr>
                    <a:solidFill>
                      <a:srgbClr val="1F2C56"/>
                    </a:solidFill>
                  </a:tcPr>
                </a:tc>
              </a:tr>
              <a:tr h="384048">
                <a:tc>
                  <a:txBody>
                    <a:bodyPr/>
                    <a:lstStyle/>
                    <a:p>
                      <a:r>
                        <a:rPr sz="1050">
                          <a:solidFill>
                            <a:srgbClr val="3D5466"/>
                          </a:solidFill>
                          <a:latin typeface="Arial"/>
                        </a:rPr>
                        <a:t>Woche 1–2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Woche 3–4</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3</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