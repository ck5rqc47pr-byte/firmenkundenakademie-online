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JetBrains Mono"/>
              </a:rPr>
              <a:t>FKB CAMPUS  ·  FIRMENKUNDENAKADEMIE  ·  M20</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Source Serif 4"/>
              </a:rPr>
              <a:t>Netzwerk &amp; Sichtbarkeit</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Source Serif 4"/>
              </a:rPr>
              <a:t>Strategisches Beziehungskapital aufbauen und Fachexpertise im Markt positionieren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JetBrains Mono"/>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K-06 Führung &amp; Entwicklung</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JetBrains Mono"/>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Strategischer Partner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JetBrains Mono"/>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v0.4</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JetBrains Mono"/>
              </a:rPr>
              <a:t>Benedikt Zoller Coaching  ·  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JetBrains Mono"/>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LERNZIELE  ·  M20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Eigenes Netzwerk nach Stärke, Brücken und Lücken analysieren und Erweiterungsstrategie ableiten</a:t>
            </a:r>
          </a:p>
          <a:p>
            <a:pPr>
              <a:spcBef>
                <a:spcPts val="800"/>
              </a:spcBef>
              <a:spcAft>
                <a:spcPts val="200"/>
              </a:spcAft>
            </a:pPr>
            <a:r>
              <a:rPr sz="1400">
                <a:solidFill>
                  <a:srgbClr val="3D5466"/>
                </a:solidFill>
                <a:latin typeface="Arial"/>
              </a:rPr>
              <a:t>▸  Verschiedene Netzwerk-Kanäle nach strategischer Eignung bewerten</a:t>
            </a:r>
          </a:p>
          <a:p>
            <a:pPr>
              <a:spcBef>
                <a:spcPts val="800"/>
              </a:spcBef>
              <a:spcAft>
                <a:spcPts val="200"/>
              </a:spcAft>
            </a:pPr>
            <a:r>
              <a:rPr sz="1400">
                <a:solidFill>
                  <a:srgbClr val="3D5466"/>
                </a:solidFill>
                <a:latin typeface="Arial"/>
              </a:rPr>
              <a:t>▸  Persönliche Sichtbarkeitsstrategie entwickeln</a:t>
            </a:r>
          </a:p>
          <a:p>
            <a:pPr>
              <a:spcBef>
                <a:spcPts val="800"/>
              </a:spcBef>
              <a:spcAft>
                <a:spcPts val="200"/>
              </a:spcAft>
            </a:pPr>
            <a:r>
              <a:rPr sz="1400">
                <a:solidFill>
                  <a:srgbClr val="3D5466"/>
                </a:solidFill>
                <a:latin typeface="Arial"/>
              </a:rPr>
              <a:t>▸  90-Tage-Netzwerkstrategie mit konkreten Aktivitäten gestalten</a:t>
            </a:r>
          </a:p>
          <a:p>
            <a:pPr>
              <a:spcBef>
                <a:spcPts val="800"/>
              </a:spcBef>
              <a:spcAft>
                <a:spcPts val="200"/>
              </a:spcAft>
            </a:pPr>
            <a:r>
              <a:rPr sz="1400">
                <a:solidFill>
                  <a:srgbClr val="3D5466"/>
                </a:solidFill>
                <a:latin typeface="Arial"/>
              </a:rPr>
              <a:t>▸  Operative Netzwerkpflege von strategischem Beziehungsaufbau unterscheiden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1: Internes 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Die häufig unterschätzte Dimension. Wer im eigenen Haus als kompetenter Ansprechpartner bekannt ist, bekommt:</a:t>
            </a:r>
          </a:p>
          <a:p>
            <a:pPr>
              <a:spcBef>
                <a:spcPts val="400"/>
              </a:spcBef>
              <a:spcAft>
                <a:spcPts val="200"/>
              </a:spcAft>
            </a:pPr>
            <a:r>
              <a:rPr sz="1300">
                <a:solidFill>
                  <a:srgbClr val="3D5466"/>
                </a:solidFill>
                <a:latin typeface="Arial"/>
              </a:rPr>
              <a:t>▸  Interne Empfehlungen aus Privatkundenbereichen</a:t>
            </a:r>
          </a:p>
          <a:p>
            <a:pPr>
              <a:spcBef>
                <a:spcPts val="400"/>
              </a:spcBef>
              <a:spcAft>
                <a:spcPts val="200"/>
              </a:spcAft>
            </a:pPr>
            <a:r>
              <a:rPr sz="1300">
                <a:solidFill>
                  <a:srgbClr val="3D5466"/>
                </a:solidFill>
                <a:latin typeface="Arial"/>
              </a:rPr>
              <a:t>▸  Frühzeitige Informationen über anstehende Regulierungen oder Strategieänderungen</a:t>
            </a:r>
          </a:p>
          <a:p>
            <a:pPr>
              <a:spcBef>
                <a:spcPts val="400"/>
              </a:spcBef>
              <a:spcAft>
                <a:spcPts val="200"/>
              </a:spcAft>
            </a:pPr>
            <a:r>
              <a:rPr sz="1300">
                <a:solidFill>
                  <a:srgbClr val="3D5466"/>
                </a:solidFill>
                <a:latin typeface="Arial"/>
              </a:rPr>
              <a:t>▸  Unterstützung bei komplexen Fällen durch Spezialisten (Immobilien, Strukturierte Finanzierung, Ausland)</a:t>
            </a:r>
          </a:p>
          <a:p>
            <a:pPr>
              <a:spcBef>
                <a:spcPts val="400"/>
              </a:spcBef>
              <a:spcAft>
                <a:spcPts val="200"/>
              </a:spcAft>
            </a:pPr>
            <a:r>
              <a:rPr sz="1200">
                <a:solidFill>
                  <a:srgbClr val="3D5466"/>
                </a:solidFill>
                <a:latin typeface="Arial"/>
              </a:rPr>
              <a:t>Netzwerkanker intern: Bereichsleiter FK, Kreditspezialisten, Risikomanager, Privatkundenberater mit Unternehmerkunden, Verbundpartner-Spezialisten (R+V, Union Investment).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2: Verbundpartner-Netzwerk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Strategischer Nutzen: Verbundpartner können den Berater bei ihren eigenen Kundenkontakten empfehlen; der Berater positioniert sich als Koordinator der gesamten Verbundleistung.</a:t>
            </a:r>
          </a:p>
          <a:p>
            <a:pPr>
              <a:spcBef>
                <a:spcPts val="400"/>
              </a:spcBef>
              <a:spcAft>
                <a:spcPts val="200"/>
              </a:spcAft>
            </a:pPr>
            <a:r>
              <a:rPr sz="1200">
                <a:solidFill>
                  <a:srgbClr val="3D5466"/>
                </a:solidFill>
                <a:latin typeface="Arial"/>
              </a:rPr>
              <a:t>Konkrete Formate, die in der Praxis funktionieren:</a:t>
            </a:r>
          </a:p>
          <a:p>
            <a:pPr>
              <a:spcBef>
                <a:spcPts val="400"/>
              </a:spcBef>
              <a:spcAft>
                <a:spcPts val="200"/>
              </a:spcAft>
            </a:pPr>
            <a:r>
              <a:rPr sz="1300">
                <a:solidFill>
                  <a:srgbClr val="3D5466"/>
                </a:solidFill>
                <a:latin typeface="Arial"/>
              </a:rPr>
              <a:t>▸  Gemeinsame Kundenveranstaltungen mit R+V oder Union Investment: Der FK-Berater tritt als Co-Moderator auf und gewinnt Sichtbarkeit bei Kunden anderer Berater.</a:t>
            </a:r>
          </a:p>
          <a:p>
            <a:pPr>
              <a:spcBef>
                <a:spcPts val="400"/>
              </a:spcBef>
              <a:spcAft>
                <a:spcPts val="200"/>
              </a:spcAft>
            </a:pPr>
            <a:r>
              <a:rPr sz="1300">
                <a:solidFill>
                  <a:srgbClr val="3D5466"/>
                </a:solidFill>
                <a:latin typeface="Arial"/>
              </a:rPr>
              <a:t>▸  Monatlicher Jour fixe (30 Min.) mit dem R+V-Gebietsleiter oder UIN-Regionalbetreuer: Leads gegenseitig teilen, aktuelle Cross-Selling-Opportunitäten besprechen.</a:t>
            </a:r>
          </a:p>
          <a:p>
            <a:pPr>
              <a:spcBef>
                <a:spcPts val="400"/>
              </a:spcBef>
              <a:spcAft>
                <a:spcPts val="200"/>
              </a:spcAft>
            </a:pPr>
            <a:r>
              <a:rPr sz="1300">
                <a:solidFill>
                  <a:srgbClr val="3D5466"/>
                </a:solidFill>
                <a:latin typeface="Arial"/>
              </a:rPr>
              <a:t>▸  Internes Cross-Selling-Meeting: Privatkundenberater mit Unternehmerkunden systematisch ansprechen – das ist im Alltag oft der schnellste Weg zu Neukunden, wird aber selten als aktives Format geführt.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3: Markt-Netzwerk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 4.3 Netzwerkanalyse: Den eigenen Status realistisch einschätzen</a:t>
            </a:r>
          </a:p>
          <a:p>
            <a:pPr>
              <a:spcBef>
                <a:spcPts val="400"/>
              </a:spcBef>
              <a:spcAft>
                <a:spcPts val="200"/>
              </a:spcAft>
            </a:pPr>
            <a:r>
              <a:rPr sz="1200">
                <a:solidFill>
                  <a:srgbClr val="3D5466"/>
                </a:solidFill>
                <a:latin typeface="Arial"/>
              </a:rPr>
              <a:t>Vor jeder Netzwerkstrategie steht die Analyse. Nicht: „Wie viele Kontakte habe ich?" – sondern: „Welche Verbindungen fehlen mir für meine Ziele?"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Netzwerk-Dimensionen eines FK-Beraters</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303489" y="1325880"/>
            <a:ext cx="7581973"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Schaubild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Das Netzwerk-Audit (3 Fragen)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Frage 1: Stärke meiner bestehenden Verbindungen</a:t>
            </a:r>
          </a:p>
          <a:p>
            <a:pPr>
              <a:spcBef>
                <a:spcPts val="400"/>
              </a:spcBef>
              <a:spcAft>
                <a:spcPts val="200"/>
              </a:spcAft>
            </a:pPr>
            <a:r>
              <a:rPr sz="1200">
                <a:solidFill>
                  <a:srgbClr val="3D5466"/>
                </a:solidFill>
                <a:latin typeface="Arial"/>
              </a:rPr>
              <a:t>Frage 2: Wo sind meine strukturellen Lücken?</a:t>
            </a:r>
          </a:p>
          <a:p>
            <a:pPr>
              <a:spcBef>
                <a:spcPts val="400"/>
              </a:spcBef>
              <a:spcAft>
                <a:spcPts val="200"/>
              </a:spcAft>
            </a:pPr>
            <a:r>
              <a:rPr sz="1300">
                <a:solidFill>
                  <a:srgbClr val="3D5466"/>
                </a:solidFill>
                <a:latin typeface="Arial"/>
              </a:rPr>
              <a:t>▸  In welchen Branchen kenne ich niemanden außer meinen eigenen Kunden?</a:t>
            </a:r>
          </a:p>
          <a:p>
            <a:pPr>
              <a:spcBef>
                <a:spcPts val="400"/>
              </a:spcBef>
              <a:spcAft>
                <a:spcPts val="200"/>
              </a:spcAft>
            </a:pPr>
            <a:r>
              <a:rPr sz="1300">
                <a:solidFill>
                  <a:srgbClr val="3D5466"/>
                </a:solidFill>
                <a:latin typeface="Arial"/>
              </a:rPr>
              <a:t>▸  Mit welchen Multiplikatoren hätte ich gerne Kontakt, aber noch keinen?</a:t>
            </a:r>
          </a:p>
          <a:p>
            <a:pPr>
              <a:spcBef>
                <a:spcPts val="400"/>
              </a:spcBef>
              <a:spcAft>
                <a:spcPts val="200"/>
              </a:spcAft>
            </a:pPr>
            <a:r>
              <a:rPr sz="1300">
                <a:solidFill>
                  <a:srgbClr val="3D5466"/>
                </a:solidFill>
                <a:latin typeface="Arial"/>
              </a:rPr>
              <a:t>▸  Welche internen Bereiche kenne ich zu wenig?</a:t>
            </a:r>
          </a:p>
          <a:p>
            <a:pPr>
              <a:spcBef>
                <a:spcPts val="400"/>
              </a:spcBef>
              <a:spcAft>
                <a:spcPts val="200"/>
              </a:spcAft>
            </a:pPr>
            <a:r>
              <a:rPr sz="1200">
                <a:solidFill>
                  <a:srgbClr val="3D5466"/>
                </a:solidFill>
                <a:latin typeface="Arial"/>
              </a:rPr>
              <a:t>Frage 3: Wo liegt mein Broker-Potenzial?</a:t>
            </a:r>
          </a:p>
          <a:p>
            <a:pPr>
              <a:spcBef>
                <a:spcPts val="400"/>
              </a:spcBef>
              <a:spcAft>
                <a:spcPts val="200"/>
              </a:spcAft>
            </a:pPr>
            <a:r>
              <a:rPr sz="1300">
                <a:solidFill>
                  <a:srgbClr val="3D5466"/>
                </a:solidFill>
                <a:latin typeface="Arial"/>
              </a:rPr>
              <a:t>▸  Welche zwei Gruppen in meinem Netzwerk kennen sich nicht, würden aber voneinander profitieren?</a:t>
            </a:r>
          </a:p>
          <a:p>
            <a:pPr>
              <a:spcBef>
                <a:spcPts val="400"/>
              </a:spcBef>
              <a:spcAft>
                <a:spcPts val="200"/>
              </a:spcAft>
            </a:pPr>
            <a:r>
              <a:rPr sz="1300">
                <a:solidFill>
                  <a:srgbClr val="3D5466"/>
                </a:solidFill>
                <a:latin typeface="Arial"/>
              </a:rPr>
              <a:t>▸  Wo kann ich durch Zusammenführen Mehrwert stiften – ohne Eigeninteresse?</a:t>
            </a:r>
          </a:p>
          <a:p>
            <a:pPr>
              <a:spcBef>
                <a:spcPts val="400"/>
              </a:spcBef>
              <a:spcAft>
                <a:spcPts val="200"/>
              </a:spcAft>
            </a:pPr>
            <a:r>
              <a:rPr sz="1200">
                <a:solidFill>
                  <a:srgbClr val="3D5466"/>
                </a:solidFill>
                <a:latin typeface="Arial"/>
              </a:rPr>
              <a:t>## 4.4 Sichtbarkeit: Expertise sichtbar machen ohne Eigenwerbung</a:t>
            </a:r>
          </a:p>
          <a:p>
            <a:pPr>
              <a:spcBef>
                <a:spcPts val="400"/>
              </a:spcBef>
              <a:spcAft>
                <a:spcPts val="200"/>
              </a:spcAft>
            </a:pPr>
            <a:r>
              <a:rPr sz="1200">
                <a:solidFill>
                  <a:srgbClr val="3D5466"/>
                </a:solidFill>
                <a:latin typeface="Arial"/>
              </a:rPr>
              <a:t>Sichtbarkeit entsteht nicht durch Selbstlob, sondern durch konsistente Fachkompetenz, die anderen nutzt. Die wirkmächtigsten Formate: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1: Fachbeiträge und Impulse</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Was: Kurze, prägnante Wissensimpulse – nicht als Werbung, sondern als echten Mehrwert für Netzwerkkontakte.</a:t>
            </a:r>
          </a:p>
          <a:p>
            <a:pPr>
              <a:spcBef>
                <a:spcPts val="400"/>
              </a:spcBef>
              <a:spcAft>
                <a:spcPts val="200"/>
              </a:spcAft>
            </a:pPr>
            <a:r>
              <a:rPr sz="1200">
                <a:solidFill>
                  <a:srgbClr val="3D5466"/>
                </a:solidFill>
                <a:latin typeface="Arial"/>
              </a:rPr>
              <a:t>Beispiele:</a:t>
            </a:r>
          </a:p>
          <a:p>
            <a:pPr>
              <a:spcBef>
                <a:spcPts val="400"/>
              </a:spcBef>
              <a:spcAft>
                <a:spcPts val="200"/>
              </a:spcAft>
            </a:pPr>
            <a:r>
              <a:rPr sz="1300">
                <a:solidFill>
                  <a:srgbClr val="3D5466"/>
                </a:solidFill>
                <a:latin typeface="Arial"/>
              </a:rPr>
              <a:t>▸  Monatliche E-Mail an 5–10 Steuerberater mit einem aktuellen Branchenhinweis: „Für Ihre Mandanten in der Landwirtschaft: GAP-Änderungen ab Q3 2026 – was das für Investitionsfinanzierungen bedeutet" (Hinweis: Regelmäßige E-Mail-Kommunikation an externe Multiplikatoren ist datenschutzrechtlich und complianceseitig vorab mit der Compliance-/Datenschutzabteilung der Bank abzustimmen. Empfehlung: Kommunikation über offizielle Bank-Einladungen oder bankveranstaltete Formate läuft oft reibungsloser.)</a:t>
            </a:r>
          </a:p>
          <a:p>
            <a:pPr>
              <a:spcBef>
                <a:spcPts val="400"/>
              </a:spcBef>
              <a:spcAft>
                <a:spcPts val="200"/>
              </a:spcAft>
            </a:pPr>
            <a:r>
              <a:rPr sz="1300">
                <a:solidFill>
                  <a:srgbClr val="3D5466"/>
                </a:solidFill>
                <a:latin typeface="Arial"/>
              </a:rPr>
              <a:t>▸  Kurzer Vortrag (15 Min.) bei IHK-Frühstück zu einem konkreten Finanzierungsthema</a:t>
            </a:r>
          </a:p>
          <a:p>
            <a:pPr>
              <a:spcBef>
                <a:spcPts val="400"/>
              </a:spcBef>
              <a:spcAft>
                <a:spcPts val="200"/>
              </a:spcAft>
            </a:pPr>
            <a:r>
              <a:rPr sz="1300">
                <a:solidFill>
                  <a:srgbClr val="3D5466"/>
                </a:solidFill>
                <a:latin typeface="Arial"/>
              </a:rPr>
              <a:t>▸  LinkedIn-Post mit einer praxisnahen Erkenntnis aus einem anonymisierten Kundengespräch</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2: Empfehlungen geben, bevor man welche bekommt</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Praxisregel: „Ein guter Netzwerkpartner merkt, dass er zu mir gehört, bevor er das erste Mal mit mir gearbeitet hat."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3: Präsenz in Gremien und Verbänden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Strategisch wählen: Nicht jede Mitgliedschaft lohnt sich. Kriterien:</a:t>
            </a:r>
          </a:p>
          <a:p>
            <a:pPr>
              <a:spcBef>
                <a:spcPts val="400"/>
              </a:spcBef>
              <a:spcAft>
                <a:spcPts val="200"/>
              </a:spcAft>
            </a:pPr>
            <a:r>
              <a:rPr sz="1300">
                <a:solidFill>
                  <a:srgbClr val="3D5466"/>
                </a:solidFill>
                <a:latin typeface="Arial"/>
              </a:rPr>
              <a:t>▸  Sind meine Zielkunden oder ihre Berater dort aktiv?</a:t>
            </a:r>
          </a:p>
          <a:p>
            <a:pPr>
              <a:spcBef>
                <a:spcPts val="400"/>
              </a:spcBef>
              <a:spcAft>
                <a:spcPts val="200"/>
              </a:spcAft>
            </a:pPr>
            <a:r>
              <a:rPr sz="1300">
                <a:solidFill>
                  <a:srgbClr val="3D5466"/>
                </a:solidFill>
                <a:latin typeface="Arial"/>
              </a:rPr>
              <a:t>▸  Gibt es eine Möglichkeit, sich inhaltlich einzubringen (Vortrag, Arbeitskreis)?</a:t>
            </a:r>
          </a:p>
          <a:p>
            <a:pPr>
              <a:spcBef>
                <a:spcPts val="400"/>
              </a:spcBef>
              <a:spcAft>
                <a:spcPts val="200"/>
              </a:spcAft>
            </a:pPr>
            <a:r>
              <a:rPr sz="1300">
                <a:solidFill>
                  <a:srgbClr val="3D5466"/>
                </a:solidFill>
                <a:latin typeface="Arial"/>
              </a:rPr>
              <a:t>▸  Lässt sich die Zeitinvestition rechtfertigen (qualitativ hochwertige Kontakte)?</a:t>
            </a:r>
          </a:p>
          <a:p>
            <a:pPr>
              <a:spcBef>
                <a:spcPts val="400"/>
              </a:spcBef>
              <a:spcAft>
                <a:spcPts val="200"/>
              </a:spcAft>
            </a:pPr>
            <a:r>
              <a:rPr sz="1200">
                <a:solidFill>
                  <a:srgbClr val="3D5466"/>
                </a:solidFill>
                <a:latin typeface="Arial"/>
              </a:rPr>
              <a:t>Empfehlungen für FK-Berater in Süddeutschland – bewährteste Formate nach Zeitaufwand und Netzwerkqualität: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4: Digitale Sichtbarkeit (nachrangig, selektiv)</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 4.5 Der 90-Tage-Netzwerkplan</a:t>
            </a:r>
          </a:p>
          <a:p>
            <a:pPr>
              <a:spcBef>
                <a:spcPts val="400"/>
              </a:spcBef>
              <a:spcAft>
                <a:spcPts val="200"/>
              </a:spcAft>
            </a:pPr>
            <a:r>
              <a:rPr sz="1200">
                <a:solidFill>
                  <a:srgbClr val="3D5466"/>
                </a:solidFill>
                <a:latin typeface="Arial"/>
              </a:rPr>
              <a:t>Ein Netzwerk entsteht nicht durch einmalige Aktionen. Es braucht ein System – klein, aber regelmäßig.</a:t>
            </a:r>
          </a:p>
          <a:p>
            <a:pPr>
              <a:spcBef>
                <a:spcPts val="400"/>
              </a:spcBef>
              <a:spcAft>
                <a:spcPts val="200"/>
              </a:spcAft>
            </a:pPr>
            <a:r>
              <a:rPr sz="1200">
                <a:solidFill>
                  <a:srgbClr val="3D5466"/>
                </a:solidFill>
                <a:latin typeface="Arial"/>
              </a:rPr>
              <a:t>## 4.6 Praxiscase: Stefan Köhler – vom Geheimtipp zur Autorität</a:t>
            </a:r>
          </a:p>
          <a:p>
            <a:pPr>
              <a:spcBef>
                <a:spcPts val="400"/>
              </a:spcBef>
              <a:spcAft>
                <a:spcPts val="200"/>
              </a:spcAft>
            </a:pPr>
            <a:r>
              <a:rPr sz="1200">
                <a:solidFill>
                  <a:srgbClr val="3D5466"/>
                </a:solidFill>
                <a:latin typeface="Arial"/>
              </a:rPr>
              <a:t>Ausgangssituation</a:t>
            </a:r>
          </a:p>
          <a:p>
            <a:pPr>
              <a:spcBef>
                <a:spcPts val="400"/>
              </a:spcBef>
              <a:spcAft>
                <a:spcPts val="200"/>
              </a:spcAft>
            </a:pPr>
            <a:r>
              <a:rPr sz="1200">
                <a:solidFill>
                  <a:srgbClr val="3D5466"/>
                </a:solidFill>
                <a:latin typeface="Arial"/>
              </a:rPr>
              <a:t>Stefan arbeitet hart, berät gut – aber er ist unsichtbar.</a:t>
            </a:r>
          </a:p>
          <a:p>
            <a:pPr>
              <a:spcBef>
                <a:spcPts val="400"/>
              </a:spcBef>
              <a:spcAft>
                <a:spcPts val="200"/>
              </a:spcAft>
            </a:pPr>
            <a:r>
              <a:rPr sz="1200">
                <a:solidFill>
                  <a:srgbClr val="3D5466"/>
                </a:solidFill>
                <a:latin typeface="Arial"/>
              </a:rPr>
              <a:t>Was Stefan verändert (in 90 Tagen)</a:t>
            </a:r>
          </a:p>
          <a:p>
            <a:pPr>
              <a:spcBef>
                <a:spcPts val="400"/>
              </a:spcBef>
              <a:spcAft>
                <a:spcPts val="200"/>
              </a:spcAft>
            </a:pPr>
            <a:r>
              <a:rPr sz="1200">
                <a:solidFill>
                  <a:srgbClr val="3D5466"/>
                </a:solidFill>
                <a:latin typeface="Arial"/>
              </a:rPr>
              <a:t>Monat 1 – Analyse &amp; Positionierung:</a:t>
            </a:r>
          </a:p>
          <a:p>
            <a:pPr>
              <a:spcBef>
                <a:spcPts val="400"/>
              </a:spcBef>
              <a:spcAft>
                <a:spcPts val="200"/>
              </a:spcAft>
            </a:pPr>
            <a:r>
              <a:rPr sz="1300">
                <a:solidFill>
                  <a:srgbClr val="3D5466"/>
                </a:solidFill>
                <a:latin typeface="Arial"/>
              </a:rPr>
              <a:t>▸  Stefan erstellt seine persönliche Netzwerkkarte. Ergebnis: Intern gut vernetzt, intern überbekannt. Extern: kaum Kontakte außerhalb seiner eigenen Kunden.</a:t>
            </a:r>
          </a:p>
          <a:p>
            <a:pPr>
              <a:spcBef>
                <a:spcPts val="400"/>
              </a:spcBef>
              <a:spcAft>
                <a:spcPts val="200"/>
              </a:spcAft>
            </a:pPr>
            <a:r>
              <a:rPr sz="1300">
                <a:solidFill>
                  <a:srgbClr val="3D5466"/>
                </a:solidFill>
                <a:latin typeface="Arial"/>
              </a:rPr>
              <a:t>▸  Er identifiziert drei Multiplikatoren, die für sein Zielfeld entscheidend sind: (1) der größte Steuerberater für Landwirte in der Region, (2) der Geschäftsführer des regionalen Maschinenrings, (3) der BBV-Kreisverband.</a:t>
            </a:r>
          </a:p>
          <a:p>
            <a:pPr>
              <a:spcBef>
                <a:spcPts val="400"/>
              </a:spcBef>
              <a:spcAft>
                <a:spcPts val="200"/>
              </a:spcAft>
            </a:pPr>
            <a:r>
              <a:rPr sz="1300">
                <a:solidFill>
                  <a:srgbClr val="3D5466"/>
                </a:solidFill>
                <a:latin typeface="Arial"/>
              </a:rPr>
              <a:t>▸  Er formuliert sein Positionierungsversprechen: „Ich bin der Ansprechpartner für Agrar- und Forstbetriebe ab 200 ha im Allgäu, wenn es um Investitionsfinanzierung, Betriebsumstrukturierung und Nachfolge geht."</a:t>
            </a:r>
          </a:p>
          <a:p>
            <a:pPr>
              <a:spcBef>
                <a:spcPts val="400"/>
              </a:spcBef>
              <a:spcAft>
                <a:spcPts val="200"/>
              </a:spcAft>
            </a:pPr>
            <a:r>
              <a:rPr sz="1200">
                <a:solidFill>
                  <a:srgbClr val="3D5466"/>
                </a:solidFill>
                <a:latin typeface="Arial"/>
              </a:rPr>
              <a:t>Monat 2 – Erste Kontakte:</a:t>
            </a:r>
          </a:p>
          <a:p>
            <a:pPr>
              <a:spcBef>
                <a:spcPts val="400"/>
              </a:spcBef>
              <a:spcAft>
                <a:spcPts val="200"/>
              </a:spcAft>
            </a:pPr>
            <a:r>
              <a:rPr sz="1300">
                <a:solidFill>
                  <a:srgbClr val="3D5466"/>
                </a:solidFill>
                <a:latin typeface="Arial"/>
              </a:rPr>
              <a:t>▸  Stefan ruft den Steuerberater an – nicht mit einem Verkaufsangebot, sondern mit einer konkreten Einladung: „Ich würde Ihnen gerne zeigen, wie wir bei Biogasinvestitionen vorgehen – vielleicht ist das für Ihre Mandanten relevant." Er bezieht sich dabei auf eine jüngste GAP-Meldung im Bayerischen Landwirtschaftlichen Wochenblatt als sachlichen Aufhänger. Der Steuerberater ist anfangs reserviert – Bankberater haben keinen guten Ruf bei Steuerberatern, die Direktvertrieb fürchten. Stefan macht deshalb keinen Produktbezug, sondern bietet ein fachliches Kurzgespräch über Fördermittel an, das dem Steuerberater selbst gegenüber seinen Mandanten nützt. → Treffen findet statt. Wäre möglich: Vorab-Kontakt über das BBV-Netzwerk oder ein gemeinsames IHK-Event hätte diesen Anruf noch einfacher gemacht.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Arbeitsblatt 1: Persönliche Netzwerkkarte</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(Zeichnen oder tabellarisch ausfüllen)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Arbeitsblatt 2: Lückenanalyse</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Arbeitsblatt 3: 90-Tage-Aktionsplan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 5. PRAXISTRANSFER</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