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Agenda aus dem Ablaufplan (Sektion 3.1). Timing und Pausen siehe Trainerhandbuch.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Siehe Trainerhandbuch (Sektion 3) für Moderationshinweise, Timing und erwartete Teilnehmerreaktionen.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Siehe Trainerhandbuch (Sektion 3) für Moderationshinweise, Timing und erwartete Teilnehmerreaktionen.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Siehe Trainerhandbuch (Sektion 3) für Moderationshinweise, Timing und erwartete Teilnehmerreaktionen.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Siehe Trainerhandbuch (Sektion 3) für Moderationshinweise, Timing und erwartete Teilnehmerreaktionen.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Siehe Trainerhandbuch (Sektion 3) für Moderationshinweise, Timing und erwartete Teilnehmerreaktionen.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Siehe Trainerhandbuch (Sektion 3) für Moderationshinweise, Timing und erwartete Teilnehmerreaktionen.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Siehe Trainerhandbuch (Sektion 3) für Moderationshinweise, Timing und erwartete Teilnehmerreaktionen.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Siehe Trainerhandbuch (Sektion 3) für Moderationshinweise, Timing und erwartete Teilnehmerreaktionen.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Moderation (HB Sec 3): Kein perfektes Tool nötig – ein leeres A3-Blatt und Stifte reichen Strukturhilfe anbieten: TN zeichnen sich in die Mitte; dann 3 Kreise: enger Kontakt / gelegentlicher Kontakt / Schlafende Verbindungen Häufig unbehagliches Schweigen – das ist produktiv, nicht dramatisch In der Arbeitsanweisung die Spalte „Nächster Schritt" in AB-1 explizit erwähnen: „Füllen Sie auch die letzte Spalte aus – was wäre Ihr nächster Schritt mit diesem Kontakt?" Puffer-Auftrag für Schnellfertige: „Schauen Sie sich Ihre Lückenanalyse auf AB-2 an. Welche drei Personen fehlen in Ihrem Netzwerk – und was wäre Ihr konkreter Anlass für einen ersten Kontakt? Schreiben Sie das unter ‚Nächster Schritt' in AB-1." Das überbrückt die Wartezeit und bereitet den Zweier-Austausch vor.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
            <a:ext cx="10817352" cy="256032"/>
          </a:xfrm>
          <a:prstGeom prst="rect">
            <a:avLst/>
          </a:prstGeom>
          <a:noFill/>
        </p:spPr>
        <p:txBody>
          <a:bodyPr wrap="none">
            <a:spAutoFit/>
          </a:bodyPr>
          <a:lstStyle/>
          <a:p>
            <a:pPr algn="l"/>
            <a:r>
              <a:rPr sz="800">
                <a:solidFill>
                  <a:srgbClr val="C8D2E6"/>
                </a:solidFill>
                <a:latin typeface="Consolas"/>
              </a:rPr>
              <a:t>FKB CAMPUS  ·  FIRMENKUNDENAKADEMIE  ·  M20</a:t>
            </a:r>
          </a:p>
        </p:txBody>
      </p:sp>
      <p:sp>
        <p:nvSpPr>
          <p:cNvPr id="5" name="TextBox 4"/>
          <p:cNvSpPr txBox="1"/>
          <p:nvPr/>
        </p:nvSpPr>
        <p:spPr>
          <a:xfrm>
            <a:off x="685800" y="1828800"/>
            <a:ext cx="10817352" cy="2011680"/>
          </a:xfrm>
          <a:prstGeom prst="rect">
            <a:avLst/>
          </a:prstGeom>
          <a:noFill/>
        </p:spPr>
        <p:txBody>
          <a:bodyPr wrap="square">
            <a:spAutoFit/>
          </a:bodyPr>
          <a:lstStyle/>
          <a:p>
            <a:pPr algn="l"/>
            <a:r>
              <a:rPr sz="4600" b="1" i="0">
                <a:solidFill>
                  <a:srgbClr val="FFFFFF"/>
                </a:solidFill>
                <a:latin typeface="Arial"/>
              </a:rPr>
              <a:t>Netzwerk &amp; Sichtbarkeit</a:t>
            </a:r>
          </a:p>
        </p:txBody>
      </p:sp>
      <p:sp>
        <p:nvSpPr>
          <p:cNvPr id="6" name="TextBox 5"/>
          <p:cNvSpPr txBox="1"/>
          <p:nvPr/>
        </p:nvSpPr>
        <p:spPr>
          <a:xfrm>
            <a:off x="685800" y="3977639"/>
            <a:ext cx="10817352" cy="731520"/>
          </a:xfrm>
          <a:prstGeom prst="rect">
            <a:avLst/>
          </a:prstGeom>
          <a:noFill/>
        </p:spPr>
        <p:txBody>
          <a:bodyPr wrap="square">
            <a:spAutoFit/>
          </a:bodyPr>
          <a:lstStyle/>
          <a:p>
            <a:pPr algn="l"/>
            <a:r>
              <a:rPr sz="1900" b="0" i="1">
                <a:solidFill>
                  <a:srgbClr val="BECDE6"/>
                </a:solidFill>
                <a:latin typeface="Arial"/>
              </a:rPr>
              <a:t>Strategisches Beziehungskapital aufbauen und Fachexpertise im Markt positionieren</a:t>
            </a:r>
          </a:p>
        </p:txBody>
      </p:sp>
      <p:sp>
        <p:nvSpPr>
          <p:cNvPr id="7" name="Rectangle 6"/>
          <p:cNvSpPr/>
          <p:nvPr/>
        </p:nvSpPr>
        <p:spPr>
          <a:xfrm>
            <a:off x="685800" y="5029200"/>
            <a:ext cx="10817352" cy="12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5193792"/>
            <a:ext cx="3605784" cy="201168"/>
          </a:xfrm>
          <a:prstGeom prst="rect">
            <a:avLst/>
          </a:prstGeom>
          <a:noFill/>
        </p:spPr>
        <p:txBody>
          <a:bodyPr wrap="none">
            <a:spAutoFit/>
          </a:bodyPr>
          <a:lstStyle/>
          <a:p>
            <a:pPr algn="l"/>
            <a:r>
              <a:rPr sz="700">
                <a:solidFill>
                  <a:srgbClr val="A0B4D2"/>
                </a:solidFill>
                <a:latin typeface="Consolas"/>
              </a:rPr>
              <a:t>KOMPETENZFELD</a:t>
            </a:r>
          </a:p>
        </p:txBody>
      </p:sp>
      <p:sp>
        <p:nvSpPr>
          <p:cNvPr id="9" name="TextBox 8"/>
          <p:cNvSpPr txBox="1"/>
          <p:nvPr/>
        </p:nvSpPr>
        <p:spPr>
          <a:xfrm>
            <a:off x="685800" y="5394960"/>
            <a:ext cx="3605784" cy="320040"/>
          </a:xfrm>
          <a:prstGeom prst="rect">
            <a:avLst/>
          </a:prstGeom>
          <a:noFill/>
        </p:spPr>
        <p:txBody>
          <a:bodyPr wrap="square">
            <a:spAutoFit/>
          </a:bodyPr>
          <a:lstStyle/>
          <a:p>
            <a:pPr algn="l"/>
            <a:r>
              <a:rPr sz="1100" b="0" i="0">
                <a:solidFill>
                  <a:srgbClr val="FFFFFF"/>
                </a:solidFill>
                <a:latin typeface="Arial"/>
              </a:rPr>
              <a:t>K-06 Führung &amp; Entwicklung</a:t>
            </a:r>
          </a:p>
        </p:txBody>
      </p:sp>
      <p:sp>
        <p:nvSpPr>
          <p:cNvPr id="10" name="TextBox 9"/>
          <p:cNvSpPr txBox="1"/>
          <p:nvPr/>
        </p:nvSpPr>
        <p:spPr>
          <a:xfrm>
            <a:off x="4291584" y="5193792"/>
            <a:ext cx="3605784" cy="201168"/>
          </a:xfrm>
          <a:prstGeom prst="rect">
            <a:avLst/>
          </a:prstGeom>
          <a:noFill/>
        </p:spPr>
        <p:txBody>
          <a:bodyPr wrap="none">
            <a:spAutoFit/>
          </a:bodyPr>
          <a:lstStyle/>
          <a:p>
            <a:pPr algn="l"/>
            <a:r>
              <a:rPr sz="700">
                <a:solidFill>
                  <a:srgbClr val="A0B4D2"/>
                </a:solidFill>
                <a:latin typeface="Consolas"/>
              </a:rPr>
              <a:t>KOMPETENZSTUFE</a:t>
            </a:r>
          </a:p>
        </p:txBody>
      </p:sp>
      <p:sp>
        <p:nvSpPr>
          <p:cNvPr id="11" name="TextBox 10"/>
          <p:cNvSpPr txBox="1"/>
          <p:nvPr/>
        </p:nvSpPr>
        <p:spPr>
          <a:xfrm>
            <a:off x="4291584" y="5394960"/>
            <a:ext cx="3605784" cy="320040"/>
          </a:xfrm>
          <a:prstGeom prst="rect">
            <a:avLst/>
          </a:prstGeom>
          <a:noFill/>
        </p:spPr>
        <p:txBody>
          <a:bodyPr wrap="square">
            <a:spAutoFit/>
          </a:bodyPr>
          <a:lstStyle/>
          <a:p>
            <a:pPr algn="l"/>
            <a:r>
              <a:rPr sz="1100" b="0" i="0">
                <a:solidFill>
                  <a:srgbClr val="FFFFFF"/>
                </a:solidFill>
                <a:latin typeface="Arial"/>
              </a:rPr>
              <a:t>Strategischer Partner</a:t>
            </a:r>
          </a:p>
        </p:txBody>
      </p:sp>
      <p:sp>
        <p:nvSpPr>
          <p:cNvPr id="12" name="TextBox 11"/>
          <p:cNvSpPr txBox="1"/>
          <p:nvPr/>
        </p:nvSpPr>
        <p:spPr>
          <a:xfrm>
            <a:off x="7897368" y="5193792"/>
            <a:ext cx="3605784" cy="201168"/>
          </a:xfrm>
          <a:prstGeom prst="rect">
            <a:avLst/>
          </a:prstGeom>
          <a:noFill/>
        </p:spPr>
        <p:txBody>
          <a:bodyPr wrap="none">
            <a:spAutoFit/>
          </a:bodyPr>
          <a:lstStyle/>
          <a:p>
            <a:pPr algn="l"/>
            <a:r>
              <a:rPr sz="700">
                <a:solidFill>
                  <a:srgbClr val="A0B4D2"/>
                </a:solidFill>
                <a:latin typeface="Consolas"/>
              </a:rPr>
              <a:t>VERSION</a:t>
            </a:r>
          </a:p>
        </p:txBody>
      </p:sp>
      <p:sp>
        <p:nvSpPr>
          <p:cNvPr id="13" name="TextBox 12"/>
          <p:cNvSpPr txBox="1"/>
          <p:nvPr/>
        </p:nvSpPr>
        <p:spPr>
          <a:xfrm>
            <a:off x="7897368" y="5394960"/>
            <a:ext cx="3605784" cy="320040"/>
          </a:xfrm>
          <a:prstGeom prst="rect">
            <a:avLst/>
          </a:prstGeom>
          <a:noFill/>
        </p:spPr>
        <p:txBody>
          <a:bodyPr wrap="square">
            <a:spAutoFit/>
          </a:bodyPr>
          <a:lstStyle/>
          <a:p>
            <a:pPr algn="l"/>
            <a:r>
              <a:rPr sz="1100" b="0" i="0">
                <a:solidFill>
                  <a:srgbClr val="FFFFFF"/>
                </a:solidFill>
                <a:latin typeface="Arial"/>
              </a:rPr>
              <a:t>v1.0</a:t>
            </a:r>
          </a:p>
        </p:txBody>
      </p:sp>
      <p:sp>
        <p:nvSpPr>
          <p:cNvPr id="14" name="Rectangle 13"/>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583680"/>
            <a:ext cx="5408676" cy="256032"/>
          </a:xfrm>
          <a:prstGeom prst="rect">
            <a:avLst/>
          </a:prstGeom>
          <a:noFill/>
        </p:spPr>
        <p:txBody>
          <a:bodyPr wrap="none">
            <a:spAutoFit/>
          </a:bodyPr>
          <a:lstStyle/>
          <a:p>
            <a:pPr algn="l"/>
            <a:r>
              <a:rPr sz="700">
                <a:solidFill>
                  <a:srgbClr val="96A5BE"/>
                </a:solidFill>
                <a:latin typeface="Consolas"/>
              </a:rPr>
              <a:t>FKB Campus  ·  2026</a:t>
            </a:r>
          </a:p>
        </p:txBody>
      </p:sp>
      <p:sp>
        <p:nvSpPr>
          <p:cNvPr id="16" name="TextBox 15"/>
          <p:cNvSpPr txBox="1"/>
          <p:nvPr/>
        </p:nvSpPr>
        <p:spPr>
          <a:xfrm>
            <a:off x="6094476" y="6583680"/>
            <a:ext cx="5408676" cy="256032"/>
          </a:xfrm>
          <a:prstGeom prst="rect">
            <a:avLst/>
          </a:prstGeom>
          <a:noFill/>
        </p:spPr>
        <p:txBody>
          <a:bodyPr wrap="none">
            <a:spAutoFit/>
          </a:bodyPr>
          <a:lstStyle/>
          <a:p>
            <a:pPr algn="r"/>
            <a:r>
              <a:rPr sz="700">
                <a:solidFill>
                  <a:srgbClr val="96A5BE"/>
                </a:solidFill>
                <a:latin typeface="Consolas"/>
              </a:rPr>
              <a:t>Trainer-Präsentation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ÜBERBLICK  ·  M20</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502920"/>
            <a:ext cx="10817352" cy="658368"/>
          </a:xfrm>
          <a:prstGeom prst="rect">
            <a:avLst/>
          </a:prstGeom>
          <a:noFill/>
        </p:spPr>
        <p:txBody>
          <a:bodyPr wrap="square">
            <a:spAutoFit/>
          </a:bodyPr>
          <a:lstStyle/>
          <a:p>
            <a:pPr algn="l"/>
            <a:r>
              <a:rPr sz="2600" b="1" i="0">
                <a:solidFill>
                  <a:srgbClr val="1F2C56"/>
                </a:solidFill>
                <a:latin typeface="Arial"/>
              </a:rPr>
              <a:t>Worum geht es heute</a:t>
            </a:r>
          </a:p>
        </p:txBody>
      </p:sp>
      <p:sp>
        <p:nvSpPr>
          <p:cNvPr id="7" name="TextBox 6"/>
          <p:cNvSpPr txBox="1"/>
          <p:nvPr/>
        </p:nvSpPr>
        <p:spPr>
          <a:xfrm>
            <a:off x="685800" y="1737360"/>
            <a:ext cx="9720072" cy="4206240"/>
          </a:xfrm>
          <a:prstGeom prst="rect">
            <a:avLst/>
          </a:prstGeom>
          <a:noFill/>
        </p:spPr>
        <p:txBody>
          <a:bodyPr wrap="square">
            <a:spAutoFit/>
          </a:bodyPr>
          <a:lstStyle/>
          <a:p>
            <a:pPr>
              <a:spcAft>
                <a:spcPts val="1200"/>
              </a:spcAft>
            </a:pPr>
            <a:r>
              <a:rPr sz="1700">
                <a:solidFill>
                  <a:srgbClr val="3D5466"/>
                </a:solidFill>
                <a:latin typeface="Arial"/>
              </a:rPr>
              <a:t>Strategische Partner werden empfohlen – dafür braucht es Sichtbarkeit im regionalen Wirtschaftsleben.</a:t>
            </a:r>
          </a:p>
          <a:p>
            <a:pPr>
              <a:spcAft>
                <a:spcPts val="1200"/>
              </a:spcAft>
            </a:pPr>
            <a:r>
              <a:rPr sz="1700">
                <a:solidFill>
                  <a:srgbClr val="3D5466"/>
                </a:solidFill>
                <a:latin typeface="Arial"/>
              </a:rPr>
              <a:t>In diesem Praxisprojekt entwickeln Sie Ihre Netzwerkstrategie über drei Monate und setzen sie in konkreten Schritten um.</a:t>
            </a:r>
          </a:p>
          <a:p>
            <a:pPr>
              <a:spcAft>
                <a:spcPts val="1200"/>
              </a:spcAft>
            </a:pPr>
            <a:r>
              <a:rPr sz="1700">
                <a:solidFill>
                  <a:srgbClr val="3D5466"/>
                </a:solidFill>
                <a:latin typeface="Arial"/>
              </a:rPr>
              <a:t>Danach haben Sie ein tragfähiges regionales Netzwerk und eine persönliche Positionierung als Ansprechpartner für Unternehmer.</a:t>
            </a:r>
          </a:p>
        </p:txBody>
      </p:sp>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LERNZIELE  ·  M20</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502920"/>
            <a:ext cx="10817352" cy="658368"/>
          </a:xfrm>
          <a:prstGeom prst="rect">
            <a:avLst/>
          </a:prstGeom>
          <a:noFill/>
        </p:spPr>
        <p:txBody>
          <a:bodyPr wrap="square">
            <a:spAutoFit/>
          </a:bodyPr>
          <a:lstStyle/>
          <a:p>
            <a:pPr algn="l"/>
            <a:r>
              <a:rPr sz="2600" b="1" i="0">
                <a:solidFill>
                  <a:srgbClr val="1F2C56"/>
                </a:solidFill>
                <a:latin typeface="Arial"/>
              </a:rPr>
              <a:t>Was Sie heute mitnehmen</a:t>
            </a:r>
          </a:p>
        </p:txBody>
      </p:sp>
      <p:sp>
        <p:nvSpPr>
          <p:cNvPr id="7" name="TextBox 6"/>
          <p:cNvSpPr txBox="1"/>
          <p:nvPr/>
        </p:nvSpPr>
        <p:spPr>
          <a:xfrm>
            <a:off x="685800" y="1371600"/>
            <a:ext cx="10817352" cy="5120640"/>
          </a:xfrm>
          <a:prstGeom prst="rect">
            <a:avLst/>
          </a:prstGeom>
          <a:noFill/>
        </p:spPr>
        <p:txBody>
          <a:bodyPr wrap="square">
            <a:spAutoFit/>
          </a:bodyPr>
          <a:lstStyle/>
          <a:p>
            <a:pPr>
              <a:spcBef>
                <a:spcPts val="800"/>
              </a:spcBef>
              <a:spcAft>
                <a:spcPts val="200"/>
              </a:spcAft>
            </a:pPr>
            <a:r>
              <a:rPr sz="1400">
                <a:solidFill>
                  <a:srgbClr val="3D5466"/>
                </a:solidFill>
                <a:latin typeface="Arial"/>
              </a:rPr>
              <a:t>▸  Eigenes Netzwerk nach Stärke, Brücken und Lücken analysieren und Erweiterungsstrategie ableiten</a:t>
            </a:r>
          </a:p>
          <a:p>
            <a:pPr>
              <a:spcBef>
                <a:spcPts val="800"/>
              </a:spcBef>
              <a:spcAft>
                <a:spcPts val="200"/>
              </a:spcAft>
            </a:pPr>
            <a:r>
              <a:rPr sz="1400">
                <a:solidFill>
                  <a:srgbClr val="3D5466"/>
                </a:solidFill>
                <a:latin typeface="Arial"/>
              </a:rPr>
              <a:t>▸  Verschiedene Netzwerk-Kanäle nach strategischer Eignung bewerten</a:t>
            </a:r>
          </a:p>
          <a:p>
            <a:pPr>
              <a:spcBef>
                <a:spcPts val="800"/>
              </a:spcBef>
              <a:spcAft>
                <a:spcPts val="200"/>
              </a:spcAft>
            </a:pPr>
            <a:r>
              <a:rPr sz="1400">
                <a:solidFill>
                  <a:srgbClr val="3D5466"/>
                </a:solidFill>
                <a:latin typeface="Arial"/>
              </a:rPr>
              <a:t>▸  Persönliche Sichtbarkeitsstrategie entwickeln</a:t>
            </a:r>
          </a:p>
          <a:p>
            <a:pPr>
              <a:spcBef>
                <a:spcPts val="800"/>
              </a:spcBef>
              <a:spcAft>
                <a:spcPts val="200"/>
              </a:spcAft>
            </a:pPr>
            <a:r>
              <a:rPr sz="1400">
                <a:solidFill>
                  <a:srgbClr val="3D5466"/>
                </a:solidFill>
                <a:latin typeface="Arial"/>
              </a:rPr>
              <a:t>▸  90-Tage-Netzwerkstrategie mit konkreten Aktivitäten gestalten</a:t>
            </a:r>
          </a:p>
          <a:p>
            <a:pPr>
              <a:spcBef>
                <a:spcPts val="800"/>
              </a:spcBef>
              <a:spcAft>
                <a:spcPts val="200"/>
              </a:spcAft>
            </a:pPr>
            <a:r>
              <a:rPr sz="1400">
                <a:solidFill>
                  <a:srgbClr val="3D5466"/>
                </a:solidFill>
                <a:latin typeface="Arial"/>
              </a:rPr>
              <a:t>▸  Operative Netzwerkpflege von strategischem Beziehungsaufbau unterscheiden</a:t>
            </a:r>
          </a:p>
        </p:txBody>
      </p:sp>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AGENDA  ·  M20</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502920"/>
            <a:ext cx="10817352" cy="658368"/>
          </a:xfrm>
          <a:prstGeom prst="rect">
            <a:avLst/>
          </a:prstGeom>
          <a:noFill/>
        </p:spPr>
        <p:txBody>
          <a:bodyPr wrap="square">
            <a:spAutoFit/>
          </a:bodyPr>
          <a:lstStyle/>
          <a:p>
            <a:pPr algn="l"/>
            <a:r>
              <a:rPr sz="2600" b="1" i="0">
                <a:solidFill>
                  <a:srgbClr val="1F2C56"/>
                </a:solidFill>
                <a:latin typeface="Arial"/>
              </a:rPr>
              <a:t>So läuft das Modul</a:t>
            </a:r>
          </a:p>
        </p:txBody>
      </p:sp>
      <p:sp>
        <p:nvSpPr>
          <p:cNvPr id="7" name="TextBox 6"/>
          <p:cNvSpPr txBox="1"/>
          <p:nvPr/>
        </p:nvSpPr>
        <p:spPr>
          <a:xfrm>
            <a:off x="685800" y="1463040"/>
            <a:ext cx="10817352" cy="4937760"/>
          </a:xfrm>
          <a:prstGeom prst="rect">
            <a:avLst/>
          </a:prstGeom>
          <a:noFill/>
        </p:spPr>
        <p:txBody>
          <a:bodyPr wrap="square">
            <a:spAutoFit/>
          </a:bodyPr>
          <a:lstStyle/>
          <a:p>
            <a:pPr>
              <a:spcBef>
                <a:spcPts val="400"/>
              </a:spcBef>
              <a:spcAft>
                <a:spcPts val="100"/>
              </a:spcAft>
            </a:pPr>
            <a:r>
              <a:rPr sz="900">
                <a:solidFill>
                  <a:srgbClr val="78808C"/>
                </a:solidFill>
                <a:latin typeface="Consolas"/>
              </a:rPr>
              <a:t>00:00       </a:t>
            </a:r>
            <a:r>
              <a:rPr sz="1200" b="1">
                <a:solidFill>
                  <a:srgbClr val="3D5466"/>
                </a:solidFill>
                <a:latin typeface="Arial"/>
              </a:rPr>
              <a:t>  Einstieg</a:t>
            </a:r>
            <a:r>
              <a:rPr sz="900">
                <a:solidFill>
                  <a:srgbClr val="78808C"/>
                </a:solidFill>
                <a:latin typeface="Arial"/>
              </a:rPr>
              <a:t>  ·  Plenum</a:t>
            </a:r>
          </a:p>
          <a:p>
            <a:pPr>
              <a:spcBef>
                <a:spcPts val="400"/>
              </a:spcBef>
              <a:spcAft>
                <a:spcPts val="100"/>
              </a:spcAft>
            </a:pPr>
            <a:r>
              <a:rPr sz="900">
                <a:solidFill>
                  <a:srgbClr val="78808C"/>
                </a:solidFill>
                <a:latin typeface="Consolas"/>
              </a:rPr>
              <a:t>00:08       </a:t>
            </a:r>
            <a:r>
              <a:rPr sz="1200" b="1">
                <a:solidFill>
                  <a:srgbClr val="3D5466"/>
                </a:solidFill>
                <a:latin typeface="Arial"/>
              </a:rPr>
              <a:t>  Theorie-Block I</a:t>
            </a:r>
            <a:r>
              <a:rPr sz="900">
                <a:solidFill>
                  <a:srgbClr val="78808C"/>
                </a:solidFill>
                <a:latin typeface="Arial"/>
              </a:rPr>
              <a:t>  ·  Vortrag + Folie</a:t>
            </a:r>
          </a:p>
          <a:p>
            <a:pPr>
              <a:spcBef>
                <a:spcPts val="400"/>
              </a:spcBef>
              <a:spcAft>
                <a:spcPts val="100"/>
              </a:spcAft>
            </a:pPr>
            <a:r>
              <a:rPr sz="900">
                <a:solidFill>
                  <a:srgbClr val="78808C"/>
                </a:solidFill>
                <a:latin typeface="Consolas"/>
              </a:rPr>
              <a:t>00:30       </a:t>
            </a:r>
            <a:r>
              <a:rPr sz="1200" b="1">
                <a:solidFill>
                  <a:srgbClr val="3D5466"/>
                </a:solidFill>
                <a:latin typeface="Arial"/>
              </a:rPr>
              <a:t>  Einzelarbeit I: Netzwerkkarte</a:t>
            </a:r>
            <a:r>
              <a:rPr sz="900">
                <a:solidFill>
                  <a:srgbClr val="78808C"/>
                </a:solidFill>
                <a:latin typeface="Arial"/>
              </a:rPr>
              <a:t>  ·  Stille Einzelarbeit</a:t>
            </a:r>
          </a:p>
          <a:p>
            <a:pPr>
              <a:spcBef>
                <a:spcPts val="400"/>
              </a:spcBef>
              <a:spcAft>
                <a:spcPts val="100"/>
              </a:spcAft>
            </a:pPr>
            <a:r>
              <a:rPr sz="900">
                <a:solidFill>
                  <a:srgbClr val="78808C"/>
                </a:solidFill>
                <a:latin typeface="Consolas"/>
              </a:rPr>
              <a:t>00:45       </a:t>
            </a:r>
            <a:r>
              <a:rPr sz="1200" b="1">
                <a:solidFill>
                  <a:srgbClr val="3D5466"/>
                </a:solidFill>
                <a:latin typeface="Arial"/>
              </a:rPr>
              <a:t>  Zweier-Austausch</a:t>
            </a:r>
            <a:r>
              <a:rPr sz="900">
                <a:solidFill>
                  <a:srgbClr val="78808C"/>
                </a:solidFill>
                <a:latin typeface="Arial"/>
              </a:rPr>
              <a:t>  ·  Partnerarbeit</a:t>
            </a:r>
          </a:p>
          <a:p>
            <a:pPr>
              <a:spcBef>
                <a:spcPts val="400"/>
              </a:spcBef>
              <a:spcAft>
                <a:spcPts val="100"/>
              </a:spcAft>
            </a:pPr>
            <a:r>
              <a:rPr sz="900">
                <a:solidFill>
                  <a:srgbClr val="78808C"/>
                </a:solidFill>
                <a:latin typeface="Consolas"/>
              </a:rPr>
              <a:t>00:55       </a:t>
            </a:r>
            <a:r>
              <a:rPr sz="1200" b="1">
                <a:solidFill>
                  <a:srgbClr val="3D5466"/>
                </a:solidFill>
                <a:latin typeface="Arial"/>
              </a:rPr>
              <a:t>  Theorie-Block II</a:t>
            </a:r>
            <a:r>
              <a:rPr sz="900">
                <a:solidFill>
                  <a:srgbClr val="78808C"/>
                </a:solidFill>
                <a:latin typeface="Arial"/>
              </a:rPr>
              <a:t>  ·  Kurzvortrag + Beispiele</a:t>
            </a:r>
          </a:p>
          <a:p>
            <a:pPr>
              <a:spcBef>
                <a:spcPts val="400"/>
              </a:spcBef>
              <a:spcAft>
                <a:spcPts val="100"/>
              </a:spcAft>
            </a:pPr>
            <a:r>
              <a:rPr sz="900">
                <a:solidFill>
                  <a:srgbClr val="78808C"/>
                </a:solidFill>
                <a:latin typeface="Consolas"/>
              </a:rPr>
              <a:t>01:05       </a:t>
            </a:r>
            <a:r>
              <a:rPr sz="1200" b="1">
                <a:solidFill>
                  <a:srgbClr val="3D5466"/>
                </a:solidFill>
                <a:latin typeface="Arial"/>
              </a:rPr>
              <a:t>  Einzelarbeit II: Sichtbarkeits-Canvas</a:t>
            </a:r>
            <a:r>
              <a:rPr sz="900">
                <a:solidFill>
                  <a:srgbClr val="78808C"/>
                </a:solidFill>
                <a:latin typeface="Arial"/>
              </a:rPr>
              <a:t>  ·  Einzelarbeit</a:t>
            </a:r>
          </a:p>
          <a:p>
            <a:pPr>
              <a:spcBef>
                <a:spcPts val="400"/>
              </a:spcBef>
              <a:spcAft>
                <a:spcPts val="100"/>
              </a:spcAft>
            </a:pPr>
            <a:r>
              <a:rPr sz="900">
                <a:solidFill>
                  <a:srgbClr val="78808C"/>
                </a:solidFill>
                <a:latin typeface="Consolas"/>
              </a:rPr>
              <a:t>01:17       </a:t>
            </a:r>
            <a:r>
              <a:rPr sz="1200" b="1">
                <a:solidFill>
                  <a:srgbClr val="3D5466"/>
                </a:solidFill>
                <a:latin typeface="Arial"/>
              </a:rPr>
              <a:t>  Einzelarbeit III: 90-Tage-Plan</a:t>
            </a:r>
            <a:r>
              <a:rPr sz="900">
                <a:solidFill>
                  <a:srgbClr val="78808C"/>
                </a:solidFill>
                <a:latin typeface="Arial"/>
              </a:rPr>
              <a:t>  ·  Einzelarbeit</a:t>
            </a:r>
          </a:p>
          <a:p>
            <a:pPr>
              <a:spcBef>
                <a:spcPts val="400"/>
              </a:spcBef>
              <a:spcAft>
                <a:spcPts val="100"/>
              </a:spcAft>
            </a:pPr>
            <a:r>
              <a:rPr sz="900">
                <a:solidFill>
                  <a:srgbClr val="78808C"/>
                </a:solidFill>
                <a:latin typeface="Consolas"/>
              </a:rPr>
              <a:t>01:25       </a:t>
            </a:r>
            <a:r>
              <a:rPr sz="1200" b="1">
                <a:solidFill>
                  <a:srgbClr val="3D5466"/>
                </a:solidFill>
                <a:latin typeface="Arial"/>
              </a:rPr>
              <a:t>  Abschluss-Blitzlicht</a:t>
            </a:r>
            <a:r>
              <a:rPr sz="900">
                <a:solidFill>
                  <a:srgbClr val="78808C"/>
                </a:solidFill>
                <a:latin typeface="Arial"/>
              </a:rPr>
              <a:t>  ·  Plenum</a:t>
            </a:r>
          </a:p>
          <a:p>
            <a:pPr>
              <a:spcBef>
                <a:spcPts val="400"/>
              </a:spcBef>
              <a:spcAft>
                <a:spcPts val="100"/>
              </a:spcAft>
            </a:pPr>
            <a:r>
              <a:rPr sz="900">
                <a:solidFill>
                  <a:srgbClr val="78808C"/>
                </a:solidFill>
                <a:latin typeface="Consolas"/>
              </a:rPr>
              <a:t>01:35       </a:t>
            </a:r>
            <a:r>
              <a:rPr sz="1200" b="1">
                <a:solidFill>
                  <a:srgbClr val="3D5466"/>
                </a:solidFill>
                <a:latin typeface="Arial"/>
              </a:rPr>
              <a:t>  Feedbackbogen</a:t>
            </a:r>
            <a:r>
              <a:rPr sz="900">
                <a:solidFill>
                  <a:srgbClr val="78808C"/>
                </a:solidFill>
                <a:latin typeface="Arial"/>
              </a:rPr>
              <a:t>  ·  Einzeln</a:t>
            </a:r>
          </a:p>
          <a:p>
            <a:pPr>
              <a:spcBef>
                <a:spcPts val="400"/>
              </a:spcBef>
              <a:spcAft>
                <a:spcPts val="100"/>
              </a:spcAft>
            </a:pPr>
            <a:r>
              <a:rPr sz="900">
                <a:solidFill>
                  <a:srgbClr val="78808C"/>
                </a:solidFill>
                <a:latin typeface="Consolas"/>
              </a:rPr>
              <a:t>01:40       </a:t>
            </a:r>
            <a:r>
              <a:rPr sz="1200" b="1">
                <a:solidFill>
                  <a:srgbClr val="3D5466"/>
                </a:solidFill>
                <a:latin typeface="Arial"/>
              </a:rPr>
              <a:t>  Ende</a:t>
            </a:r>
          </a:p>
        </p:txBody>
      </p:sp>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M20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Dimension 1: Internes Netzwerk</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90500" indent="-190500">
              <a:spcBef>
                <a:spcPts val="400"/>
              </a:spcBef>
              <a:spcAft>
                <a:spcPts val="200"/>
              </a:spcAft>
            </a:pPr>
            <a:r>
              <a:rPr sz="1300">
                <a:solidFill>
                  <a:srgbClr val="3D5466"/>
                </a:solidFill>
                <a:latin typeface="Arial"/>
              </a:rPr>
              <a:t>▸  Die häufig unterschätzte Dimension. Wer im eigenen Haus als kompetenter Ansprechpartner bekannt ist, bekommt:</a:t>
            </a:r>
          </a:p>
          <a:p>
            <a:pPr marL="190500" indent="-190500">
              <a:spcBef>
                <a:spcPts val="400"/>
              </a:spcBef>
              <a:spcAft>
                <a:spcPts val="200"/>
              </a:spcAft>
            </a:pPr>
            <a:r>
              <a:rPr sz="1300">
                <a:solidFill>
                  <a:srgbClr val="3D5466"/>
                </a:solidFill>
                <a:latin typeface="Arial"/>
              </a:rPr>
              <a:t>▸  Interne Empfehlungen aus Privatkundenbereichen</a:t>
            </a:r>
          </a:p>
          <a:p>
            <a:pPr marL="190500" indent="-190500">
              <a:spcBef>
                <a:spcPts val="400"/>
              </a:spcBef>
              <a:spcAft>
                <a:spcPts val="200"/>
              </a:spcAft>
            </a:pPr>
            <a:r>
              <a:rPr sz="1300">
                <a:solidFill>
                  <a:srgbClr val="3D5466"/>
                </a:solidFill>
                <a:latin typeface="Arial"/>
              </a:rPr>
              <a:t>▸  Frühzeitige Informationen über anstehende Regulierungen oder Strategieänderungen</a:t>
            </a:r>
          </a:p>
          <a:p>
            <a:pPr marL="190500" indent="-190500">
              <a:spcBef>
                <a:spcPts val="400"/>
              </a:spcBef>
              <a:spcAft>
                <a:spcPts val="200"/>
              </a:spcAft>
            </a:pPr>
            <a:r>
              <a:rPr sz="1300">
                <a:solidFill>
                  <a:srgbClr val="3D5466"/>
                </a:solidFill>
                <a:latin typeface="Arial"/>
              </a:rPr>
              <a:t>▸  Unterstützung bei komplexen Fällen durch Spezialisten (Immobilien, Strukturierte Finanzierung, Ausland)</a:t>
            </a:r>
          </a:p>
          <a:p>
            <a:pPr marL="190500" indent="-190500">
              <a:spcBef>
                <a:spcPts val="400"/>
              </a:spcBef>
              <a:spcAft>
                <a:spcPts val="200"/>
              </a:spcAft>
            </a:pPr>
            <a:r>
              <a:rPr sz="1300">
                <a:solidFill>
                  <a:srgbClr val="3D5466"/>
                </a:solidFill>
                <a:latin typeface="Arial"/>
              </a:rPr>
              <a:t>▸  Netzwerkanker intern: Bereichsleiter FK, Kreditspezialisten, Risikomanager, Privatkundenberater mit Unternehmerkunden, Verbundpartner-Spezialisten (R+V, Union Investment).</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M20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Dimension 2: Verbundpartner-Netzwerk</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90500" indent="-190500">
              <a:spcBef>
                <a:spcPts val="400"/>
              </a:spcBef>
              <a:spcAft>
                <a:spcPts val="200"/>
              </a:spcAft>
            </a:pPr>
            <a:r>
              <a:rPr sz="1300">
                <a:solidFill>
                  <a:srgbClr val="3D5466"/>
                </a:solidFill>
                <a:latin typeface="Arial"/>
              </a:rPr>
              <a:t>▸  Strategischer Nutzen: Verbundpartner können den Berater bei ihren eigenen Kundenkontakten empfehlen; der Berater positioniert sich als Koordinator der gesamten Verbundleistung.</a:t>
            </a:r>
          </a:p>
          <a:p>
            <a:pPr marL="190500" indent="-190500">
              <a:spcBef>
                <a:spcPts val="400"/>
              </a:spcBef>
              <a:spcAft>
                <a:spcPts val="200"/>
              </a:spcAft>
            </a:pPr>
            <a:r>
              <a:rPr sz="1300">
                <a:solidFill>
                  <a:srgbClr val="3D5466"/>
                </a:solidFill>
                <a:latin typeface="Arial"/>
              </a:rPr>
              <a:t>▸  Konkrete Formate, die in der Praxis funktionieren:</a:t>
            </a:r>
          </a:p>
          <a:p>
            <a:pPr marL="190500" indent="-190500">
              <a:spcBef>
                <a:spcPts val="400"/>
              </a:spcBef>
              <a:spcAft>
                <a:spcPts val="200"/>
              </a:spcAft>
            </a:pPr>
            <a:r>
              <a:rPr sz="1300">
                <a:solidFill>
                  <a:srgbClr val="3D5466"/>
                </a:solidFill>
                <a:latin typeface="Arial"/>
              </a:rPr>
              <a:t>▸  Gemeinsame Kundenveranstaltungen mit R+V oder Union Investment: Der FK-Berater tritt als Co-Moderator auf und gewinnt Sichtbarkeit bei Kunden anderer Berater.</a:t>
            </a:r>
          </a:p>
          <a:p>
            <a:pPr marL="190500" indent="-190500">
              <a:spcBef>
                <a:spcPts val="400"/>
              </a:spcBef>
              <a:spcAft>
                <a:spcPts val="200"/>
              </a:spcAft>
            </a:pPr>
            <a:r>
              <a:rPr sz="1300">
                <a:solidFill>
                  <a:srgbClr val="3D5466"/>
                </a:solidFill>
                <a:latin typeface="Arial"/>
              </a:rPr>
              <a:t>▸  Monatlicher Jour fixe (30 Min.) mit dem R+V-Gebietsleiter oder UIN-Regionalbetreuer: Leads gegenseitig teilen, aktuelle Cross-Selling-Opportunitäten besprechen.</a:t>
            </a:r>
          </a:p>
          <a:p>
            <a:pPr marL="190500" indent="-190500">
              <a:spcBef>
                <a:spcPts val="400"/>
              </a:spcBef>
              <a:spcAft>
                <a:spcPts val="200"/>
              </a:spcAft>
            </a:pPr>
            <a:r>
              <a:rPr sz="1300">
                <a:solidFill>
                  <a:srgbClr val="3D5466"/>
                </a:solidFill>
                <a:latin typeface="Arial"/>
              </a:rPr>
              <a:t>▸  Internes Cross-Selling-Meeting: Privatkundenberater mit Unternehmerkunden systematisch ansprechen – das ist im Alltag oft der schnellste Weg zu Neukunden, wird aber selten als aktives Format geführt.</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M20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Dimension 3: Markt-Netzwerk</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90500" indent="-190500">
              <a:spcBef>
                <a:spcPts val="400"/>
              </a:spcBef>
              <a:spcAft>
                <a:spcPts val="200"/>
              </a:spcAft>
            </a:pPr>
            <a:r>
              <a:rPr sz="1300">
                <a:solidFill>
                  <a:srgbClr val="3D5466"/>
                </a:solidFill>
                <a:latin typeface="Arial"/>
              </a:rPr>
              <a:t>▸  ## 4.3 Netzwerkanalyse: Den eigenen Status realistisch einschätzen</a:t>
            </a:r>
          </a:p>
          <a:p>
            <a:pPr marL="190500" indent="-190500">
              <a:spcBef>
                <a:spcPts val="400"/>
              </a:spcBef>
              <a:spcAft>
                <a:spcPts val="200"/>
              </a:spcAft>
            </a:pPr>
            <a:r>
              <a:rPr sz="1300">
                <a:solidFill>
                  <a:srgbClr val="3D5466"/>
                </a:solidFill>
                <a:latin typeface="Arial"/>
              </a:rPr>
              <a:t>▸  Vor jeder Netzwerkstrategie steht die Analyse. Nicht: „Wie viele Kontakte habe ich?" – sondern: „Welche Verbindungen fehlen mir für meine Ziele?"</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M20  ·  SCHAUBILD</a:t>
            </a:r>
          </a:p>
        </p:txBody>
      </p:sp>
      <p:sp>
        <p:nvSpPr>
          <p:cNvPr id="5" name="TextBox 4"/>
          <p:cNvSpPr txBox="1"/>
          <p:nvPr/>
        </p:nvSpPr>
        <p:spPr>
          <a:xfrm>
            <a:off x="685800" y="502920"/>
            <a:ext cx="10817352" cy="594360"/>
          </a:xfrm>
          <a:prstGeom prst="rect">
            <a:avLst/>
          </a:prstGeom>
          <a:noFill/>
        </p:spPr>
        <p:txBody>
          <a:bodyPr wrap="square">
            <a:spAutoFit/>
          </a:bodyPr>
          <a:lstStyle/>
          <a:p>
            <a:pPr algn="l"/>
            <a:r>
              <a:rPr sz="2000" b="1" i="0">
                <a:solidFill>
                  <a:srgbClr val="1F2C56"/>
                </a:solidFill>
                <a:latin typeface="Arial"/>
              </a:rPr>
              <a:t>Netzwerk-Dimensionen eines FK-Beraters</a:t>
            </a:r>
          </a:p>
        </p:txBody>
      </p:sp>
      <p:sp>
        <p:nvSpPr>
          <p:cNvPr id="6" name="Rectangle 5"/>
          <p:cNvSpPr/>
          <p:nvPr/>
        </p:nvSpPr>
        <p:spPr>
          <a:xfrm>
            <a:off x="685800" y="1143000"/>
            <a:ext cx="10817352" cy="254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303489" y="1325880"/>
            <a:ext cx="7581973" cy="4937760"/>
          </a:xfrm>
          <a:prstGeom prst="rect">
            <a:avLst/>
          </a:prstGeom>
        </p:spPr>
      </p:pic>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M20</a:t>
            </a:r>
          </a:p>
        </p:txBody>
      </p:sp>
      <p:sp>
        <p:nvSpPr>
          <p:cNvPr id="10" name="TextBox 9"/>
          <p:cNvSpPr txBox="1"/>
          <p:nvPr/>
        </p:nvSpPr>
        <p:spPr>
          <a:xfrm>
            <a:off x="7176211" y="6583680"/>
            <a:ext cx="4326940" cy="256032"/>
          </a:xfrm>
          <a:prstGeom prst="rect">
            <a:avLst/>
          </a:prstGeom>
          <a:noFill/>
        </p:spPr>
        <p:txBody>
          <a:bodyPr wrap="none">
            <a:spAutoFit/>
          </a:bodyPr>
          <a:lstStyle/>
          <a:p>
            <a:pPr algn="r"/>
            <a:r>
              <a:rPr sz="700">
                <a:solidFill>
                  <a:srgbClr val="A0B4D2"/>
                </a:solidFill>
                <a:latin typeface="Consolas"/>
              </a:rPr>
              <a:t>Schaubild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M20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Das Netzwerk-Audit (3 Fragen)</a:t>
            </a:r>
          </a:p>
        </p:txBody>
      </p:sp>
      <p:sp>
        <p:nvSpPr>
          <p:cNvPr id="8" name="TextBox 7"/>
          <p:cNvSpPr txBox="1"/>
          <p:nvPr/>
        </p:nvSpPr>
        <p:spPr>
          <a:xfrm>
            <a:off x="685800" y="1417320"/>
            <a:ext cx="10817352" cy="4892040"/>
          </a:xfrm>
          <a:prstGeom prst="rect">
            <a:avLst/>
          </a:prstGeom>
          <a:noFill/>
        </p:spPr>
        <p:txBody>
          <a:bodyPr wrap="square">
            <a:spAutoFit/>
          </a:bodyPr>
          <a:lstStyle/>
          <a:p>
            <a:pPr marL="190500" indent="-190500">
              <a:spcBef>
                <a:spcPts val="400"/>
              </a:spcBef>
              <a:spcAft>
                <a:spcPts val="200"/>
              </a:spcAft>
            </a:pPr>
            <a:r>
              <a:rPr sz="1300">
                <a:solidFill>
                  <a:srgbClr val="3D5466"/>
                </a:solidFill>
                <a:latin typeface="Arial"/>
              </a:rPr>
              <a:t>▸  Frage 1: Stärke meiner bestehenden Verbindungen</a:t>
            </a:r>
          </a:p>
          <a:p>
            <a:pPr marL="190500" indent="-190500">
              <a:spcBef>
                <a:spcPts val="400"/>
              </a:spcBef>
              <a:spcAft>
                <a:spcPts val="200"/>
              </a:spcAft>
            </a:pPr>
            <a:r>
              <a:rPr sz="1300">
                <a:solidFill>
                  <a:srgbClr val="3D5466"/>
                </a:solidFill>
                <a:latin typeface="Arial"/>
              </a:rPr>
              <a:t>▸  Frage 2: Wo sind meine strukturellen Lücken?</a:t>
            </a:r>
          </a:p>
          <a:p>
            <a:pPr marL="190500" indent="-190500">
              <a:spcBef>
                <a:spcPts val="400"/>
              </a:spcBef>
              <a:spcAft>
                <a:spcPts val="200"/>
              </a:spcAft>
            </a:pPr>
            <a:r>
              <a:rPr sz="1300">
                <a:solidFill>
                  <a:srgbClr val="3D5466"/>
                </a:solidFill>
                <a:latin typeface="Arial"/>
              </a:rPr>
              <a:t>▸  In welchen Branchen kenne ich niemanden außer meinen eigenen Kunden?</a:t>
            </a:r>
          </a:p>
          <a:p>
            <a:pPr marL="190500" indent="-190500">
              <a:spcBef>
                <a:spcPts val="400"/>
              </a:spcBef>
              <a:spcAft>
                <a:spcPts val="200"/>
              </a:spcAft>
            </a:pPr>
            <a:r>
              <a:rPr sz="1300">
                <a:solidFill>
                  <a:srgbClr val="3D5466"/>
                </a:solidFill>
                <a:latin typeface="Arial"/>
              </a:rPr>
              <a:t>▸  Mit welchen Multiplikatoren hätte ich gerne Kontakt, aber noch keinen?</a:t>
            </a:r>
          </a:p>
          <a:p>
            <a:pPr marL="190500" indent="-190500">
              <a:spcBef>
                <a:spcPts val="400"/>
              </a:spcBef>
              <a:spcAft>
                <a:spcPts val="200"/>
              </a:spcAft>
            </a:pPr>
            <a:r>
              <a:rPr sz="1300">
                <a:solidFill>
                  <a:srgbClr val="3D5466"/>
                </a:solidFill>
                <a:latin typeface="Arial"/>
              </a:rPr>
              <a:t>▸  Welche internen Bereiche kenne ich zu wenig?</a:t>
            </a:r>
          </a:p>
          <a:p>
            <a:pPr marL="190500" indent="-190500">
              <a:spcBef>
                <a:spcPts val="400"/>
              </a:spcBef>
              <a:spcAft>
                <a:spcPts val="200"/>
              </a:spcAft>
            </a:pPr>
            <a:r>
              <a:rPr sz="1300">
                <a:solidFill>
                  <a:srgbClr val="3D5466"/>
                </a:solidFill>
                <a:latin typeface="Arial"/>
              </a:rPr>
              <a:t>▸  Frage 3: Wo liegt mein Broker-Potenzial?</a:t>
            </a:r>
          </a:p>
          <a:p>
            <a:pPr marL="190500" indent="-190500">
              <a:spcBef>
                <a:spcPts val="400"/>
              </a:spcBef>
              <a:spcAft>
                <a:spcPts val="200"/>
              </a:spcAft>
            </a:pPr>
            <a:r>
              <a:rPr sz="1300">
                <a:solidFill>
                  <a:srgbClr val="3D5466"/>
                </a:solidFill>
                <a:latin typeface="Arial"/>
              </a:rPr>
              <a:t>▸  Welche zwei Gruppen in meinem Netzwerk kennen sich nicht, würden aber voneinander profitieren?</a:t>
            </a:r>
          </a:p>
          <a:p>
            <a:pPr marL="190500" indent="-190500">
              <a:spcBef>
                <a:spcPts val="400"/>
              </a:spcBef>
              <a:spcAft>
                <a:spcPts val="200"/>
              </a:spcAft>
            </a:pPr>
            <a:r>
              <a:rPr sz="1300">
                <a:solidFill>
                  <a:srgbClr val="3D5466"/>
                </a:solidFill>
                <a:latin typeface="Arial"/>
              </a:rPr>
              <a:t>▸  Wo kann ich durch Zusammenführen Mehrwert stiften – ohne Eigeninteresse?</a:t>
            </a:r>
          </a:p>
          <a:p>
            <a:pPr marL="190500" indent="-190500">
              <a:spcBef>
                <a:spcPts val="400"/>
              </a:spcBef>
              <a:spcAft>
                <a:spcPts val="200"/>
              </a:spcAft>
            </a:pPr>
            <a:r>
              <a:rPr sz="1300">
                <a:solidFill>
                  <a:srgbClr val="3D5466"/>
                </a:solidFill>
                <a:latin typeface="Arial"/>
              </a:rPr>
              <a:t>▸  ## 4.4 Sichtbarkeit: Expertise sichtbar machen ohne Eigenwerbung</a:t>
            </a:r>
          </a:p>
          <a:p>
            <a:pPr marL="190500" indent="-190500">
              <a:spcBef>
                <a:spcPts val="400"/>
              </a:spcBef>
              <a:spcAft>
                <a:spcPts val="200"/>
              </a:spcAft>
            </a:pPr>
            <a:r>
              <a:rPr sz="1300">
                <a:solidFill>
                  <a:srgbClr val="3D5466"/>
                </a:solidFill>
                <a:latin typeface="Arial"/>
              </a:rPr>
              <a:t>▸  Sichtbarkeit entsteht nicht durch Selbstlob, sondern durch konsistente Fachkompetenz, die anderen nutzt. Die wirkmächtigsten Formate:</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M20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Format 1: Fachbeiträge und Impulse</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90500" indent="-190500">
              <a:spcBef>
                <a:spcPts val="400"/>
              </a:spcBef>
              <a:spcAft>
                <a:spcPts val="200"/>
              </a:spcAft>
            </a:pPr>
            <a:r>
              <a:rPr sz="1300">
                <a:solidFill>
                  <a:srgbClr val="3D5466"/>
                </a:solidFill>
                <a:latin typeface="Arial"/>
              </a:rPr>
              <a:t>▸  Was: Kurze, prägnante Wissensimpulse – nicht als Werbung, sondern als echten Mehrwert für Netzwerkkontakte.</a:t>
            </a:r>
          </a:p>
          <a:p>
            <a:pPr marL="190500" indent="-190500">
              <a:spcBef>
                <a:spcPts val="400"/>
              </a:spcBef>
              <a:spcAft>
                <a:spcPts val="200"/>
              </a:spcAft>
            </a:pPr>
            <a:r>
              <a:rPr sz="1300">
                <a:solidFill>
                  <a:srgbClr val="3D5466"/>
                </a:solidFill>
                <a:latin typeface="Arial"/>
              </a:rPr>
              <a:t>▸  Beispiele:</a:t>
            </a:r>
          </a:p>
          <a:p>
            <a:pPr marL="190500" indent="-190500">
              <a:spcBef>
                <a:spcPts val="400"/>
              </a:spcBef>
              <a:spcAft>
                <a:spcPts val="200"/>
              </a:spcAft>
            </a:pPr>
            <a:r>
              <a:rPr sz="1300">
                <a:solidFill>
                  <a:srgbClr val="3D5466"/>
                </a:solidFill>
                <a:latin typeface="Arial"/>
              </a:rPr>
              <a:t>▸  Monatliche E-Mail an 5–10 Steuerberater mit einem aktuellen Branchenhinweis: „Für Ihre Mandanten in der Landwirtschaft: GAP-Änderungen ab Q3 2026 – was das für Investitionsfinanzierungen bedeutet" (Hinweis: Regelmäßige E-Mail-Kommunikation an externe Multiplikatoren ist datenschutzrechtlich und complianceseitig vorab mit der Compliance-/Datenschutzabteilung der Bank abzustimmen. Empfehlung: Kommunikation über offizielle Bank-Einladungen oder bankveranstaltete Formate läuft oft reibungsloser.)</a:t>
            </a:r>
          </a:p>
          <a:p>
            <a:pPr marL="190500" indent="-190500">
              <a:spcBef>
                <a:spcPts val="400"/>
              </a:spcBef>
              <a:spcAft>
                <a:spcPts val="200"/>
              </a:spcAft>
            </a:pPr>
            <a:r>
              <a:rPr sz="1300">
                <a:solidFill>
                  <a:srgbClr val="3D5466"/>
                </a:solidFill>
                <a:latin typeface="Arial"/>
              </a:rPr>
              <a:t>▸  Kurzer Vortrag (15 Min.) bei IHK-Frühstück zu einem konkreten Finanzierungsthema</a:t>
            </a:r>
          </a:p>
          <a:p>
            <a:pPr marL="190500" indent="-190500">
              <a:spcBef>
                <a:spcPts val="400"/>
              </a:spcBef>
              <a:spcAft>
                <a:spcPts val="200"/>
              </a:spcAft>
            </a:pPr>
            <a:r>
              <a:rPr sz="1300">
                <a:solidFill>
                  <a:srgbClr val="3D5466"/>
                </a:solidFill>
                <a:latin typeface="Arial"/>
              </a:rPr>
              <a:t>▸  LinkedIn-Post mit einer praxisnahen Erkenntnis aus einem anonymisierten Kundengespräch</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M20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Format 2: Empfehlungen geben, bevor man welche bekommt</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90500" indent="-190500">
              <a:spcBef>
                <a:spcPts val="400"/>
              </a:spcBef>
              <a:spcAft>
                <a:spcPts val="200"/>
              </a:spcAft>
            </a:pPr>
            <a:r>
              <a:rPr sz="1300">
                <a:solidFill>
                  <a:srgbClr val="3D5466"/>
                </a:solidFill>
                <a:latin typeface="Arial"/>
              </a:rPr>
              <a:t>▸  Praxisregel: „Ein guter Netzwerkpartner merkt, dass er zu mir gehört, bevor er das erste Mal mit mir gearbeitet hat."</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M20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Format 3: Präsenz in Gremien und Verbänden</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90500" indent="-190500">
              <a:spcBef>
                <a:spcPts val="400"/>
              </a:spcBef>
              <a:spcAft>
                <a:spcPts val="200"/>
              </a:spcAft>
            </a:pPr>
            <a:r>
              <a:rPr sz="1300">
                <a:solidFill>
                  <a:srgbClr val="3D5466"/>
                </a:solidFill>
                <a:latin typeface="Arial"/>
              </a:rPr>
              <a:t>▸  Strategisch wählen: Nicht jede Mitgliedschaft lohnt sich. Kriterien:</a:t>
            </a:r>
          </a:p>
          <a:p>
            <a:pPr marL="190500" indent="-190500">
              <a:spcBef>
                <a:spcPts val="400"/>
              </a:spcBef>
              <a:spcAft>
                <a:spcPts val="200"/>
              </a:spcAft>
            </a:pPr>
            <a:r>
              <a:rPr sz="1300">
                <a:solidFill>
                  <a:srgbClr val="3D5466"/>
                </a:solidFill>
                <a:latin typeface="Arial"/>
              </a:rPr>
              <a:t>▸  Sind meine Zielkunden oder ihre Berater dort aktiv?</a:t>
            </a:r>
          </a:p>
          <a:p>
            <a:pPr marL="190500" indent="-190500">
              <a:spcBef>
                <a:spcPts val="400"/>
              </a:spcBef>
              <a:spcAft>
                <a:spcPts val="200"/>
              </a:spcAft>
            </a:pPr>
            <a:r>
              <a:rPr sz="1300">
                <a:solidFill>
                  <a:srgbClr val="3D5466"/>
                </a:solidFill>
                <a:latin typeface="Arial"/>
              </a:rPr>
              <a:t>▸  Gibt es eine Möglichkeit, sich inhaltlich einzubringen (Vortrag, Arbeitskreis)?</a:t>
            </a:r>
          </a:p>
          <a:p>
            <a:pPr marL="190500" indent="-190500">
              <a:spcBef>
                <a:spcPts val="400"/>
              </a:spcBef>
              <a:spcAft>
                <a:spcPts val="200"/>
              </a:spcAft>
            </a:pPr>
            <a:r>
              <a:rPr sz="1300">
                <a:solidFill>
                  <a:srgbClr val="3D5466"/>
                </a:solidFill>
                <a:latin typeface="Arial"/>
              </a:rPr>
              <a:t>▸  Lässt sich die Zeitinvestition rechtfertigen (qualitativ hochwertige Kontakte)?</a:t>
            </a:r>
          </a:p>
          <a:p>
            <a:pPr marL="190500" indent="-190500">
              <a:spcBef>
                <a:spcPts val="400"/>
              </a:spcBef>
              <a:spcAft>
                <a:spcPts val="200"/>
              </a:spcAft>
            </a:pPr>
            <a:r>
              <a:rPr sz="1300">
                <a:solidFill>
                  <a:srgbClr val="3D5466"/>
                </a:solidFill>
                <a:latin typeface="Arial"/>
              </a:rPr>
              <a:t>▸  Empfehlungen für FK-Berater in Süddeutschland – bewährteste Formate nach Zeitaufwand und Netzwerkqualität:</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M20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Format 4: Digitale Sichtbarkeit (nachrangig, selektiv)</a:t>
            </a:r>
          </a:p>
        </p:txBody>
      </p:sp>
      <p:sp>
        <p:nvSpPr>
          <p:cNvPr id="8" name="TextBox 7"/>
          <p:cNvSpPr txBox="1"/>
          <p:nvPr/>
        </p:nvSpPr>
        <p:spPr>
          <a:xfrm>
            <a:off x="685800" y="1417320"/>
            <a:ext cx="10817352" cy="4892040"/>
          </a:xfrm>
          <a:prstGeom prst="rect">
            <a:avLst/>
          </a:prstGeom>
          <a:noFill/>
        </p:spPr>
        <p:txBody>
          <a:bodyPr wrap="square">
            <a:spAutoFit/>
          </a:bodyPr>
          <a:lstStyle/>
          <a:p>
            <a:pPr marL="190500" indent="-190500">
              <a:spcBef>
                <a:spcPts val="400"/>
              </a:spcBef>
              <a:spcAft>
                <a:spcPts val="200"/>
              </a:spcAft>
            </a:pPr>
            <a:r>
              <a:rPr sz="1300">
                <a:solidFill>
                  <a:srgbClr val="3D5466"/>
                </a:solidFill>
                <a:latin typeface="Arial"/>
              </a:rPr>
              <a:t>▸  ## 4.5 Der 90-Tage-Netzwerkplan</a:t>
            </a:r>
          </a:p>
          <a:p>
            <a:pPr marL="190500" indent="-190500">
              <a:spcBef>
                <a:spcPts val="400"/>
              </a:spcBef>
              <a:spcAft>
                <a:spcPts val="200"/>
              </a:spcAft>
            </a:pPr>
            <a:r>
              <a:rPr sz="1300">
                <a:solidFill>
                  <a:srgbClr val="3D5466"/>
                </a:solidFill>
                <a:latin typeface="Arial"/>
              </a:rPr>
              <a:t>▸  Ein Netzwerk entsteht nicht durch einmalige Aktionen. Es braucht ein System – klein, aber regelmäßig.</a:t>
            </a:r>
          </a:p>
          <a:p>
            <a:pPr marL="190500" indent="-190500">
              <a:spcBef>
                <a:spcPts val="400"/>
              </a:spcBef>
              <a:spcAft>
                <a:spcPts val="200"/>
              </a:spcAft>
            </a:pPr>
            <a:r>
              <a:rPr sz="1300">
                <a:solidFill>
                  <a:srgbClr val="3D5466"/>
                </a:solidFill>
                <a:latin typeface="Arial"/>
              </a:rPr>
              <a:t>▸  ## 4.6 Praxiscase: Stefan Köhler – vom Geheimtipp zur Autorität</a:t>
            </a:r>
          </a:p>
          <a:p>
            <a:pPr marL="190500" indent="-190500">
              <a:spcBef>
                <a:spcPts val="400"/>
              </a:spcBef>
              <a:spcAft>
                <a:spcPts val="200"/>
              </a:spcAft>
            </a:pPr>
            <a:r>
              <a:rPr sz="1300">
                <a:solidFill>
                  <a:srgbClr val="3D5466"/>
                </a:solidFill>
                <a:latin typeface="Arial"/>
              </a:rPr>
              <a:t>▸  Ausgangssituation</a:t>
            </a:r>
          </a:p>
          <a:p>
            <a:pPr marL="190500" indent="-190500">
              <a:spcBef>
                <a:spcPts val="400"/>
              </a:spcBef>
              <a:spcAft>
                <a:spcPts val="200"/>
              </a:spcAft>
            </a:pPr>
            <a:r>
              <a:rPr sz="1300">
                <a:solidFill>
                  <a:srgbClr val="3D5466"/>
                </a:solidFill>
                <a:latin typeface="Arial"/>
              </a:rPr>
              <a:t>▸  Stefan arbeitet hart, berät gut – aber er ist unsichtbar.</a:t>
            </a:r>
          </a:p>
          <a:p>
            <a:pPr marL="190500" indent="-190500">
              <a:spcBef>
                <a:spcPts val="400"/>
              </a:spcBef>
              <a:spcAft>
                <a:spcPts val="200"/>
              </a:spcAft>
            </a:pPr>
            <a:r>
              <a:rPr sz="1300">
                <a:solidFill>
                  <a:srgbClr val="3D5466"/>
                </a:solidFill>
                <a:latin typeface="Arial"/>
              </a:rPr>
              <a:t>▸  Was Stefan verändert (in 90 Tagen)</a:t>
            </a:r>
          </a:p>
          <a:p>
            <a:pPr marL="190500" indent="-190500">
              <a:spcBef>
                <a:spcPts val="400"/>
              </a:spcBef>
              <a:spcAft>
                <a:spcPts val="200"/>
              </a:spcAft>
            </a:pPr>
            <a:r>
              <a:rPr sz="1300">
                <a:solidFill>
                  <a:srgbClr val="3D5466"/>
                </a:solidFill>
                <a:latin typeface="Arial"/>
              </a:rPr>
              <a:t>▸  Monat 1 – Analyse &amp; Positionierung:</a:t>
            </a:r>
          </a:p>
          <a:p>
            <a:pPr marL="190500" indent="-190500">
              <a:spcBef>
                <a:spcPts val="400"/>
              </a:spcBef>
              <a:spcAft>
                <a:spcPts val="200"/>
              </a:spcAft>
            </a:pPr>
            <a:r>
              <a:rPr sz="1300">
                <a:solidFill>
                  <a:srgbClr val="3D5466"/>
                </a:solidFill>
                <a:latin typeface="Arial"/>
              </a:rPr>
              <a:t>▸  Stefan erstellt seine persönliche Netzwerkkarte. Ergebnis: Intern gut vernetzt, intern überbekannt. Extern: kaum Kontakte außerhalb seiner eigenen Kunden.</a:t>
            </a:r>
          </a:p>
          <a:p>
            <a:pPr marL="190500" indent="-190500">
              <a:spcBef>
                <a:spcPts val="400"/>
              </a:spcBef>
              <a:spcAft>
                <a:spcPts val="200"/>
              </a:spcAft>
            </a:pPr>
            <a:r>
              <a:rPr sz="1300">
                <a:solidFill>
                  <a:srgbClr val="3D5466"/>
                </a:solidFill>
                <a:latin typeface="Arial"/>
              </a:rPr>
              <a:t>▸  Er identifiziert drei Multiplikatoren, die für sein Zielfeld entscheidend sind: (1) der größte Steuerberater für Landwirte in der Region, (2) der Geschäftsführer des regionalen Maschinenrings, (3) der BBV-Kreisverband.</a:t>
            </a:r>
          </a:p>
          <a:p>
            <a:pPr marL="190500" indent="-190500">
              <a:spcBef>
                <a:spcPts val="400"/>
              </a:spcBef>
              <a:spcAft>
                <a:spcPts val="200"/>
              </a:spcAft>
            </a:pPr>
            <a:r>
              <a:rPr sz="1300">
                <a:solidFill>
                  <a:srgbClr val="3D5466"/>
                </a:solidFill>
                <a:latin typeface="Arial"/>
              </a:rPr>
              <a:t>▸  Er formuliert sein Positionierungsversprechen: „Ich bin der Ansprechpartner für Agrar- und Forstbetriebe ab 200 ha im Allgäu, wenn es um Investitionsfinanzierung, Betriebsumstrukturierung und Nachfolge geht."</a:t>
            </a:r>
          </a:p>
          <a:p>
            <a:pPr marL="190500" indent="-190500">
              <a:spcBef>
                <a:spcPts val="400"/>
              </a:spcBef>
              <a:spcAft>
                <a:spcPts val="200"/>
              </a:spcAft>
            </a:pPr>
            <a:r>
              <a:rPr sz="1300">
                <a:solidFill>
                  <a:srgbClr val="3D5466"/>
                </a:solidFill>
                <a:latin typeface="Arial"/>
              </a:rPr>
              <a:t>▸  Monat 2 – Erste Kontakte:</a:t>
            </a:r>
          </a:p>
          <a:p>
            <a:pPr marL="190500" indent="-190500">
              <a:spcBef>
                <a:spcPts val="400"/>
              </a:spcBef>
              <a:spcAft>
                <a:spcPts val="200"/>
              </a:spcAft>
            </a:pPr>
            <a:r>
              <a:rPr sz="1300">
                <a:solidFill>
                  <a:srgbClr val="3D5466"/>
                </a:solidFill>
                <a:latin typeface="Arial"/>
              </a:rPr>
              <a:t>▸  Stefan ruft den Steuerberater an – nicht mit einem Verkaufsangebot, sondern mit einer konkreten Einladung: „Ich würde Ihnen gerne zeigen, wie wir bei Biogasinvestitionen vorgehen – vielleicht ist das für Ihre Mandanten relevant." Er bezieht sich dabei auf eine jüngste GAP-Meldung im Bayerischen Landwirtschaftlichen Wochenblatt als sachlichen Aufhänger. Der Steuerberater ist anfangs reserviert – Bankberater haben keinen guten Ruf bei Steuerberatern, die Direktvertrieb fürchten. Stefan macht deshalb keinen Produktbezug, sondern bietet ein fachliches Kurzgespräch über Fördermittel an, das dem Steuerberater selbst gegenüber seinen Mandanten nützt. → Treffen findet statt. Wäre möglich: Vorab-Kontakt über das BBV-Netzwerk oder ein gemeinsames IHK-Event hätte diesen Anruf noch einfacher gemacht.</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M20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AB-1: Persönliche Netzwerkkarte</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90500" indent="-190500">
              <a:spcBef>
                <a:spcPts val="400"/>
              </a:spcBef>
              <a:spcAft>
                <a:spcPts val="200"/>
              </a:spcAft>
            </a:pPr>
            <a:r>
              <a:rPr sz="1300">
                <a:solidFill>
                  <a:srgbClr val="3D5466"/>
                </a:solidFill>
                <a:latin typeface="Arial"/>
              </a:rPr>
              <a:t>▸  (Zeichnen oder tabellarisch ausfüllen)</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M20  ·  ÜBERSICHT</a:t>
            </a:r>
          </a:p>
        </p:txBody>
      </p:sp>
      <p:sp>
        <p:nvSpPr>
          <p:cNvPr id="5" name="TextBox 4"/>
          <p:cNvSpPr txBox="1"/>
          <p:nvPr/>
        </p:nvSpPr>
        <p:spPr>
          <a:xfrm>
            <a:off x="685800" y="502920"/>
            <a:ext cx="10817352" cy="594360"/>
          </a:xfrm>
          <a:prstGeom prst="rect">
            <a:avLst/>
          </a:prstGeom>
          <a:noFill/>
        </p:spPr>
        <p:txBody>
          <a:bodyPr wrap="square">
            <a:spAutoFit/>
          </a:bodyPr>
          <a:lstStyle/>
          <a:p>
            <a:pPr algn="l"/>
            <a:r>
              <a:rPr sz="2000" b="1" i="0">
                <a:solidFill>
                  <a:srgbClr val="1F2C56"/>
                </a:solidFill>
                <a:latin typeface="Arial"/>
              </a:rPr>
              <a:t>AB-1: Persönliche Netzwerkkarte</a:t>
            </a:r>
          </a:p>
        </p:txBody>
      </p:sp>
      <p:sp>
        <p:nvSpPr>
          <p:cNvPr id="6" name="Rectangle 5"/>
          <p:cNvSpPr/>
          <p:nvPr/>
        </p:nvSpPr>
        <p:spPr>
          <a:xfrm>
            <a:off x="685800" y="1143000"/>
            <a:ext cx="10817352" cy="254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85800" y="1417320"/>
          <a:ext cx="10817352" cy="3456432"/>
        </p:xfrm>
        <a:graphic>
          <a:graphicData uri="http://schemas.openxmlformats.org/drawingml/2006/table">
            <a:tbl>
              <a:tblPr firstRow="1" bandRow="1">
                <a:tableStyleId>{5C22544A-7EE6-4342-B048-85BDC9FD1C3A}</a:tableStyleId>
              </a:tblPr>
              <a:tblGrid>
                <a:gridCol w="2163470"/>
                <a:gridCol w="2163470"/>
                <a:gridCol w="2163470"/>
                <a:gridCol w="2163470"/>
                <a:gridCol w="2163472"/>
              </a:tblGrid>
              <a:tr h="384048">
                <a:tc>
                  <a:txBody>
                    <a:bodyPr/>
                    <a:lstStyle/>
                    <a:p>
                      <a:r>
                        <a:rPr sz="1100" b="1">
                          <a:solidFill>
                            <a:srgbClr val="FFFFFF"/>
                          </a:solidFill>
                          <a:latin typeface="Arial"/>
                        </a:rPr>
                        <a:t>Bereich</a:t>
                      </a:r>
                    </a:p>
                  </a:txBody>
                  <a:tcPr>
                    <a:solidFill>
                      <a:srgbClr val="1F2C56"/>
                    </a:solidFill>
                  </a:tcPr>
                </a:tc>
                <a:tc>
                  <a:txBody>
                    <a:bodyPr/>
                    <a:lstStyle/>
                    <a:p>
                      <a:r>
                        <a:rPr sz="1100" b="1">
                          <a:solidFill>
                            <a:srgbClr val="FFFFFF"/>
                          </a:solidFill>
                          <a:latin typeface="Arial"/>
                        </a:rPr>
                        <a:t>Meine wichtigsten Kontakte</a:t>
                      </a:r>
                    </a:p>
                  </a:txBody>
                  <a:tcPr>
                    <a:solidFill>
                      <a:srgbClr val="1F2C56"/>
                    </a:solidFill>
                  </a:tcPr>
                </a:tc>
                <a:tc>
                  <a:txBody>
                    <a:bodyPr/>
                    <a:lstStyle/>
                    <a:p>
                      <a:r>
                        <a:rPr sz="1100" b="1">
                          <a:solidFill>
                            <a:srgbClr val="FFFFFF"/>
                          </a:solidFill>
                          <a:latin typeface="Arial"/>
                        </a:rPr>
                        <a:t>Qualität (1–5)</a:t>
                      </a:r>
                    </a:p>
                  </a:txBody>
                  <a:tcPr>
                    <a:solidFill>
                      <a:srgbClr val="1F2C56"/>
                    </a:solidFill>
                  </a:tcPr>
                </a:tc>
                <a:tc>
                  <a:txBody>
                    <a:bodyPr/>
                    <a:lstStyle/>
                    <a:p>
                      <a:r>
                        <a:rPr sz="1100" b="1">
                          <a:solidFill>
                            <a:srgbClr val="FFFFFF"/>
                          </a:solidFill>
                          <a:latin typeface="Arial"/>
                        </a:rPr>
                        <a:t>Letzte Interaktion</a:t>
                      </a:r>
                    </a:p>
                  </a:txBody>
                  <a:tcPr>
                    <a:solidFill>
                      <a:srgbClr val="1F2C56"/>
                    </a:solidFill>
                  </a:tcPr>
                </a:tc>
                <a:tc>
                  <a:txBody>
                    <a:bodyPr/>
                    <a:lstStyle/>
                    <a:p>
                      <a:r>
                        <a:rPr sz="1100" b="1">
                          <a:solidFill>
                            <a:srgbClr val="FFFFFF"/>
                          </a:solidFill>
                          <a:latin typeface="Arial"/>
                        </a:rPr>
                        <a:t>Nächster Schritt</a:t>
                      </a:r>
                    </a:p>
                  </a:txBody>
                  <a:tcPr>
                    <a:solidFill>
                      <a:srgbClr val="1F2C56"/>
                    </a:solidFill>
                  </a:tcPr>
                </a:tc>
              </a:tr>
              <a:tr h="384048">
                <a:tc>
                  <a:txBody>
                    <a:bodyPr/>
                    <a:lstStyle/>
                    <a:p>
                      <a:r>
                        <a:rPr sz="1050">
                          <a:solidFill>
                            <a:srgbClr val="3D5466"/>
                          </a:solidFill>
                          <a:latin typeface="Arial"/>
                        </a:rPr>
                        <a:t>Internes FK-Team</a:t>
                      </a:r>
                    </a:p>
                  </a:txBody>
                  <a:tcPr/>
                </a:tc>
                <a:tc>
                  <a:txBody>
                    <a:bodyPr/>
                    <a:lstStyle/>
                    <a:p/>
                  </a:txBody>
                  <a:tcPr/>
                </a:tc>
                <a:tc>
                  <a:txBody>
                    <a:bodyPr/>
                    <a:lstStyle/>
                    <a:p/>
                  </a:txBody>
                  <a:tcPr/>
                </a:tc>
                <a:tc>
                  <a:txBody>
                    <a:bodyPr/>
                    <a:lstStyle/>
                    <a:p/>
                  </a:txBody>
                  <a:tcPr/>
                </a:tc>
                <a:tc>
                  <a:txBody>
                    <a:bodyPr/>
                    <a:lstStyle/>
                    <a:p/>
                  </a:txBody>
                  <a:tcPr/>
                </a:tc>
              </a:tr>
              <a:tr h="384048">
                <a:tc>
                  <a:txBody>
                    <a:bodyPr/>
                    <a:lstStyle/>
                    <a:p>
                      <a:r>
                        <a:rPr sz="1050">
                          <a:solidFill>
                            <a:srgbClr val="3D5466"/>
                          </a:solidFill>
                          <a:latin typeface="Arial"/>
                        </a:rPr>
                        <a:t>Interne Spezialisten</a:t>
                      </a:r>
                    </a:p>
                  </a:txBody>
                  <a:tcPr/>
                </a:tc>
                <a:tc>
                  <a:txBody>
                    <a:bodyPr/>
                    <a:lstStyle/>
                    <a:p/>
                  </a:txBody>
                  <a:tcPr/>
                </a:tc>
                <a:tc>
                  <a:txBody>
                    <a:bodyPr/>
                    <a:lstStyle/>
                    <a:p/>
                  </a:txBody>
                  <a:tcPr/>
                </a:tc>
                <a:tc>
                  <a:txBody>
                    <a:bodyPr/>
                    <a:lstStyle/>
                    <a:p/>
                  </a:txBody>
                  <a:tcPr/>
                </a:tc>
                <a:tc>
                  <a:txBody>
                    <a:bodyPr/>
                    <a:lstStyle/>
                    <a:p/>
                  </a:txBody>
                  <a:tcPr/>
                </a:tc>
              </a:tr>
              <a:tr h="384048">
                <a:tc>
                  <a:txBody>
                    <a:bodyPr/>
                    <a:lstStyle/>
                    <a:p>
                      <a:r>
                        <a:rPr sz="1050">
                          <a:solidFill>
                            <a:srgbClr val="3D5466"/>
                          </a:solidFill>
                          <a:latin typeface="Arial"/>
                        </a:rPr>
                        <a:t>Verbundpartner</a:t>
                      </a:r>
                    </a:p>
                  </a:txBody>
                  <a:tcPr/>
                </a:tc>
                <a:tc>
                  <a:txBody>
                    <a:bodyPr/>
                    <a:lstStyle/>
                    <a:p/>
                  </a:txBody>
                  <a:tcPr/>
                </a:tc>
                <a:tc>
                  <a:txBody>
                    <a:bodyPr/>
                    <a:lstStyle/>
                    <a:p/>
                  </a:txBody>
                  <a:tcPr/>
                </a:tc>
                <a:tc>
                  <a:txBody>
                    <a:bodyPr/>
                    <a:lstStyle/>
                    <a:p/>
                  </a:txBody>
                  <a:tcPr/>
                </a:tc>
                <a:tc>
                  <a:txBody>
                    <a:bodyPr/>
                    <a:lstStyle/>
                    <a:p/>
                  </a:txBody>
                  <a:tcPr/>
                </a:tc>
              </a:tr>
              <a:tr h="384048">
                <a:tc>
                  <a:txBody>
                    <a:bodyPr/>
                    <a:lstStyle/>
                    <a:p>
                      <a:r>
                        <a:rPr sz="1050">
                          <a:solidFill>
                            <a:srgbClr val="3D5466"/>
                          </a:solidFill>
                          <a:latin typeface="Arial"/>
                        </a:rPr>
                        <a:t>Steuerberater / WP</a:t>
                      </a:r>
                    </a:p>
                  </a:txBody>
                  <a:tcPr/>
                </a:tc>
                <a:tc>
                  <a:txBody>
                    <a:bodyPr/>
                    <a:lstStyle/>
                    <a:p/>
                  </a:txBody>
                  <a:tcPr/>
                </a:tc>
                <a:tc>
                  <a:txBody>
                    <a:bodyPr/>
                    <a:lstStyle/>
                    <a:p/>
                  </a:txBody>
                  <a:tcPr/>
                </a:tc>
                <a:tc>
                  <a:txBody>
                    <a:bodyPr/>
                    <a:lstStyle/>
                    <a:p/>
                  </a:txBody>
                  <a:tcPr/>
                </a:tc>
                <a:tc>
                  <a:txBody>
                    <a:bodyPr/>
                    <a:lstStyle/>
                    <a:p/>
                  </a:txBody>
                  <a:tcPr/>
                </a:tc>
              </a:tr>
              <a:tr h="384048">
                <a:tc>
                  <a:txBody>
                    <a:bodyPr/>
                    <a:lstStyle/>
                    <a:p>
                      <a:r>
                        <a:rPr sz="1050">
                          <a:solidFill>
                            <a:srgbClr val="3D5466"/>
                          </a:solidFill>
                          <a:latin typeface="Arial"/>
                        </a:rPr>
                        <a:t>Rechtsanwälte</a:t>
                      </a:r>
                    </a:p>
                  </a:txBody>
                  <a:tcPr/>
                </a:tc>
                <a:tc>
                  <a:txBody>
                    <a:bodyPr/>
                    <a:lstStyle/>
                    <a:p/>
                  </a:txBody>
                  <a:tcPr/>
                </a:tc>
                <a:tc>
                  <a:txBody>
                    <a:bodyPr/>
                    <a:lstStyle/>
                    <a:p/>
                  </a:txBody>
                  <a:tcPr/>
                </a:tc>
                <a:tc>
                  <a:txBody>
                    <a:bodyPr/>
                    <a:lstStyle/>
                    <a:p/>
                  </a:txBody>
                  <a:tcPr/>
                </a:tc>
                <a:tc>
                  <a:txBody>
                    <a:bodyPr/>
                    <a:lstStyle/>
                    <a:p/>
                  </a:txBody>
                  <a:tcPr/>
                </a:tc>
              </a:tr>
              <a:tr h="384048">
                <a:tc>
                  <a:txBody>
                    <a:bodyPr/>
                    <a:lstStyle/>
                    <a:p>
                      <a:r>
                        <a:rPr sz="1050">
                          <a:solidFill>
                            <a:srgbClr val="3D5466"/>
                          </a:solidFill>
                          <a:latin typeface="Arial"/>
                        </a:rPr>
                        <a:t>Branchenverbände</a:t>
                      </a:r>
                    </a:p>
                  </a:txBody>
                  <a:tcPr/>
                </a:tc>
                <a:tc>
                  <a:txBody>
                    <a:bodyPr/>
                    <a:lstStyle/>
                    <a:p/>
                  </a:txBody>
                  <a:tcPr/>
                </a:tc>
                <a:tc>
                  <a:txBody>
                    <a:bodyPr/>
                    <a:lstStyle/>
                    <a:p/>
                  </a:txBody>
                  <a:tcPr/>
                </a:tc>
                <a:tc>
                  <a:txBody>
                    <a:bodyPr/>
                    <a:lstStyle/>
                    <a:p/>
                  </a:txBody>
                  <a:tcPr/>
                </a:tc>
                <a:tc>
                  <a:txBody>
                    <a:bodyPr/>
                    <a:lstStyle/>
                    <a:p/>
                  </a:txBody>
                  <a:tcPr/>
                </a:tc>
              </a:tr>
              <a:tr h="384048">
                <a:tc>
                  <a:txBody>
                    <a:bodyPr/>
                    <a:lstStyle/>
                    <a:p>
                      <a:r>
                        <a:rPr sz="1050">
                          <a:solidFill>
                            <a:srgbClr val="3D5466"/>
                          </a:solidFill>
                          <a:latin typeface="Arial"/>
                        </a:rPr>
                        <a:t>Unternehmerclubs / Gremien</a:t>
                      </a:r>
                    </a:p>
                  </a:txBody>
                  <a:tcPr/>
                </a:tc>
                <a:tc>
                  <a:txBody>
                    <a:bodyPr/>
                    <a:lstStyle/>
                    <a:p/>
                  </a:txBody>
                  <a:tcPr/>
                </a:tc>
                <a:tc>
                  <a:txBody>
                    <a:bodyPr/>
                    <a:lstStyle/>
                    <a:p/>
                  </a:txBody>
                  <a:tcPr/>
                </a:tc>
                <a:tc>
                  <a:txBody>
                    <a:bodyPr/>
                    <a:lstStyle/>
                    <a:p/>
                  </a:txBody>
                  <a:tcPr/>
                </a:tc>
                <a:tc>
                  <a:txBody>
                    <a:bodyPr/>
                    <a:lstStyle/>
                    <a:p/>
                  </a:txBody>
                  <a:tcPr/>
                </a:tc>
              </a:tr>
              <a:tr h="384048">
                <a:tc>
                  <a:txBody>
                    <a:bodyPr/>
                    <a:lstStyle/>
                    <a:p>
                      <a:r>
                        <a:rPr sz="1050">
                          <a:solidFill>
                            <a:srgbClr val="3D5466"/>
                          </a:solidFill>
                          <a:latin typeface="Arial"/>
                        </a:rPr>
                        <a:t>Digitale Kontakte</a:t>
                      </a:r>
                    </a:p>
                  </a:txBody>
                  <a:tcPr/>
                </a:tc>
                <a:tc>
                  <a:txBody>
                    <a:bodyPr/>
                    <a:lstStyle/>
                    <a:p/>
                  </a:txBody>
                  <a:tcPr/>
                </a:tc>
                <a:tc>
                  <a:txBody>
                    <a:bodyPr/>
                    <a:lstStyle/>
                    <a:p/>
                  </a:txBody>
                  <a:tcPr/>
                </a:tc>
                <a:tc>
                  <a:txBody>
                    <a:bodyPr/>
                    <a:lstStyle/>
                    <a:p/>
                  </a:txBody>
                  <a:tcPr/>
                </a:tc>
                <a:tc>
                  <a:txBody>
                    <a:bodyPr/>
                    <a:lstStyle/>
                    <a:p/>
                  </a:txBody>
                  <a:tcPr/>
                </a:tc>
              </a:tr>
            </a:tbl>
          </a:graphicData>
        </a:graphic>
      </p:graphicFrame>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M20</a:t>
            </a:r>
          </a:p>
        </p:txBody>
      </p:sp>
      <p:sp>
        <p:nvSpPr>
          <p:cNvPr id="10" name="TextBox 9"/>
          <p:cNvSpPr txBox="1"/>
          <p:nvPr/>
        </p:nvSpPr>
        <p:spPr>
          <a:xfrm>
            <a:off x="7176211" y="6583680"/>
            <a:ext cx="4326940" cy="256032"/>
          </a:xfrm>
          <a:prstGeom prst="rect">
            <a:avLst/>
          </a:prstGeom>
          <a:noFill/>
        </p:spPr>
        <p:txBody>
          <a:bodyPr wrap="none">
            <a:spAutoFit/>
          </a:bodyPr>
          <a:lstStyle/>
          <a:p>
            <a:pPr algn="r"/>
            <a:r>
              <a:rPr sz="700">
                <a:solidFill>
                  <a:srgbClr val="A0B4D2"/>
                </a:solidFill>
                <a:latin typeface="Consolas"/>
              </a:rPr>
              <a:t>Übersicht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M20  ·  ÜBERSICHT</a:t>
            </a:r>
          </a:p>
        </p:txBody>
      </p:sp>
      <p:sp>
        <p:nvSpPr>
          <p:cNvPr id="5" name="TextBox 4"/>
          <p:cNvSpPr txBox="1"/>
          <p:nvPr/>
        </p:nvSpPr>
        <p:spPr>
          <a:xfrm>
            <a:off x="685800" y="502920"/>
            <a:ext cx="10817352" cy="594360"/>
          </a:xfrm>
          <a:prstGeom prst="rect">
            <a:avLst/>
          </a:prstGeom>
          <a:noFill/>
        </p:spPr>
        <p:txBody>
          <a:bodyPr wrap="square">
            <a:spAutoFit/>
          </a:bodyPr>
          <a:lstStyle/>
          <a:p>
            <a:pPr algn="l"/>
            <a:r>
              <a:rPr sz="2000" b="1" i="0">
                <a:solidFill>
                  <a:srgbClr val="1F2C56"/>
                </a:solidFill>
                <a:latin typeface="Arial"/>
              </a:rPr>
              <a:t>AB-3: 90-Tage-Aktionsplan</a:t>
            </a:r>
          </a:p>
        </p:txBody>
      </p:sp>
      <p:sp>
        <p:nvSpPr>
          <p:cNvPr id="6" name="Rectangle 5"/>
          <p:cNvSpPr/>
          <p:nvPr/>
        </p:nvSpPr>
        <p:spPr>
          <a:xfrm>
            <a:off x="685800" y="1143000"/>
            <a:ext cx="10817352" cy="254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85800" y="1417320"/>
          <a:ext cx="10817352" cy="1920240"/>
        </p:xfrm>
        <a:graphic>
          <a:graphicData uri="http://schemas.openxmlformats.org/drawingml/2006/table">
            <a:tbl>
              <a:tblPr firstRow="1" bandRow="1">
                <a:tableStyleId>{5C22544A-7EE6-4342-B048-85BDC9FD1C3A}</a:tableStyleId>
              </a:tblPr>
              <a:tblGrid>
                <a:gridCol w="2163470"/>
                <a:gridCol w="2163470"/>
                <a:gridCol w="2163470"/>
                <a:gridCol w="2163470"/>
                <a:gridCol w="2163472"/>
              </a:tblGrid>
              <a:tr h="384048">
                <a:tc>
                  <a:txBody>
                    <a:bodyPr/>
                    <a:lstStyle/>
                    <a:p>
                      <a:r>
                        <a:rPr sz="1100" b="1">
                          <a:solidFill>
                            <a:srgbClr val="FFFFFF"/>
                          </a:solidFill>
                          <a:latin typeface="Arial"/>
                        </a:rPr>
                        <a:t>Zeitraum</a:t>
                      </a:r>
                    </a:p>
                  </a:txBody>
                  <a:tcPr>
                    <a:solidFill>
                      <a:srgbClr val="1F2C56"/>
                    </a:solidFill>
                  </a:tcPr>
                </a:tc>
                <a:tc>
                  <a:txBody>
                    <a:bodyPr/>
                    <a:lstStyle/>
                    <a:p>
                      <a:r>
                        <a:rPr sz="1100" b="1">
                          <a:solidFill>
                            <a:srgbClr val="FFFFFF"/>
                          </a:solidFill>
                          <a:latin typeface="Arial"/>
                        </a:rPr>
                        <a:t>Aktivität</a:t>
                      </a:r>
                    </a:p>
                  </a:txBody>
                  <a:tcPr>
                    <a:solidFill>
                      <a:srgbClr val="1F2C56"/>
                    </a:solidFill>
                  </a:tcPr>
                </a:tc>
                <a:tc>
                  <a:txBody>
                    <a:bodyPr/>
                    <a:lstStyle/>
                    <a:p>
                      <a:r>
                        <a:rPr sz="1100" b="1">
                          <a:solidFill>
                            <a:srgbClr val="FFFFFF"/>
                          </a:solidFill>
                          <a:latin typeface="Arial"/>
                        </a:rPr>
                        <a:t>Zielkontakt</a:t>
                      </a:r>
                    </a:p>
                  </a:txBody>
                  <a:tcPr>
                    <a:solidFill>
                      <a:srgbClr val="1F2C56"/>
                    </a:solidFill>
                  </a:tcPr>
                </a:tc>
                <a:tc>
                  <a:txBody>
                    <a:bodyPr/>
                    <a:lstStyle/>
                    <a:p>
                      <a:r>
                        <a:rPr sz="1100" b="1">
                          <a:solidFill>
                            <a:srgbClr val="FFFFFF"/>
                          </a:solidFill>
                          <a:latin typeface="Arial"/>
                        </a:rPr>
                        <a:t>Ziel</a:t>
                      </a:r>
                    </a:p>
                  </a:txBody>
                  <a:tcPr>
                    <a:solidFill>
                      <a:srgbClr val="1F2C56"/>
                    </a:solidFill>
                  </a:tcPr>
                </a:tc>
                <a:tc>
                  <a:txBody>
                    <a:bodyPr/>
                    <a:lstStyle/>
                    <a:p>
                      <a:r>
                        <a:rPr sz="1100" b="1">
                          <a:solidFill>
                            <a:srgbClr val="FFFFFF"/>
                          </a:solidFill>
                          <a:latin typeface="Arial"/>
                        </a:rPr>
                        <a:t>Erledigt?</a:t>
                      </a:r>
                    </a:p>
                  </a:txBody>
                  <a:tcPr>
                    <a:solidFill>
                      <a:srgbClr val="1F2C56"/>
                    </a:solidFill>
                  </a:tcPr>
                </a:tc>
              </a:tr>
              <a:tr h="384048">
                <a:tc>
                  <a:txBody>
                    <a:bodyPr/>
                    <a:lstStyle/>
                    <a:p>
                      <a:r>
                        <a:rPr sz="1050">
                          <a:solidFill>
                            <a:srgbClr val="3D5466"/>
                          </a:solidFill>
                          <a:latin typeface="Arial"/>
                        </a:rPr>
                        <a:t>Woche 1–2</a:t>
                      </a:r>
                    </a:p>
                  </a:txBody>
                  <a:tcPr/>
                </a:tc>
                <a:tc>
                  <a:txBody>
                    <a:bodyPr/>
                    <a:lstStyle/>
                    <a:p/>
                  </a:txBody>
                  <a:tcPr/>
                </a:tc>
                <a:tc>
                  <a:txBody>
                    <a:bodyPr/>
                    <a:lstStyle/>
                    <a:p/>
                  </a:txBody>
                  <a:tcPr/>
                </a:tc>
                <a:tc>
                  <a:txBody>
                    <a:bodyPr/>
                    <a:lstStyle/>
                    <a:p/>
                  </a:txBody>
                  <a:tcPr/>
                </a:tc>
                <a:tc>
                  <a:txBody>
                    <a:bodyPr/>
                    <a:lstStyle/>
                    <a:p/>
                  </a:txBody>
                  <a:tcPr/>
                </a:tc>
              </a:tr>
              <a:tr h="384048">
                <a:tc>
                  <a:txBody>
                    <a:bodyPr/>
                    <a:lstStyle/>
                    <a:p>
                      <a:r>
                        <a:rPr sz="1050">
                          <a:solidFill>
                            <a:srgbClr val="3D5466"/>
                          </a:solidFill>
                          <a:latin typeface="Arial"/>
                        </a:rPr>
                        <a:t>Woche 3–4</a:t>
                      </a:r>
                    </a:p>
                  </a:txBody>
                  <a:tcPr/>
                </a:tc>
                <a:tc>
                  <a:txBody>
                    <a:bodyPr/>
                    <a:lstStyle/>
                    <a:p/>
                  </a:txBody>
                  <a:tcPr/>
                </a:tc>
                <a:tc>
                  <a:txBody>
                    <a:bodyPr/>
                    <a:lstStyle/>
                    <a:p/>
                  </a:txBody>
                  <a:tcPr/>
                </a:tc>
                <a:tc>
                  <a:txBody>
                    <a:bodyPr/>
                    <a:lstStyle/>
                    <a:p/>
                  </a:txBody>
                  <a:tcPr/>
                </a:tc>
                <a:tc>
                  <a:txBody>
                    <a:bodyPr/>
                    <a:lstStyle/>
                    <a:p/>
                  </a:txBody>
                  <a:tcPr/>
                </a:tc>
              </a:tr>
              <a:tr h="384048">
                <a:tc>
                  <a:txBody>
                    <a:bodyPr/>
                    <a:lstStyle/>
                    <a:p>
                      <a:r>
                        <a:rPr sz="1050">
                          <a:solidFill>
                            <a:srgbClr val="3D5466"/>
                          </a:solidFill>
                          <a:latin typeface="Arial"/>
                        </a:rPr>
                        <a:t>Monat 2</a:t>
                      </a:r>
                    </a:p>
                  </a:txBody>
                  <a:tcPr/>
                </a:tc>
                <a:tc>
                  <a:txBody>
                    <a:bodyPr/>
                    <a:lstStyle/>
                    <a:p/>
                  </a:txBody>
                  <a:tcPr/>
                </a:tc>
                <a:tc>
                  <a:txBody>
                    <a:bodyPr/>
                    <a:lstStyle/>
                    <a:p/>
                  </a:txBody>
                  <a:tcPr/>
                </a:tc>
                <a:tc>
                  <a:txBody>
                    <a:bodyPr/>
                    <a:lstStyle/>
                    <a:p/>
                  </a:txBody>
                  <a:tcPr/>
                </a:tc>
                <a:tc>
                  <a:txBody>
                    <a:bodyPr/>
                    <a:lstStyle/>
                    <a:p/>
                  </a:txBody>
                  <a:tcPr/>
                </a:tc>
              </a:tr>
              <a:tr h="384048">
                <a:tc>
                  <a:txBody>
                    <a:bodyPr/>
                    <a:lstStyle/>
                    <a:p>
                      <a:r>
                        <a:rPr sz="1050">
                          <a:solidFill>
                            <a:srgbClr val="3D5466"/>
                          </a:solidFill>
                          <a:latin typeface="Arial"/>
                        </a:rPr>
                        <a:t>Monat 3</a:t>
                      </a:r>
                    </a:p>
                  </a:txBody>
                  <a:tcPr/>
                </a:tc>
                <a:tc>
                  <a:txBody>
                    <a:bodyPr/>
                    <a:lstStyle/>
                    <a:p/>
                  </a:txBody>
                  <a:tcPr/>
                </a:tc>
                <a:tc>
                  <a:txBody>
                    <a:bodyPr/>
                    <a:lstStyle/>
                    <a:p/>
                  </a:txBody>
                  <a:tcPr/>
                </a:tc>
                <a:tc>
                  <a:txBody>
                    <a:bodyPr/>
                    <a:lstStyle/>
                    <a:p/>
                  </a:txBody>
                  <a:tcPr/>
                </a:tc>
                <a:tc>
                  <a:txBody>
                    <a:bodyPr/>
                    <a:lstStyle/>
                    <a:p/>
                  </a:txBody>
                  <a:tcPr/>
                </a:tc>
              </a:tr>
            </a:tbl>
          </a:graphicData>
        </a:graphic>
      </p:graphicFrame>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M20</a:t>
            </a:r>
          </a:p>
        </p:txBody>
      </p:sp>
      <p:sp>
        <p:nvSpPr>
          <p:cNvPr id="10" name="TextBox 9"/>
          <p:cNvSpPr txBox="1"/>
          <p:nvPr/>
        </p:nvSpPr>
        <p:spPr>
          <a:xfrm>
            <a:off x="7176211" y="6583680"/>
            <a:ext cx="4326940" cy="256032"/>
          </a:xfrm>
          <a:prstGeom prst="rect">
            <a:avLst/>
          </a:prstGeom>
          <a:noFill/>
        </p:spPr>
        <p:txBody>
          <a:bodyPr wrap="none">
            <a:spAutoFit/>
          </a:bodyPr>
          <a:lstStyle/>
          <a:p>
            <a:pPr algn="r"/>
            <a:r>
              <a:rPr sz="700">
                <a:solidFill>
                  <a:srgbClr val="A0B4D2"/>
                </a:solidFill>
                <a:latin typeface="Consolas"/>
              </a:rPr>
              <a:t>Übersicht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