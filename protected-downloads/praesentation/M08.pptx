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– Zeitplan und Vorverkaufsquote: In der Seminarrealität werden Teilnehmer nach der Plausibilität des Baustarts fragen. Wichtig: In Süddeutschland benötigen notarielle Beurkundungen von Kaufverträgen typischerweise 3–6 Monate Vorlauf (Bonitätsprüfung Käufer, Finanzierungsbestätigung, Notarterminplanung). Die Kreditanfrage erfolgt im Mai/Juni 2026 – ein Baubeginn Oktober 2026 wäre in der Realität für das Erreichen einer 30-%-Vorverkaufsquote zu ambitioniert. Der Case nutzt einen April-2027-Baubeginn, der deutlich realistischer ist und dem Vertriebsteam ausreichend Zeit für Beurkundungen lässt. Diesen Hinweis können Trainer nutzen, um die Qualität von Projektplanungen kritisch zu hinterfragen: „Hat der Bauträger die Vorlaufzeit für Notartermine und Käuferfinanzierungen in seinem Zeitplan berücksichtigt?"</a:t>
            </a:r>
          </a:p>
          <a:p>
            <a:r>
              <a:t>Musterlösung (Trainer-Version)</a:t>
            </a:r>
          </a:p>
          <a:p>
            <a:r>
              <a:t>Zu Aufgabe 2:</a:t>
            </a:r>
          </a:p>
          <a:p>
            <a:r>
              <a:t>Projektmarge: (6.163.600 − 5.340.000) / 5.340.000 × 100 = 15,4 % → unteres Ende des soliden Bereichs (15–20 %), akzeptabel aber ohne großen Puffer</a:t>
            </a:r>
          </a:p>
          <a:p>
            <a:r>
              <a:t>LTV: 4.000.000 / 6.163.600 × 100 = 64,9 % → im marktüblichen Rahmen (&lt; 80 % Marktwert)</a:t>
            </a:r>
          </a:p>
          <a:p>
            <a:r>
              <a:t>Vorverkaufsquote wertmäßig: 4 beurkundete WE – angenommen gleichmäßige Verteilung: ca. 4/16 × 6.163.600 = 1.540.900 / 6.163.600 = 25,0 % → unter der üblichen Mindestquote von 30–50 %; Warnsignal</a:t>
            </a:r>
          </a:p>
          <a:p>
            <a:r>
              <a:t>Zu Aufgabe 3:</a:t>
            </a:r>
          </a:p>
          <a:p>
            <a:r>
              <a:t>Stärkste Risikofelder: (1) Absatzrisiko (25 % Vorverkauf reicht nicht; Erstentwickler mit nur einem Referenzprojekt), (2) Fertigstellungsrisiko (Erstprojekt dieser Größenordnung für Feller), (3) Kostenüberschreitungsrisiko (GU-Festpreisvertrag schützt, aber Nebengewerke variabel)</a:t>
            </a:r>
          </a:p>
          <a:p>
            <a:r>
              <a:t>Empfohlene Covenants: (1) Meilensteinbasierte Vorverkaufsquote: 30 % (wertmäßig) bis Baubeginn/Start der Baukredite (Phase 2), 50 % bis Rohbaufertigstellung, 80 % bis Innenausbaubeginn – deutlich realistischer als eine pauschale Bedingung vor erster Auszahlung (die bei Grundstückskauf noch nicht erreichbar ist); (2) Auszahlung tranchenweise nach beurkundetem Baufortschritt und Nachweis Vorverkauf je Meilenstein; (3) Fertigstellungsbürgschaft des GU mindestens 10 % der Bausumme; (4) Grundschuld-Freigaberegelung pro Einheit im Kreditvertrag fixiert</a:t>
            </a:r>
          </a:p>
          <a:p>
            <a:r>
              <a:t>Verbundpartner: Schwäbisch Hall sofort prüfen – können SHB-Endfinanzierungen für die 16 Käufer über die Volksbank vermittelt werden? Das bindet die Endkunden an die Bank und schafft Refinanzierungsmöglichkeiten für die Käufer; MünchenerHyp prüfen wenn Hausbank-Kreditlinie ausgeschöpft oder Laufzeit &gt; 36 Monate; DZ BANK als Konsortialpartner bei Projektvolumen &gt; 5 Mio. 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Mini-Case Bestandshalter (Trainer-Version)</a:t>
            </a:r>
          </a:p>
          <a:p>
            <a:r>
              <a:t>NOI aktuell: 84.000 − 21.000 = 63.000 EUR</a:t>
            </a:r>
          </a:p>
          <a:p>
            <a:r>
              <a:t>DSCR aktuell: 63.000 / 50.400 = 1,25 → knapp solide</a:t>
            </a:r>
          </a:p>
          <a:p>
            <a:r>
              <a:t>Annuität neu gesamt: 50.400 + 19.000 = 69.400 EUR</a:t>
            </a:r>
          </a:p>
          <a:p>
            <a:r>
              <a:t>NOI nach Ausbau (erst in 18 Monaten): 63.000 + 18.000 = 81.000 EUR; in Übergangszeit: 63.000</a:t>
            </a:r>
          </a:p>
          <a:p>
            <a:r>
              <a:t>DSCR übergangsweise: 63.000 / 69.400 = 0,91 → kritisch; nach Vollvermietung: 81.000 / 69.400 = 1,17 → vertretbar, aber knapp</a:t>
            </a:r>
          </a:p>
          <a:p>
            <a:r>
              <a:t>LTV: 580.000 / 760.000 = 76,3 %; nach Aufstockung: 780.000 / 760.000 = 102,6 % → über Beleihungswert!</a:t>
            </a:r>
          </a:p>
          <a:p>
            <a:r>
              <a:t>Fazit: Aufstockung auf Basis heutiger BelWertV problematisch. Optionen: Neugutachten nach Ausbau, Tilgungsaussetzung Bauphase, Schwäbisch Hall für Refinanzierung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Bestandshalter, Bauträger, Projektentwickler – drei Kundentypen, drei völlig verschiedene Risikoprofile.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Typologie, die BelWertV-Bewertungslogik und die Kennzahlen LTV und DSCR und wenden alles auf ein komplettes Bauträgerprojekt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beurteilen Sie Immobilienfinanzierungen strukturiert und setzen passende Auflagen.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die zentralen Risikobereiche analysieren und eine strukturierte Kreditempfehlung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Zielklärung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Kundentypologien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1: Beleihungswert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Auswertung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10:50–11:05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11:05–11:50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Risikofelder + Kennzahlen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Fallbeispiel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11:50–12:20 </a:t>
            </a:r>
            <a:r>
              <a:rPr sz="1200" b="1">
                <a:solidFill>
                  <a:srgbClr val="3D5466"/>
                </a:solidFill>
                <a:latin typeface="Arial"/>
              </a:rPr>
              <a:t>  Rechenübung 2: Kennzahlen-Set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12:20–13:05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13:05–13:50 </a:t>
            </a:r>
            <a:r>
              <a:rPr sz="1200" b="1">
                <a:solidFill>
                  <a:srgbClr val="3D5466"/>
                </a:solidFill>
                <a:latin typeface="Arial"/>
              </a:rPr>
              <a:t>  Verbundpartner-Integration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 + 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13:50–15:20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Fallstudie: Bauträgerprojekt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3–4 TN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15:20–15:35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Gruppenpräsentationen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Transferplanung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LTV-Bereich (Bestandshalter)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Einschätzung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60 %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Konservativ, pfandbrieffähig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60–80 %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Banküblicher Standardbereich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80 % (Beleihungswert)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Erhöhtes Risiko, Auflagen erforderlich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Grundstück (bereits bezahlt, 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1.200.000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Baukosten (GU-Festpreisvertrag)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3.500.000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