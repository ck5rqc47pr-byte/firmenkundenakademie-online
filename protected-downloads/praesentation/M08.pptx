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Trainer-Hinweis – Zeitplan und Vorverkaufsquote: In der Seminarrealität werden Teilnehmer nach der Plausibilität des Baustarts fragen. Wichtig: In Süddeutschland benötigen notarielle Beurkundungen von Kaufverträgen typischerweise 3–6 Monate Vorlauf (Bonitätsprüfung Käufer, Finanzierungsbestätigung, Notarterminplanung). Die Kreditanfrage erfolgt im Mai/Juni 2026 – ein Baubeginn Oktober 2026 wäre in der Realität für das Erreichen einer 30-%-Vorverkaufsquote zu ambitioniert. Der Case nutzt einen April-2027-Baubeginn, der deutlich realistischer ist und dem Vertriebsteam ausreichend Zeit für Beurkundungen lässt. Diesen Hinweis können Trainer nutzen, um die Qualität von Projektplanungen kritisch zu hinterfragen: „Hat der Bauträger die Vorlaufzeit für Notartermine und Käuferfinanzierungen in seinem Zeitplan berücksichtigt?"</a:t>
            </a:r>
          </a:p>
          <a:p>
            <a:r>
              <a:t>Musterlösung (Trainer-Version)</a:t>
            </a:r>
          </a:p>
          <a:p>
            <a:r>
              <a:t>Zu Aufgabe 2:</a:t>
            </a:r>
          </a:p>
          <a:p>
            <a:r>
              <a:t>Projektmarge: (6.163.600 − 5.340.000) / 5.340.000 × 100 = 15,4 % → unteres Ende des soliden Bereichs (15–20 %), akzeptabel aber ohne großen Puffer</a:t>
            </a:r>
          </a:p>
          <a:p>
            <a:r>
              <a:t>LTV: 4.000.000 / 6.163.600 × 100 = 64,9 % → im marktüblichen Rahmen (&lt; 80 % Marktwert)</a:t>
            </a:r>
          </a:p>
          <a:p>
            <a:r>
              <a:t>Vorverkaufsquote wertmäßig: 4 beurkundete WE – angenommen gleichmäßige Verteilung: ca. 4/16 × 6.163.600 = 1.540.900 / 6.163.600 = 25,0 % → unter der üblichen Mindestquote von 30–50 %; Warnsignal</a:t>
            </a:r>
          </a:p>
          <a:p>
            <a:r>
              <a:t>Zu Aufgabe 3:</a:t>
            </a:r>
          </a:p>
          <a:p>
            <a:r>
              <a:t>Stärkste Risikofelder: (1) Absatzrisiko (25 % Vorverkauf reicht nicht; Erstentwickler mit nur einem Referenzprojekt), (2) Fertigstellungsrisiko (Erstprojekt dieser Größenordnung für Feller), (3) Kostenüberschreitungsrisiko (GU-Festpreisvertrag schützt, aber Nebengewerke variabel)</a:t>
            </a:r>
          </a:p>
          <a:p>
            <a:r>
              <a:t>Empfohlene Covenants: (1) Meilensteinbasierte Vorverkaufsquote: 30 % (wertmäßig) bis Baubeginn/Start der Baukredite (Phase 2), 50 % bis Rohbaufertigstellung, 80 % bis Innenausbaubeginn – deutlich realistischer als eine pauschale Bedingung vor erster Auszahlung (die bei Grundstückskauf noch nicht erreichbar ist); (2) Auszahlung tranchenweise nach beurkundetem Baufortschritt und Nachweis Vorverkauf je Meilenstein; (3) Fertigstellungsbürgschaft des GU mindestens 10 % der Bausumme; (4) Grundschuld-Freigaberegelung pro Einheit im Kreditvertrag fixiert</a:t>
            </a:r>
          </a:p>
          <a:p>
            <a:r>
              <a:t>Verbundpartner: Schwäbisch Hall sofort prüfen – können SHB-Endfinanzierungen für die 16 Käufer über die Volksbank vermittelt werden? Das bindet die Endkunden an die Bank und schafft Refinanzierungsmöglichkeiten für die Käufer; MünchenerHyp prüfen wenn Hausbank-Kreditlinie ausgeschöpft oder Laufzeit &gt; 36 Monate; DZ BANK als Konsortialpartner bei Projektvolumen &gt; 5 Mio. EUR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Musterlösung Mini-Case Bestandshalter (Trainer-Version)</a:t>
            </a:r>
          </a:p>
          <a:p>
            <a:r>
              <a:t>NOI aktuell: 84.000 − 21.000 = 63.000 EUR</a:t>
            </a:r>
          </a:p>
          <a:p>
            <a:r>
              <a:t>DSCR aktuell: 63.000 / 50.400 = 1,25 → knapp solide</a:t>
            </a:r>
          </a:p>
          <a:p>
            <a:r>
              <a:t>Annuität neu gesamt: 50.400 + 19.000 = 69.400 EUR</a:t>
            </a:r>
          </a:p>
          <a:p>
            <a:r>
              <a:t>NOI nach Ausbau (erst in 18 Monaten): 63.000 + 18.000 = 81.000 EUR; in Übergangszeit: 63.000</a:t>
            </a:r>
          </a:p>
          <a:p>
            <a:r>
              <a:t>DSCR übergangsweise: 63.000 / 69.400 = 0,91 → kritisch; nach Vollvermietung: 81.000 / 69.400 = 1,17 → vertretbar, aber knapp</a:t>
            </a:r>
          </a:p>
          <a:p>
            <a:r>
              <a:t>LTV: 580.000 / 760.000 = 76,3 %; nach Aufstockung: 780.000 / 760.000 = 102,6 % → über Beleihungswert!</a:t>
            </a:r>
          </a:p>
          <a:p>
            <a:r>
              <a:t>Fazit: Aufstockung auf Basis heutiger BelWertV problematisch. Optionen: Neugutachten nach Ausbau, Tilgungsaussetzung Bauphase, Schwäbisch Hall für Refinanzierung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Immobilien &amp; Projektfinanzierung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Bauträger, Bestandshalter und Projektentwickler professionell begleiten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K-02 Branchenwissen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Sparringspartner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Bestandshalter, Bauträger, Projektentwickler – drei Kundentypen, drei völlig verschiedene Risikoprofile.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 die Typologie, die BelWertV-Bewertungslogik und die Kennzahlen LTV und DSCR und wenden alles auf ein komplettes Bauträgerprojekt an.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beurteilen Sie Immobilienfinanzierungen strukturiert und setzen passende Auflagen.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Drei Kundentypologien (Bestandshalter, Bauträger, Projektentwickler) anhand Geschäftsmodell und Risikoprofil unterscheiden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Beleihungswert nach BelWertV (Ertragswert- und Sachwertverfahren) berechnen und kreditpraktisch einordnen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Kennzahlen LTV, DSCR, ICR und Nettoanfangsrendite berechnen und interpretieren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Risikofelder einer Bauträgerfinanzierung analysieren, gewichten und Risikominderungsmaßnahmen benennen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Auf Basis einer vollständigen Projektanalyse die zentralen Risikobereiche analysieren und eine strukturierte Kreditempfehlung begründen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08:30–09:00 </a:t>
            </a:r>
            <a:r>
              <a:rPr sz="1200" b="1">
                <a:solidFill>
                  <a:srgbClr val="3D5466"/>
                </a:solidFill>
                <a:latin typeface="Arial"/>
              </a:rPr>
              <a:t>  Ankommen &amp; Zielklärung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09:00–09:45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Kundentypologien</a:t>
            </a:r>
            <a:r>
              <a:rPr sz="900">
                <a:solidFill>
                  <a:srgbClr val="78808C"/>
                </a:solidFill>
                <a:latin typeface="Arial"/>
              </a:rPr>
              <a:t>  ·  Kurzinput +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09:45–10:50 </a:t>
            </a:r>
            <a:r>
              <a:rPr sz="1200" b="1">
                <a:solidFill>
                  <a:srgbClr val="3D5466"/>
                </a:solidFill>
                <a:latin typeface="Arial"/>
              </a:rPr>
              <a:t>  Rechenübung 1: Beleihungswert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+ Auswertung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10:50–11:05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11:05–11:50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Risikofelder + Kennzahlen</a:t>
            </a:r>
            <a:r>
              <a:rPr sz="900">
                <a:solidFill>
                  <a:srgbClr val="78808C"/>
                </a:solidFill>
                <a:latin typeface="Arial"/>
              </a:rPr>
              <a:t>  ·  Kurzinput + Fallbeispiel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11:50–12:20 </a:t>
            </a:r>
            <a:r>
              <a:rPr sz="1200" b="1">
                <a:solidFill>
                  <a:srgbClr val="3D5466"/>
                </a:solidFill>
                <a:latin typeface="Arial"/>
              </a:rPr>
              <a:t>  Rechenübung 2: Kennzahlen-Set</a:t>
            </a:r>
            <a:r>
              <a:rPr sz="900">
                <a:solidFill>
                  <a:srgbClr val="78808C"/>
                </a:solidFill>
                <a:latin typeface="Arial"/>
              </a:rPr>
              <a:t>  ·  Partnerarbeit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12:20–13:05 </a:t>
            </a:r>
            <a:r>
              <a:rPr sz="1200" b="1">
                <a:solidFill>
                  <a:srgbClr val="3D5466"/>
                </a:solidFill>
                <a:latin typeface="Arial"/>
              </a:rPr>
              <a:t>  Mittagspause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13:05–13:50 </a:t>
            </a:r>
            <a:r>
              <a:rPr sz="1200" b="1">
                <a:solidFill>
                  <a:srgbClr val="3D5466"/>
                </a:solidFill>
                <a:latin typeface="Arial"/>
              </a:rPr>
              <a:t>  Verbundpartner-Integration</a:t>
            </a:r>
            <a:r>
              <a:rPr sz="900">
                <a:solidFill>
                  <a:srgbClr val="78808C"/>
                </a:solidFill>
                <a:latin typeface="Arial"/>
              </a:rPr>
              <a:t>  ·  Plenum + Input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13:50–15:20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Fallstudie: Bauträgerprojekt</a:t>
            </a:r>
            <a:r>
              <a:rPr sz="900">
                <a:solidFill>
                  <a:srgbClr val="78808C"/>
                </a:solidFill>
                <a:latin typeface="Arial"/>
              </a:rPr>
              <a:t>  ·  Kleingruppen à 3–4 TN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15:20–15:35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15:35–16:30 </a:t>
            </a:r>
            <a:r>
              <a:rPr sz="1200" b="1">
                <a:solidFill>
                  <a:srgbClr val="3D5466"/>
                </a:solidFill>
                <a:latin typeface="Arial"/>
              </a:rPr>
              <a:t>  Gruppenpräsentationen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16:30–17:00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Transferplanung &amp;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 1: Kundentypologie der Immobilienfinanzierung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DREI GRUNDTYPEN – DREI RISIKOLANDSCHAFTEN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Typ 1: Bestandshalter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Cashflow-Struktur: Stabile, planbare Mieteinnahmen – Finanzierungsrisiko hängt primär an Vermietungsstand und Mietzahlungsfähigkeit der Mieter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Typischer Finanzierungsbedarf: Ankaufsfinanzierung, Refinanzierung, Modernisierungskredite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Kernkennzahl: DSCR (Debt Service Coverage Ratio) – können die Mieteinnahmen den Kapitaldienst dauerhaft abdecken?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Hauptrisiko: Leerstandsrisiko, Mieterbonitätsrisiko, Instandhaltungsstau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Typ 2: Bauträger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Cashflow-Struktur: Kein laufender Miet-Cashflow – Rückfluss ausschließlich aus Verkaufserlösen nach Fertigstellung. Das Kapital ist bis zum Verkauf vollständig gebunden.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Typischer Finanzierungsbedarf: Kurzfristige Bauträgerfinanzierung (Laufzeit 18–36 Monate), strukturiert nach Baufortschritt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Kernkennzahl: LTV (Loan-to-Value) bezogen auf prognostizierte Verkaufserlöse; Vorverkaufsquote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Hauptrisiko: Fertigstellungsrisiko, Absatzrisiko, Kostenüberschreitungen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Typ 3: Projektentwickler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M08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Drei Immobilien-Typologien im Vergleich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63" y="1325880"/>
            <a:ext cx="7079225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 2: Beleihungswertermittlung nach BelWertV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DIE ZWEI HAUPTMETHODEN (§§ 8–17 BELWERTV)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Methode 1: Ertragswertverfahren (bei vermieteten Objekten)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Anwendung: Wohnimmobilien mit mehreren Einheiten, Gewerbeimmobilien, Bestandsobjekte mit Miethistorie.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Berechnung (vereinfacht):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Rohertrag: Jahresmiete (nachhaltig erzielbar, kein vorübergehender Leerstand)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Bewirtschaftungskosten: Verwaltung, Instandhaltung, Mietausfall (pauschal 20–25 % je nach Nutzungsart)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Reinertrag = Rohertrag − Bewirtschaftungskosten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Bodenwert: Nachhaltiger Bodenrichtwert × Fläche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Gebäudeertragswert = Reinertrag − Bodenwertverzinsung (Liegenschaftszins × Bodenwert), kapitalisiert mit dem Liegenschaftszins über Restnutzungsdauer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Ertragswert = Gebäudeertragswert + Bodenwert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Beleihungswert: Sicherheitsabschlag auf den Ertragswert (§ 12 BelWertV, max. 10 % vom nachhaltigen Wert)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 3: Kennzahlen der Immobilien- und Projektfinanzierung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DIE VIER SCHLÜSSELKENNZAHLEN IM ÜBERBLICK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1. LTV – Loan-to-Value (Beleihungsauslauf)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LTV misst, wie hoch der Kredit im Verhältnis zum Immobilienwert ist. Die Bezugsgröße ist je nach Kundentypologie unterschiedlich – diese Unterscheidung ist in der Kreditpraxis zwingend anzugeben: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Bauträgerprojekten gilt als Richtwert: LTV ≤ 65–70 % des GDV (enger als bei Bestandshaltern, da GDV zum Zeitpunkt der Kreditvergabe erst prognostiziert ist; vgl. Gondring, 2022 ).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VERBUNDPARTNER-ÜBERSICHT IMMOBILIENFINANZIERUNG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2. DSCR – Debt Service Coverage Ratio (Kapitaldienst-Deckungsgrad)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DSCR = Netto-Mieteinnahmen (NOI) / Jährlicher Kapitaldienst (Zins + Tilgung)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DSCR misst, ob die laufenden Mieteinnahmen ausreichen, um Zins und Tilgung zu bedienen. Anwendung primär bei Bestandshaltern (vgl. Gondring, 2022, S. 512 ).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DSCR &gt; 1,25: Solide – ausreichender Puffer für Mietausfälle und Kostensteigerungen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DSCR 1,10–1,25: Vertretbar – wenig Puffer, Nebenabsprachen empfehlenswert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DSCR &lt; 1,10: Kritisch – Kapitaldienst kaum gedeckt, erhöhtes Ausfallrisiko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Prolongationsrisiko bei Bestandshaltern (Zinsänderungsrisiko bei Zinsbindungsablauf)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M08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Theorie-Input 3: Kennzahlen der Immobilien- und Projektfinanzierung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676"/>
                <a:gridCol w="540867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LTV-Bereich (Bestandshalter)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Einschätzung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60 % (Beleihungswert)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Konservativ, pfandbrieffähig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60–80 % (Beleihungswert)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Banküblicher Standardbereich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80 % (Beleihungswert)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Erhöhtes Risiko, Auflagen erforderlich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 4: Risikofelder der Bauträgerfinanzierung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Risikofeld 1: Fertigstellungsrisiko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Risikofeld 2: Absatzrisiko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Risikominderung: Vorverkaufsquote als Auszahlungsbedingung, konservative Wertansätze (Vergleichspreise statt Optimistik), Vermarktungskonzept des Bauträgers prüfen.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Risikofeld 3: Kostenüberschreitungsrisiko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Risikominderung: Festpreisverträge mit dem Generalunternehmer, EK-Puffer (mindestens 20–25 % EK-Quote), Kostenschätzung durch unabhängigen Bausachverständigen prüfen lassen.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Risikofeld 4a: Sicherheitenstruktur und Grundschuld-Freigabe bei Bauträgerfinanzierungen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 in der Praxis häufig unterschätztes operatives Thema: Die Grundschuld-Strukturierung und die Freigaberegelung bei Teilverkäufen.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Freigaberegelung – typische Bankpraxis: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Risikofeld 4: Zinsänderungs- und Laufzeitrisiko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Risikominderung: Zinssicherung (Zinsswap, Cap) für die Bauphase, realistische Zeitplanung mit Puffer, Klauseln bei Laufzeitverlängerung.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folgende Handlungskarte fasst die zentralen Diagnose-Aktion-Muster für die Immobilien- und Projektfinanzierung zusammen: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M08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Handlungsempfehlung Immobilienfinanzierung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Praxiscase: Quartier Sonnenhalde – Bauträgerfinanzierung Ravensburg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UNTERNEHMENSPORTRÄT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Das Projekt "Sonnenhalde":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Lage: Ravensburg-Südstadt, aufgewertetes Quartier, gute ÖPNV-Anbindung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Nutzung: 16 Eigentumswohnungen (60–110 m², 2–4 Zimmer)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Baugenehmigung: seit März 2026 rechtskräftig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Baubeginn: geplant April 2027 (Vorlaufzeit für Beurkundungen und Bauvorbereitungen realistisch eingeplant)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Fertigstellung: Juni 2028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Vertrieb: eigenes Vertriebsbüro + regionaler Maklerpartner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Vorverkäufe zum Zeitpunkt der Kreditanfrage: 4 von 16 Einheiten notariell beurkundet (25 %)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PROJEKTFINANZIERUNG – ECKDATEN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Prognostizierte Verkaufserlöse: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M08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Praxiscase: Quartier Sonnenhalde – Bauträgerfinanzierung Ravensburg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676"/>
                <a:gridCol w="540867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Betrag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Grundstück (bereits bezahlt, EK)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1.200.000 EUR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Baukosten (GU-Festpreisvertrag)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3.500.000 EUR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Mini-Case Bestandshalter (Anwenden, Bloom 3):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Familie fragt nach einer Aufstockung des Kredits um 200.000 EUR für Dachgeschossausbau (2 neue Einheiten, geplante Zusatzmiete 18.000 EUR p.a.).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Analysieren (Bloom 4): Vergleichen Sie den Risikocharakter eines Bauträgers (Typ 2) mit dem eines Bestandshalters (Typ 1): Welche Risiken lassen sich mit klassischen Sicherheiten (Grundschuld) absichern, welche nicht? Was bedeutet das für die Preisgestaltung des Kredits?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Analysieren (Bloom 4): Im Praxiscase "Quartier Sonnenhalde" liegt die Projektmarge bei 15,4 % – knapp über dem Mindestbereich. Ein Kollege sagt: "Das reicht, der Festpreisvertrag schützt uns." Welche Szenarien könnten trotz Festpreisvertrag zu einer Unterschreitung der Marge führen? Wie würden Sie die Margenentwicklung über die Projektlaufzeit monitoren?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