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Erwartungen abholen. Kernbotschaft: die Typologie entscheidet über Methodik, Kennzahlen und Risiko – nicht die Immobilie allein.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Typologisierung ist der erste Schritt jeder Immobilienkreditentscheidung.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Wer den Marktpreis besichert, besichert die Übertreibung mit. LTV-Grenzen richten sich nach dem Beleihungswert.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Einzelarbeit + Plenumsauswertung. Puffer für die Klärung des Vervielfältigers einplanen.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Zwei LTV-Welten nie vermischen: Bestandshalter (Marktwert) vs. Bauträger (GDV, prognostiziert = engerer Richtwert).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Kritische Frage an jeden Zeitplan: Hat der Bauträger die Vorlaufzeit für Notartermine und Käuferfinanzierungen berücksichtigt?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Partnerarbeit. Die Kennzahlen sind nur im Kontext der Typologie aussagekräftig.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Verbundpartner früh einbinden, wenn Volumen oder Risiko die eigene Kompetenz übersteigen.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Grundstück bereits bezahlt = Sonderfall (Vorteil). Standardfall: Grundstück über denselben Kredit mitfinanziert, LTV startet höher.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Gruppenpräsentationen: Kreditempfehlungen vergleichen, Trainer-Feedback.</a:t>
            </a:r>
          </a:p>
          <a:p>
            <a:r>
              <a:t>Handlungsempfehlung nutzen: Vorverkaufsquote, GDV-Prognose und Zeitplan sind die Knackpunkte.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Transferplanung: nächster realer Fall; Selbstcheck.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Selbstcheck als Transferanker.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M08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Immobilien &amp; Projektfinanzierung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Bauträger, Bestandshalter und Projektentwickler professionell begleiten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M08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Bestandshalter, Bauträger, Projektentwickler – drei Kundentypen, drei völlig verschiedene Risikoprofile.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die Typologie, die BelWertV-Bewertungslogik und die Kennzahlen LTV und DSCR und wenden alles auf ein komplettes Bauträgerprojekt an.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beurteilen Sie Immobilienfinanzierungen strukturiert und setzen passende Auflagen.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M08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Kundentypologien (Bestandshalter, Bauträger, Projektentwickler) anhand Geschäftsmodell und Risikoprofil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Beleihungswert nach BelWertV (Ertragswert- und Sachwertverfahren) berechnen und kreditpraktisch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Kennzahlen LTV, DSCR, ICR und Nettoanfangsrendite berechnen und interpretieren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Risikofelder einer Bauträgerfinanzierung analysieren, gewichten und Risikominderungsmaßnahmen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Auf Basis einer vollständigen Projektanalyse die zentralen Risikobereiche analysieren und eine strukturierte Kreditempfehlung begründen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M08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08:30–09:00 </a:t>
            </a:r>
            <a:r>
              <a:rPr sz="1200" b="1">
                <a:solidFill>
                  <a:srgbClr val="3D5466"/>
                </a:solidFill>
                <a:latin typeface="Arial"/>
              </a:rPr>
              <a:t>  Ankommen &amp; Zielklärung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09:00–09:45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Kundentypologien</a:t>
            </a:r>
            <a:r>
              <a:rPr sz="900">
                <a:solidFill>
                  <a:srgbClr val="78808C"/>
                </a:solidFill>
                <a:latin typeface="Arial"/>
              </a:rPr>
              <a:t>  ·  Kurzinput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09:45–10:50 </a:t>
            </a:r>
            <a:r>
              <a:rPr sz="1200" b="1">
                <a:solidFill>
                  <a:srgbClr val="3D5466"/>
                </a:solidFill>
                <a:latin typeface="Arial"/>
              </a:rPr>
              <a:t>  Rechenübung 1: Beleihungswert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+ Auswertung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10:50–11:05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11:05–11:50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Risikofelder + Kennzahlen</a:t>
            </a:r>
            <a:r>
              <a:rPr sz="900">
                <a:solidFill>
                  <a:srgbClr val="78808C"/>
                </a:solidFill>
                <a:latin typeface="Arial"/>
              </a:rPr>
              <a:t>  ·  Kurzinput + Fallbeispiel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11:50–12:20 </a:t>
            </a:r>
            <a:r>
              <a:rPr sz="1200" b="1">
                <a:solidFill>
                  <a:srgbClr val="3D5466"/>
                </a:solidFill>
                <a:latin typeface="Arial"/>
              </a:rPr>
              <a:t>  Rechenübung 2: Kennzahlen-Set</a:t>
            </a:r>
            <a:r>
              <a:rPr sz="9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12:20–13:05 </a:t>
            </a:r>
            <a:r>
              <a:rPr sz="1200" b="1">
                <a:solidFill>
                  <a:srgbClr val="3D5466"/>
                </a:solidFill>
                <a:latin typeface="Arial"/>
              </a:rPr>
              <a:t>  Mittagspause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13:05–13:50 </a:t>
            </a:r>
            <a:r>
              <a:rPr sz="1200" b="1">
                <a:solidFill>
                  <a:srgbClr val="3D5466"/>
                </a:solidFill>
                <a:latin typeface="Arial"/>
              </a:rPr>
              <a:t>  Verbundpartner-Integration</a:t>
            </a:r>
            <a:r>
              <a:rPr sz="900">
                <a:solidFill>
                  <a:srgbClr val="78808C"/>
                </a:solidFill>
                <a:latin typeface="Arial"/>
              </a:rPr>
              <a:t>  ·  Plenum + Input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13:50–15:20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Fallstudie: Bauträgerprojekt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 à 3–4 TN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15:20–15:35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15:35–16:30 </a:t>
            </a:r>
            <a:r>
              <a:rPr sz="1200" b="1">
                <a:solidFill>
                  <a:srgbClr val="3D5466"/>
                </a:solidFill>
                <a:latin typeface="Arial"/>
              </a:rPr>
              <a:t>  Gruppenpräsentationen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16:30–17:00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Transferplanung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09:00–09:45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Kundentypologien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Bestandshalter, Bauträger und Projektentwickler als drei Risikolandschaften unterscheiden.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Drei Immobilientypen, drei Risikolandschaften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Wer Bestandshalter und Bauträger mit demselben Maßstab bewertet, übersieht das eigentliche Risiko.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Bestandshalter: laufende Mieterträge, Ertragswert im Fokus.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Bauträger/Projektentwickler: prognostizierter GDV, Fertigstellungs- und Absatzrisiko.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Drei Immobilien-Typologien im Vergleich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09:45–10:50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Beleihungswert nach BelWertV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Den Beleihungswert vom Marktwert trennen und nach BelWertV ermitteln.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Der Beleihungswert ist kein Marktwert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Der Beleihungswert ist kein Marktwert – verwechsle Sicherheit nicht mit Preis.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 BelWertV zählt der dauerhaft, nachhaltig erzielbare Wert – nicht der Tagespreis.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Zwei Hauptmethoden (§§ 8–17 BelWertV): Ertragswert und Sachwert.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M08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Beleihungswert ermitteln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Wenden Sie die BelWertV-Methodik in sieben Rechenschritten an (Rechenübung 1).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Wählen Sie Ertragswert oder Sachwert je nach Objekttyp.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Leiten Sie die LTV-Grenze aus dem Beleihungswert ab.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11:05–12:20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Kennzahlen &amp; Risikofelder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Die vier Schlüsselkennzahlen und die Risikofelder der Bauträgerfinanzierung beherrschen.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M08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Die vier Schlüsselkennzahlen der Immobilienfinanzierung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Was sie misst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Richtwert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LTV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Kredit / Wert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Bauträger ≤ 65–70 % GDV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DSCR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Cashflow / Kapitaldienst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1,2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ICR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Ertrag / Zins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1,5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Nettoanfangsrendite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Mietertrag / Kaufpreis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objektabhängig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Risikofelder der Bauträgerfinanzierung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Beim Bauträger ist der Wert eine Prognose – Fertigstellung, Vorverkauf und Zeitplan entscheiden über das Risiko.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Fertigstellungsrisiko, Absatzrisiko (Vorverkaufsquote), Kostensteigerung, Zeitplan.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GDV zum Kreditvergabezeitpunkt ist prognostiziert – daher der engere LTV.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M08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Kennzahlenset anwenden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Wenden Sie das vollständige Kennzahlenset auf die Falldaten an (Rechenübung 2).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Berechnen Sie LTV, DSCR, ICR und Nettoanfangsrendite.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Bewerten Sie die Kennzahlen im Kontext der Kundentypologie.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13:05–16:30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Verbund &amp; Fallstudie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Verbundpartner einbinden und ein Bauträgerprojekt vollständig analysieren.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M08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Wann Verbundpartner einbinden?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Bei Immobilien öffnet der Verbund Kapazität und Spezialwissen – MünchenerHyp und Schwäbisch Hall zur richtigen Zeit einbinden.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MünchenerHyp: langfristige, großvolumige Immobilienfinanzierung.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Schwäbisch Hall: Bausparen als Baustein der Käuferfinanzierung.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Praxisfall Quartier Sonnenhalde: Projektdaten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Merkmal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Bewertung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Bauträger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gegr. 2021, erfahrener GF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jung, aber fachkundig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Grundstück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aus Eigenmitteln bezahlt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höhere EK-Quote (Sonderfall)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LTV-Richtwert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65–70 % GDV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Bauträger-Grenze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Zeitplan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Baustart April 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realistisch für Vorverkauf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M08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Bauträgerprojekt bewerten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Analysieren Sie das Projekt Sonnenhalde vollständig (Fallstudie, Kleingruppen).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Berechnen Sie die Kennzahlen und gewichten Sie die Risikofelder.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Formulieren Sie eine begründete Kreditempfehlung und präsentieren Sie sie.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Handlungsempfehlung: Immobilien- und Bauträgerfinanzierung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Prinzip dieses Moduls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Der Beleihungswert ist kein Marktwert – verwechsle Sicherheit nicht mit Preis.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 BelWertV zählt der dauerhaft erzielbare Wert; wer den Marktpreis besichert, besichert die Übertreibung mit.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 und Selbstcheck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welchem laufenden Engagement haben Sie Beleihungswert und Marktwert womöglich vermischt?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der vier Kennzahlen nutzen Sie im Immobiliengeschäft bisher am seltensten?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 binden Sie MünchenerHyp oder Schwäbisch Hall ein – und wann zu spät?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