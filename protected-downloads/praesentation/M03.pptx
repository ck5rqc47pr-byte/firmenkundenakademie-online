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Schritt 1 – Musterlösung:</a:t>
            </a:r>
          </a:p>
          <a:p>
            <a:r>
              <a:t>Schritt 2 – Musterlösung:</a:t>
            </a:r>
          </a:p>
          <a:p>
            <a:r>
              <a:t>Trainer-Hinweis: Empfehlung ist situationsabhängig. Szenario 2 ist betriebswirtschaftlich robust, aber der Kontrollverlust (25,1 % = Sperrminorität) ist ein Soft-Faktor, den viele Mittelständler emotional ablehnen. Gute TN erkennen, dass hier die Gesprächsführung entscheidend ist – nicht nur die Zahlen.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 der obersten Beratungsstufe geht es nicht mehr um einzelne Produkte, sondern um die finanzielle Zukunft des Unternehmens.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mit Werttreiberbaum und Finanzdialog-Ebenen und trainieren den strategischen Dialog in einer Simulation mit Coaching.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Gespräche über Kapitalstruktur, Investitionen und Strategie auf Augenhöhe mit der Geschäftsführung.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0 – Ankommen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1 – Strategischer Rahmen</a:t>
            </a:r>
            <a:r>
              <a:rPr sz="900">
                <a:solidFill>
                  <a:srgbClr val="78808C"/>
                </a:solidFill>
                <a:latin typeface="Arial"/>
              </a:rPr>
              <a:t>  ·  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2 – Case-Analyse Teil 1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3 – Strategische Szenarien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13:00–13:45 </a:t>
            </a:r>
            <a:r>
              <a:rPr sz="1200" b="1">
                <a:solidFill>
                  <a:srgbClr val="3D5466"/>
                </a:solidFill>
                <a:latin typeface="Arial"/>
              </a:rPr>
              <a:t>  4 – SPIN-Gesprächsstrategie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5 – Rollenspiel Jahresgespräch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14:30–14:45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6 – Finanzierungsplan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15:30–16:15 </a:t>
            </a:r>
            <a:r>
              <a:rPr sz="1200" b="1">
                <a:solidFill>
                  <a:srgbClr val="3D5466"/>
                </a:solidFill>
                <a:latin typeface="Arial"/>
              </a:rPr>
              <a:t>  7 – Präsentation &amp; Peer-Feedback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16:15–17:00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8 –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Reflexion +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(Geschäftsjahre)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Komponente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 / 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Optimierungsansatz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Debitorenlaufzeit (DSO)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Forderungen / (Umsatz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Zahlungsziele verkürzen, Factoring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Kreditorenlaufzeit (DPO)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Verbindlichkeiten / (Wareneinkauf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Zahlungsziele bei Lieferanten verlängern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Lagerdauer (DIO)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Vorräte / (COGS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Lagerbestand optimieren, Just-in-time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 Conversion Cycle (CCC)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DSO + DIO − 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Ziel: CCC minimieren = Liquiditätsbedarf sinkt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Einsatzbereich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Merkmale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Kontokorrentlinie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Saisonale / kurzfristige Schwankungen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Revolving, tagesgenaue Inanspruchnahme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Betriebsmittelkredit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Struktureller Working-Capital-Anstieg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Laufzeit 1–3 Jahre, feste Tranche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Sofortige Liquidität aus Forderungen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DSO auf 0–2 Tage; Kosten 0,8–2,0 % p.a.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Maschinen, Anlagen, Gebäude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Laufzeit 5–15 Jahre, ggf. Fördermittel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