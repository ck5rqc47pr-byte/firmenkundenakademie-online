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Trainer-Regieanweisung: Nach 20 min Gruppenarbeit stoppt der Trainer die Diskussion (Handzeichen + „Freeze!") und fragt jede Gruppe: „Welche Option würden Sie Stefan Habermaier jetzt empfehlen – und welchen einen Grund nennen Sie zuerst?" Keine Diskussion in dieser Runde, nur Statements. Erst danach: Debriefing im Plenum. Zweck der Freeze-Technik: Erzwingt Entscheidungsbereitschaft unter Unsicherheit – Kernkompetenz Dreyfus-Stufe 4. TN, die noch keine Meinung haben, werden sichtbar; das erzeugt produktiven Lerndruck ohne Bloßstellung.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AB-1 Musterlösung (Trainer-Version)</a:t>
            </a:r>
          </a:p>
          <a:p>
            <a:r>
              <a:t>Schritt 1 – Musterlösung:</a:t>
            </a:r>
          </a:p>
          <a:p>
            <a:r>
              <a:t>Schritt 2 – Musterlösung:</a:t>
            </a:r>
          </a:p>
          <a:p>
            <a:r>
              <a:t>Trainer-Hinweis: Empfehlung ist situationsabhängig. Szenario 2 ist betriebswirtschaftlich robust, aber der Kontrollverlust (25,1 % = Sperrminorität) ist ein Soft-Faktor, den viele Mittelständler emotional ablehnen. Gute TN erkennen, dass hier die Gesprächsführung entscheidend ist – nicht nur die Zahlen.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Der strategische Finanzdialog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Kapitalstruktur, Werttreiber und Finanzierungsstrategien für Strategische 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K-01 Finanzanalyse &amp; Strategieberatung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Strategischer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Auf der obersten Beratungsstufe geht es nicht mehr um einzelne Produkte, sondern um die finanzielle Zukunft des Unternehmens.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arbeiten mit Werttreiberbaum und Finanzdialog-Ebenen und trainieren den strategischen Dialog in einer Simulation mit Coaching.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führen Sie Gespräche über Kapitalstruktur, Investitionen und Strategie auf Augenhöhe mit der Geschäftsführung.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Teilnehmer analysieren die Kapitalstruktur eines mittelständischen Unternehmens und identifizieren Optimierungspotenziale hinsichtlich Eigen- und Fremdkapitalquote.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Teilnehmer bewerten alternative Finanzierungsstrategien (Bankkredit, Mezzanine, Beteiligungskapital) nach Kosten, Flexibilität und strategischer Passung.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Teilnehmer analysieren Unternehmenswerttreiber und entwickeln daraus begründete strategische Handlungsempfehlungen.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Teilnehmer entwickeln für ein Fallstudienunternehmen einen strategischen Finanzierungsplan einschließlich Meilensteinplanung und Risikobewertung.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Teilnehmer beurteilen, wann Bankfinanzierung ihre Grenzen erreicht und alternative Kapitalquellen strategisch sinnvoll sind.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08:30–09:00 </a:t>
            </a:r>
            <a:r>
              <a:rPr sz="1200" b="1">
                <a:solidFill>
                  <a:srgbClr val="3D5466"/>
                </a:solidFill>
                <a:latin typeface="Arial"/>
              </a:rPr>
              <a:t>  0 – Ankommen &amp; Orientierung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09:00–10:00 </a:t>
            </a:r>
            <a:r>
              <a:rPr sz="1200" b="1">
                <a:solidFill>
                  <a:srgbClr val="3D5466"/>
                </a:solidFill>
                <a:latin typeface="Arial"/>
              </a:rPr>
              <a:t>  1 – Strategischer Rahmen</a:t>
            </a:r>
            <a:r>
              <a:rPr sz="900">
                <a:solidFill>
                  <a:srgbClr val="78808C"/>
                </a:solidFill>
                <a:latin typeface="Arial"/>
              </a:rPr>
              <a:t>  ·  Input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10:00–10:45 </a:t>
            </a:r>
            <a:r>
              <a:rPr sz="1200" b="1">
                <a:solidFill>
                  <a:srgbClr val="3D5466"/>
                </a:solidFill>
                <a:latin typeface="Arial"/>
              </a:rPr>
              <a:t>  2 – Case-Analyse Teil 1</a:t>
            </a:r>
            <a:r>
              <a:rPr sz="900">
                <a:solidFill>
                  <a:srgbClr val="78808C"/>
                </a:solidFill>
                <a:latin typeface="Arial"/>
              </a:rPr>
              <a:t>  ·  Gruppenarbeit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10:45–11:00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11:00–12:00 </a:t>
            </a:r>
            <a:r>
              <a:rPr sz="1200" b="1">
                <a:solidFill>
                  <a:srgbClr val="3D5466"/>
                </a:solidFill>
                <a:latin typeface="Arial"/>
              </a:rPr>
              <a:t>  3 – Strategische Szenarien</a:t>
            </a:r>
            <a:r>
              <a:rPr sz="900">
                <a:solidFill>
                  <a:srgbClr val="78808C"/>
                </a:solidFill>
                <a:latin typeface="Arial"/>
              </a:rPr>
              <a:t>  ·  Gruppen +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12:00–13:00 </a:t>
            </a:r>
            <a:r>
              <a:rPr sz="1200" b="1">
                <a:solidFill>
                  <a:srgbClr val="3D5466"/>
                </a:solidFill>
                <a:latin typeface="Arial"/>
              </a:rPr>
              <a:t>  Mittagspause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13:00–13:45 </a:t>
            </a:r>
            <a:r>
              <a:rPr sz="1200" b="1">
                <a:solidFill>
                  <a:srgbClr val="3D5466"/>
                </a:solidFill>
                <a:latin typeface="Arial"/>
              </a:rPr>
              <a:t>  4 – SPIN-Gesprächsstrategie</a:t>
            </a:r>
            <a:r>
              <a:rPr sz="900">
                <a:solidFill>
                  <a:srgbClr val="78808C"/>
                </a:solidFill>
                <a:latin typeface="Arial"/>
              </a:rPr>
              <a:t>  ·  Interaktiver Input + Übung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13:45–14:30 </a:t>
            </a:r>
            <a:r>
              <a:rPr sz="1200" b="1">
                <a:solidFill>
                  <a:srgbClr val="3D5466"/>
                </a:solidFill>
                <a:latin typeface="Arial"/>
              </a:rPr>
              <a:t>  5 – Rollenspiel Jahresgespräch</a:t>
            </a:r>
            <a:r>
              <a:rPr sz="900">
                <a:solidFill>
                  <a:srgbClr val="78808C"/>
                </a:solidFill>
                <a:latin typeface="Arial"/>
              </a:rPr>
              <a:t>  ·  Rollenspiel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14:30–14:45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14:45–15:30 </a:t>
            </a:r>
            <a:r>
              <a:rPr sz="1200" b="1">
                <a:solidFill>
                  <a:srgbClr val="3D5466"/>
                </a:solidFill>
                <a:latin typeface="Arial"/>
              </a:rPr>
              <a:t>  6 – Finanzierungsplan</a:t>
            </a:r>
            <a:r>
              <a:rPr sz="900">
                <a:solidFill>
                  <a:srgbClr val="78808C"/>
                </a:solidFill>
                <a:latin typeface="Arial"/>
              </a:rPr>
              <a:t>  ·  Gruppenarbeit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15:30–16:15 </a:t>
            </a:r>
            <a:r>
              <a:rPr sz="1200" b="1">
                <a:solidFill>
                  <a:srgbClr val="3D5466"/>
                </a:solidFill>
                <a:latin typeface="Arial"/>
              </a:rPr>
              <a:t>  7 – Präsentation &amp; Peer-Feedback</a:t>
            </a:r>
            <a:r>
              <a:rPr sz="900">
                <a:solidFill>
                  <a:srgbClr val="78808C"/>
                </a:solidFill>
                <a:latin typeface="Arial"/>
              </a:rPr>
              <a:t>  ·  Präsentation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16:15–17:00 </a:t>
            </a:r>
            <a:r>
              <a:rPr sz="1200" b="1">
                <a:solidFill>
                  <a:srgbClr val="3D5466"/>
                </a:solidFill>
                <a:latin typeface="Arial"/>
              </a:rPr>
              <a:t>  8 – Transfer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Reflexion +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Vom Bilanzgespräch zum Strategiegespräch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Gesprächsebenen des strategischen Finanzdialogs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Kapitalstruktur und Werttreiber verstehen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ZENTRALE WERTTREIBER IM MITTELSTAND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(vgl. 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Werttreiberbaum für den Mittelstand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Strategische Szenarien in der Beratungspraxis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Praxiscase: Habermaier Präzisionsteile GmbH &amp; Co.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Unternehmensprofil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Finanzkennzahlen (Geschäftsjahre)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Strategische Ausgangslage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Stefan Habermaier hat Sie zum Jahresgespräch eingeladen. Im Vorlauf hat er angedeutet, dass er „größere Pläne" hat. Folgender Sachverhalt zeichnet sich ab: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Medizintechnik-Konzern (Auftragsvolumen derzeit 18 % vom Umsatz) hat eine langfristige Rahmenvereinbarung angeboten, die eine Umsatzsteigerung auf ca. 16 Mio. EUR ermöglicht – aber einen zweiten CNC-Bearbeitungszentrums-Park (Investitionsbedarf: 3,2 Mio. EUR) voraussetzt.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Liquiditäts- und Wachstumsplanung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WORKING CAPITAL UND CASH CONVERSION CYCLE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Formel Betriebsmittelbedarf: Betriebsmittelbedarf = Umsatzwachstum (EUR) × CCC (Tage) / 365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Beispiel: Umsatzwachstum +3,0 Mio. EUR, CCC 58 Tage → Betriebsmittelbedarf: 3.000 TEUR × 58/365 = ca. 477 TEUR zusätzlich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Liquiditäts- und Wachstumsplanung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Komponente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Formel / Beschreibung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Optimierungsansatz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Debitorenlaufzeit (DSO)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Forderungen / (Umsatz / 365)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Zahlungsziele verkürzen, Factoring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Kreditorenlaufzeit (DPO)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Verbindlichkeiten / (Wareneinkauf / 365)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Zahlungsziele bei Lieferanten verlängern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Lagerdauer (DIO)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Vorräte / (COGS / 365)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Lagerbestand optimieren, Just-in-time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Cash Conversion Cycle (CCC)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DSO + DIO − DPO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Ziel: CCC minimieren = Liquiditätsbedarf sinkt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M03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Liquiditäts- und Wachstumsplanung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Instrument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Einsatzbereich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Typische Merkmale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Kontokorrentlinie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Saisonale / kurzfristige Schwankungen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Revolving, tagesgenaue Inanspruchnahme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Betriebsmittelkredit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Struktureller Working-Capital-Anstieg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Laufzeit 1–3 Jahre, feste Tranche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Factoring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Sofortige Liquidität aus Forderungen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DSO auf 0–2 Tage; Kosten 0,8–2,0 % p.a.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Investitionskredit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Maschinen, Anlagen, Gebäude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Laufzeit 5–15 Jahre, ggf. Fördermittel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