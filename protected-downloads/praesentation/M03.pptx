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Trainer-Regieanweisung: Nach 20 min Gruppenarbeit stoppt der Trainer die Diskussion (Handzeichen + „Freeze!") und fragt jede Gruppe: „Welche Option würden Sie Stefan Habermaier jetzt empfehlen – und welchen einen Grund nennen Sie zuerst?" Keine Diskussion in dieser Runde, nur Statements. Erst danach: Debriefing im Plenum. Zweck der Freeze-Technik: Erzwingt Entscheidungsbereitschaft unter Unsicherheit – Kernkompetenz Dreyfus-Stufe 4. TN, die noch keine Meinung haben, werden sichtbar; das erzeugt produktiven Lerndruck ohne Bloßstellung.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Schritt 1 – Musterlösung:</a:t>
            </a:r>
          </a:p>
          <a:p>
            <a:r>
              <a:t>Schritt 2 – Musterlösung:</a:t>
            </a:r>
          </a:p>
          <a:p>
            <a:r>
              <a:t>Trainer-Hinweis: Empfehlung ist situationsabhängig. Szenario 2 ist betriebswirtschaftlich robust, aber der Kontrollverlust (25,1 % = Sperrminorität) ist ein Soft-Faktor, den viele Mittelständler emotional ablehnen. Gute TN erkennen, dass hier die Gesprächsführung entscheidend ist – nicht nur die Zahlen.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Kapitalstruktur, Werttreiber und Finanzierungsstrategien für Strategische Partner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Strategieberatung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 der obersten Beratungsstufe geht es nicht mehr um einzelne Produkte, sondern um die finanzielle Zukunft des Unternehmens.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arbeiten mit Werttreiberbaum und Finanzdialog-Ebenen und trainieren den strategischen Dialog in einer Simulation mit Coaching.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führen Sie Gespräche über Kapitalstruktur, Investitionen und Strategie auf Augenhöhe mit der Geschäftsführung.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die Kapitalstruktur eines mittelständischen Unternehmens und identifizieren Optimierungspotenziale hinsichtlich Eigen- und Fremdkapitalquote.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bewerten alternative Finanzierungsstrategien (Bankkredit, Mezzanine, Beteiligungskapital) nach Kosten, Flexibilität und strategischer Passung.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analysieren Unternehmenswerttreiber und entwickeln daraus begründete strategische Handlungsempfehlungen.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entwickeln für ein Fallstudienunternehmen einen strategischen Finanzierungsplan einschließlich Meilensteinplanung und Risikobewertung.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Teilnehmer beurteilen, wann Bankfinanzierung ihre Grenzen erreicht und alternative Kapitalquellen strategisch sinnvoll sind.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Bilanzgespräch zum Strategiegespräch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Kapitalstruktur und Werttreiber verstehen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Strategische Szenarien in der Beratungspraxis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Praxiscase: Habermaier Präzisionsteile GmbH &amp; Co. KG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Liquiditäts- und Wachstumsplanung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Bilanzgespräch zum Strategiegespräch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DREI EBENEN DES STRATEGISCHEN FINANZDIALOGS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Gesprächsebenen des strategischen Finanzdialogs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Kapitalstruktur und Werttreiber verstehen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ZENTRALE WERTTREIBER IM MITTELSTAND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(vgl. 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FINANZIERUNGSOPTIONEN IM STRATEGISCHEN VERGLEICH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Werttreiberbaum für den Mittelstand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Strategische Szenarien in der Beratungspraxis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FÜNF KERNSZENARIEN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Habermaier Präzisionsteile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Finanzkennzahlen (Geschäftsjahre)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Strategische Ausgangslage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Medizintechnik-Konzern (Auftragsvolumen derzeit 18 % vom Umsatz) hat eine langfristige Rahmenvereinbarung angeboten, die eine Umsatzsteigerung auf ca. 16 Mio. EUR ermöglicht – aber einen zweiten CNC-Bearbeitungszentrums-Park (Investitionsbedarf: 3,2 Mio. EUR) voraussetzt.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Liquiditäts- und Wachstumsplanung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WORKING CAPITAL UND CASH CONVERSION CYCLE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Formel Betriebsmittelbedarf: Betriebsmittelbedarf = Umsatzwachstum (EUR) × CCC (Tage) / 365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Beispiel: Umsatzwachstum +3,0 Mio. EUR, CCC 58 Tage → Betriebsmittelbedarf: 3.000 TEUR × 58/365 = ca. 477 TEUR zusätzlich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INSTRUMENTE DER WACHSTUMSFINANZIERUNG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