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+ Diskussion. Werttreiber nach Rappaport, Five Forces (Porter), SPIN-Systematik; TN ergänzen eigene Kundenbeispiele.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Ebenen an einem Kundenbeispiel durchspielen. Kernregel: erst Verständnis, dann Strategie.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Werttreiberbaum als Landkarte des Gesprächs nutzen: von Free Cashflow und ROCE zu den operativen Hebeln.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Gruppenarbeit: die Zahlen zeigen ein wachsendes, sich entschuldendes Unternehmen. Grundlage für die Szenario-Diskussion.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Kernbild: solide wachsend, Leverage sinkt von 2,37x auf 1,62x, EK-Quote über 30 %. Investitionsfähig, aber der zweite CNC-Park (3,2 Mio. EUR) übersteigt die Innenfinanzierung.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Gruppen + Plenum: jede Gruppe verteidigt eine Option. Freeze-Technik nach 20 Minuten.</a:t>
            </a:r>
          </a:p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Habermaier bewegt sich zwischen Szenario 1 (Wachstum) und 4 (Kapitalstruktur) – mit einem Investor-Angebot, das Richtung 3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betriebswirtschaftlich robuste Option (Szenario 2/Investor) hat den Soft-Faktor Kontrollverlust – hier entscheidet die Gesprächsführung, nicht die 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entwickeln in 3er-Gruppen Fragelisten für das Habermaier-Gespräch. SPIN-Kärtchen (DIN A6) für das Rollenspiel mitgeben.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Musterformulierungen aus A3 als Startpunkt, nicht wörtlich übernehmen. Debriefing mit WWW-Blick: Was war stark, wo wurde zu früh zur Zahl gewechselt?</a:t>
            </a:r>
          </a:p>
          <a:p>
            <a:r>
              <a:t>Moderation (HB Sec 3): Nach jedem Rollenspiel-Durchgang strukturiertes Debriefing in vier Schritten: 1. Selbstwahrnehmung TN A (Berater): „Was haben Sie gemacht? Was lief gut?" (2 min) 2. Fremdwahrnehmung TN B (Habermaier): „Wie haben Sie sich als Unternehmer gefühlt? Was hat Sie überzeugt – was nicht?" (2 min) 3. Beobachter-Feedback (3. TN, falls vorhanden): „Was haben Sie von außen gesehen?" (1 min) 4. Trainer-Einordnung: Verhaltensanker benennen; konkrete Alternative formulieren (2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des Moduls: erkennen, wann der klassische Bankkredit endet, und die passende nächste Stufe öffnen.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A4: Finanzierungsplan strukturieren (XLSX), Förderoptionen KfW/L-Bank einbeziehen. Das Rechenmodell liegt in der Seitenleiste (M03.xlsx).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XLSX-Rechenmodell (M03-Kennzahlen-Dashboard) mit Szenario-Vergleich und A4-Finanzierungsplan nutzen.</a:t>
            </a:r>
          </a:p>
          <a:p>
            <a:r>
              <a:t>Moderation (HB Sec 3): Trainer-Regieanweisung: Erwähnen Sie kurz die Tranchenstruktur als Standard-Element einer professionellen Kreditvorlage: Ein Finanzierungsplan splittet die Gesamtinvestition in Tranchen – z. B. KfW-Tranche (Unternehmerkredit / ERP-Innovationskredit), L-Bank-Tranche (Wachstums- oder Digitalisierungsprogramm) und VR-Bank-klassisch als Restbetrag; die Summe muss exakt der Gesamtinvestition entsprechen. Im Dashboard-Blatt „A4-Finanzierungsplan" werden diese Tranchen strukturiert erfasst (nicht als Freitext-Kommentar). (Hinweis: Die strukturierten Tranchenfelder im XLSX werden mit der noch zu erstellenden Dashboard-Datei M03_Kennzahlen-Dashboard.xlsx ausgeliefert.)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Klarheit der Empfehlung und Belastbarkeit der Begründung achten – nicht auf Folienästhetik.</a:t>
            </a:r>
          </a:p>
          <a:p>
            <a:r>
              <a:t>Moderation (HB Sec 3): Trainer-Regieanweisung (Kleingruppen): Bei weniger als 2 Präsentationsgruppen (&lt; 6 TN) fehlt die Peer-Perspektive – ersetzen Sie das WWW-Feedback dann durch ein Trainer-Strukturfeedback: (1) Was hat die Empfehlung stark gemacht? (2) Was fehlt für eine vollständige Kreditvorlage? (3) Was wäre die härteste Frage der Kreditkommission?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vorstellen, Selbstcheck ausfüllen, Feedback-Bogen (Kirkpatrick L1).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 und zur Transferaufgabe (Sec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(AB-2)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 der obersten Beratungsstufe geht es nicht mehr um einzelne Produkte, sondern um die finanzielle Zukunft des Unternehmens.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mit Werttreiberbaum und Finanzdialog-Ebenen und trainieren den strategischen Dialog in einer Simulation mit Coaching.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Gespräche über Kapitalstruktur, Investitionen und Strategie auf Augenhöhe mit der Geschäftsführung.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0 – Ankommen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1 – Strategischer Rahmen</a:t>
            </a:r>
            <a:r>
              <a:rPr sz="900">
                <a:solidFill>
                  <a:srgbClr val="78808C"/>
                </a:solidFill>
                <a:latin typeface="Arial"/>
              </a:rPr>
              <a:t>  ·  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2 – Case-Analyse Teil 1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3 – Strategische Szenarien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4 – SPIN-Gesprächsstrategie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5 – Rollenspiel Jahresgespräch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14:30–14:45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6 – Finanzierungsplan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15:30–16:15 </a:t>
            </a:r>
            <a:r>
              <a:rPr sz="1200" b="1">
                <a:solidFill>
                  <a:srgbClr val="3D5466"/>
                </a:solidFill>
                <a:latin typeface="Arial"/>
              </a:rPr>
              <a:t>  7 – Präsentation &amp; Peer-Feedback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16:15–17:00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8 –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Reflexion +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09:00–10:00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1 · Strategischer Rahmen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Werttreiber, Wettbewerbskräfte und die Ebenen des Finanzdialogs verstehen.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Auf der obersten Beratungsstufe geht es nicht mehr um einzelne Produkte, sondern um die finanzielle Zukunft des Unternehmens.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Finanzdialog arbeitet auf drei Ebenen: operativ, taktisch, strategisch.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höher die Ebene, desto mehr Zukunftsfragen statt Sachstandsfragen.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Jeder Werttreiber ist ein Anknüpfungspunkt für den strategischen Finanzdialog mit dem Unternehmer.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Wachstum, Rentabilität und Kapitalstruktur bestimmen den Unternehmenswert.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Werttreiber übersetzen abstrakte Strategie in konkrete Finanzhebel.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Wettbewerbskräfte im Mittelstand (Five Forces)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10:00–10:45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2 · Case-Analyse Teil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Habermaier Ist-Analyse: Kennzahlen berechnen, Stärken und Risiken identifizieren.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Praxiscase Habermaier: Kennzahlen im Zeitvergleich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 3 (Ist)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 4 (Ist)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11,4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12,0 %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13,0 %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294 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398 TEUR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EK-Quote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27,6 %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30,9 %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2,37x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1,62x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die Kennzahlen und ordnen Sie die Entwicklung Jahr 3 zu Jahr 4 ein (A1).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Identifizieren Sie Stärken und Risiken der aktuellen Aufstellung.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Halten Sie die strategische Ausgangslage fest: Rahmenvertrag, Investor, stiller Gesellschafter.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11:00–12:00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3 · Strategische Szenarien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Fünf Kernszenarien unterscheiden und die passende Option verteidigen.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 jede Situation ist eine Finanzierung – die Kunst ist, das richtige Szenario zu erkennen und die passenden Verbundpartner zu öffnen.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Kernszenarien decken die strategischen Anlässe im Firmenkundengeschäft ab.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Jedes Szenario hat eigene Verbundpartner und eine eigene Gesprächslogik.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fünf strategischen Kernszenarien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Charakteristik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Verbundpartner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Wachstum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 übersteigt Innenfinanzierung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DZ BANK, L-Bank, ggf. PE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Verkauf / M&amp;A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 extern, MBO, Akquisition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DZ BANK Corporate Finance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Gesellschafterwechsel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Anteil, Erbfall, Bewertung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Steuerberater, Notar, R+V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Kapitalstruktur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EK-Stärkung, Rating vor 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intern, Mezzanine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Restrukturierung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Liquiditätsengpass, Covenant-Bruch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Restrukturierung, DZ BANK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Szenario-Vergleich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Vergleichen Sie für Habermaier die Optionen Rahmenvertrag, Investor und Status quo (A2).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je Option: Kontrolle, Kosten, strategische Passung,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Bereiten Sie eine begründete Empfehlung für das Jahresgespräch vor.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13:00–13:45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4 · SPIN-Gesprächsstrategie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SPIN-Fragenarchitektur für das Habermaier-Gespräch entwickeln.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SPIN: von der Situation zum Nutzen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nur Zahlen präsentiert, verkauft nichts. SPIN führt vom Ist-Stand über den Engpass zur Lösungsbereitschaft.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 (S): den Ist-Stand und Kontext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 (P): den Engpass benennen, das Risiko sichtbar machen.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 (I): die Konsequenz aufzeigen – was passiert, wenn nichts geschieht?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 (N): die Lösung so rahmen, dass Handlungsbereitschaft entsteht.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13:45–14:30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5 · Rollenspiel Jahresgespräch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Strategiegespräch mit Stefan Habermaier üben – VR-Bank gegen Investor.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Rollenspiel: die Stärke der VR-Bank vertreten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SO LÄUFT ES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TN A = Berater, TN B = Stefan Habermaier (Rollenkarte); zwei Runden à 15 Minuten + Debriefing.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DIE VIER STÄRKEN GEGENÜBER DEM FINANZINVESTOR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Kontinuität und Verlässlichkeit – Begleitung seit 27 Jahren, kein Exit-Druck.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Verwässerung – 100 % Kontrolle bleiben beim Unternehmer.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Verbundnetzwerk – DZ BANK, R+V, Union Investment aus einer Hand; regionale Verwurzelung.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14:45–15:30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6 · Finanzierungsplan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tragfähigen Finanzierungsplan strukturieren – und die nächste Tür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der Bankkredit an seine Grenze stößt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strategische Stärke zeigt sich dort, wo der Standardkredit endet – Förderung, Mezzanine, Beteiligung sind die nächsten Türen.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Finanzierungstreppe steigt von der Innenfinanzierung bis zur Beteiligung.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Förderkredit (KfW/L-Bank): Antrag muss vor der Kreditauszahlung gestellt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Finanzierungstreppe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Finanzierungsinstrumente im strategischen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Vorteil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Risiko / Grenze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günstig, strukturiert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Sicherheiten, Covenants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Förderkredit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subv. Zins, Haftungsfreistellung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Antrag vor Auszahlung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Mezzanine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EK-ähnlich, keine Verwässerung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teurer, begrenzte Laufzeit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Beteiligung / 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starkes EK,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Kontrollverlust, Exit-Druck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Finanzierungsplan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Strukturieren Sie den Finanzierungsplan für den zweiten CNC-Park (3,2 Mio. EUR) im XLSX (A4).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Kombinieren Sie Bankkredit, Förderkredit und Innenfinanzierung fristenkongruent.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die Tragfähigkeit über Leverage und Tilgungskapazität.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15:30–16:15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7 · Präsentation &amp; Peer-Feedback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Empfehlung überzeugend präsentieren und strukturiert Feedback geben.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Empfehlung präsentieren – WWW-Feedback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gute Empfehlung ist in fünf Minuten erzählt – und hält der ersten kritischen Frage stand.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Gruppe präsentiert ihre Empfehlung (max. 5 Minuten).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Strukturiertes Peer-Feedback nach der WWW-Methode: Wahrnehmung, Wirkung, Wunsch.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16:15–17:00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8 · Transfer &amp; Abschluss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Gelernte in den eigenen Portfolioalltag übersetzen.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 für den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Investitionsbedarf die Innenfinanzierungskraft übersteigt — dann die Finanzierungstreppe hochgehen und Förderung/Mezzanine prüfen, bevor der Kunde extern sucht.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Finanzinvestor im Raum steht — dann die vier VR-Stärken (Kontinuität, Kontrolle, Verbund, Region) aktiv formulieren.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Förderkredit infrage kommt — dann den Antrag vor jeder Auszahlung stellen; sonst ist die Förderung verloren.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Erkenne, wann der Bankkredit an seine Grenze stößt – und öffne die nächste Tür.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Mezzanine, Beteiligung, Förderung: Die strategische Stärke zeigt sich dort, wo der Standardkredit endet.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steht vor einer Wachstumsentscheidung, die die Innenfinanzierung übersteigt?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Szenario fühlen Sie sich am unsichersten – und welchen Verbundpartner ziehen Sie hinzu?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im nächsten Jahresgespräch anders vorbereiten?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