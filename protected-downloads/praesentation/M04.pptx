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(Trainer-Version)</a:t>
            </a:r>
          </a:p>
          <a:p>
            <a:r>
              <a:t>AB-1 Ergebnisse:</a:t>
            </a:r>
          </a:p>
          <a:p>
            <a:r>
              <a:t>Gesamtpunktzahl: mindestens 13–15 / 20 → Rot-Einstufung</a:t>
            </a:r>
          </a:p>
          <a:p>
            <a:r>
              <a:t>AB-2 Musterlösung:</a:t>
            </a:r>
          </a:p>
          <a:p>
            <a:r>
              <a:t>Krisenphase 2 (Latente Krise): Krise ist vorhanden (Leverage 5,4x, KK 91 %, fallende EBITDA-Marge über 3 Jahre), aber noch kein Zahlungsausfall. Übergang zu Phase 3 droht ohne Gegenmaßnahmen.</a:t>
            </a:r>
          </a:p>
          <a:p>
            <a:r>
              <a:t>Dominantes Signal: Leverage 5,4x bei fallendem EBITDA — der Schuldendienst ist gefährdet. Ergänzend: KK-Inanspruchnahme 91 % = Liquiditätspuffer nahezu aufgebraucht.</a:t>
            </a:r>
          </a:p>
          <a:p>
            <a:r>
              <a:t>Eskalation Rot: Sofortige Meldung an Teamleiter (&lt; 48 Stunden). Keine eigenständigen Zusagen oder Linienerhöhungen. Marktfolge zur Sicherheitenbewertung einschalten.</a:t>
            </a:r>
          </a:p>
          <a:p>
            <a:r>
              <a:t>Musterformulierungen Aufgabe A4:</a:t>
            </a:r>
          </a:p>
          <a:p>
            <a:r>
              <a:t>1. „Wie entwickelt sich der Auftragsbestand bei Ihrem Hauptkunden — haben Sie Aufträge für die nächsten 6 Monate gesichert?"</a:t>
            </a:r>
          </a:p>
          <a:p>
            <a:r>
              <a:t>2. „Ihr Jahresabschluss liegt uns noch nicht vor. Können wir Ihren Steuerberater direkt kontaktieren?"</a:t>
            </a:r>
          </a:p>
          <a:p>
            <a:r>
              <a:t>3. „Wie haben Sie die langfristige Führung des Unternehmens geregelt — haben Sie schon konkrete Überlegungen zur Nachfolge?"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Kreditrisikofrüherkennung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Warnsignale systematisch erkennen und professionell handeln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Kreditausfälle kündigen sich an – oft Monate vorher, in Zahlen und Verhalten.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wichtigsten Frühwarnsignale systematisch zu erkennen und mit einer Ampellogik zu bewerten.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identifizieren Sie gefährdete Engagements frühzeitig und dokumentieren Ihre Einschätzung MaRisk-konform.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drei Kreditrisikoarten (Ausfall, Migration, Konzentration) benennen und Praxisbeispiele 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Frühwarnindikatoren unterscheiden und konkreten Signalen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Ampel-Checkliste auf einen Praxisfall anwenden und den Kunden einer Risikoklasse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Kontokorrentbewegungen und Kennzahlenentwicklungen analysieren und das dominante Risikosignal sowie den Eskalationspfad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00–05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05–15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15–30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30–45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+ Demo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45–65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65–80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Auswertung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80–88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 +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88–90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Kreditrisiko – Grundbegriffe und Bedeutung für den Berater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drei Kreditrisikoarten: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Krisenphasen [Q-099]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jede rote Ampel hat dieselbe Dringlichkeit. Das Krisenphasen-Modell hilft einzuordnen, wie weit ein Unternehmen bereits in die Krise gerutscht ist: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Die Ampel-Checkliste zeigt, wo das Signal liegt. Die Krisenphase zeigt, wie dringend gehandelt werden muss.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Frühwarnindikatoren – Quantitativ und Qualitativ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Frühwarnindikatoren lassen sich in zwei komplementäre Kategorien einteilen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Quantitative Indikatoren (aus Jahresabschluss und BWA):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NFK = verzinsliches Fremdkapital abzüglich liquide Mittel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Qualitative Indikatoren (aus Kundengespräch und Marktbeobachtung):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Merksatz: Qualitative Signale gehen quantitativen häufig 6–12 Monate voraus . Wer nur auf Zahlen wartet, reagiert zu spät.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Frühwarnindikatoren – Quantitativ und Qualitativ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Indikator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Grün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Gelb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 / Umsatz ×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5–8 %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Leverage (NFK/EBITDA)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Netto-Finanzverbindlichkeiten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3,0–4,0x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/ Bilanzsumme ×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10–20 %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KK-Inanspruchnahme (Ø)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Ø-Inanspruchnahme / Limit ×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60 %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60–85 %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85 %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Jahresabschluss-Vorlage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Monate nach Geschäftsjahresende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9 / Verweigerung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Ampel-Checkliste: Gesamtbewertung Kreditrisiko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Anleitung: Bewerten Sie jeden Indikator mit Grün (0 Punkte), Gelb (1 Punkt) oder Rot (2 Punkte).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Einzel-Rot-Trigger: Bei Jahresabschluss-Verweigerung, laufendem Zinsverzug oder Kenntnis eines Insolvenzantrags → unabhängig vom Gesamtscore sofort eskalieren.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Frühwarn-Ampelkarte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Eskalationspfade – Wer handelt wann?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Dokumentation in agree: Jeder Gelb- oder Rot-Befund wird im Risikovermerk dokumentiert: Datum, Indikator, Bewertung, nächste Maßnahme, Verantwortlicher. Das ist Revisionspflicht 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Karte verknüpft die erkannten Risikosignale direkt mit konkreten Handlungsschritten und zeigt, wann welche Maßnahme angemessen 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Wenn-Dann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Renner Metallverarbeitung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Unternehmensprofil: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Finanzkennzahlen (letzte 3 Perioden):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Zusatzinformationen aus dem letzten Gespräch (vor 6 Wochen):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Ampel-Checkliste ausfüllen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Füllen Sie die Ampel-Checkliste für die Renner Metallverarbeitung GmbH (Berichtsjahr aktuell) vollständig aus.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