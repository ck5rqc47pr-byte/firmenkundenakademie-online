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</p:sldIdLst>
  <p:sldSz cx="12188952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notesMaster" Target="notesMasters/notesMaster1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Agenda aus dem Ablaufplan (Sektion 3.1). Timing und Pausen siehe Trainerhandbuch.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Einstieg: „Woran haben Sie zuletzt gemerkt, dass es bei einem Kunden kippt – bevor es die Zahlen zeigten?"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Kernbotschaft: in der Strategie-/Ertragskrise ist der Kunde noch gestaltbar; in der Liquiditätskrise wird es Schadensbegrenzung.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Die Ampel-Checkliste bündelt beide Dimensionen zu einer Gesamtbewertung.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Revisionssichere agree-Dokumentation als Mindeststandard. Die Handlungsempfehlung verbindet Signal und Reaktion.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AB Musterlösung (Trainer-Version)</a:t>
            </a:r>
          </a:p>
          <a:p>
            <a:r>
              <a:t>Renner: mehrere gelbe/rote Signale (Kontokorrent-Auslastung, verzögerter Jahresabschluss). Ergebnis: rote Ampel, Meldung Teamleiter + Marktfolge, revisionssicherer Vermerk.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Überleitung zum Selbstcheck und Transfer.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Selbstcheck nach 4 Wochen als Transferanker.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D9C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201168"/>
            <a:ext cx="10817352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800">
                <a:solidFill>
                  <a:srgbClr val="C8D2E6"/>
                </a:solidFill>
                <a:latin typeface="Consolas"/>
              </a:rPr>
              <a:t>FKB CAMPUS  ·  FIRMENKUNDENAKADEMIE  ·  M04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1828800"/>
            <a:ext cx="10817352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600" b="1" i="0">
                <a:solidFill>
                  <a:srgbClr val="FFFFFF"/>
                </a:solidFill>
                <a:latin typeface="Arial"/>
              </a:rPr>
              <a:t>Kreditrisikofrüherkennung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3977639"/>
            <a:ext cx="10817352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900" b="0" i="1">
                <a:solidFill>
                  <a:srgbClr val="BECDE6"/>
                </a:solidFill>
                <a:latin typeface="Arial"/>
              </a:rPr>
              <a:t>Warnsignale systematisch erkennen und professionell handeln</a:t>
            </a:r>
          </a:p>
        </p:txBody>
      </p:sp>
      <p:sp>
        <p:nvSpPr>
          <p:cNvPr id="7" name="Rectangle 6"/>
          <p:cNvSpPr/>
          <p:nvPr/>
        </p:nvSpPr>
        <p:spPr>
          <a:xfrm>
            <a:off x="685800" y="5029200"/>
            <a:ext cx="10817352" cy="127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85800" y="5193792"/>
            <a:ext cx="3605784" cy="2011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Consolas"/>
              </a:rPr>
              <a:t>KOMPETENZFELD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5394960"/>
            <a:ext cx="3605784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FFFFFF"/>
                </a:solidFill>
                <a:latin typeface="Arial"/>
              </a:rPr>
              <a:t>K-01 Finanzanalyse &amp; Kreditexpertise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291584" y="5193792"/>
            <a:ext cx="3605784" cy="2011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Consolas"/>
              </a:rPr>
              <a:t>KOMPETENZSTUFE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291584" y="5394960"/>
            <a:ext cx="3605784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FFFFFF"/>
                </a:solidFill>
                <a:latin typeface="Arial"/>
              </a:rPr>
              <a:t>Berater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897368" y="5193792"/>
            <a:ext cx="3605784" cy="2011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Consolas"/>
              </a:rPr>
              <a:t>VERSION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897368" y="5394960"/>
            <a:ext cx="3605784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FFFFFF"/>
                </a:solidFill>
                <a:latin typeface="Arial"/>
              </a:rPr>
              <a:t>v1.0</a:t>
            </a:r>
          </a:p>
        </p:txBody>
      </p:sp>
      <p:sp>
        <p:nvSpPr>
          <p:cNvPr id="14" name="Rectangle 13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85800" y="6583680"/>
            <a:ext cx="5408676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96A5BE"/>
                </a:solidFill>
                <a:latin typeface="Consolas"/>
              </a:rPr>
              <a:t>FKB Campus  ·  2026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094476" y="6583680"/>
            <a:ext cx="5408676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700">
                <a:solidFill>
                  <a:srgbClr val="96A5BE"/>
                </a:solidFill>
                <a:latin typeface="Consolas"/>
              </a:rPr>
              <a:t>Trainer-Präsentation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EDED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09728"/>
            <a:ext cx="108173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>
                <a:solidFill>
                  <a:srgbClr val="78808C"/>
                </a:solidFill>
                <a:latin typeface="Consolas"/>
              </a:rPr>
              <a:t>ÜBERBLICK  ·  M04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234440"/>
            <a:ext cx="12188952" cy="12700"/>
          </a:xfrm>
          <a:prstGeom prst="rect">
            <a:avLst/>
          </a:prstGeom>
          <a:solidFill>
            <a:srgbClr val="D8DF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85800" y="502920"/>
            <a:ext cx="10817352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1F2C56"/>
                </a:solidFill>
                <a:latin typeface="Arial"/>
              </a:rPr>
              <a:t>Worum geht es heute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1737360"/>
            <a:ext cx="9720072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1700">
                <a:solidFill>
                  <a:srgbClr val="3D5466"/>
                </a:solidFill>
                <a:latin typeface="Arial"/>
              </a:rPr>
              <a:t>Kreditausfälle kündigen sich an – oft Monate vorher, in Zahlen und Verhalten.</a:t>
            </a:r>
          </a:p>
          <a:p>
            <a:pPr>
              <a:spcAft>
                <a:spcPts val="1200"/>
              </a:spcAft>
            </a:pPr>
            <a:r>
              <a:rPr sz="1700">
                <a:solidFill>
                  <a:srgbClr val="3D5466"/>
                </a:solidFill>
                <a:latin typeface="Arial"/>
              </a:rPr>
              <a:t>Sie lernen die wichtigsten Frühwarnsignale systematisch zu erkennen und mit einer Ampellogik zu bewerten.</a:t>
            </a:r>
          </a:p>
          <a:p>
            <a:pPr>
              <a:spcAft>
                <a:spcPts val="1200"/>
              </a:spcAft>
            </a:pPr>
            <a:r>
              <a:rPr sz="1700">
                <a:solidFill>
                  <a:srgbClr val="3D5466"/>
                </a:solidFill>
                <a:latin typeface="Arial"/>
              </a:rPr>
              <a:t>Danach identifizieren Sie gefährdete Engagements frühzeitig und dokumentieren Ihre Einschätzung MaRisk-konform.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85800" y="6583680"/>
            <a:ext cx="649041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Consolas"/>
              </a:rPr>
              <a:t>FKB Campus  ·  M04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EDED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09728"/>
            <a:ext cx="108173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>
                <a:solidFill>
                  <a:srgbClr val="78808C"/>
                </a:solidFill>
                <a:latin typeface="Consolas"/>
              </a:rPr>
              <a:t>LERNZIELE  ·  M04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234440"/>
            <a:ext cx="12188952" cy="12700"/>
          </a:xfrm>
          <a:prstGeom prst="rect">
            <a:avLst/>
          </a:prstGeom>
          <a:solidFill>
            <a:srgbClr val="D8DF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85800" y="502920"/>
            <a:ext cx="10817352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1F2C56"/>
                </a:solidFill>
                <a:latin typeface="Arial"/>
              </a:rPr>
              <a:t>Was Sie heute mitnehmen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1371600"/>
            <a:ext cx="10817352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800"/>
              </a:spcBef>
              <a:spcAft>
                <a:spcPts val="200"/>
              </a:spcAft>
            </a:pPr>
            <a:r>
              <a:rPr sz="1400">
                <a:solidFill>
                  <a:srgbClr val="3D5466"/>
                </a:solidFill>
                <a:latin typeface="Arial"/>
              </a:rPr>
              <a:t>▸  Die drei Kreditrisikoarten (Ausfall, Migration, Konzentration) benennen und Praxisbeispiele nennen</a:t>
            </a:r>
          </a:p>
          <a:p>
            <a:pPr>
              <a:spcBef>
                <a:spcPts val="800"/>
              </a:spcBef>
              <a:spcAft>
                <a:spcPts val="200"/>
              </a:spcAft>
            </a:pPr>
            <a:r>
              <a:rPr sz="1400">
                <a:solidFill>
                  <a:srgbClr val="3D5466"/>
                </a:solidFill>
                <a:latin typeface="Arial"/>
              </a:rPr>
              <a:t>▸  Quantitative und qualitative Frühwarnindikatoren unterscheiden und konkreten Signalen zuordnen</a:t>
            </a:r>
          </a:p>
          <a:p>
            <a:pPr>
              <a:spcBef>
                <a:spcPts val="800"/>
              </a:spcBef>
              <a:spcAft>
                <a:spcPts val="200"/>
              </a:spcAft>
            </a:pPr>
            <a:r>
              <a:rPr sz="1400">
                <a:solidFill>
                  <a:srgbClr val="3D5466"/>
                </a:solidFill>
                <a:latin typeface="Arial"/>
              </a:rPr>
              <a:t>▸  Die Ampel-Checkliste auf einen Praxisfall anwenden und den Kunden einer Risikoklasse zuordnen</a:t>
            </a:r>
          </a:p>
          <a:p>
            <a:pPr>
              <a:spcBef>
                <a:spcPts val="800"/>
              </a:spcBef>
              <a:spcAft>
                <a:spcPts val="200"/>
              </a:spcAft>
            </a:pPr>
            <a:r>
              <a:rPr sz="1400">
                <a:solidFill>
                  <a:srgbClr val="3D5466"/>
                </a:solidFill>
                <a:latin typeface="Arial"/>
              </a:rPr>
              <a:t>▸  Kontokorrentbewegungen und Kennzahlenentwicklungen analysieren und das dominante Risikosignal sowie den Eskalationspfad identifizieren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85800" y="6583680"/>
            <a:ext cx="649041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Consolas"/>
              </a:rPr>
              <a:t>FKB Campus  ·  M04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EDED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09728"/>
            <a:ext cx="108173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>
                <a:solidFill>
                  <a:srgbClr val="78808C"/>
                </a:solidFill>
                <a:latin typeface="Consolas"/>
              </a:rPr>
              <a:t>AGENDA  ·  M04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234440"/>
            <a:ext cx="12188952" cy="12700"/>
          </a:xfrm>
          <a:prstGeom prst="rect">
            <a:avLst/>
          </a:prstGeom>
          <a:solidFill>
            <a:srgbClr val="D8DF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85800" y="502920"/>
            <a:ext cx="10817352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1F2C56"/>
                </a:solidFill>
                <a:latin typeface="Arial"/>
              </a:rPr>
              <a:t>So läuft das Modul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1463040"/>
            <a:ext cx="10817352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700"/>
              </a:spcBef>
              <a:spcAft>
                <a:spcPts val="100"/>
              </a:spcAft>
            </a:pPr>
            <a:r>
              <a:rPr sz="1200">
                <a:solidFill>
                  <a:srgbClr val="78808C"/>
                </a:solidFill>
                <a:latin typeface="Consolas"/>
              </a:rPr>
              <a:t>00–05       </a:t>
            </a:r>
            <a:r>
              <a:rPr sz="1500" b="1">
                <a:solidFill>
                  <a:srgbClr val="3D5466"/>
                </a:solidFill>
                <a:latin typeface="Arial"/>
              </a:rPr>
              <a:t>  Einstieg</a:t>
            </a:r>
            <a:r>
              <a:rPr sz="1200">
                <a:solidFill>
                  <a:srgbClr val="78808C"/>
                </a:solidFill>
                <a:latin typeface="Arial"/>
              </a:rPr>
              <a:t>  ·  Blitzrunde</a:t>
            </a:r>
          </a:p>
          <a:p>
            <a:pPr>
              <a:spcBef>
                <a:spcPts val="700"/>
              </a:spcBef>
              <a:spcAft>
                <a:spcPts val="100"/>
              </a:spcAft>
            </a:pPr>
            <a:r>
              <a:rPr sz="1200">
                <a:solidFill>
                  <a:srgbClr val="78808C"/>
                </a:solidFill>
                <a:latin typeface="Consolas"/>
              </a:rPr>
              <a:t>05–15       </a:t>
            </a:r>
            <a:r>
              <a:rPr sz="1500" b="1">
                <a:solidFill>
                  <a:srgbClr val="3D5466"/>
                </a:solidFill>
                <a:latin typeface="Arial"/>
              </a:rPr>
              <a:t>  Aktivierung</a:t>
            </a:r>
            <a:r>
              <a:rPr sz="1200">
                <a:solidFill>
                  <a:srgbClr val="78808C"/>
                </a:solidFill>
                <a:latin typeface="Arial"/>
              </a:rPr>
              <a:t>  ·  Partnerarbeit</a:t>
            </a:r>
          </a:p>
          <a:p>
            <a:pPr>
              <a:spcBef>
                <a:spcPts val="700"/>
              </a:spcBef>
              <a:spcAft>
                <a:spcPts val="100"/>
              </a:spcAft>
            </a:pPr>
            <a:r>
              <a:rPr sz="1200">
                <a:solidFill>
                  <a:srgbClr val="78808C"/>
                </a:solidFill>
                <a:latin typeface="Consolas"/>
              </a:rPr>
              <a:t>15–32       </a:t>
            </a:r>
            <a:r>
              <a:rPr sz="1500" b="1">
                <a:solidFill>
                  <a:srgbClr val="3D5466"/>
                </a:solidFill>
                <a:latin typeface="Arial"/>
              </a:rPr>
              <a:t>  Input 1</a:t>
            </a:r>
            <a:r>
              <a:rPr sz="1200">
                <a:solidFill>
                  <a:srgbClr val="78808C"/>
                </a:solidFill>
                <a:latin typeface="Arial"/>
              </a:rPr>
              <a:t>  ·  Interaktiver Vortrag</a:t>
            </a:r>
          </a:p>
          <a:p>
            <a:pPr>
              <a:spcBef>
                <a:spcPts val="700"/>
              </a:spcBef>
              <a:spcAft>
                <a:spcPts val="100"/>
              </a:spcAft>
            </a:pPr>
            <a:r>
              <a:rPr sz="1200">
                <a:solidFill>
                  <a:srgbClr val="78808C"/>
                </a:solidFill>
                <a:latin typeface="Consolas"/>
              </a:rPr>
              <a:t>32–47       </a:t>
            </a:r>
            <a:r>
              <a:rPr sz="1500" b="1">
                <a:solidFill>
                  <a:srgbClr val="3D5466"/>
                </a:solidFill>
                <a:latin typeface="Arial"/>
              </a:rPr>
              <a:t>  Input 2</a:t>
            </a:r>
            <a:r>
              <a:rPr sz="1200">
                <a:solidFill>
                  <a:srgbClr val="78808C"/>
                </a:solidFill>
                <a:latin typeface="Arial"/>
              </a:rPr>
              <a:t>  ·  Interaktiver Vortrag + Demo</a:t>
            </a:r>
          </a:p>
          <a:p>
            <a:pPr>
              <a:spcBef>
                <a:spcPts val="700"/>
              </a:spcBef>
              <a:spcAft>
                <a:spcPts val="100"/>
              </a:spcAft>
            </a:pPr>
            <a:r>
              <a:rPr sz="1200">
                <a:solidFill>
                  <a:srgbClr val="78808C"/>
                </a:solidFill>
                <a:latin typeface="Consolas"/>
              </a:rPr>
              <a:t>47–72       </a:t>
            </a:r>
            <a:r>
              <a:rPr sz="1500" b="1">
                <a:solidFill>
                  <a:srgbClr val="3D5466"/>
                </a:solidFill>
                <a:latin typeface="Arial"/>
              </a:rPr>
              <a:t>  Fallarbeit</a:t>
            </a:r>
            <a:r>
              <a:rPr sz="1200">
                <a:solidFill>
                  <a:srgbClr val="78808C"/>
                </a:solidFill>
                <a:latin typeface="Arial"/>
              </a:rPr>
              <a:t>  ·  Gruppenarbeit</a:t>
            </a:r>
          </a:p>
          <a:p>
            <a:pPr>
              <a:spcBef>
                <a:spcPts val="700"/>
              </a:spcBef>
              <a:spcAft>
                <a:spcPts val="100"/>
              </a:spcAft>
            </a:pPr>
            <a:r>
              <a:rPr sz="1200">
                <a:solidFill>
                  <a:srgbClr val="78808C"/>
                </a:solidFill>
                <a:latin typeface="Consolas"/>
              </a:rPr>
              <a:t>72–90       </a:t>
            </a:r>
            <a:r>
              <a:rPr sz="1500" b="1">
                <a:solidFill>
                  <a:srgbClr val="3D5466"/>
                </a:solidFill>
                <a:latin typeface="Arial"/>
              </a:rPr>
              <a:t>  Auswertung</a:t>
            </a:r>
            <a:r>
              <a:rPr sz="1200">
                <a:solidFill>
                  <a:srgbClr val="78808C"/>
                </a:solidFill>
                <a:latin typeface="Arial"/>
              </a:rPr>
              <a:t>  ·  Plenumsdiskussion</a:t>
            </a:r>
          </a:p>
          <a:p>
            <a:pPr>
              <a:spcBef>
                <a:spcPts val="700"/>
              </a:spcBef>
              <a:spcAft>
                <a:spcPts val="100"/>
              </a:spcAft>
            </a:pPr>
            <a:r>
              <a:rPr sz="1200">
                <a:solidFill>
                  <a:srgbClr val="78808C"/>
                </a:solidFill>
                <a:latin typeface="Consolas"/>
              </a:rPr>
              <a:t>90–98       </a:t>
            </a:r>
            <a:r>
              <a:rPr sz="1500" b="1">
                <a:solidFill>
                  <a:srgbClr val="3D5466"/>
                </a:solidFill>
                <a:latin typeface="Arial"/>
              </a:rPr>
              <a:t>  Transfer</a:t>
            </a:r>
            <a:r>
              <a:rPr sz="1200">
                <a:solidFill>
                  <a:srgbClr val="78808C"/>
                </a:solidFill>
                <a:latin typeface="Arial"/>
              </a:rPr>
              <a:t>  ·  Plenum + Einzelarbeit</a:t>
            </a:r>
          </a:p>
          <a:p>
            <a:pPr>
              <a:spcBef>
                <a:spcPts val="700"/>
              </a:spcBef>
              <a:spcAft>
                <a:spcPts val="100"/>
              </a:spcAft>
            </a:pPr>
            <a:r>
              <a:rPr sz="1200">
                <a:solidFill>
                  <a:srgbClr val="78808C"/>
                </a:solidFill>
                <a:latin typeface="Consolas"/>
              </a:rPr>
              <a:t>98–100      </a:t>
            </a:r>
            <a:r>
              <a:rPr sz="1500" b="1">
                <a:solidFill>
                  <a:srgbClr val="3D5466"/>
                </a:solidFill>
                <a:latin typeface="Arial"/>
              </a:rPr>
              <a:t>  Abschluss</a:t>
            </a:r>
            <a:r>
              <a:rPr sz="1200">
                <a:solidFill>
                  <a:srgbClr val="78808C"/>
                </a:solidFill>
                <a:latin typeface="Arial"/>
              </a:rPr>
              <a:t>  ·  Blitzrunde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85800" y="6583680"/>
            <a:ext cx="649041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Consolas"/>
              </a:rPr>
              <a:t>FKB Campus  ·  M04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EDED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09728"/>
            <a:ext cx="108173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>
                <a:solidFill>
                  <a:srgbClr val="78808C"/>
                </a:solidFill>
                <a:latin typeface="Consolas"/>
              </a:rPr>
              <a:t>M04  ·  INHALT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234440"/>
            <a:ext cx="12188952" cy="12700"/>
          </a:xfrm>
          <a:prstGeom prst="rect">
            <a:avLst/>
          </a:prstGeom>
          <a:solidFill>
            <a:srgbClr val="D8DF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85800" y="502920"/>
            <a:ext cx="36576" cy="658368"/>
          </a:xfrm>
          <a:prstGeom prst="rect">
            <a:avLst/>
          </a:prstGeom>
          <a:solidFill>
            <a:srgbClr val="D9C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13816" y="502920"/>
            <a:ext cx="10634472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1F2C56"/>
                </a:solidFill>
                <a:latin typeface="Arial"/>
              </a:rPr>
              <a:t>Das erste Warnsignal steht selten in der Bilanz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1417320"/>
            <a:ext cx="10817352" cy="4892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marL="177800" indent="-177800">
              <a:spcBef>
                <a:spcPts val="600"/>
              </a:spcBef>
              <a:spcAft>
                <a:spcPts val="200"/>
              </a:spcAft>
            </a:pPr>
            <a:r>
              <a:rPr sz="1200" i="1">
                <a:solidFill>
                  <a:srgbClr val="3D5466"/>
                </a:solidFill>
                <a:latin typeface="Arial"/>
              </a:rPr>
              <a:t>→  Das erste Warnsignal steht selten in der Bilanz – meist im Kontokorrent.</a:t>
            </a:r>
          </a:p>
          <a:p>
            <a:pPr marL="190500" indent="-190500"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Qualitative Frühindikatoren laufen den Kennzahlen voraus.</a:t>
            </a:r>
          </a:p>
          <a:p>
            <a:pPr marL="190500" indent="-190500"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Wer auf das schwache Signal reagiert, verhindert den Schaden, statt ihn zu verwalten.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85800" y="6583680"/>
            <a:ext cx="649041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Consolas"/>
              </a:rPr>
              <a:t>FKB Campus  ·  M04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EDED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09728"/>
            <a:ext cx="108173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>
                <a:solidFill>
                  <a:srgbClr val="78808C"/>
                </a:solidFill>
                <a:latin typeface="Consolas"/>
              </a:rPr>
              <a:t>M04  ·  INHALT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234440"/>
            <a:ext cx="12188952" cy="12700"/>
          </a:xfrm>
          <a:prstGeom prst="rect">
            <a:avLst/>
          </a:prstGeom>
          <a:solidFill>
            <a:srgbClr val="D8DF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85800" y="502920"/>
            <a:ext cx="36576" cy="658368"/>
          </a:xfrm>
          <a:prstGeom prst="rect">
            <a:avLst/>
          </a:prstGeom>
          <a:solidFill>
            <a:srgbClr val="D9C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13816" y="502920"/>
            <a:ext cx="10634472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1F2C56"/>
                </a:solidFill>
                <a:latin typeface="Arial"/>
              </a:rPr>
              <a:t>Die vier Krisenphasen: je früher, desto mehr Spielraum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1417320"/>
            <a:ext cx="10817352" cy="4892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marL="177800" indent="-177800">
              <a:spcBef>
                <a:spcPts val="600"/>
              </a:spcBef>
              <a:spcAft>
                <a:spcPts val="200"/>
              </a:spcAft>
            </a:pPr>
            <a:r>
              <a:rPr sz="1200" i="1">
                <a:solidFill>
                  <a:srgbClr val="3D5466"/>
                </a:solidFill>
                <a:latin typeface="Arial"/>
              </a:rPr>
              <a:t>→  Eine Unternehmenskrise läuft in Phasen ab – der Handlungsspielraum ist am Anfang am größten und schwindet mit jeder Phase.</a:t>
            </a:r>
          </a:p>
          <a:p>
            <a:pPr marL="190500" indent="-190500"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Strategiekrise, Ertragskrise, Liquiditätskrise, Insolvenz.</a:t>
            </a:r>
          </a:p>
          <a:p>
            <a:pPr marL="190500" indent="-190500"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Jede Phase hat eigene Frühwarnindikatoren – und einen eigenen Eskalationspfad.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85800" y="6583680"/>
            <a:ext cx="649041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Consolas"/>
              </a:rPr>
              <a:t>FKB Campus  ·  M04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EDED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09728"/>
            <a:ext cx="108173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>
                <a:solidFill>
                  <a:srgbClr val="78808C"/>
                </a:solidFill>
                <a:latin typeface="Consolas"/>
              </a:rPr>
              <a:t>M04  ·  INHALT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234440"/>
            <a:ext cx="12188952" cy="12700"/>
          </a:xfrm>
          <a:prstGeom prst="rect">
            <a:avLst/>
          </a:prstGeom>
          <a:solidFill>
            <a:srgbClr val="D8DF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85800" y="502920"/>
            <a:ext cx="36576" cy="658368"/>
          </a:xfrm>
          <a:prstGeom prst="rect">
            <a:avLst/>
          </a:prstGeom>
          <a:solidFill>
            <a:srgbClr val="D9C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13816" y="502920"/>
            <a:ext cx="10634472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1F2C56"/>
                </a:solidFill>
                <a:latin typeface="Arial"/>
              </a:rPr>
              <a:t>Frühwarnindikatoren: quantitativ und qualitativ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1417320"/>
            <a:ext cx="10817352" cy="4892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marL="177800" indent="-177800">
              <a:spcBef>
                <a:spcPts val="600"/>
              </a:spcBef>
              <a:spcAft>
                <a:spcPts val="200"/>
              </a:spcAft>
            </a:pPr>
            <a:r>
              <a:rPr sz="1200" i="1">
                <a:solidFill>
                  <a:srgbClr val="3D5466"/>
                </a:solidFill>
                <a:latin typeface="Arial"/>
              </a:rPr>
              <a:t>→  Die härtesten Frühsignale sind oft weich – Verhalten, Kommunikation, Kontobewegungen, nicht die Jahresbilanz.</a:t>
            </a:r>
          </a:p>
          <a:p>
            <a:pPr marL="190500" indent="-190500"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Quantitativ: Kontokorrent-Auslastung, Zinsverzug, rückläufige Umsätze, Ratingverschlechterung.</a:t>
            </a:r>
          </a:p>
          <a:p>
            <a:pPr marL="190500" indent="-190500"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Qualitativ: verzögerte Unterlagen, Führungswechsel, Auftragsstornos, Gesprächsvermeidung.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85800" y="6583680"/>
            <a:ext cx="649041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Consolas"/>
              </a:rPr>
              <a:t>FKB Campus  ·  M04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09728"/>
            <a:ext cx="108173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>
                <a:solidFill>
                  <a:srgbClr val="78808C"/>
                </a:solidFill>
                <a:latin typeface="Consolas"/>
              </a:rPr>
              <a:t>M04  ·  SCHAUBILD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502920"/>
            <a:ext cx="10817352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 i="0">
                <a:solidFill>
                  <a:srgbClr val="1F2C56"/>
                </a:solidFill>
                <a:latin typeface="Arial"/>
              </a:rPr>
              <a:t>Die Frühwarn-Ampelkarte</a:t>
            </a:r>
          </a:p>
        </p:txBody>
      </p:sp>
      <p:sp>
        <p:nvSpPr>
          <p:cNvPr id="6" name="Rectangle 5"/>
          <p:cNvSpPr/>
          <p:nvPr/>
        </p:nvSpPr>
        <p:spPr>
          <a:xfrm>
            <a:off x="685800" y="1143000"/>
            <a:ext cx="10817352" cy="25400"/>
          </a:xfrm>
          <a:prstGeom prst="rect">
            <a:avLst/>
          </a:prstGeom>
          <a:solidFill>
            <a:srgbClr val="D9C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163921" y="1325880"/>
            <a:ext cx="7861110" cy="4937760"/>
          </a:xfrm>
          <a:prstGeom prst="rect">
            <a:avLst/>
          </a:prstGeom>
        </p:spPr>
      </p:pic>
      <p:sp>
        <p:nvSpPr>
          <p:cNvPr id="8" name="Rectangle 7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85800" y="6583680"/>
            <a:ext cx="649041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Consolas"/>
              </a:rPr>
              <a:t>FKB Campus  ·  M04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176211" y="6583680"/>
            <a:ext cx="432694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700">
                <a:solidFill>
                  <a:srgbClr val="A0B4D2"/>
                </a:solidFill>
                <a:latin typeface="Consolas"/>
              </a:rPr>
              <a:t>Schaubild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EDED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09728"/>
            <a:ext cx="108173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>
                <a:solidFill>
                  <a:srgbClr val="78808C"/>
                </a:solidFill>
                <a:latin typeface="Consolas"/>
              </a:rPr>
              <a:t>M04  ·  INHALT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234440"/>
            <a:ext cx="12188952" cy="12700"/>
          </a:xfrm>
          <a:prstGeom prst="rect">
            <a:avLst/>
          </a:prstGeom>
          <a:solidFill>
            <a:srgbClr val="D8DF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85800" y="502920"/>
            <a:ext cx="36576" cy="658368"/>
          </a:xfrm>
          <a:prstGeom prst="rect">
            <a:avLst/>
          </a:prstGeom>
          <a:solidFill>
            <a:srgbClr val="D9C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13816" y="502920"/>
            <a:ext cx="10634472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1F2C56"/>
                </a:solidFill>
                <a:latin typeface="Arial"/>
              </a:rPr>
              <a:t>Eskalationspfade: wer handelt wann?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1417320"/>
            <a:ext cx="10817352" cy="4892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marL="177800" indent="-177800">
              <a:spcBef>
                <a:spcPts val="600"/>
              </a:spcBef>
              <a:spcAft>
                <a:spcPts val="200"/>
              </a:spcAft>
            </a:pPr>
            <a:r>
              <a:rPr sz="1200" i="1">
                <a:solidFill>
                  <a:srgbClr val="3D5466"/>
                </a:solidFill>
                <a:latin typeface="Arial"/>
              </a:rPr>
              <a:t>→  Ein erkanntes Signal ist wertlos ohne klaren Eskalationspfad – wer wird wann informiert?</a:t>
            </a:r>
          </a:p>
          <a:p>
            <a:pPr marL="190500" indent="-190500"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Gelb: Beobachtung intensivieren, Risikovermerk in agree, Gespräch suchen.</a:t>
            </a:r>
          </a:p>
          <a:p>
            <a:pPr marL="190500" indent="-190500"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Rot: Teamleiter und Marktfolge informieren, keine eigenständigen Zusagen.</a:t>
            </a:r>
          </a:p>
          <a:p>
            <a:pPr marL="190500" indent="-190500"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Bei Insolvenzantrag: umgehend die Problemkreditabteilung.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85800" y="6583680"/>
            <a:ext cx="649041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Consolas"/>
              </a:rPr>
              <a:t>FKB Campus  ·  M04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09728"/>
            <a:ext cx="108173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>
                <a:solidFill>
                  <a:srgbClr val="78808C"/>
                </a:solidFill>
                <a:latin typeface="Consolas"/>
              </a:rPr>
              <a:t>M04  ·  SCHAUBILD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502920"/>
            <a:ext cx="10817352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 i="0">
                <a:solidFill>
                  <a:srgbClr val="1F2C56"/>
                </a:solidFill>
                <a:latin typeface="Arial"/>
              </a:rPr>
              <a:t>Handlungsempfehlung: vom Warnsignal zur Eskalation</a:t>
            </a:r>
          </a:p>
        </p:txBody>
      </p:sp>
      <p:sp>
        <p:nvSpPr>
          <p:cNvPr id="6" name="Rectangle 5"/>
          <p:cNvSpPr/>
          <p:nvPr/>
        </p:nvSpPr>
        <p:spPr>
          <a:xfrm>
            <a:off x="685800" y="1143000"/>
            <a:ext cx="10817352" cy="25400"/>
          </a:xfrm>
          <a:prstGeom prst="rect">
            <a:avLst/>
          </a:prstGeom>
          <a:solidFill>
            <a:srgbClr val="D9C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03489" y="1325880"/>
            <a:ext cx="7581973" cy="4937760"/>
          </a:xfrm>
          <a:prstGeom prst="rect">
            <a:avLst/>
          </a:prstGeom>
        </p:spPr>
      </p:pic>
      <p:sp>
        <p:nvSpPr>
          <p:cNvPr id="8" name="Rectangle 7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85800" y="6583680"/>
            <a:ext cx="649041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Consolas"/>
              </a:rPr>
              <a:t>FKB Campus  ·  M04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176211" y="6583680"/>
            <a:ext cx="432694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700">
                <a:solidFill>
                  <a:srgbClr val="A0B4D2"/>
                </a:solidFill>
                <a:latin typeface="Consolas"/>
              </a:rPr>
              <a:t>Schaubild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2377440"/>
            <a:ext cx="10817352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200">
                <a:solidFill>
                  <a:srgbClr val="D9C089"/>
                </a:solidFill>
                <a:latin typeface="Consolas"/>
              </a:rPr>
              <a:t>FALLARBEIT</a:t>
            </a:r>
          </a:p>
        </p:txBody>
      </p:sp>
      <p:sp>
        <p:nvSpPr>
          <p:cNvPr id="4" name="Rectangle 3"/>
          <p:cNvSpPr/>
          <p:nvPr/>
        </p:nvSpPr>
        <p:spPr>
          <a:xfrm>
            <a:off x="685800" y="2788920"/>
            <a:ext cx="548640" cy="38100"/>
          </a:xfrm>
          <a:prstGeom prst="rect">
            <a:avLst/>
          </a:prstGeom>
          <a:solidFill>
            <a:srgbClr val="D9C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85800" y="3017520"/>
            <a:ext cx="10817352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000" b="1" i="0">
                <a:solidFill>
                  <a:srgbClr val="FFFFFF"/>
                </a:solidFill>
                <a:latin typeface="Arial"/>
              </a:rPr>
              <a:t>Praxiscase Renner Metallverarbeitung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4480560"/>
            <a:ext cx="8653881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0">
                <a:solidFill>
                  <a:srgbClr val="C8D2E6"/>
                </a:solidFill>
                <a:latin typeface="Arial"/>
              </a:rPr>
              <a:t>Die Ampel-Checkliste auf einen echten Kunden anwenden.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6355080"/>
            <a:ext cx="10817352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8CA0C3"/>
                </a:solidFill>
                <a:latin typeface="Consolas"/>
              </a:rPr>
              <a:t>FKB Campus  ·  M04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EDED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09728"/>
            <a:ext cx="108173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>
                <a:solidFill>
                  <a:srgbClr val="78808C"/>
                </a:solidFill>
                <a:latin typeface="Consolas"/>
              </a:rPr>
              <a:t>M04  ·  ARBEITSBLATT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234440"/>
            <a:ext cx="12188952" cy="12700"/>
          </a:xfrm>
          <a:prstGeom prst="rect">
            <a:avLst/>
          </a:prstGeom>
          <a:solidFill>
            <a:srgbClr val="D8DF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85800" y="502920"/>
            <a:ext cx="36576" cy="658368"/>
          </a:xfrm>
          <a:prstGeom prst="rect">
            <a:avLst/>
          </a:prstGeom>
          <a:solidFill>
            <a:srgbClr val="D9C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13816" y="502920"/>
            <a:ext cx="10634472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1F2C56"/>
                </a:solidFill>
                <a:latin typeface="Arial"/>
              </a:rPr>
              <a:t>Praxiscase Renner bearbeiten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1554480"/>
            <a:ext cx="10817352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190500" indent="-190500">
              <a:spcBef>
                <a:spcPts val="400"/>
              </a:spcBef>
              <a:spcAft>
                <a:spcPts val="200"/>
              </a:spcAft>
            </a:pPr>
            <a:r>
              <a:rPr sz="1400">
                <a:solidFill>
                  <a:srgbClr val="3D5466"/>
                </a:solidFill>
                <a:latin typeface="Arial"/>
              </a:rPr>
              <a:t>▸  Füllen Sie die Ampel-Checkliste für die Renner Metallverarbeitung GmbH aus (AB-1).</a:t>
            </a:r>
          </a:p>
          <a:p>
            <a:pPr marL="190500" indent="-190500">
              <a:spcBef>
                <a:spcPts val="400"/>
              </a:spcBef>
              <a:spcAft>
                <a:spcPts val="200"/>
              </a:spcAft>
            </a:pPr>
            <a:r>
              <a:rPr sz="1400">
                <a:solidFill>
                  <a:srgbClr val="3D5466"/>
                </a:solidFill>
                <a:latin typeface="Arial"/>
              </a:rPr>
              <a:t>▸  Bestimmen Sie die Krisenphase und die passenden Frühwarnindikatoren.</a:t>
            </a:r>
          </a:p>
          <a:p>
            <a:pPr marL="190500" indent="-190500">
              <a:spcBef>
                <a:spcPts val="400"/>
              </a:spcBef>
              <a:spcAft>
                <a:spcPts val="200"/>
              </a:spcAft>
            </a:pPr>
            <a:r>
              <a:rPr sz="1400">
                <a:solidFill>
                  <a:srgbClr val="3D5466"/>
                </a:solidFill>
                <a:latin typeface="Arial"/>
              </a:rPr>
              <a:t>▸  Leiten Sie Maßnahmen und den Eskalationspfad ab (AB-2).</a:t>
            </a:r>
          </a:p>
        </p:txBody>
      </p:sp>
      <p:sp>
        <p:nvSpPr>
          <p:cNvPr id="9" name="Rectangle 8"/>
          <p:cNvSpPr/>
          <p:nvPr/>
        </p:nvSpPr>
        <p:spPr>
          <a:xfrm>
            <a:off x="685800" y="5486400"/>
            <a:ext cx="10817352" cy="640080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68680" y="5596128"/>
            <a:ext cx="10451592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  <a:latin typeface="Arial"/>
              </a:rPr>
              <a:t>→  Bearbeitung im Teilnehmer-Workbook (Arbeitsblatt mit Ausfüllfeldern)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85800" y="6583680"/>
            <a:ext cx="649041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Consolas"/>
              </a:rPr>
              <a:t>FKB Campus  ·  M04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EDED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09728"/>
            <a:ext cx="108173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>
                <a:solidFill>
                  <a:srgbClr val="78808C"/>
                </a:solidFill>
                <a:latin typeface="Consolas"/>
              </a:rPr>
              <a:t>M04  ·  INHALT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234440"/>
            <a:ext cx="12188952" cy="12700"/>
          </a:xfrm>
          <a:prstGeom prst="rect">
            <a:avLst/>
          </a:prstGeom>
          <a:solidFill>
            <a:srgbClr val="D8DF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85800" y="502920"/>
            <a:ext cx="36576" cy="658368"/>
          </a:xfrm>
          <a:prstGeom prst="rect">
            <a:avLst/>
          </a:prstGeom>
          <a:solidFill>
            <a:srgbClr val="D9C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13816" y="502920"/>
            <a:ext cx="10634472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1F2C56"/>
                </a:solidFill>
                <a:latin typeface="Arial"/>
              </a:rPr>
              <a:t>Prinzip dieses Moduls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1417320"/>
            <a:ext cx="10817352" cy="4892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marL="177800" indent="-177800">
              <a:spcBef>
                <a:spcPts val="600"/>
              </a:spcBef>
              <a:spcAft>
                <a:spcPts val="200"/>
              </a:spcAft>
            </a:pPr>
            <a:r>
              <a:rPr sz="1200" i="1">
                <a:solidFill>
                  <a:srgbClr val="3D5466"/>
                </a:solidFill>
                <a:latin typeface="Arial"/>
              </a:rPr>
              <a:t>→  Das erste Warnsignal steht selten in der Bilanz – meist im Kontokorrent.</a:t>
            </a:r>
          </a:p>
          <a:p>
            <a:pPr marL="190500" indent="-190500"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Qualitative Frühindikatoren laufen den Kennzahlen voraus; reagiere auf das schwache Signal, nicht erst auf den Schaden.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85800" y="6583680"/>
            <a:ext cx="649041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Consolas"/>
              </a:rPr>
              <a:t>FKB Campus  ·  M04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EDED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09728"/>
            <a:ext cx="108173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>
                <a:solidFill>
                  <a:srgbClr val="78808C"/>
                </a:solidFill>
                <a:latin typeface="Consolas"/>
              </a:rPr>
              <a:t>M04  ·  INHALT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234440"/>
            <a:ext cx="12188952" cy="12700"/>
          </a:xfrm>
          <a:prstGeom prst="rect">
            <a:avLst/>
          </a:prstGeom>
          <a:solidFill>
            <a:srgbClr val="D8DF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85800" y="502920"/>
            <a:ext cx="36576" cy="658368"/>
          </a:xfrm>
          <a:prstGeom prst="rect">
            <a:avLst/>
          </a:prstGeom>
          <a:solidFill>
            <a:srgbClr val="D9C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13816" y="502920"/>
            <a:ext cx="10634472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1F2C56"/>
                </a:solidFill>
                <a:latin typeface="Arial"/>
              </a:rPr>
              <a:t>Reflexion und Selbstcheck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1417320"/>
            <a:ext cx="10817352" cy="4892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marL="190500" indent="-190500"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Bei welchem Kunden ignorieren Sie gerade ein schwaches Signal, weil die Zahlen noch stimmen?</a:t>
            </a:r>
          </a:p>
          <a:p>
            <a:pPr marL="190500" indent="-190500"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Welchen qualitativen Frühindikator übersehen Sie im Alltag am ehesten?</a:t>
            </a:r>
          </a:p>
          <a:p>
            <a:pPr marL="190500" indent="-190500"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Kennen Sie Ihren Eskalationspfad für die rote Ampel – auswendig?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85800" y="6583680"/>
            <a:ext cx="649041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Consolas"/>
              </a:rPr>
              <a:t>FKB Campus  ·  M04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