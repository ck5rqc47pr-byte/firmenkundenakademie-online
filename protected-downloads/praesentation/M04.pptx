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(Trainer-Version)</a:t>
            </a:r>
          </a:p>
          <a:p>
            <a:r>
              <a:t>AB-1 Ergebnisse:</a:t>
            </a:r>
          </a:p>
          <a:p>
            <a:r>
              <a:t>Gesamtpunktzahl: mindestens 13–15 / 20 → Rot-Einstufung</a:t>
            </a:r>
          </a:p>
          <a:p>
            <a:r>
              <a:t>AB-2 Musterlösung:</a:t>
            </a:r>
          </a:p>
          <a:p>
            <a:r>
              <a:t>Krisenphase 2 (Latente Krise): Krise ist vorhanden (Leverage 5,4x, KK 91 %, fallende EBITDA-Marge über 3 Jahre), aber noch kein Zahlungsausfall. Übergang zu Phase 3 droht ohne Gegenmaßnahmen.</a:t>
            </a:r>
          </a:p>
          <a:p>
            <a:r>
              <a:t>Dominantes Signal: Leverage 5,4x bei fallendem EBITDA — der Schuldendienst ist gefährdet. Ergänzend: KK-Inanspruchnahme 91 % = Liquiditätspuffer nahezu aufgebraucht.</a:t>
            </a:r>
          </a:p>
          <a:p>
            <a:r>
              <a:t>Eskalation Rot: Sofortige Meldung an Teamleiter (&lt; 48 Stunden). Keine eigenständigen Zusagen oder Linienerhöhungen. Marktfolge zur Sicherheitenbewertung einschalten.</a:t>
            </a:r>
          </a:p>
          <a:p>
            <a:r>
              <a:t>Musterformulierungen Aufgabe A4:</a:t>
            </a:r>
          </a:p>
          <a:p>
            <a:r>
              <a:t>1. „Wie entwickelt sich der Auftragsbestand bei Ihrem Hauptkunden — haben Sie Aufträge für die nächsten 6 Monate gesichert?"</a:t>
            </a:r>
          </a:p>
          <a:p>
            <a:r>
              <a:t>2. „Ihr Jahresabschluss liegt uns noch nicht vor. Können wir Ihren Steuerberater direkt kontaktieren?"</a:t>
            </a:r>
          </a:p>
          <a:p>
            <a:r>
              <a:t>3. „Wie haben Sie die langfristige Führung des Unternehmens geregelt — haben Sie schon konkrete Überlegungen zur Nachfolge?"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Kreditausfälle kündigen sich an – oft Monate vorher, in Zahlen und Verhalten.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wichtigsten Frühwarnsignale systematisch zu erkennen und mit einer Ampellogik zu bewerten.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identifizieren Sie gefährdete Engagements frühzeitig und dokumentieren Ihre Einschätzung MaRisk-konform.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30–45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+ 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45–65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65–80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80–88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 +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Indikator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Umsatz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5–8 %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Netto-Finanzverbindlichkeiten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KK-Inanspruchnahme (Ø)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Ø-Inanspruchnahme / Limit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Jahresabschluss-Vorlage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Monate nach Geschäftsjahresende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9 / Verweigerung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Zusatzinformationen aus dem letzten Gespräch (vor 6 Wochen):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(Berichtsjahr aktuell) vollständig 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