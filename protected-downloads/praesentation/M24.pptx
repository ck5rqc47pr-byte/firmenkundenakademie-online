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AB-2 Musterlösung (Trainer-Version)</a:t>
            </a:r>
          </a:p>
          <a:p>
            <a:r>
              <a:t>Nachhaltiger Netto-Überschuss = 750 × 0,70 = 525 TEUR.</a:t>
            </a:r>
          </a:p>
          <a:p>
            <a:r>
              <a:t>Ertragswert (betriebsnotw.) = 525 / 0,099 ≈ 5.303 TEUR; Ertragswert gesamt = 5.303 + 500 ≈ 5.800 TEUR.</a:t>
            </a:r>
          </a:p>
          <a:p>
            <a:r>
              <a:t>Enterprise Value (Multiple) = 750 × 6,0 = 4.500 TEUR; Eigenkapitalwert (Multiple) = 4.500 − 700 + 500 = 4.300 TEUR.</a:t>
            </a:r>
          </a:p>
          <a:p>
            <a:r>
              <a:t>Wertbandbreite ≈ 4,3 bis 5,8 Mio. EUR, plausibler Verhandlungskorridor um ca. 5,0 Mio. EUR.</a:t>
            </a:r>
          </a:p>
          <a:p>
            <a:r>
              <a:t>Kernbefund: Der Ertragswert liegt rund 1,5 Mio. EUR über dem Multiple-Wert. Das ist kein Rechenfehler, sondern Ausdruck dessen, dass der Ertragswert einen theoretischen, personenunabhängig fortgeführten Erfolg unterstellt, während das Marktmultiple die reale Personenabhängigkeit und Transaktionsabschläge einpreist. Genau diese Differenz ist das Gespräch: Eine geordnete, mehrjährige Übergabe mit Earn-out hebt den realisierbaren Preis in Richtung Ertragswert.</a:t>
            </a:r>
          </a:p>
          <a:p>
            <a:r>
              <a:t>Trainer-Hinweis: Die Zahlen sind ein Korridor, kein Gutachten. Entscheidend ist, dass die Teilnehmer (a) die Bandbreite begründen und (b) erkennen, dass die Personenabhängigkeit der zentrale, durch eine geordnete Übergabe beeinflussbare Werthebel 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M24</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Unternehmensbewertung, Nachfolge und Verkauf</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Den Wert eines Lebenswerks ermitteln und den Übergabeprozess begleiten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K-03 Gesprächsführung &amp; Beratung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Strategischer 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v1.0</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M24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Wenn der Inhaber 62 ist und keinen Nachfolger hat, entscheidet sich die Zukunft des Unternehmens – und oft auch die der Hausbankbeziehung.</a:t>
            </a:r>
          </a:p>
          <a:p>
            <a:pPr>
              <a:spcAft>
                <a:spcPts val="1200"/>
              </a:spcAft>
            </a:pPr>
            <a:r>
              <a:rPr sz="1700">
                <a:solidFill>
                  <a:srgbClr val="3D5466"/>
                </a:solidFill>
                <a:latin typeface="Arial"/>
              </a:rPr>
              <a:t>Dieses Premium-Modul verbindet die fachliche und die menschliche Seite der Nachfolge: Sie ermitteln einen belastbaren Unternehmenswert mit drei Verfahren (Ertragswert, DCF, Multiples), erklären die Wertbandbreite statt einer Scheingenauigkeit und führen den Übergabedialog beziehungssensibel.</a:t>
            </a:r>
          </a:p>
          <a:p>
            <a:pPr>
              <a:spcAft>
                <a:spcPts val="1200"/>
              </a:spcAft>
            </a:pPr>
            <a:r>
              <a:rPr sz="1700">
                <a:solidFill>
                  <a:srgbClr val="3D5466"/>
                </a:solidFill>
                <a:latin typeface="Arial"/>
              </a:rPr>
              <a:t>Danach erkennen Sie Nachfolgebedarf früh, ordnen Bewertungsergebnisse ein und begleiten Inhaber als Initiator, Übersetzer und Verbundpartner-Vermittler – ohne WP, Steuerberater oder M&amp;A-Berater zu ersetzen.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Bewertungsanlässe und passende Verfahren (Ertragswert, DCF, Multiples) einem konkreten Fall zuordnen</a:t>
            </a:r>
          </a:p>
          <a:p>
            <a:pPr>
              <a:spcBef>
                <a:spcPts val="800"/>
              </a:spcBef>
              <a:spcAft>
                <a:spcPts val="200"/>
              </a:spcAft>
            </a:pPr>
            <a:r>
              <a:rPr sz="1400">
                <a:solidFill>
                  <a:srgbClr val="3D5466"/>
                </a:solidFill>
                <a:latin typeface="Arial"/>
              </a:rPr>
              <a:t>▸  Werttreiber und KMU-Korrekturen (kalkulatorischer Unternehmerlohn, nicht betriebsnotwendiges Vermögen, Personenabhängigkeit) aus einem Zahlenwerk herausarbeiten</a:t>
            </a:r>
          </a:p>
          <a:p>
            <a:pPr>
              <a:spcBef>
                <a:spcPts val="800"/>
              </a:spcBef>
              <a:spcAft>
                <a:spcPts val="200"/>
              </a:spcAft>
            </a:pPr>
            <a:r>
              <a:rPr sz="1400">
                <a:solidFill>
                  <a:srgbClr val="3D5466"/>
                </a:solidFill>
                <a:latin typeface="Arial"/>
              </a:rPr>
              <a:t>▸  Eine Wertbandbreite beurteilen und sie dem Inhaber begründet und ohne Scheingenauigkeit kommunizieren</a:t>
            </a:r>
          </a:p>
          <a:p>
            <a:pPr>
              <a:spcBef>
                <a:spcPts val="800"/>
              </a:spcBef>
              <a:spcAft>
                <a:spcPts val="200"/>
              </a:spcAft>
            </a:pPr>
            <a:r>
              <a:rPr sz="1400">
                <a:solidFill>
                  <a:srgbClr val="3D5466"/>
                </a:solidFill>
                <a:latin typeface="Arial"/>
              </a:rPr>
              <a:t>▸  Verkaufs- und Übergabeoptionen (familienintern, Management-Buy-out, externer Verkauf über Verbundpartner) gegeneinander abwägen</a:t>
            </a:r>
          </a:p>
          <a:p>
            <a:pPr>
              <a:spcBef>
                <a:spcPts val="800"/>
              </a:spcBef>
              <a:spcAft>
                <a:spcPts val="200"/>
              </a:spcAft>
            </a:pPr>
            <a:r>
              <a:rPr sz="1400">
                <a:solidFill>
                  <a:srgbClr val="3D5466"/>
                </a:solidFill>
                <a:latin typeface="Arial"/>
              </a:rPr>
              <a:t>▸  Einen Bewertungs- und Nachfolge-Gesprächsleitfaden für einen konkreten Inhaber entwerfen, der Fachlichkeit und emotionale Dimension verbindet</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AGENDA  ·  M24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09:00–09:20 </a:t>
            </a:r>
            <a:r>
              <a:rPr sz="1200" b="1">
                <a:solidFill>
                  <a:srgbClr val="3D5466"/>
                </a:solidFill>
                <a:latin typeface="Arial"/>
              </a:rPr>
              <a:t>  Einstieg</a:t>
            </a:r>
            <a:r>
              <a:rPr sz="900">
                <a:solidFill>
                  <a:srgbClr val="78808C"/>
                </a:solidFill>
                <a:latin typeface="Arial"/>
              </a:rPr>
              <a:t>  ·  Impuls + Diskussion</a:t>
            </a:r>
          </a:p>
          <a:p>
            <a:pPr>
              <a:spcBef>
                <a:spcPts val="400"/>
              </a:spcBef>
              <a:spcAft>
                <a:spcPts val="100"/>
              </a:spcAft>
            </a:pPr>
            <a:r>
              <a:rPr sz="900">
                <a:solidFill>
                  <a:srgbClr val="78808C"/>
                </a:solidFill>
                <a:latin typeface="Consolas"/>
              </a:rPr>
              <a:t>09:20–10:15 </a:t>
            </a:r>
            <a:r>
              <a:rPr sz="1200" b="1">
                <a:solidFill>
                  <a:srgbClr val="3D5466"/>
                </a:solidFill>
                <a:latin typeface="Arial"/>
              </a:rPr>
              <a:t>  Input 1</a:t>
            </a:r>
            <a:r>
              <a:rPr sz="900">
                <a:solidFill>
                  <a:srgbClr val="78808C"/>
                </a:solidFill>
                <a:latin typeface="Arial"/>
              </a:rPr>
              <a:t>  ·  Interaktiver Vortrag</a:t>
            </a:r>
          </a:p>
          <a:p>
            <a:pPr>
              <a:spcBef>
                <a:spcPts val="400"/>
              </a:spcBef>
              <a:spcAft>
                <a:spcPts val="100"/>
              </a:spcAft>
            </a:pPr>
            <a:r>
              <a:rPr sz="900">
                <a:solidFill>
                  <a:srgbClr val="78808C"/>
                </a:solidFill>
                <a:latin typeface="Consolas"/>
              </a:rPr>
              <a:t>10:15–11:00 </a:t>
            </a:r>
            <a:r>
              <a:rPr sz="1200" b="1">
                <a:solidFill>
                  <a:srgbClr val="3D5466"/>
                </a:solidFill>
                <a:latin typeface="Arial"/>
              </a:rPr>
              <a:t>  Übung 1</a:t>
            </a:r>
            <a:r>
              <a:rPr sz="900">
                <a:solidFill>
                  <a:srgbClr val="78808C"/>
                </a:solidFill>
                <a:latin typeface="Arial"/>
              </a:rPr>
              <a:t>  ·  Partnerarbeit</a:t>
            </a:r>
          </a:p>
          <a:p>
            <a:pPr>
              <a:spcBef>
                <a:spcPts val="400"/>
              </a:spcBef>
              <a:spcAft>
                <a:spcPts val="100"/>
              </a:spcAft>
            </a:pPr>
            <a:r>
              <a:rPr sz="900">
                <a:solidFill>
                  <a:srgbClr val="78808C"/>
                </a:solidFill>
                <a:latin typeface="Consolas"/>
              </a:rPr>
              <a:t>11:00–11:15 </a:t>
            </a:r>
            <a:r>
              <a:rPr sz="1200" b="1">
                <a:solidFill>
                  <a:srgbClr val="3D5466"/>
                </a:solidFill>
                <a:latin typeface="Arial"/>
              </a:rPr>
              <a:t>  Pause</a:t>
            </a:r>
          </a:p>
          <a:p>
            <a:pPr>
              <a:spcBef>
                <a:spcPts val="400"/>
              </a:spcBef>
              <a:spcAft>
                <a:spcPts val="100"/>
              </a:spcAft>
            </a:pPr>
            <a:r>
              <a:rPr sz="900">
                <a:solidFill>
                  <a:srgbClr val="78808C"/>
                </a:solidFill>
                <a:latin typeface="Consolas"/>
              </a:rPr>
              <a:t>11:15–12:30 </a:t>
            </a:r>
            <a:r>
              <a:rPr sz="1200" b="1">
                <a:solidFill>
                  <a:srgbClr val="3D5466"/>
                </a:solidFill>
                <a:latin typeface="Arial"/>
              </a:rPr>
              <a:t>  Übung 2</a:t>
            </a:r>
            <a:r>
              <a:rPr sz="900">
                <a:solidFill>
                  <a:srgbClr val="78808C"/>
                </a:solidFill>
                <a:latin typeface="Arial"/>
              </a:rPr>
              <a:t>  ·  Einzel-/Partnerarbeit</a:t>
            </a:r>
          </a:p>
          <a:p>
            <a:pPr>
              <a:spcBef>
                <a:spcPts val="400"/>
              </a:spcBef>
              <a:spcAft>
                <a:spcPts val="100"/>
              </a:spcAft>
            </a:pPr>
            <a:r>
              <a:rPr sz="900">
                <a:solidFill>
                  <a:srgbClr val="78808C"/>
                </a:solidFill>
                <a:latin typeface="Consolas"/>
              </a:rPr>
              <a:t>12:30–13:30 </a:t>
            </a:r>
            <a:r>
              <a:rPr sz="1200" b="1">
                <a:solidFill>
                  <a:srgbClr val="3D5466"/>
                </a:solidFill>
                <a:latin typeface="Arial"/>
              </a:rPr>
              <a:t>  Mittag</a:t>
            </a:r>
          </a:p>
          <a:p>
            <a:pPr>
              <a:spcBef>
                <a:spcPts val="400"/>
              </a:spcBef>
              <a:spcAft>
                <a:spcPts val="100"/>
              </a:spcAft>
            </a:pPr>
            <a:r>
              <a:rPr sz="900">
                <a:solidFill>
                  <a:srgbClr val="78808C"/>
                </a:solidFill>
                <a:latin typeface="Consolas"/>
              </a:rPr>
              <a:t>13:30–14:15 </a:t>
            </a:r>
            <a:r>
              <a:rPr sz="1200" b="1">
                <a:solidFill>
                  <a:srgbClr val="3D5466"/>
                </a:solidFill>
                <a:latin typeface="Arial"/>
              </a:rPr>
              <a:t>  Input 2</a:t>
            </a:r>
            <a:r>
              <a:rPr sz="900">
                <a:solidFill>
                  <a:srgbClr val="78808C"/>
                </a:solidFill>
                <a:latin typeface="Arial"/>
              </a:rPr>
              <a:t>  ·  Vortrag + Diskussion</a:t>
            </a:r>
          </a:p>
          <a:p>
            <a:pPr>
              <a:spcBef>
                <a:spcPts val="400"/>
              </a:spcBef>
              <a:spcAft>
                <a:spcPts val="100"/>
              </a:spcAft>
            </a:pPr>
            <a:r>
              <a:rPr sz="900">
                <a:solidFill>
                  <a:srgbClr val="78808C"/>
                </a:solidFill>
                <a:latin typeface="Consolas"/>
              </a:rPr>
              <a:t>14:15–15:00 </a:t>
            </a:r>
            <a:r>
              <a:rPr sz="1200" b="1">
                <a:solidFill>
                  <a:srgbClr val="3D5466"/>
                </a:solidFill>
                <a:latin typeface="Arial"/>
              </a:rPr>
              <a:t>  Übung 3</a:t>
            </a:r>
            <a:r>
              <a:rPr sz="900">
                <a:solidFill>
                  <a:srgbClr val="78808C"/>
                </a:solidFill>
                <a:latin typeface="Arial"/>
              </a:rPr>
              <a:t>  ·  Gruppenarbeit</a:t>
            </a:r>
          </a:p>
          <a:p>
            <a:pPr>
              <a:spcBef>
                <a:spcPts val="400"/>
              </a:spcBef>
              <a:spcAft>
                <a:spcPts val="100"/>
              </a:spcAft>
            </a:pPr>
            <a:r>
              <a:rPr sz="900">
                <a:solidFill>
                  <a:srgbClr val="78808C"/>
                </a:solidFill>
                <a:latin typeface="Consolas"/>
              </a:rPr>
              <a:t>15:00–15:15 </a:t>
            </a:r>
            <a:r>
              <a:rPr sz="1200" b="1">
                <a:solidFill>
                  <a:srgbClr val="3D5466"/>
                </a:solidFill>
                <a:latin typeface="Arial"/>
              </a:rPr>
              <a:t>  Pause</a:t>
            </a:r>
          </a:p>
          <a:p>
            <a:pPr>
              <a:spcBef>
                <a:spcPts val="400"/>
              </a:spcBef>
              <a:spcAft>
                <a:spcPts val="100"/>
              </a:spcAft>
            </a:pPr>
            <a:r>
              <a:rPr sz="900">
                <a:solidFill>
                  <a:srgbClr val="78808C"/>
                </a:solidFill>
                <a:latin typeface="Consolas"/>
              </a:rPr>
              <a:t>15:15–16:40 </a:t>
            </a:r>
            <a:r>
              <a:rPr sz="1200" b="1">
                <a:solidFill>
                  <a:srgbClr val="3D5466"/>
                </a:solidFill>
                <a:latin typeface="Arial"/>
              </a:rPr>
              <a:t>  Übung 4</a:t>
            </a:r>
            <a:r>
              <a:rPr sz="900">
                <a:solidFill>
                  <a:srgbClr val="78808C"/>
                </a:solidFill>
                <a:latin typeface="Arial"/>
              </a:rPr>
              <a:t>  ·  Rollenspiel</a:t>
            </a:r>
          </a:p>
          <a:p>
            <a:pPr>
              <a:spcBef>
                <a:spcPts val="400"/>
              </a:spcBef>
              <a:spcAft>
                <a:spcPts val="100"/>
              </a:spcAft>
            </a:pPr>
            <a:r>
              <a:rPr sz="900">
                <a:solidFill>
                  <a:srgbClr val="78808C"/>
                </a:solidFill>
                <a:latin typeface="Consolas"/>
              </a:rPr>
              <a:t>16:40–17:00 </a:t>
            </a:r>
            <a:r>
              <a:rPr sz="1200" b="1">
                <a:solidFill>
                  <a:srgbClr val="3D5466"/>
                </a:solidFill>
                <a:latin typeface="Arial"/>
              </a:rPr>
              <a:t>  Abschluss</a:t>
            </a:r>
            <a:r>
              <a:rPr sz="900">
                <a:solidFill>
                  <a:srgbClr val="78808C"/>
                </a:solidFill>
                <a:latin typeface="Arial"/>
              </a:rPr>
              <a:t>  ·  Plenum</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Die drei Verfahrensfamilien der Unternehmensbewertung</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1000"/>
              </a:spcBef>
              <a:spcAft>
                <a:spcPts val="200"/>
              </a:spcAft>
            </a:pPr>
            <a:r>
              <a:rPr sz="800" b="1">
                <a:solidFill>
                  <a:srgbClr val="78808C"/>
                </a:solidFill>
                <a:latin typeface="JetBrains Mono"/>
              </a:rPr>
              <a:t>WARUM EIN BERATER BEWERTUNG VERSTEHEN MUSS</a:t>
            </a:r>
          </a:p>
          <a:p>
            <a:pPr>
              <a:spcBef>
                <a:spcPts val="1000"/>
              </a:spcBef>
              <a:spcAft>
                <a:spcPts val="200"/>
              </a:spcAft>
            </a:pPr>
            <a:r>
              <a:rPr sz="800" b="1">
                <a:solidFill>
                  <a:srgbClr val="78808C"/>
                </a:solidFill>
                <a:latin typeface="JetBrains Mono"/>
              </a:rPr>
              <a:t>ANLASS UND FUNKTION: DER ORIENTIERUNGSWERT</a:t>
            </a:r>
          </a:p>
          <a:p>
            <a:pPr>
              <a:spcBef>
                <a:spcPts val="1000"/>
              </a:spcBef>
              <a:spcAft>
                <a:spcPts val="200"/>
              </a:spcAft>
            </a:pPr>
            <a:r>
              <a:rPr sz="800" b="1">
                <a:solidFill>
                  <a:srgbClr val="78808C"/>
                </a:solidFill>
                <a:latin typeface="JetBrains Mono"/>
              </a:rPr>
              <a:t>DIE DREI VERFAHRENSFAMILIEN</a:t>
            </a:r>
          </a:p>
          <a:p>
            <a:pPr>
              <a:spcBef>
                <a:spcPts val="600"/>
              </a:spcBef>
              <a:spcAft>
                <a:spcPts val="200"/>
              </a:spcAft>
            </a:pPr>
            <a:r>
              <a:rPr sz="1200" i="1">
                <a:solidFill>
                  <a:srgbClr val="3D5466"/>
                </a:solidFill>
                <a:latin typeface="Arial"/>
              </a:rPr>
              <a:t>→  Begriff: Earn-out</a:t>
            </a:r>
          </a:p>
          <a:p>
            <a:pPr>
              <a:spcBef>
                <a:spcPts val="1000"/>
              </a:spcBef>
              <a:spcAft>
                <a:spcPts val="200"/>
              </a:spcAft>
            </a:pPr>
            <a:r>
              <a:rPr sz="800" b="1">
                <a:solidFill>
                  <a:srgbClr val="78808C"/>
                </a:solidFill>
                <a:latin typeface="JetBrains Mono"/>
              </a:rPr>
              <a:t>DIE DREI KMU-KORREKTUREN</a:t>
            </a:r>
          </a:p>
          <a:p>
            <a:pPr>
              <a:spcBef>
                <a:spcPts val="400"/>
              </a:spcBef>
              <a:spcAft>
                <a:spcPts val="200"/>
              </a:spcAft>
            </a:pPr>
            <a:r>
              <a:rPr sz="1300">
                <a:solidFill>
                  <a:srgbClr val="3D5466"/>
                </a:solidFill>
                <a:latin typeface="Arial"/>
              </a:rPr>
              <a:t>▸  Bevor ein mittelständisches Ergebnis bewertet werden kann, muss es normalisiert werden. Drei Korrekturen sind fast immer nötig:</a:t>
            </a:r>
          </a:p>
          <a:p>
            <a:pPr>
              <a:spcBef>
                <a:spcPts val="400"/>
              </a:spcBef>
              <a:spcAft>
                <a:spcPts val="200"/>
              </a:spcAft>
            </a:pPr>
            <a:r>
              <a:rPr sz="1300">
                <a:solidFill>
                  <a:srgbClr val="3D5466"/>
                </a:solidFill>
                <a:latin typeface="Arial"/>
              </a:rPr>
              <a:t>▸  Kalkulatorischer Unternehmerlohn: Der Gesellschafter-Geschäftsführer entnimmt häufig zu wenig oder zu viel. Für die Bewertung wird ein marktüblicher Geschäftsführergehalt angesetzt – sonst wird der nachhaltige Ertrag verzerrt.</a:t>
            </a:r>
          </a:p>
          <a:p>
            <a:pPr>
              <a:spcBef>
                <a:spcPts val="400"/>
              </a:spcBef>
              <a:spcAft>
                <a:spcPts val="200"/>
              </a:spcAft>
            </a:pPr>
            <a:r>
              <a:rPr sz="1300">
                <a:solidFill>
                  <a:srgbClr val="3D5466"/>
                </a:solidFill>
                <a:latin typeface="Arial"/>
              </a:rPr>
              <a:t>▸  Nicht betriebsnotwendiges Vermögen: Das private Grundstück, die Überliquidität oder die Oldtimer-Sammlung gehören nicht zum operativen Ertrag. Sie werden aus dem Ergebnis herausgerechnet und separat zum Wert addiert.</a:t>
            </a:r>
          </a:p>
          <a:p>
            <a:pPr>
              <a:spcBef>
                <a:spcPts val="400"/>
              </a:spcBef>
              <a:spcAft>
                <a:spcPts val="200"/>
              </a:spcAft>
            </a:pPr>
            <a:r>
              <a:rPr sz="1300">
                <a:solidFill>
                  <a:srgbClr val="3D5466"/>
                </a:solidFill>
                <a:latin typeface="Arial"/>
              </a:rPr>
              <a:t>▸  Personenabhängigkeit: Hängt der Erfolg am Inhaber (Kundenbeziehungen, Know-how), sinkt der übertragbare Wert. Diese Korrektur fließt in den Risikozuschlag des Kapitalisierungszinses ein – und ist zugleich das heikelste Gesprächsthema.</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Die drei Verfahrensfamilien der Unternehmensbewertung und ih</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Verkaufs- und Übergabeprozess</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1000"/>
              </a:spcBef>
              <a:spcAft>
                <a:spcPts val="200"/>
              </a:spcAft>
            </a:pPr>
            <a:r>
              <a:rPr sz="800" b="1">
                <a:solidFill>
                  <a:srgbClr val="78808C"/>
                </a:solidFill>
                <a:latin typeface="JetBrains Mono"/>
              </a:rPr>
              <a:t>DIE OPTIONEN DER NACHFOLGE</a:t>
            </a:r>
          </a:p>
          <a:p>
            <a:pPr>
              <a:spcBef>
                <a:spcPts val="1000"/>
              </a:spcBef>
              <a:spcAft>
                <a:spcPts val="200"/>
              </a:spcAft>
            </a:pPr>
            <a:r>
              <a:rPr sz="800" b="1">
                <a:solidFill>
                  <a:srgbClr val="78808C"/>
                </a:solidFill>
                <a:latin typeface="JetBrains Mono"/>
              </a:rPr>
              <a:t>DER PROZESS IN PHASEN</a:t>
            </a:r>
          </a:p>
          <a:p>
            <a:pPr>
              <a:spcBef>
                <a:spcPts val="1000"/>
              </a:spcBef>
              <a:spcAft>
                <a:spcPts val="200"/>
              </a:spcAft>
            </a:pPr>
            <a:r>
              <a:rPr sz="800" b="1">
                <a:solidFill>
                  <a:srgbClr val="78808C"/>
                </a:solidFill>
                <a:latin typeface="JetBrains Mono"/>
              </a:rPr>
              <a:t>DIE EMOTIONALE DIMENSION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Praxisfall: Präzisionstechnik Musterregion GmbH</a:t>
            </a:r>
          </a:p>
        </p:txBody>
      </p:sp>
      <p:sp>
        <p:nvSpPr>
          <p:cNvPr id="8" name="TextBox 7"/>
          <p:cNvSpPr txBox="1"/>
          <p:nvPr/>
        </p:nvSpPr>
        <p:spPr>
          <a:xfrm>
            <a:off x="685800" y="1554480"/>
            <a:ext cx="10817352" cy="3840480"/>
          </a:xfrm>
          <a:prstGeom prst="rect">
            <a:avLst/>
          </a:prstGeom>
          <a:noFill/>
        </p:spPr>
        <p:txBody>
          <a:bodyPr wrap="square">
            <a:spAutoFit/>
          </a:bodyPr>
          <a:lstStyle/>
          <a:p>
            <a:pPr>
              <a:spcBef>
                <a:spcPts val="400"/>
              </a:spcBef>
              <a:spcAft>
                <a:spcPts val="200"/>
              </a:spcAft>
            </a:pPr>
            <a:r>
              <a:rPr sz="1400">
                <a:solidFill>
                  <a:srgbClr val="3D5466"/>
                </a:solidFill>
                <a:latin typeface="Arial"/>
              </a:rPr>
              <a:t>▸  Unternehmensportrait (anonymisiert, branchentypisch)</a:t>
            </a:r>
          </a:p>
          <a:p>
            <a:pPr>
              <a:spcBef>
                <a:spcPts val="400"/>
              </a:spcBef>
              <a:spcAft>
                <a:spcPts val="200"/>
              </a:spcAft>
            </a:pPr>
            <a:r>
              <a:rPr sz="1400">
                <a:solidFill>
                  <a:srgbClr val="3D5466"/>
                </a:solidFill>
                <a:latin typeface="Arial"/>
              </a:rPr>
              <a:t>▸  Bereinigtes Ergebnis (Ableitung des nachhaltigen Ertrags, TEUR):</a:t>
            </a:r>
          </a:p>
          <a:p>
            <a:pPr>
              <a:spcBef>
                <a:spcPts val="400"/>
              </a:spcBef>
              <a:spcAft>
                <a:spcPts val="200"/>
              </a:spcAft>
            </a:pPr>
            <a:r>
              <a:rPr sz="1400">
                <a:solidFill>
                  <a:srgbClr val="3D5466"/>
                </a:solidFill>
                <a:latin typeface="Arial"/>
              </a:rPr>
              <a:t>▸  Weitere Angaben:</a:t>
            </a:r>
          </a:p>
          <a:p>
            <a:pPr>
              <a:spcBef>
                <a:spcPts val="400"/>
              </a:spcBef>
              <a:spcAft>
                <a:spcPts val="200"/>
              </a:spcAft>
            </a:pPr>
            <a:r>
              <a:rPr sz="1400">
                <a:solidFill>
                  <a:srgbClr val="3D5466"/>
                </a:solidFill>
                <a:latin typeface="Arial"/>
              </a:rPr>
              <a:t>▸  Nettofinanzverbindlichkeiten (Net Debt): 700 TEUR</a:t>
            </a:r>
          </a:p>
          <a:p>
            <a:pPr>
              <a:spcBef>
                <a:spcPts val="400"/>
              </a:spcBef>
              <a:spcAft>
                <a:spcPts val="200"/>
              </a:spcAft>
            </a:pPr>
            <a:r>
              <a:rPr sz="1400">
                <a:solidFill>
                  <a:srgbClr val="3D5466"/>
                </a:solidFill>
                <a:latin typeface="Arial"/>
              </a:rPr>
              <a:t>▸  Nicht betriebsnotwendiges Vermögen (vermietetes Grundstück, Verkehrswert): 500 TEUR</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Handlungsempfehlung</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Reflexionsfragen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Bei welchem Ihrer Kunden haben Sie das Thema Nachfolge bisher gemieden – und warum?</a:t>
            </a:r>
          </a:p>
          <a:p>
            <a:pPr>
              <a:spcBef>
                <a:spcPts val="400"/>
              </a:spcBef>
              <a:spcAft>
                <a:spcPts val="200"/>
              </a:spcAft>
            </a:pPr>
            <a:r>
              <a:rPr sz="1300">
                <a:solidFill>
                  <a:srgbClr val="3D5466"/>
                </a:solidFill>
                <a:latin typeface="Arial"/>
              </a:rPr>
              <a:t>▸  Wie erklären Sie einem stolzen Inhaber, dass sein Betrieb am Markt weniger bringt als der „theoretische" Ertragswert, ohne ihn zu kränken?</a:t>
            </a:r>
          </a:p>
          <a:p>
            <a:pPr>
              <a:spcBef>
                <a:spcPts val="400"/>
              </a:spcBef>
              <a:spcAft>
                <a:spcPts val="200"/>
              </a:spcAft>
            </a:pPr>
            <a:r>
              <a:rPr sz="1300">
                <a:solidFill>
                  <a:srgbClr val="3D5466"/>
                </a:solidFill>
                <a:latin typeface="Arial"/>
              </a:rPr>
              <a:t>▸  Welcher Werthebel ist in personenabhängigen Betrieben am wirksamsten – und wie sprechen Sie ihn an?</a:t>
            </a:r>
          </a:p>
          <a:p>
            <a:pPr>
              <a:spcBef>
                <a:spcPts val="400"/>
              </a:spcBef>
              <a:spcAft>
                <a:spcPts val="200"/>
              </a:spcAft>
            </a:pPr>
            <a:r>
              <a:rPr sz="1300">
                <a:solidFill>
                  <a:srgbClr val="3D5466"/>
                </a:solidFill>
                <a:latin typeface="Arial"/>
              </a:rPr>
              <a:t>▸  An welcher Stelle endet Ihre Rolle als Berater und beginnt die des Verbundpartners (DZ Bank M&amp;A, Steuerberater)?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