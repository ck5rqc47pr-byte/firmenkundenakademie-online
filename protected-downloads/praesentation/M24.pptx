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Impuls: das Lebenswerk auf dem Tisch. Der Hausbankberater ist oft der Erste, der Nachfolge anspricht.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Anlass und Funktion klären: der Berater liefert eine erste Werteinschätzung, kein testiertes Gutachten.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Stärken und Grenzen je Verfahren. Für den KMU-Alltag: Ertragswert + Multiple als praktikable Bandbreite.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Korrekturen entscheiden über den nachhaltigen Ertrag – der Kern jeder KMU-Bewertung.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 Musterlösung (Trainer-Version)</a:t>
            </a:r>
          </a:p>
          <a:p>
            <a:r>
              <a:t>Fall: bereinigtes EBIT 750 TEUR, EBIT-Multiple Zerspanung ~6,0 → Multiple-Wert ~4,5 Mio. EUR; mit Ertragswert eine Bandbreite bilden. Personenabhängigkeit senkt den übertragbaren Wert.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Interne vs. externe Nachfolge; die emotionale Dimension ist Teil des Prozesses, nicht Beiwerk.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familieninterner Nachfolger (Tochter Ärztin, Sohn im Ausland) – MBO oder externer Verkauf mit Übergangsphase.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Zweifaches Rollenspiel + Feedback. Die emotionale Dimension (Loslassen) adressieren, nicht wegargumentieren.</a:t>
            </a:r>
          </a:p>
          <a:p>
            <a:r>
              <a:t>Handlungsempfehlungen: bei Inhaber 60+ ohne Nachfolge aktiv ansprechen; bei personenabhängigem Wert mehrjährige Übergabe mit Earn-out vorschlagen.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Nachfolge-Radar (AB-6) und Transferaufgabe vorstellen; Selbstcheck als Hausaufgabe.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Nachfolge-Radar (AB-6) im eigenen Bestand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Unternehmensbewertung, Nachfolge und Verkauf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Den Wert eines Lebenswerks ermitteln und den Übergabeprozess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Wenn der Inhaber 62 ist und keinen Nachfolger hat, entscheidet sich die Zukunft des Unternehmens – und oft auch die der Hausbankbeziehung.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Premium-Modul verbindet die fachliche und die menschliche Seite der Nachfolge: Sie ermitteln einen belastbaren Unternehmenswert mit drei Verfahren (Ertragswert, DCF, Multiples), erklären die Wertbandbreite statt einer Scheingenauigkeit und führen den Übergabedialog beziehungssensibel.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Nachfolgebedarf früh, ordnen Bewertungsergebnisse ein und begleiten Inhaber als Initiator, Übersetzer und Verbundpartner-Vermittler – ohne WP, Steuerberater oder M&amp;A-Berater zu ersetzen.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Bewertungsanlässe und passende Verfahren (Ertragswert, DCF, Multiples) einem konkreten Fall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Werttreiber und KMU-Korrekturen (kalkulatorischer Unternehmerlohn, nicht betriebsnotwendiges Vermögen, Personenabhängigkeit) aus einem Zahlenwerk herausarbeiten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Wertbandbreite beurteilen und sie dem Inhaber begründet und ohne Scheingenauigkeit kommunizieren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Verkaufs- und Übergabeoptionen (familienintern, Management-Buy-out, externer Verkauf über Verbundpartner) gegeneinander abwägen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Bewertungs- und Nachfolge-Gesprächsleitfaden für einen konkreten Inhaber entwerfen, der Fachlichkeit und emotionale Dimension verbindet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09:00–09:20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Impuls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09:20–10:15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2</a:t>
            </a:r>
            <a:r>
              <a:rPr sz="9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13:30–14:15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2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14:15–15:00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3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15:00–15:15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15:15–16:40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4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16:40–17:00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09:00–09:20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Einstieg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Warum Nachfolge und Bewertung Chefsache der Bank sind.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Ein Unternehmenswert ist ein Urteil, kein Messwert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Kommuniziere eine Bandbreite, keine Scheingenauigkeit – Ehrlichkeit über die Spanne schafft mehr Vertrauen als falsche Präzision.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Berater muss Bewertung verstehen, um Orientierung zu geben – nicht, um ein Gutachten zu erstellen.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Orientierungswert ist Gesprächsgrundlage, nicht Verhandlungsergebnis.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09:20–10:15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Input 1: Bewertungsverfahren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drei Verfahrensfamilien und ihre KMU-Korrekturen verstehen.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Verfahrensfamilien der Unternehmensbewertung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Ertragswert, DCF und Multiples beantworten dieselbe Frage unterschiedlich – die Bandbreite entsteht aus dem Vergleich.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(IDW S 1): der nachhaltige Ertrag, kapitalisiert.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DCF: die diskontierten künftigen Cashflows.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Multiples: der Marktvergleich über EBIT-/Umsatz-Faktoren.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drei Verfahrensfamilien der Unternehmensbewertung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KMU-Korrekturen: das Ergebnis normalisieren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mittelständisches Ergebnis muss vor der Bewertung normalisiert werden – sonst bewertet man Verzerrungen.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Kalkulatorischer Unternehmerlohn: marktübliches GF-Gehalt ansetzen.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betriebsnotwendiges Vermögen: herausrechnen und separat zum Wert addieren.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Außerordentliche und periodenfremde Effekte bereinigen.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10:15–12:30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Übung 1 &amp; 2: Wert ermitteln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KMU-Korrekturen anwenden und eine Wertbandbreite bilden.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Wert ermitteln und Bandbreite bilden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Arbeiten Sie die KMU-Korrekturen für die Präzisionstechnik Musterregion heraus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Ermitteln Sie den Wert mit Ertragswert und Multiple und bilden Sie eine Bandbreite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Formulieren Sie die Bandbreite so, wie Sie sie dem Inhaber kommunizieren würden.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13:30–15:00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Input 2 &amp; Übung 3: Übergabe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Verkaufs- und Übergabeprozess kennen und Optionen abwägen.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Verkaufs- und Übergabeprozess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Wert entsteht nicht im Gutachten, sondern in einer geordneten, mehrjährigen Übergabe.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Optionen: familienintern, MBO/MBI, externer Verkauf, Stiftung.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Prozess läuft in Phasen; Verbundpartner (DZ BANK, Steuerberater, Notar) früh einbinden.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Übergabeoptionen abwägen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Wägen Sie die Übergabeoptionen für den Fall ab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Begründen Sie eine Empfehlung mit Blick auf Wert, Zeit und Personenabhängigkeit.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Zeigen Sie den Werthebel der mehrjährigen Übergabe (Earn-out, Einarbeitung) auf.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15:15–16:40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Übung 4: Übergabedialog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Wert kommunizieren und die emotionale Dimension halten.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Den Wert kommunizieren – Übergabedialog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Führen Sie den Übergabedialog im Rollenspiel (AB-4, Rollenkarten).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Kommunizieren Sie die Wertbandbreite ehrlich – ohne Scheingenauigkeit.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Nutzen Sie den Beobachtungsbogen für strukturiertes Feedback (AB-5).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Handlungsempfehlung: Nachfolge- und Bewertungssignale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Kommuniziere eine Bandbreite, keine Scheingenauigkeit.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Unternehmenswert ist ein Urteil, kein Messwert – Ehrlichkeit über die Spanne schafft mehr Vertrauen als falsche Präzision.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Inhaber 60+ in Ihrem Bestand hat die Nachfolge noch nicht geklärt?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kommunizieren Sie eine Wertbandbreite, ohne in Scheingenauigkeit zu verfallen?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Unternehmen senkt die Personenabhängigkeit den übertragbaren Wert am stärksten?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