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aus dem Ablaufplan (Sektion 3.1). Timing und Pausen siehe Trainerhandbuch.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Siehe Trainerhandbuch (Sektion 3) für Moderationshinweise, Timing und erwartete Teilnehmerreaktionen.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Siehe Trainerhandbuch (Sektion 3) für Moderationshinweise, Timing und erwartete Teilnehmerreaktionen.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AB-2 Musterlösung (Trainer-Version)</a:t>
            </a:r>
          </a:p>
          <a:p>
            <a:r>
              <a:t>Nachhaltiger Netto-Überschuss = 750 × 0,70 = 525 TEUR.</a:t>
            </a:r>
          </a:p>
          <a:p>
            <a:r>
              <a:t>Ertragswert (betriebsnotw.) = 525 / 0,099 ≈ 5.303 TEUR; Ertragswert gesamt = 5.303 + 500 ≈ 5.800 TEUR.</a:t>
            </a:r>
          </a:p>
          <a:p>
            <a:r>
              <a:t>Enterprise Value (Multiple) = 750 × 6,0 = 4.500 TEUR; Eigenkapitalwert (Multiple) = 4.500 − 700 + 500 = 4.300 TEUR.</a:t>
            </a:r>
          </a:p>
          <a:p>
            <a:r>
              <a:t>Wertbandbreite ≈ 4,3 bis 5,8 Mio. EUR, plausibler Verhandlungskorridor um ca. 5,0 Mio. EUR.</a:t>
            </a:r>
          </a:p>
          <a:p>
            <a:r>
              <a:t>Kernbefund: Der Ertragswert liegt rund 1,5 Mio. EUR über dem Multiple-Wert. Das ist kein Rechenfehler, sondern Ausdruck dessen, dass der Ertragswert einen theoretischen, personenunabhängig fortgeführten Erfolg unterstellt, während das Marktmultiple die reale Personenabhängigkeit und Transaktionsabschläge einpreist. Genau diese Differenz ist das Gespräch: Eine geordnete, mehrjährige Übergabe mit Earn-out hebt den realisierbaren Preis in Richtung Ertragswert.</a:t>
            </a:r>
          </a:p>
          <a:p>
            <a:r>
              <a:t>Trainer-Hinweis: Die Zahlen sind ein Korridor, kein Gutachten. Entscheidend ist, dass die Teilnehmer (a) die Bandbreite begründen und (b) erkennen, dass die Personenabhängigkeit der zentrale, durch eine geordnete Übergabe beeinflussbare Werthebel 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Siehe Trainerhandbuch (Sektion 3) für Moderationshinweise, Timing und erwartete Teilnehmerreaktionen.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817352" cy="256032"/>
          </a:xfrm>
          <a:prstGeom prst="rect">
            <a:avLst/>
          </a:prstGeom>
          <a:noFill/>
        </p:spPr>
        <p:txBody>
          <a:bodyPr wrap="none">
            <a:spAutoFit/>
          </a:bodyPr>
          <a:lstStyle/>
          <a:p>
            <a:pPr algn="l"/>
            <a:r>
              <a:rPr sz="800">
                <a:solidFill>
                  <a:srgbClr val="C8D2E6"/>
                </a:solidFill>
                <a:latin typeface="Consolas"/>
              </a:rPr>
              <a:t>FKB CAMPUS  ·  FIRMENKUNDENAKADEMIE  ·  M24</a:t>
            </a:r>
          </a:p>
        </p:txBody>
      </p:sp>
      <p:sp>
        <p:nvSpPr>
          <p:cNvPr id="5" name="TextBox 4"/>
          <p:cNvSpPr txBox="1"/>
          <p:nvPr/>
        </p:nvSpPr>
        <p:spPr>
          <a:xfrm>
            <a:off x="685800" y="1828800"/>
            <a:ext cx="10817352" cy="2011680"/>
          </a:xfrm>
          <a:prstGeom prst="rect">
            <a:avLst/>
          </a:prstGeom>
          <a:noFill/>
        </p:spPr>
        <p:txBody>
          <a:bodyPr wrap="square">
            <a:spAutoFit/>
          </a:bodyPr>
          <a:lstStyle/>
          <a:p>
            <a:pPr algn="l"/>
            <a:r>
              <a:rPr sz="4600" b="1" i="0">
                <a:solidFill>
                  <a:srgbClr val="FFFFFF"/>
                </a:solidFill>
                <a:latin typeface="Arial"/>
              </a:rPr>
              <a:t>Unternehmensbewertung, Nachfolge und Verkauf</a:t>
            </a:r>
          </a:p>
        </p:txBody>
      </p:sp>
      <p:sp>
        <p:nvSpPr>
          <p:cNvPr id="6" name="TextBox 5"/>
          <p:cNvSpPr txBox="1"/>
          <p:nvPr/>
        </p:nvSpPr>
        <p:spPr>
          <a:xfrm>
            <a:off x="685800" y="3977639"/>
            <a:ext cx="10817352" cy="731520"/>
          </a:xfrm>
          <a:prstGeom prst="rect">
            <a:avLst/>
          </a:prstGeom>
          <a:noFill/>
        </p:spPr>
        <p:txBody>
          <a:bodyPr wrap="square">
            <a:spAutoFit/>
          </a:bodyPr>
          <a:lstStyle/>
          <a:p>
            <a:pPr algn="l"/>
            <a:r>
              <a:rPr sz="1900" b="0" i="1">
                <a:solidFill>
                  <a:srgbClr val="BECDE6"/>
                </a:solidFill>
                <a:latin typeface="Arial"/>
              </a:rPr>
              <a:t>Den Wert eines Lebenswerks ermitteln und den Übergabeprozess begleiten</a:t>
            </a:r>
          </a:p>
        </p:txBody>
      </p:sp>
      <p:sp>
        <p:nvSpPr>
          <p:cNvPr id="7" name="Rectangle 6"/>
          <p:cNvSpPr/>
          <p:nvPr/>
        </p:nvSpPr>
        <p:spPr>
          <a:xfrm>
            <a:off x="685800" y="5029200"/>
            <a:ext cx="10817352"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193792"/>
            <a:ext cx="3605784" cy="201168"/>
          </a:xfrm>
          <a:prstGeom prst="rect">
            <a:avLst/>
          </a:prstGeom>
          <a:noFill/>
        </p:spPr>
        <p:txBody>
          <a:bodyPr wrap="none">
            <a:spAutoFit/>
          </a:bodyPr>
          <a:lstStyle/>
          <a:p>
            <a:pPr algn="l"/>
            <a:r>
              <a:rPr sz="700">
                <a:solidFill>
                  <a:srgbClr val="A0B4D2"/>
                </a:solidFill>
                <a:latin typeface="Consolas"/>
              </a:rPr>
              <a:t>KOMPETENZFELD</a:t>
            </a:r>
          </a:p>
        </p:txBody>
      </p:sp>
      <p:sp>
        <p:nvSpPr>
          <p:cNvPr id="9" name="TextBox 8"/>
          <p:cNvSpPr txBox="1"/>
          <p:nvPr/>
        </p:nvSpPr>
        <p:spPr>
          <a:xfrm>
            <a:off x="685800" y="5394960"/>
            <a:ext cx="3605784" cy="320040"/>
          </a:xfrm>
          <a:prstGeom prst="rect">
            <a:avLst/>
          </a:prstGeom>
          <a:noFill/>
        </p:spPr>
        <p:txBody>
          <a:bodyPr wrap="square">
            <a:spAutoFit/>
          </a:bodyPr>
          <a:lstStyle/>
          <a:p>
            <a:pPr algn="l"/>
            <a:r>
              <a:rPr sz="1100" b="0" i="0">
                <a:solidFill>
                  <a:srgbClr val="FFFFFF"/>
                </a:solidFill>
                <a:latin typeface="Arial"/>
              </a:rPr>
              <a:t>K-03 Gesprächsführung &amp; Beratung</a:t>
            </a:r>
          </a:p>
        </p:txBody>
      </p:sp>
      <p:sp>
        <p:nvSpPr>
          <p:cNvPr id="10" name="TextBox 9"/>
          <p:cNvSpPr txBox="1"/>
          <p:nvPr/>
        </p:nvSpPr>
        <p:spPr>
          <a:xfrm>
            <a:off x="4291584" y="5193792"/>
            <a:ext cx="3605784" cy="201168"/>
          </a:xfrm>
          <a:prstGeom prst="rect">
            <a:avLst/>
          </a:prstGeom>
          <a:noFill/>
        </p:spPr>
        <p:txBody>
          <a:bodyPr wrap="none">
            <a:spAutoFit/>
          </a:bodyPr>
          <a:lstStyle/>
          <a:p>
            <a:pPr algn="l"/>
            <a:r>
              <a:rPr sz="700">
                <a:solidFill>
                  <a:srgbClr val="A0B4D2"/>
                </a:solidFill>
                <a:latin typeface="Consolas"/>
              </a:rPr>
              <a:t>KOMPETENZSTUFE</a:t>
            </a:r>
          </a:p>
        </p:txBody>
      </p:sp>
      <p:sp>
        <p:nvSpPr>
          <p:cNvPr id="11" name="TextBox 10"/>
          <p:cNvSpPr txBox="1"/>
          <p:nvPr/>
        </p:nvSpPr>
        <p:spPr>
          <a:xfrm>
            <a:off x="4291584" y="5394960"/>
            <a:ext cx="3605784" cy="320040"/>
          </a:xfrm>
          <a:prstGeom prst="rect">
            <a:avLst/>
          </a:prstGeom>
          <a:noFill/>
        </p:spPr>
        <p:txBody>
          <a:bodyPr wrap="square">
            <a:spAutoFit/>
          </a:bodyPr>
          <a:lstStyle/>
          <a:p>
            <a:pPr algn="l"/>
            <a:r>
              <a:rPr sz="1100" b="0" i="0">
                <a:solidFill>
                  <a:srgbClr val="FFFFFF"/>
                </a:solidFill>
                <a:latin typeface="Arial"/>
              </a:rPr>
              <a:t>Strategischer Partner</a:t>
            </a:r>
          </a:p>
        </p:txBody>
      </p:sp>
      <p:sp>
        <p:nvSpPr>
          <p:cNvPr id="12" name="TextBox 11"/>
          <p:cNvSpPr txBox="1"/>
          <p:nvPr/>
        </p:nvSpPr>
        <p:spPr>
          <a:xfrm>
            <a:off x="7897368" y="5193792"/>
            <a:ext cx="3605784" cy="201168"/>
          </a:xfrm>
          <a:prstGeom prst="rect">
            <a:avLst/>
          </a:prstGeom>
          <a:noFill/>
        </p:spPr>
        <p:txBody>
          <a:bodyPr wrap="none">
            <a:spAutoFit/>
          </a:bodyPr>
          <a:lstStyle/>
          <a:p>
            <a:pPr algn="l"/>
            <a:r>
              <a:rPr sz="700">
                <a:solidFill>
                  <a:srgbClr val="A0B4D2"/>
                </a:solidFill>
                <a:latin typeface="Consolas"/>
              </a:rPr>
              <a:t>VERSION</a:t>
            </a:r>
          </a:p>
        </p:txBody>
      </p:sp>
      <p:sp>
        <p:nvSpPr>
          <p:cNvPr id="13" name="TextBox 12"/>
          <p:cNvSpPr txBox="1"/>
          <p:nvPr/>
        </p:nvSpPr>
        <p:spPr>
          <a:xfrm>
            <a:off x="7897368" y="5394960"/>
            <a:ext cx="3605784" cy="320040"/>
          </a:xfrm>
          <a:prstGeom prst="rect">
            <a:avLst/>
          </a:prstGeom>
          <a:noFill/>
        </p:spPr>
        <p:txBody>
          <a:bodyPr wrap="square">
            <a:spAutoFit/>
          </a:bodyPr>
          <a:lstStyle/>
          <a:p>
            <a:pPr algn="l"/>
            <a:r>
              <a:rPr sz="1100" b="0" i="0">
                <a:solidFill>
                  <a:srgbClr val="FFFFFF"/>
                </a:solidFill>
                <a:latin typeface="Arial"/>
              </a:rPr>
              <a:t>v1.0</a:t>
            </a:r>
          </a:p>
        </p:txBody>
      </p:sp>
      <p:sp>
        <p:nvSpPr>
          <p:cNvPr id="14" name="Rectangle 13"/>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583680"/>
            <a:ext cx="5408676" cy="256032"/>
          </a:xfrm>
          <a:prstGeom prst="rect">
            <a:avLst/>
          </a:prstGeom>
          <a:noFill/>
        </p:spPr>
        <p:txBody>
          <a:bodyPr wrap="none">
            <a:spAutoFit/>
          </a:bodyPr>
          <a:lstStyle/>
          <a:p>
            <a:pPr algn="l"/>
            <a:r>
              <a:rPr sz="700">
                <a:solidFill>
                  <a:srgbClr val="96A5BE"/>
                </a:solidFill>
                <a:latin typeface="Consolas"/>
              </a:rPr>
              <a:t>FKB Campus  ·  2026</a:t>
            </a:r>
          </a:p>
        </p:txBody>
      </p:sp>
      <p:sp>
        <p:nvSpPr>
          <p:cNvPr id="16" name="TextBox 15"/>
          <p:cNvSpPr txBox="1"/>
          <p:nvPr/>
        </p:nvSpPr>
        <p:spPr>
          <a:xfrm>
            <a:off x="6094476" y="6583680"/>
            <a:ext cx="5408676" cy="256032"/>
          </a:xfrm>
          <a:prstGeom prst="rect">
            <a:avLst/>
          </a:prstGeom>
          <a:noFill/>
        </p:spPr>
        <p:txBody>
          <a:bodyPr wrap="none">
            <a:spAutoFit/>
          </a:bodyPr>
          <a:lstStyle/>
          <a:p>
            <a:pPr algn="r"/>
            <a:r>
              <a:rPr sz="700">
                <a:solidFill>
                  <a:srgbClr val="96A5BE"/>
                </a:solidFill>
                <a:latin typeface="Consolas"/>
              </a:rPr>
              <a:t>Trainer-Präsentation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ÜBERBLICK  ·  M24</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Worum geht es heute</a:t>
            </a:r>
          </a:p>
        </p:txBody>
      </p:sp>
      <p:sp>
        <p:nvSpPr>
          <p:cNvPr id="7" name="TextBox 6"/>
          <p:cNvSpPr txBox="1"/>
          <p:nvPr/>
        </p:nvSpPr>
        <p:spPr>
          <a:xfrm>
            <a:off x="685800" y="1737360"/>
            <a:ext cx="9720072" cy="4206240"/>
          </a:xfrm>
          <a:prstGeom prst="rect">
            <a:avLst/>
          </a:prstGeom>
          <a:noFill/>
        </p:spPr>
        <p:txBody>
          <a:bodyPr wrap="square">
            <a:spAutoFit/>
          </a:bodyPr>
          <a:lstStyle/>
          <a:p>
            <a:pPr>
              <a:spcAft>
                <a:spcPts val="1200"/>
              </a:spcAft>
            </a:pPr>
            <a:r>
              <a:rPr sz="1700">
                <a:solidFill>
                  <a:srgbClr val="3D5466"/>
                </a:solidFill>
                <a:latin typeface="Arial"/>
              </a:rPr>
              <a:t>Wenn der Inhaber 62 ist und keinen Nachfolger hat, entscheidet sich die Zukunft des Unternehmens – und oft auch die der Hausbankbeziehung.</a:t>
            </a:r>
          </a:p>
          <a:p>
            <a:pPr>
              <a:spcAft>
                <a:spcPts val="1200"/>
              </a:spcAft>
            </a:pPr>
            <a:r>
              <a:rPr sz="1700">
                <a:solidFill>
                  <a:srgbClr val="3D5466"/>
                </a:solidFill>
                <a:latin typeface="Arial"/>
              </a:rPr>
              <a:t>Dieses Premium-Modul verbindet die fachliche und die menschliche Seite der Nachfolge: Sie ermitteln einen belastbaren Unternehmenswert mit drei Verfahren (Ertragswert, DCF, Multiples), erklären die Wertbandbreite statt einer Scheingenauigkeit und führen den Übergabedialog beziehungssensibel.</a:t>
            </a:r>
          </a:p>
          <a:p>
            <a:pPr>
              <a:spcAft>
                <a:spcPts val="1200"/>
              </a:spcAft>
            </a:pPr>
            <a:r>
              <a:rPr sz="1700">
                <a:solidFill>
                  <a:srgbClr val="3D5466"/>
                </a:solidFill>
                <a:latin typeface="Arial"/>
              </a:rPr>
              <a:t>Danach erkennen Sie Nachfolgebedarf früh, ordnen Bewertungsergebnisse ein und begleiten Inhaber als Initiator, Übersetzer und Verbundpartner-Vermittler – ohne WP, Steuerberater oder M&amp;A-Berater zu ersetzen.</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LERNZIELE  ·  M24</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Was Sie heute mitnehmen</a:t>
            </a:r>
          </a:p>
        </p:txBody>
      </p:sp>
      <p:sp>
        <p:nvSpPr>
          <p:cNvPr id="7" name="TextBox 6"/>
          <p:cNvSpPr txBox="1"/>
          <p:nvPr/>
        </p:nvSpPr>
        <p:spPr>
          <a:xfrm>
            <a:off x="685800" y="1371600"/>
            <a:ext cx="10817352" cy="5120640"/>
          </a:xfrm>
          <a:prstGeom prst="rect">
            <a:avLst/>
          </a:prstGeom>
          <a:noFill/>
        </p:spPr>
        <p:txBody>
          <a:bodyPr wrap="square">
            <a:spAutoFit/>
          </a:bodyPr>
          <a:lstStyle/>
          <a:p>
            <a:pPr>
              <a:spcBef>
                <a:spcPts val="800"/>
              </a:spcBef>
              <a:spcAft>
                <a:spcPts val="200"/>
              </a:spcAft>
            </a:pPr>
            <a:r>
              <a:rPr sz="1400">
                <a:solidFill>
                  <a:srgbClr val="3D5466"/>
                </a:solidFill>
                <a:latin typeface="Arial"/>
              </a:rPr>
              <a:t>▸  Bewertungsanlässe und passende Verfahren (Ertragswert, DCF, Multiples) einem konkreten Fall zuordnen</a:t>
            </a:r>
          </a:p>
          <a:p>
            <a:pPr>
              <a:spcBef>
                <a:spcPts val="800"/>
              </a:spcBef>
              <a:spcAft>
                <a:spcPts val="200"/>
              </a:spcAft>
            </a:pPr>
            <a:r>
              <a:rPr sz="1400">
                <a:solidFill>
                  <a:srgbClr val="3D5466"/>
                </a:solidFill>
                <a:latin typeface="Arial"/>
              </a:rPr>
              <a:t>▸  Werttreiber und KMU-Korrekturen (kalkulatorischer Unternehmerlohn, nicht betriebsnotwendiges Vermögen, Personenabhängigkeit) aus einem Zahlenwerk herausarbeiten</a:t>
            </a:r>
          </a:p>
          <a:p>
            <a:pPr>
              <a:spcBef>
                <a:spcPts val="800"/>
              </a:spcBef>
              <a:spcAft>
                <a:spcPts val="200"/>
              </a:spcAft>
            </a:pPr>
            <a:r>
              <a:rPr sz="1400">
                <a:solidFill>
                  <a:srgbClr val="3D5466"/>
                </a:solidFill>
                <a:latin typeface="Arial"/>
              </a:rPr>
              <a:t>▸  Eine Wertbandbreite beurteilen und sie dem Inhaber begründet und ohne Scheingenauigkeit kommunizieren</a:t>
            </a:r>
          </a:p>
          <a:p>
            <a:pPr>
              <a:spcBef>
                <a:spcPts val="800"/>
              </a:spcBef>
              <a:spcAft>
                <a:spcPts val="200"/>
              </a:spcAft>
            </a:pPr>
            <a:r>
              <a:rPr sz="1400">
                <a:solidFill>
                  <a:srgbClr val="3D5466"/>
                </a:solidFill>
                <a:latin typeface="Arial"/>
              </a:rPr>
              <a:t>▸  Verkaufs- und Übergabeoptionen (familienintern, Management-Buy-out, externer Verkauf über Verbundpartner) gegeneinander abwägen</a:t>
            </a:r>
          </a:p>
          <a:p>
            <a:pPr>
              <a:spcBef>
                <a:spcPts val="800"/>
              </a:spcBef>
              <a:spcAft>
                <a:spcPts val="200"/>
              </a:spcAft>
            </a:pPr>
            <a:r>
              <a:rPr sz="1400">
                <a:solidFill>
                  <a:srgbClr val="3D5466"/>
                </a:solidFill>
                <a:latin typeface="Arial"/>
              </a:rPr>
              <a:t>▸  Einen Bewertungs- und Nachfolge-Gesprächsleitfaden für einen konkreten Inhaber entwerfen, der Fachlichkeit und emotionale Dimension verbindet</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AGENDA  ·  M24</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So läuft das Modul</a:t>
            </a:r>
          </a:p>
        </p:txBody>
      </p:sp>
      <p:sp>
        <p:nvSpPr>
          <p:cNvPr id="7" name="TextBox 6"/>
          <p:cNvSpPr txBox="1"/>
          <p:nvPr/>
        </p:nvSpPr>
        <p:spPr>
          <a:xfrm>
            <a:off x="685800" y="1463040"/>
            <a:ext cx="10817352" cy="4937760"/>
          </a:xfrm>
          <a:prstGeom prst="rect">
            <a:avLst/>
          </a:prstGeom>
          <a:noFill/>
        </p:spPr>
        <p:txBody>
          <a:bodyPr wrap="square">
            <a:spAutoFit/>
          </a:bodyPr>
          <a:lstStyle/>
          <a:p>
            <a:pPr>
              <a:spcBef>
                <a:spcPts val="400"/>
              </a:spcBef>
              <a:spcAft>
                <a:spcPts val="100"/>
              </a:spcAft>
            </a:pPr>
            <a:r>
              <a:rPr sz="900">
                <a:solidFill>
                  <a:srgbClr val="78808C"/>
                </a:solidFill>
                <a:latin typeface="Consolas"/>
              </a:rPr>
              <a:t>09:00–09:20 </a:t>
            </a:r>
            <a:r>
              <a:rPr sz="1200" b="1">
                <a:solidFill>
                  <a:srgbClr val="3D5466"/>
                </a:solidFill>
                <a:latin typeface="Arial"/>
              </a:rPr>
              <a:t>  Einstieg</a:t>
            </a:r>
            <a:r>
              <a:rPr sz="900">
                <a:solidFill>
                  <a:srgbClr val="78808C"/>
                </a:solidFill>
                <a:latin typeface="Arial"/>
              </a:rPr>
              <a:t>  ·  Impuls + Diskussion</a:t>
            </a:r>
          </a:p>
          <a:p>
            <a:pPr>
              <a:spcBef>
                <a:spcPts val="400"/>
              </a:spcBef>
              <a:spcAft>
                <a:spcPts val="100"/>
              </a:spcAft>
            </a:pPr>
            <a:r>
              <a:rPr sz="900">
                <a:solidFill>
                  <a:srgbClr val="78808C"/>
                </a:solidFill>
                <a:latin typeface="Consolas"/>
              </a:rPr>
              <a:t>09:20–10:15 </a:t>
            </a:r>
            <a:r>
              <a:rPr sz="1200" b="1">
                <a:solidFill>
                  <a:srgbClr val="3D5466"/>
                </a:solidFill>
                <a:latin typeface="Arial"/>
              </a:rPr>
              <a:t>  Input 1</a:t>
            </a:r>
            <a:r>
              <a:rPr sz="900">
                <a:solidFill>
                  <a:srgbClr val="78808C"/>
                </a:solidFill>
                <a:latin typeface="Arial"/>
              </a:rPr>
              <a:t>  ·  Interaktiver Vortrag</a:t>
            </a:r>
          </a:p>
          <a:p>
            <a:pPr>
              <a:spcBef>
                <a:spcPts val="400"/>
              </a:spcBef>
              <a:spcAft>
                <a:spcPts val="100"/>
              </a:spcAft>
            </a:pPr>
            <a:r>
              <a:rPr sz="900">
                <a:solidFill>
                  <a:srgbClr val="78808C"/>
                </a:solidFill>
                <a:latin typeface="Consolas"/>
              </a:rPr>
              <a:t>10:15–11:00 </a:t>
            </a:r>
            <a:r>
              <a:rPr sz="1200" b="1">
                <a:solidFill>
                  <a:srgbClr val="3D5466"/>
                </a:solidFill>
                <a:latin typeface="Arial"/>
              </a:rPr>
              <a:t>  Übung 1</a:t>
            </a:r>
            <a:r>
              <a:rPr sz="900">
                <a:solidFill>
                  <a:srgbClr val="78808C"/>
                </a:solidFill>
                <a:latin typeface="Arial"/>
              </a:rPr>
              <a:t>  ·  Partnerarbeit</a:t>
            </a:r>
          </a:p>
          <a:p>
            <a:pPr>
              <a:spcBef>
                <a:spcPts val="400"/>
              </a:spcBef>
              <a:spcAft>
                <a:spcPts val="100"/>
              </a:spcAft>
            </a:pPr>
            <a:r>
              <a:rPr sz="900">
                <a:solidFill>
                  <a:srgbClr val="78808C"/>
                </a:solidFill>
                <a:latin typeface="Consolas"/>
              </a:rPr>
              <a:t>11:00–11:15 </a:t>
            </a:r>
            <a:r>
              <a:rPr sz="1200" b="1">
                <a:solidFill>
                  <a:srgbClr val="3D5466"/>
                </a:solidFill>
                <a:latin typeface="Arial"/>
              </a:rPr>
              <a:t>  Pause</a:t>
            </a:r>
          </a:p>
          <a:p>
            <a:pPr>
              <a:spcBef>
                <a:spcPts val="400"/>
              </a:spcBef>
              <a:spcAft>
                <a:spcPts val="100"/>
              </a:spcAft>
            </a:pPr>
            <a:r>
              <a:rPr sz="900">
                <a:solidFill>
                  <a:srgbClr val="78808C"/>
                </a:solidFill>
                <a:latin typeface="Consolas"/>
              </a:rPr>
              <a:t>11:15–12:30 </a:t>
            </a:r>
            <a:r>
              <a:rPr sz="1200" b="1">
                <a:solidFill>
                  <a:srgbClr val="3D5466"/>
                </a:solidFill>
                <a:latin typeface="Arial"/>
              </a:rPr>
              <a:t>  Übung 2</a:t>
            </a:r>
            <a:r>
              <a:rPr sz="900">
                <a:solidFill>
                  <a:srgbClr val="78808C"/>
                </a:solidFill>
                <a:latin typeface="Arial"/>
              </a:rPr>
              <a:t>  ·  Einzel-/Partnerarbeit</a:t>
            </a:r>
          </a:p>
          <a:p>
            <a:pPr>
              <a:spcBef>
                <a:spcPts val="400"/>
              </a:spcBef>
              <a:spcAft>
                <a:spcPts val="100"/>
              </a:spcAft>
            </a:pPr>
            <a:r>
              <a:rPr sz="900">
                <a:solidFill>
                  <a:srgbClr val="78808C"/>
                </a:solidFill>
                <a:latin typeface="Consolas"/>
              </a:rPr>
              <a:t>12:30–13:30 </a:t>
            </a:r>
            <a:r>
              <a:rPr sz="1200" b="1">
                <a:solidFill>
                  <a:srgbClr val="3D5466"/>
                </a:solidFill>
                <a:latin typeface="Arial"/>
              </a:rPr>
              <a:t>  Mittag</a:t>
            </a:r>
          </a:p>
          <a:p>
            <a:pPr>
              <a:spcBef>
                <a:spcPts val="400"/>
              </a:spcBef>
              <a:spcAft>
                <a:spcPts val="100"/>
              </a:spcAft>
            </a:pPr>
            <a:r>
              <a:rPr sz="900">
                <a:solidFill>
                  <a:srgbClr val="78808C"/>
                </a:solidFill>
                <a:latin typeface="Consolas"/>
              </a:rPr>
              <a:t>13:30–14:15 </a:t>
            </a:r>
            <a:r>
              <a:rPr sz="1200" b="1">
                <a:solidFill>
                  <a:srgbClr val="3D5466"/>
                </a:solidFill>
                <a:latin typeface="Arial"/>
              </a:rPr>
              <a:t>  Input 2</a:t>
            </a:r>
            <a:r>
              <a:rPr sz="900">
                <a:solidFill>
                  <a:srgbClr val="78808C"/>
                </a:solidFill>
                <a:latin typeface="Arial"/>
              </a:rPr>
              <a:t>  ·  Vortrag + Diskussion</a:t>
            </a:r>
          </a:p>
          <a:p>
            <a:pPr>
              <a:spcBef>
                <a:spcPts val="400"/>
              </a:spcBef>
              <a:spcAft>
                <a:spcPts val="100"/>
              </a:spcAft>
            </a:pPr>
            <a:r>
              <a:rPr sz="900">
                <a:solidFill>
                  <a:srgbClr val="78808C"/>
                </a:solidFill>
                <a:latin typeface="Consolas"/>
              </a:rPr>
              <a:t>14:15–15:00 </a:t>
            </a:r>
            <a:r>
              <a:rPr sz="1200" b="1">
                <a:solidFill>
                  <a:srgbClr val="3D5466"/>
                </a:solidFill>
                <a:latin typeface="Arial"/>
              </a:rPr>
              <a:t>  Übung 3</a:t>
            </a:r>
            <a:r>
              <a:rPr sz="900">
                <a:solidFill>
                  <a:srgbClr val="78808C"/>
                </a:solidFill>
                <a:latin typeface="Arial"/>
              </a:rPr>
              <a:t>  ·  Gruppenarbeit</a:t>
            </a:r>
          </a:p>
          <a:p>
            <a:pPr>
              <a:spcBef>
                <a:spcPts val="400"/>
              </a:spcBef>
              <a:spcAft>
                <a:spcPts val="100"/>
              </a:spcAft>
            </a:pPr>
            <a:r>
              <a:rPr sz="900">
                <a:solidFill>
                  <a:srgbClr val="78808C"/>
                </a:solidFill>
                <a:latin typeface="Consolas"/>
              </a:rPr>
              <a:t>15:00–15:15 </a:t>
            </a:r>
            <a:r>
              <a:rPr sz="1200" b="1">
                <a:solidFill>
                  <a:srgbClr val="3D5466"/>
                </a:solidFill>
                <a:latin typeface="Arial"/>
              </a:rPr>
              <a:t>  Pause</a:t>
            </a:r>
          </a:p>
          <a:p>
            <a:pPr>
              <a:spcBef>
                <a:spcPts val="400"/>
              </a:spcBef>
              <a:spcAft>
                <a:spcPts val="100"/>
              </a:spcAft>
            </a:pPr>
            <a:r>
              <a:rPr sz="900">
                <a:solidFill>
                  <a:srgbClr val="78808C"/>
                </a:solidFill>
                <a:latin typeface="Consolas"/>
              </a:rPr>
              <a:t>15:15–16:40 </a:t>
            </a:r>
            <a:r>
              <a:rPr sz="1200" b="1">
                <a:solidFill>
                  <a:srgbClr val="3D5466"/>
                </a:solidFill>
                <a:latin typeface="Arial"/>
              </a:rPr>
              <a:t>  Übung 4</a:t>
            </a:r>
            <a:r>
              <a:rPr sz="900">
                <a:solidFill>
                  <a:srgbClr val="78808C"/>
                </a:solidFill>
                <a:latin typeface="Arial"/>
              </a:rPr>
              <a:t>  ·  Rollenspiel</a:t>
            </a:r>
          </a:p>
          <a:p>
            <a:pPr>
              <a:spcBef>
                <a:spcPts val="400"/>
              </a:spcBef>
              <a:spcAft>
                <a:spcPts val="100"/>
              </a:spcAft>
            </a:pPr>
            <a:r>
              <a:rPr sz="900">
                <a:solidFill>
                  <a:srgbClr val="78808C"/>
                </a:solidFill>
                <a:latin typeface="Consolas"/>
              </a:rPr>
              <a:t>16:40–17:00 </a:t>
            </a:r>
            <a:r>
              <a:rPr sz="1200" b="1">
                <a:solidFill>
                  <a:srgbClr val="3D5466"/>
                </a:solidFill>
                <a:latin typeface="Arial"/>
              </a:rPr>
              <a:t>  Abschluss</a:t>
            </a:r>
            <a:r>
              <a:rPr sz="900">
                <a:solidFill>
                  <a:srgbClr val="78808C"/>
                </a:solidFill>
                <a:latin typeface="Arial"/>
              </a:rPr>
              <a:t>  ·  Plenum</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M24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Theorie-Input: Die drei Verfahrensfamilien der Unternehmensbewertung</a:t>
            </a:r>
          </a:p>
        </p:txBody>
      </p:sp>
      <p:sp>
        <p:nvSpPr>
          <p:cNvPr id="8" name="TextBox 7"/>
          <p:cNvSpPr txBox="1"/>
          <p:nvPr/>
        </p:nvSpPr>
        <p:spPr>
          <a:xfrm>
            <a:off x="685800" y="1417320"/>
            <a:ext cx="10817352" cy="4892040"/>
          </a:xfrm>
          <a:prstGeom prst="rect">
            <a:avLst/>
          </a:prstGeom>
          <a:noFill/>
        </p:spPr>
        <p:txBody>
          <a:bodyPr wrap="square">
            <a:spAutoFit/>
          </a:bodyPr>
          <a:lstStyle/>
          <a:p>
            <a:pPr>
              <a:spcBef>
                <a:spcPts val="1000"/>
              </a:spcBef>
              <a:spcAft>
                <a:spcPts val="200"/>
              </a:spcAft>
            </a:pPr>
            <a:r>
              <a:rPr sz="800" b="1">
                <a:solidFill>
                  <a:srgbClr val="78808C"/>
                </a:solidFill>
                <a:latin typeface="Consolas"/>
              </a:rPr>
              <a:t>DIE DREI VERFAHRENSFAMILIEN</a:t>
            </a:r>
          </a:p>
          <a:p>
            <a:pPr marL="177800" indent="-177800">
              <a:spcBef>
                <a:spcPts val="600"/>
              </a:spcBef>
              <a:spcAft>
                <a:spcPts val="200"/>
              </a:spcAft>
            </a:pPr>
            <a:r>
              <a:rPr sz="1200" i="1">
                <a:solidFill>
                  <a:srgbClr val="3D5466"/>
                </a:solidFill>
                <a:latin typeface="Arial"/>
              </a:rPr>
              <a:t>→  Begriff: Earn-out</a:t>
            </a:r>
          </a:p>
          <a:p>
            <a:pPr>
              <a:spcBef>
                <a:spcPts val="1000"/>
              </a:spcBef>
              <a:spcAft>
                <a:spcPts val="200"/>
              </a:spcAft>
            </a:pPr>
            <a:r>
              <a:rPr sz="800" b="1">
                <a:solidFill>
                  <a:srgbClr val="78808C"/>
                </a:solidFill>
                <a:latin typeface="Consolas"/>
              </a:rPr>
              <a:t>DIE DREI KMU-KORREKTUREN</a:t>
            </a:r>
          </a:p>
          <a:p>
            <a:pPr marL="190500" indent="-190500">
              <a:spcBef>
                <a:spcPts val="400"/>
              </a:spcBef>
              <a:spcAft>
                <a:spcPts val="200"/>
              </a:spcAft>
            </a:pPr>
            <a:r>
              <a:rPr sz="1300">
                <a:solidFill>
                  <a:srgbClr val="3D5466"/>
                </a:solidFill>
                <a:latin typeface="Arial"/>
              </a:rPr>
              <a:t>▸  Bevor ein mittelständisches Ergebnis bewertet werden kann, muss es normalisiert werden. Drei Korrekturen sind fast immer nötig:</a:t>
            </a:r>
          </a:p>
          <a:p>
            <a:pPr marL="190500" indent="-190500">
              <a:spcBef>
                <a:spcPts val="400"/>
              </a:spcBef>
              <a:spcAft>
                <a:spcPts val="200"/>
              </a:spcAft>
            </a:pPr>
            <a:r>
              <a:rPr sz="1300">
                <a:solidFill>
                  <a:srgbClr val="3D5466"/>
                </a:solidFill>
                <a:latin typeface="Arial"/>
              </a:rPr>
              <a:t>▸  Kalkulatorischer Unternehmerlohn: Der Gesellschafter-Geschäftsführer entnimmt häufig zu wenig oder zu viel. Für die Bewertung wird ein marktüblicher Geschäftsführergehalt angesetzt – sonst wird der nachhaltige Ertrag verzerrt.</a:t>
            </a:r>
          </a:p>
          <a:p>
            <a:pPr marL="190500" indent="-190500">
              <a:spcBef>
                <a:spcPts val="400"/>
              </a:spcBef>
              <a:spcAft>
                <a:spcPts val="200"/>
              </a:spcAft>
            </a:pPr>
            <a:r>
              <a:rPr sz="1300">
                <a:solidFill>
                  <a:srgbClr val="3D5466"/>
                </a:solidFill>
                <a:latin typeface="Arial"/>
              </a:rPr>
              <a:t>▸  Nicht betriebsnotwendiges Vermögen: Das private Grundstück, die Überliquidität oder die Oldtimer-Sammlung gehören nicht zum operativen Ertrag. Sie werden aus dem Ergebnis herausgerechnet und separat zum Wert addiert.</a:t>
            </a:r>
          </a:p>
          <a:p>
            <a:pPr marL="190500" indent="-190500">
              <a:spcBef>
                <a:spcPts val="400"/>
              </a:spcBef>
              <a:spcAft>
                <a:spcPts val="200"/>
              </a:spcAft>
            </a:pPr>
            <a:r>
              <a:rPr sz="1300">
                <a:solidFill>
                  <a:srgbClr val="3D5466"/>
                </a:solidFill>
                <a:latin typeface="Arial"/>
              </a:rPr>
              <a:t>▸  Personenabhängigkeit: Hängt der Erfolg am Inhaber (Kundenbeziehungen, Know-how), sinkt der übertragbare Wert. Diese Korrektur fließt in den Risikozuschlag des Kapitalisierungszinses ein – und ist zugleich das heikelste Gesprächsthema.</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M24  ·  SCHAUBILD</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Die drei Verfahrensfamilien der Unternehmensbewertung und ih</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303489" y="1325880"/>
            <a:ext cx="7581973" cy="4937760"/>
          </a:xfrm>
          <a:prstGeom prst="rect">
            <a:avLst/>
          </a:prstGeom>
        </p:spPr>
      </p:pic>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M24</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Schaubild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M24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Theorie-Input: Verkaufs- und Übergabeprozess</a:t>
            </a:r>
          </a:p>
        </p:txBody>
      </p:sp>
      <p:sp>
        <p:nvSpPr>
          <p:cNvPr id="8" name="TextBox 7"/>
          <p:cNvSpPr txBox="1"/>
          <p:nvPr/>
        </p:nvSpPr>
        <p:spPr>
          <a:xfrm>
            <a:off x="685800" y="1417320"/>
            <a:ext cx="10817352" cy="4892040"/>
          </a:xfrm>
          <a:prstGeom prst="rect">
            <a:avLst/>
          </a:prstGeom>
          <a:noFill/>
        </p:spPr>
        <p:txBody>
          <a:bodyPr wrap="square" anchor="ctr">
            <a:spAutoFit/>
          </a:bodyPr>
          <a:lstStyle/>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M24  ·  ARBEITSBLATT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Praxisfall: Präzisionstechnik Musterregion GmbH</a:t>
            </a:r>
          </a:p>
        </p:txBody>
      </p:sp>
      <p:sp>
        <p:nvSpPr>
          <p:cNvPr id="8" name="TextBox 7"/>
          <p:cNvSpPr txBox="1"/>
          <p:nvPr/>
        </p:nvSpPr>
        <p:spPr>
          <a:xfrm>
            <a:off x="685800" y="1554480"/>
            <a:ext cx="10817352" cy="3840480"/>
          </a:xfrm>
          <a:prstGeom prst="rect">
            <a:avLst/>
          </a:prstGeom>
          <a:noFill/>
        </p:spPr>
        <p:txBody>
          <a:bodyPr wrap="square">
            <a:spAutoFit/>
          </a:bodyPr>
          <a:lstStyle/>
          <a:p>
            <a:pPr marL="190500" indent="-190500">
              <a:spcBef>
                <a:spcPts val="400"/>
              </a:spcBef>
              <a:spcAft>
                <a:spcPts val="200"/>
              </a:spcAft>
            </a:pPr>
            <a:r>
              <a:rPr sz="1400">
                <a:solidFill>
                  <a:srgbClr val="3D5466"/>
                </a:solidFill>
                <a:latin typeface="Arial"/>
              </a:rPr>
              <a:t>▸  Unternehmensportrait (anonymisiert, branchentypisch)</a:t>
            </a:r>
          </a:p>
          <a:p>
            <a:pPr marL="190500" indent="-190500">
              <a:spcBef>
                <a:spcPts val="400"/>
              </a:spcBef>
              <a:spcAft>
                <a:spcPts val="200"/>
              </a:spcAft>
            </a:pPr>
            <a:r>
              <a:rPr sz="1400">
                <a:solidFill>
                  <a:srgbClr val="3D5466"/>
                </a:solidFill>
                <a:latin typeface="Arial"/>
              </a:rPr>
              <a:t>▸  Bereinigtes Ergebnis (Ableitung des nachhaltigen Ertrags, TEUR):</a:t>
            </a:r>
          </a:p>
          <a:p>
            <a:pPr marL="190500" indent="-190500">
              <a:spcBef>
                <a:spcPts val="400"/>
              </a:spcBef>
              <a:spcAft>
                <a:spcPts val="200"/>
              </a:spcAft>
            </a:pPr>
            <a:r>
              <a:rPr sz="1400">
                <a:solidFill>
                  <a:srgbClr val="3D5466"/>
                </a:solidFill>
                <a:latin typeface="Arial"/>
              </a:rPr>
              <a:t>▸  Weitere Angaben:</a:t>
            </a:r>
          </a:p>
          <a:p>
            <a:pPr marL="190500" indent="-190500">
              <a:spcBef>
                <a:spcPts val="400"/>
              </a:spcBef>
              <a:spcAft>
                <a:spcPts val="200"/>
              </a:spcAft>
            </a:pPr>
            <a:r>
              <a:rPr sz="1400">
                <a:solidFill>
                  <a:srgbClr val="3D5466"/>
                </a:solidFill>
                <a:latin typeface="Arial"/>
              </a:rPr>
              <a:t>▸  Nettofinanzverbindlichkeiten (Net Debt): 700 TEUR</a:t>
            </a:r>
          </a:p>
          <a:p>
            <a:pPr marL="190500" indent="-190500">
              <a:spcBef>
                <a:spcPts val="400"/>
              </a:spcBef>
              <a:spcAft>
                <a:spcPts val="200"/>
              </a:spcAft>
            </a:pPr>
            <a:r>
              <a:rPr sz="1400">
                <a:solidFill>
                  <a:srgbClr val="3D5466"/>
                </a:solidFill>
                <a:latin typeface="Arial"/>
              </a:rPr>
              <a:t>▸  Nicht betriebsnotwendiges Vermögen (vermietetes Grundstück, Verkehrswert): 500 TEUR</a:t>
            </a:r>
          </a:p>
        </p:txBody>
      </p:sp>
      <p:sp>
        <p:nvSpPr>
          <p:cNvPr id="9" name="Rectangle 8"/>
          <p:cNvSpPr/>
          <p:nvPr/>
        </p:nvSpPr>
        <p:spPr>
          <a:xfrm>
            <a:off x="685800" y="5486400"/>
            <a:ext cx="10817352" cy="64008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596128"/>
            <a:ext cx="10451592" cy="457200"/>
          </a:xfrm>
          <a:prstGeom prst="rect">
            <a:avLst/>
          </a:prstGeom>
          <a:noFill/>
        </p:spPr>
        <p:txBody>
          <a:bodyPr wrap="square">
            <a:spAutoFit/>
          </a:bodyPr>
          <a:lstStyle/>
          <a:p>
            <a:pPr algn="l"/>
            <a:r>
              <a:rPr sz="1300" b="1" i="0">
                <a:solidFill>
                  <a:srgbClr val="FFFFFF"/>
                </a:solidFill>
                <a:latin typeface="Arial"/>
              </a:rPr>
              <a:t>→  Bearbeitung im Teilnehmer-Workbook (Arbeitsblatt mit Ausfüllfeldern)</a:t>
            </a:r>
          </a:p>
        </p:txBody>
      </p:sp>
      <p:sp>
        <p:nvSpPr>
          <p:cNvPr id="11" name="Rectangle 10"/>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M24  ·  SCHAUBILD</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Handlungsempfehlung</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303489" y="1325880"/>
            <a:ext cx="7581973" cy="4937760"/>
          </a:xfrm>
          <a:prstGeom prst="rect">
            <a:avLst/>
          </a:prstGeom>
        </p:spPr>
      </p:pic>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M24</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Schaubild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M24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Reflexionsfragen</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Bei welchem Ihrer Kunden haben Sie das Thema Nachfolge bisher gemieden – und warum?</a:t>
            </a:r>
          </a:p>
          <a:p>
            <a:pPr marL="190500" indent="-190500">
              <a:spcBef>
                <a:spcPts val="400"/>
              </a:spcBef>
              <a:spcAft>
                <a:spcPts val="200"/>
              </a:spcAft>
            </a:pPr>
            <a:r>
              <a:rPr sz="1300">
                <a:solidFill>
                  <a:srgbClr val="3D5466"/>
                </a:solidFill>
                <a:latin typeface="Arial"/>
              </a:rPr>
              <a:t>▸  Wie erklären Sie einem stolzen Inhaber, dass sein Betrieb am Markt weniger bringt als der „theoretische" Ertragswert, ohne ihn zu kränken?</a:t>
            </a:r>
          </a:p>
          <a:p>
            <a:pPr marL="190500" indent="-190500">
              <a:spcBef>
                <a:spcPts val="400"/>
              </a:spcBef>
              <a:spcAft>
                <a:spcPts val="200"/>
              </a:spcAft>
            </a:pPr>
            <a:r>
              <a:rPr sz="1300">
                <a:solidFill>
                  <a:srgbClr val="3D5466"/>
                </a:solidFill>
                <a:latin typeface="Arial"/>
              </a:rPr>
              <a:t>▸  Welcher Werthebel ist in personenabhängigen Betrieben am wirksamsten – und wie sprechen Sie ihn an?</a:t>
            </a:r>
          </a:p>
          <a:p>
            <a:pPr marL="190500" indent="-190500">
              <a:spcBef>
                <a:spcPts val="400"/>
              </a:spcBef>
              <a:spcAft>
                <a:spcPts val="200"/>
              </a:spcAft>
            </a:pPr>
            <a:r>
              <a:rPr sz="1300">
                <a:solidFill>
                  <a:srgbClr val="3D5466"/>
                </a:solidFill>
                <a:latin typeface="Arial"/>
              </a:rPr>
              <a:t>▸  An welcher Stelle endet Ihre Rolle als Berater und beginnt die des Verbundpartners (DZ Bank M&amp;A, Steuerberater)?</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