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Einstiegsrunde aufgreifen (0–15 Min.): Welches Gespräch in den letzten drei Monaten hat die meiste Überwindung gekostet? Stichworte auf Flipchart (ohne Namen).</a:t>
            </a:r>
          </a:p>
          <a:p>
            <a:r>
              <a:t>Explizit benennen: TL08 beginnt dort, wo TL06 endete – nach dem zweiten Nachfassgespräch ohne Wirkung, und wenn ein Konflikt zwischen Beratern eskaliert.</a:t>
            </a:r>
          </a:p>
          <a:p>
            <a:r>
              <a:t>Merksatz Flipchart: Das Nicht-Gespräch kostet mehr als das unbequeme Gespräch.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Satz als Auslöser: „Du hast die vereinbarte Dokumentation wieder nicht abgegeben.</a:t>
            </a:r>
          </a:p>
          <a:p>
            <a:r>
              <a:t>Frage an TN: Auf welcher Ebene hören Ihre Berater voraussichtlich zuerst – und wie verändert das Ihre Formulierung?</a:t>
            </a:r>
          </a:p>
          <a:p>
            <a:r>
              <a:t>Überleitung: Das Vier-Ohren-Modell kennen alle aus TL00 – heute geht es darum, die Empfangsebene vorab zu antizipieren.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Stone, Patton &amp; Heen (1999): Drei-Ebenen-Modell – neues Element gegenüber TL00.</a:t>
            </a:r>
          </a:p>
          <a:p>
            <a:r>
              <a:t>Einzelreflexion danach (10 Min.) zu den drei inneren Klärungsfragen in der TN-Unterlage – kein Gruppen-Sharing.</a:t>
            </a:r>
          </a:p>
          <a:p>
            <a:r>
              <a:t>Tandem-Austausch (5 Min.) danach ist freiwillig.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Häufige Reaktion: TN verbinden Konsequenzgespräch sofort mit Abmahnung – früh begegnen.</a:t>
            </a:r>
          </a:p>
          <a:p>
            <a:r>
              <a:t>Stufengrafik auf Flipchart: Entwicklungsgespräch → Nachfassgespräch → Konsequenzgespräch → HR. HR kommt erst auf Stufe 4.</a:t>
            </a:r>
          </a:p>
          <a:p>
            <a:r>
              <a:t>Häufigster Fehler: Konsequenz wird bereits in Schritt 1 (Sachverhalt) formuliert – das macht das Gespräch zum Verhör.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Greenleaf (1977): Wer Vereinbarungen nicht verbindlich macht, entmündigt den Mitarbeitenden.</a:t>
            </a:r>
          </a:p>
          <a:p>
            <a:r>
              <a:t>Eignungsfrage-Signale benennen: (1) Mitarbeitender will nicht – explizit oder implizit. (2) Muster ist breiter als ein Bereich.</a:t>
            </a:r>
          </a:p>
          <a:p>
            <a:r>
              <a:t>Schriftliche Dokumentation = Führungsgedächtnis, keine Abmahnvorstufe. Bereichsdirektor noch in derselben Woche informieren.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Sprachcheck in 2er-Gruppen (kein Rollenspiel): Einstiegssatz vorlesen, Rückmeldung auf zwei Fragen – benennt oder beschönigt der Satz den Sachverhalt? Lädt er ein oder klagt er an?</a:t>
            </a:r>
          </a:p>
          <a:p>
            <a:r>
              <a:t>Häufigster Fehler beim Rundgang: Konsequenz erscheint in Schritt 1. Diskret ansprechen oder als geteilten Lernpunkt im Plenum benennen (ohne Namen).</a:t>
            </a:r>
          </a:p>
          <a:p>
            <a:r>
              <a:t>Eigener Fall oder Fallszenario Felix (abgeglichenes TN-Unterlage-Szenario) – beides gilt.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 FK-Geschäft von VR-Banken: Rollenkonflikte besonders häufig – Provisionsregelungen, Bestandsübergaben ohne klare Dokumentation.</a:t>
            </a:r>
          </a:p>
          <a:p>
            <a:r>
              <a:t>Kernaussage: Allparteiliche Moderation löst keinen Rollenkonflikt, solange die strukturelle Regelung ungeklärt ist.</a:t>
            </a:r>
          </a:p>
          <a:p>
            <a:r>
              <a:t>Überleitung zum Praxisfall: Monika und der Brenner-Konflikt.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Neue 2er-Gruppen bilden – nicht dieselben Paare wie bei AB-1.</a:t>
            </a:r>
          </a:p>
          <a:p>
            <a:r>
              <a:t>Typischer Fehler: Einstiegssatz deutet Lösung bereits an oder lädt eine Partei stärker ein. TN erkennen das selbst im Sprachcheck – lernwirksamer als Trainer-Feedback.</a:t>
            </a:r>
          </a:p>
          <a:p>
            <a:r>
              <a:t>Allparteilich heißt nicht meinungslos – es heißt: Meinung hat im Gespräch keinen Raum.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Selbstcheck (Sec 5) in Stille ausfüllen (ca. 3 Min.).</a:t>
            </a:r>
          </a:p>
          <a:p>
            <a:r>
              <a:t>Jeden TN seinen nächsten Schritt mit konkretem Datum benennen lassen – soziale Verbindlichkeit erhöhen.</a:t>
            </a:r>
          </a:p>
          <a:p>
            <a:r>
              <a:t>Feedbackbogen L1: 3 Minuten, nicht als Add-on behandeln.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Greenleaf-Test vorlesen: „Wachsen die Menschen, denen Sie führend begegnen – werden sie kompetenter, freier, eigenverantwortlicher?“</a:t>
            </a:r>
          </a:p>
          <a:p>
            <a:r>
              <a:t>Zwei Kernaussagen explizit auf Flipchart sichern vor Auflösung der Gruppe.</a:t>
            </a:r>
          </a:p>
          <a:p>
            <a:r>
              <a:t>Brücke TL10: Wer Konsequenzgespräch und Konfliktmoderation als Handwerk beherrscht, ist bereit, Konfliktkultur teamweit zu gestalten – das ist Dreyfus-Stufe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TL08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Schwierige Gespräche &amp; Konflikte führen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Konsequenzklarheit herstellen, Konflikte moderieren, Beziehungen erhalten – Führung auch wenn es unbequem wird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K-F04 Change &amp; Kommunikation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Führungscoach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TL08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TL06 hat das Nachfassgespräch gelehrt: Wenn eine Vereinbarung nicht umgesetzt wurde, wird das direkt und entwicklungsorientiert angesprochen.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TL08 adressiert die nächste Eskalationsstufe: Was passiert, wenn das entwicklungsorientierte Nachfassgespräch ein zweites Mal ohne erklärbaren Grund keine Wirkung zeigt?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Dann wechselt der Gesprächstyp – vom Entwicklungsgespräch zum Konsequenzgespräch.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Parallel dazu baut TL08 auf TL03 auf und behandelt akute Konflikte im Team: wenn zwei Berater im offenen Streit über Kundenzuständigkeit oder Provision eskalieren und der Teamleiter als allparteilicher Moderator gefragt ist, nicht als Schiedsrichter.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Führungscoachs entwickeln in diesem Modul die Kompetenz, diese schwierigen Gesprächs- und Konfliktsituationen kommunikativ präzise vorzubereiten, mit innerer Klarheit zu führen und dabei die Arbeitsbeziehung zu erhalten.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TL08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eigene Kommunikationshaltung vor einem schwierigen Gespräch analysieren – welche innere Annahmen, Bewertungen und emotionalen Reaktionsmuster beeinflussen die Gesprächsführung – und Strategien zur Selbstregulation ableiten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Konsequenzgespräch nach dem Vier-Schritt-Schema (Sachverhalt – Vereinbarung – Erwartung – Konsequenz) strukturiert vorbereiten und einen wertschätzenden, klaren Einstiegssatz formulieren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Konflikte zwischen zwei Mitarbeitenden nach Glasls Eskalationsstufen einordnen und auf dieser Grundlage eine situationsgerechte Moderationsstrategie (allparteiliche Moderation, Mediation oder HR-Einbeziehung) auswählen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Konfliktmoderationsgespräch zwischen zwei Beratern mit einer strukturierten Moderationssequenz (Rahmen setzen – Perspektiven hören – Gemeinsamkeiten entwickeln – Vereinbarung) vorbereiten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TL08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/>
            </a:r>
            <a:r>
              <a:rPr sz="1500" b="1">
                <a:solidFill>
                  <a:srgbClr val="3D5466"/>
                </a:solidFill>
                <a:latin typeface="Arial"/>
              </a:rPr>
              <a:t>  Ankommen, Erwartungsabfrage, Tagesstruktur klären</a:t>
            </a:r>
            <a:r>
              <a:rPr sz="1200">
                <a:solidFill>
                  <a:srgbClr val="78808C"/>
                </a:solidFill>
                <a:latin typeface="Arial"/>
              </a:rPr>
              <a:t>  ·  Stimmungsrunde (1 Satz je TN: „Welches Gespräch in den letzten drei Monaten hat mich am meisten Überwindung gekostet?"); Agenda an Flipchart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/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 + Reflexionsimpuls</a:t>
            </a:r>
            <a:r>
              <a:rPr sz="1200">
                <a:solidFill>
                  <a:srgbClr val="78808C"/>
                </a:solidFill>
                <a:latin typeface="Arial"/>
              </a:rPr>
              <a:t>  ·  Trainer-Vortrag (max. 15 Min): Was macht ein Gespräch schwierig, Schön-Reflexionsmuster, Vier-Ohren-Modell, Watzlawick Axiom 1+2, Stone/Patton Drei-Ebenen-Modell; anschließend Einzelreflexion (10 Min) zu den drei inneren Klärungsfragen aus der TN-Unterlage; kurzer Austausch im Tandem (5 Min)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/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Theorie-Input: Vier-Schritt-Schema</a:t>
            </a:r>
            <a:r>
              <a:rPr sz="1200">
                <a:solidFill>
                  <a:srgbClr val="78808C"/>
                </a:solidFill>
                <a:latin typeface="Arial"/>
              </a:rPr>
              <a:t>  ·  Trainer-Vortrag (12 Min): Vom Entwicklungsgespräch zur Konsequenzklarheit; Vier-Schritt-Schema Sachverhalt–Vereinbarung–Erwartung–Konsequenz; Abschlussfrage; Grenze Entwicklung/Eignung; 8 Min Fragen + kurze Diskussion zu „Wann wäre das in eurem Team schon mal richtig gewesen?"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/>
            </a:r>
            <a:r>
              <a:rPr sz="1500" b="1">
                <a:solidFill>
                  <a:srgbClr val="3D5466"/>
                </a:solidFill>
                <a:latin typeface="Arial"/>
              </a:rPr>
              <a:t>  Gesprächsvorbereitung (Einzelarbeit) + Peer-Sprachcheck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 AB-1 (20 Min): TN bereiten ihr Gespräch nach Vier-Schritt-Schema vor – eigener Fall oder Fallszenario Felix; Sprachcheck in 2er-Gruppen (10 Min): Einstiegssatz gegenseitig vorlesen, Feedback nach den zwei Leitfragen aus AB-2 (allparteilich? einladend?); kurzer Überarbeitungsschritt im Anschluss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/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</a:t>
            </a:r>
            <a:r>
              <a:rPr sz="1200">
                <a:solidFill>
                  <a:srgbClr val="78808C"/>
                </a:solidFill>
                <a:latin typeface="Arial"/>
              </a:rPr>
              <a:t>  ·  Trainer-Vortrag (12 Min): drei Konfliktarten (Sach-/Beziehungs-/Rollenkonflikt), Glasl-Phasen 1–3 und Interventionsschwelle Phase 1/2; allparteilicher Moderator vs. Schiedsrichter; 8 Min Kurzübung: TN ordnen drei Kurzbeschreibungen je einer Eskalationsphase zu (Handout-Aufgabe)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/>
            </a:r>
            <a:r>
              <a:rPr sz="1500" b="1">
                <a:solidFill>
                  <a:srgbClr val="3D5466"/>
                </a:solidFill>
                <a:latin typeface="Arial"/>
              </a:rPr>
              <a:t>  Kollegiale Fallberatung (Sechs-Schritte-Schema)</a:t>
            </a:r>
            <a:r>
              <a:rPr sz="1200">
                <a:solidFill>
                  <a:srgbClr val="78808C"/>
                </a:solidFill>
                <a:latin typeface="Arial"/>
              </a:rPr>
              <a:t>  ·  Schritt 1 (5 Min): Fallbringer stellt den Fall (Monika/Brenner-Konflikt aus TN-Unterlage) vor; kein Kommentar der Gruppe. Schritt 2 (8 Min): Klärungsfragen der Gruppe (nur Sachfragen); Fallbringer antwortet. Schritt 3 (5 Min): Fallbringer formuliert seine Schlüsselfrage: „Welche Eskalationsstufe liegt vor – und was ist mein nächster konkreter Schritt als Moderator?" Schritt 4 (7 Min): Beratungsrunde – TN geben Hypothesen und Handlungsideen; Fallbringer hört zu, schreibt mit, schweigt. Schritt 5a (5 Min): Stilles Schreiben – Fallbringer wählt nützlichste Perspektive und formuliert seinen allparteilichen Einstiegssatz schriftlich; keine Gruppeninteraktion. Schritt 5b (10 Min): Fallbringer liest den Einstiegssatz in der Gruppe vor; Sprachcheck: allparteilich oder Partei-ergreifend? Einladend oder defensiv auslösend? Überarbeitungsschritt direkt im Raum. Schritt 6 (5 Min): Blitzlicht: Was nehmen alle mit? Trainer sichert Ergebnis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/>
            </a:r>
            <a:r>
              <a:rPr sz="1500" b="1">
                <a:solidFill>
                  <a:srgbClr val="3D5466"/>
                </a:solidFill>
                <a:latin typeface="Arial"/>
              </a:rPr>
              <a:t>  Gesprächsvorbereitung (Einzelarbeit) + Peer-Sprachcheck</a:t>
            </a:r>
            <a:r>
              <a:rPr sz="1200">
                <a:solidFill>
                  <a:srgbClr val="78808C"/>
                </a:solidFill>
                <a:latin typeface="Arial"/>
              </a:rPr>
              <a:t>  ·  Einzelarbeit AB-2 (20 Min): TN bereiten erstes Einzelgespräch vor – Glasl-Einordnung, Interessen-Analyse, allparteilicher Einstiegssatz; Peer-Sprachcheck in neuen 2er-Gruppen (10 Min): Einstiegssatz vorlesen, Feedback: allparteilich oder Partei-Ergreifend? Einladend oder defensiv auslösend? Überarbeitungsschritt direkt im AB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/>
            </a:r>
            <a:r>
              <a:rPr sz="1500" b="1">
                <a:solidFill>
                  <a:srgbClr val="3D5466"/>
                </a:solidFill>
                <a:latin typeface="Arial"/>
              </a:rPr>
              <a:t>  Sammlung + Trainer-Sicherung</a:t>
            </a:r>
            <a:r>
              <a:rPr sz="1200">
                <a:solidFill>
                  <a:srgbClr val="78808C"/>
                </a:solidFill>
                <a:latin typeface="Arial"/>
              </a:rPr>
              <a:t>  ·  TN bringen je einen Satz: „Mein wichtigster Aha-Moment heute." Trainer ergänzt die zwei Kernerkenntnisse: (1) Nicht-Gespräch ist auch Kommunikation – und immer teurer als das Gespräch selbst. (2) Die Interventionsschwelle bei Glasl Phase 1/2 ist keine Überreaktion, sondern Führungsverantwortung. Klärung offener Fragen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/>
            </a:r>
            <a:r>
              <a:rPr sz="1500" b="1">
                <a:solidFill>
                  <a:srgbClr val="3D5466"/>
                </a:solidFill>
                <a:latin typeface="Arial"/>
              </a:rPr>
              <a:t>  Transfervereinbarung + Feedbackbogen</a:t>
            </a:r>
            <a:r>
              <a:rPr sz="1200">
                <a:solidFill>
                  <a:srgbClr val="78808C"/>
                </a:solidFill>
                <a:latin typeface="Arial"/>
              </a:rPr>
              <a:t>  ·  Jeder TN benennt seinen persönlichen nächsten Schritt (ein schwieriges Gespräch oder ein Konflikt) aus Sec 5 Aufgaben 1–3; Feedbackbogen L1 ausfüllen (Kirkpatrick, 1994 ); Abschluss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I · Was Gespräche wirklich schwierig macht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Schwierige Gespräche scheitern vor dem ersten Satz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Antizipation verändert die Vorbereitung.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Botschaft wird weicher als gemeint formuliert.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Termin wird hinausgeschoben – oder nie gesetzt.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Nicht-Gespräch ist auch Kommunikation (Watzlawick).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Erster Schritt: innere Klärung, nicht Gesprächsstruktur.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Haltung und Kommunikationsmodelle für schwierige Gespräche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Vier-Ohren-Modell + Watzlawick + Stone/Patton Drei-Ebenen-Modell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Dieselbe Aussage – vier verschiedene Botschaften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Ebene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Sachebene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Selbstoffenbarung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Beziehungsebene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Appellebene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Schwierige Gespräche finden auf drei Ebenen gleichzeitig statt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Was-geschah: unterschiedliche Wahrnehmungen der Fakten.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Gefühle: wirkmächtig, auch wenn unausgesprochen.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Identität: Was sagt das Gespräch über mich als Person?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Eskalation entsteht auf der Identitätsebene – nicht auf der Sachebene.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Vorbereitung: Welche Ebene wird der Berater zuerst hören?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Das Konsequenzgespräch: Führung, kein Disziplinarverfahren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Vier-Schritt-Schema + Abgrenzung Entwicklung vs. Eignung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Konsequenzgespräch nach Vier-Schritt-Schema – Reihenfolge ist nicht verhandelbar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Schritt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 · Sachverhalt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 · Vereinbarung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 · Erwartung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4 · Konsequenz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Abschluss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Wer wartet, bis das Gespräch nicht mehr nötig erscheint, führt es zu spät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Entwicklungsorientierte Haltung bleibt – der Rahmen ändert sich.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Servant Leadership: Konsequenzklarheit ist Fürsorge, nicht Strafe.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Abschlussfrage: Hält Entwicklungscharakter aufrecht.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Kein erklärbarer Grund? Konsequenz bleibt stehen.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Eignungsfrage: HR einbeziehen, bevor nächstes Gespräch.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(20 MIN.) + PEER-SPRACHCHECK (10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AB-1: Konsequenzgespräch schriftlich vorbereiten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Vier-Schritt-Schema auf eigenen Fall oder Felix-Szenario anwenden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Den Sachverhalt formulieren, bevor das Gespräch beginnt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1: Innere Klärung – Tatsache vs. Interpretation.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2: Sachverhalt – konkret, beobachtbar, ohne Verallgemeinerung.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3: Vereinbarung benennen – wann, wie oft?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4: Erwartung formulieren – bis wann?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5: Konsequenz – verhältnismäßig, umsetzbar, real.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6: Abschlussfrage – Entwicklungscharakter erhalten.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THEORIE-INPUT 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Konflikte verstehen: Glasl-Eskalation und Konfliktarten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Konfliktarten + Glasl-Phasen + Interventionsschwelle Phase 1/2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Wer wartet, bis Lagerbildung sichtbar ist, hat das Fenster b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560" y="1325880"/>
            <a:ext cx="5895832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Drei Konfliktarten – eine Verwechslung, die Moderation verhindert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Konfliktart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Sachkonflikt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Beziehungskonflikt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Rollenkonflikt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KOLLEGIALE FALLBERATUNG (45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Praxisfall: Stefan, Jana und die Familie Brenner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Glasl-Einordnung + allparteilicher Einstiegssatz + Strukturklärung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(20 MIN.) + PEER-SPRACHCHECK (10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AB-2: Konfliktmoderation schriftlich vorbereiten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Glasl-Einordnung + Interessen-Analyse + allparteilicher Einstiegssatz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Erst Struktur klären – dann moderieren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Vorschritt: Welche Strukturfrage muss vor dem Gespräch entschieden werden?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1: Konfliktart und Glasl-Stufe einordnen – mit Begründung.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2: Position vs. Interesse der Konfliktpartei herausarbeiten.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3: Allparteilichen Einstiegssatz formulieren.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Sprachcheck: allparteilich oder Partei-ergreifend? Einladend oder defensiv?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ABSCHLUSS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Transfer &amp; Haltung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Transferaufgaben – Greenleaf-Test – Brücke TL10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Drei Transferaufgaben für die nächsten vier Wochen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1: Bestandsaufnahme – welches Gespräch fehlte, was hat es gekostet?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2: Ein schwieriges Gespräch führen – AB-1 vorher schriftlich ausfüllen.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3: Aktuellen Konflikt nach Glasl einordnen – als Fallberatungsfall mitbringen.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TL08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Konfliktfähigkeit ohne Konfliktscheue – der allparteiliche Moderator, nicht der Schiedsrichter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Nicht-Gespräch ist immer teurer als das Gespräch selbst.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Phase-1/2-Schwelle: Frühes Eingreifen ist Kompetenz, keine Überreaktion.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Allparteilich: für beide da, ohne Seite zu ergreifen.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Greenleaf-Test: Verlässt der Berater das Gespräch klarer – und mit einem nächsten Schritt?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TL10: Konfliktkultur auf Teamebene gestalten – jenseits der Einzelsituation.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