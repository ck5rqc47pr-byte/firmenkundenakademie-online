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notesMaster" Target="notesMasters/notesMaster1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Agenda aus dem Ablaufplan (Sektion 3.1). Timing und Pausen siehe Trainerhandbuch.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Anknüpfung an VA01 (Kreditakte): Was kam seitdem in der Praxis vor? Aktivierungsfrage: „Welche Sicherheit ist in Ihrem Haus am häufigsten?"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Schwerpunkt Grundschuld (Rang im Grundbuch) und Bürgschaft (Schriftform § 766 BGB) – die zwei häufigsten Formfehlerquellen.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Klare Rollenbotschaft: Fehlt eine Voraussetzung, wird sie als offener Punkt behandelt und zur Klärung an Berater oder Marktfolge gegeben – nicht selbst entschieden.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Fall vorstellen, dann selbst prüfen lassen (Einzel-/Partnerarbeit). Trainer beobachtet ohne einzugreifen.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Kernbefund des Falls: Grundschuld nur im 2. Rang (1. Rang Fremdbank 250 TEUR) und Eigenmittelnachweis 50 TEUR fehlt – beides blockiert die Auszahlung. Eskalieren ist Kompetenz, nicht Schwäche.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AB-2/AB-3 Musterlösung (Trainer-Version)</a:t>
            </a:r>
          </a:p>
          <a:p>
            <a:r>
              <a:t>Blockierend: Grundschuld im 2. statt vereinbarten Rang; fehlender Eigenmittelnachweis (Auflage). Beide vor Auszahlung zu klären.</a:t>
            </a:r>
          </a:p>
          <a:p>
            <a:r>
              <a:t>Trainer-Hinweis: Ziel ist die Rollensicherheit „erkennen–dokumentieren–eskalieren", nicht die juristische Tiefe des Grundbuchrechts.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Überleitung zum Transfer: die Prüfkarte AB-5 ist das Werkzeug für die nächste Auszahlung.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Fragen 1 und 3 im Plenum besprechen. Kernbotschaft: Eskalieren ist Kompetenz, nicht Schwäche.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F2C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D9C0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201168"/>
            <a:ext cx="10817352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00">
                <a:solidFill>
                  <a:srgbClr val="C8D2E6"/>
                </a:solidFill>
                <a:latin typeface="Consolas"/>
              </a:rPr>
              <a:t>FKB CAMPUS  ·  FIRMENKUNDENAKADEMIE  ·  VA02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828800"/>
            <a:ext cx="10817352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600" b="1" i="0">
                <a:solidFill>
                  <a:srgbClr val="FFFFFF"/>
                </a:solidFill>
                <a:latin typeface="Arial"/>
              </a:rPr>
              <a:t>Sicherheiten und Auszahlung formal korrekt bearbeiten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3977639"/>
            <a:ext cx="1081735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0" i="1">
                <a:solidFill>
                  <a:srgbClr val="BECDE6"/>
                </a:solidFill>
                <a:latin typeface="Arial"/>
              </a:rPr>
              <a:t>Kreditsicherheiten prüfen, Auszahlungsvoraussetzungen sicherstellen, Mängel erkennen</a:t>
            </a:r>
          </a:p>
        </p:txBody>
      </p:sp>
      <p:sp>
        <p:nvSpPr>
          <p:cNvPr id="7" name="Rectangle 6"/>
          <p:cNvSpPr/>
          <p:nvPr/>
        </p:nvSpPr>
        <p:spPr>
          <a:xfrm>
            <a:off x="685800" y="5029200"/>
            <a:ext cx="10817352" cy="127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5193792"/>
            <a:ext cx="3605784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>
                <a:solidFill>
                  <a:srgbClr val="A0B4D2"/>
                </a:solidFill>
                <a:latin typeface="Consolas"/>
              </a:rPr>
              <a:t>KOMPETENZFELD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5394960"/>
            <a:ext cx="3605784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Arial"/>
              </a:rPr>
              <a:t>K-A01 Auftrags- &amp; Kreditsachbearbeitung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91584" y="5193792"/>
            <a:ext cx="3605784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>
                <a:solidFill>
                  <a:srgbClr val="A0B4D2"/>
                </a:solidFill>
                <a:latin typeface="Consolas"/>
              </a:rPr>
              <a:t>KOMPETENZSTUFE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91584" y="5394960"/>
            <a:ext cx="3605784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Arial"/>
              </a:rPr>
              <a:t>Eigenständige Assistenz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897368" y="5193792"/>
            <a:ext cx="3605784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>
                <a:solidFill>
                  <a:srgbClr val="A0B4D2"/>
                </a:solidFill>
                <a:latin typeface="Consolas"/>
              </a:rPr>
              <a:t>VERSION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897368" y="5394960"/>
            <a:ext cx="3605784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Arial"/>
              </a:rPr>
              <a:t>v1.0</a:t>
            </a:r>
          </a:p>
        </p:txBody>
      </p:sp>
      <p:sp>
        <p:nvSpPr>
          <p:cNvPr id="14" name="Rectangle 13"/>
          <p:cNvSpPr/>
          <p:nvPr/>
        </p:nvSpPr>
        <p:spPr>
          <a:xfrm>
            <a:off x="0" y="6510528"/>
            <a:ext cx="12188952" cy="347472"/>
          </a:xfrm>
          <a:prstGeom prst="rect">
            <a:avLst/>
          </a:prstGeom>
          <a:solidFill>
            <a:srgbClr val="0A1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85800" y="6583680"/>
            <a:ext cx="5408676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>
                <a:solidFill>
                  <a:srgbClr val="96A5BE"/>
                </a:solidFill>
                <a:latin typeface="Consolas"/>
              </a:rPr>
              <a:t>FKB Campus  ·  2026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094476" y="6583680"/>
            <a:ext cx="5408676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700">
                <a:solidFill>
                  <a:srgbClr val="96A5BE"/>
                </a:solidFill>
                <a:latin typeface="Consolas"/>
              </a:rPr>
              <a:t>Trainer-Präsentation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EDED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50292"/>
          </a:xfrm>
          <a:prstGeom prst="rect">
            <a:avLst/>
          </a:prstGeom>
          <a:solidFill>
            <a:srgbClr val="1F2C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109728"/>
            <a:ext cx="10817352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50">
                <a:solidFill>
                  <a:srgbClr val="78808C"/>
                </a:solidFill>
                <a:latin typeface="Consolas"/>
              </a:rPr>
              <a:t>ÜBERBLICK  ·  VA02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234440"/>
            <a:ext cx="12188952" cy="12700"/>
          </a:xfrm>
          <a:prstGeom prst="rect">
            <a:avLst/>
          </a:prstGeom>
          <a:solidFill>
            <a:srgbClr val="D8DF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502920"/>
            <a:ext cx="10817352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1F2C56"/>
                </a:solidFill>
                <a:latin typeface="Arial"/>
              </a:rPr>
              <a:t>Worum geht es heute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737360"/>
            <a:ext cx="9720072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1700">
                <a:solidFill>
                  <a:srgbClr val="3D5466"/>
                </a:solidFill>
                <a:latin typeface="Arial"/>
              </a:rPr>
              <a:t>Bevor ein Kredit ausgezahlt wird, müssen Sicherheiten ordnungsgemäß bestellt und alle Auszahlungsvoraussetzungen erfüllt sein – hier entscheidet sich, ob das Engagement formal sauber ist.</a:t>
            </a:r>
          </a:p>
          <a:p>
            <a:pPr>
              <a:spcAft>
                <a:spcPts val="1200"/>
              </a:spcAft>
            </a:pPr>
            <a:r>
              <a:rPr sz="1700">
                <a:solidFill>
                  <a:srgbClr val="3D5466"/>
                </a:solidFill>
                <a:latin typeface="Arial"/>
              </a:rPr>
              <a:t>Aufbauend auf der Kreditaktenführung lernen Sie, gängige Sicherheiten und ihre Unterlagen zuzuordnen, die formale Bestellung zu prüfen und eine Auszahlung freigabereif vorzubereiten.</a:t>
            </a:r>
          </a:p>
          <a:p>
            <a:pPr>
              <a:spcAft>
                <a:spcPts val="1200"/>
              </a:spcAft>
            </a:pPr>
            <a:r>
              <a:rPr sz="1700">
                <a:solidFill>
                  <a:srgbClr val="3D5466"/>
                </a:solidFill>
                <a:latin typeface="Arial"/>
              </a:rPr>
              <a:t>Danach erkennen Sie Mängel und Risiken und eskalieren sie an die richtige Stelle.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510528"/>
            <a:ext cx="12188952" cy="347472"/>
          </a:xfrm>
          <a:prstGeom prst="rect">
            <a:avLst/>
          </a:prstGeom>
          <a:solidFill>
            <a:srgbClr val="0A1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6583680"/>
            <a:ext cx="6490411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>
                <a:solidFill>
                  <a:srgbClr val="A0B4D2"/>
                </a:solidFill>
                <a:latin typeface="Consolas"/>
              </a:rPr>
              <a:t>FKB Campus  ·  VA02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EDED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50292"/>
          </a:xfrm>
          <a:prstGeom prst="rect">
            <a:avLst/>
          </a:prstGeom>
          <a:solidFill>
            <a:srgbClr val="1F2C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109728"/>
            <a:ext cx="10817352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50">
                <a:solidFill>
                  <a:srgbClr val="78808C"/>
                </a:solidFill>
                <a:latin typeface="Consolas"/>
              </a:rPr>
              <a:t>LERNZIELE  ·  VA02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234440"/>
            <a:ext cx="12188952" cy="12700"/>
          </a:xfrm>
          <a:prstGeom prst="rect">
            <a:avLst/>
          </a:prstGeom>
          <a:solidFill>
            <a:srgbClr val="D8DF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502920"/>
            <a:ext cx="10817352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1F2C56"/>
                </a:solidFill>
                <a:latin typeface="Arial"/>
              </a:rPr>
              <a:t>Was Sie heute mitnehmen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371600"/>
            <a:ext cx="10817352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200"/>
              </a:spcAft>
            </a:pPr>
            <a:r>
              <a:rPr sz="1400">
                <a:solidFill>
                  <a:srgbClr val="3D5466"/>
                </a:solidFill>
                <a:latin typeface="Arial"/>
              </a:rPr>
              <a:t>▸  Gängige Kreditsicherheiten und die zugehörigen Bestellungs-/Nachweisunterlagen zuordnen</a:t>
            </a:r>
          </a:p>
          <a:p>
            <a:pPr>
              <a:spcBef>
                <a:spcPts val="800"/>
              </a:spcBef>
              <a:spcAft>
                <a:spcPts val="200"/>
              </a:spcAft>
            </a:pPr>
            <a:r>
              <a:rPr sz="1400">
                <a:solidFill>
                  <a:srgbClr val="3D5466"/>
                </a:solidFill>
                <a:latin typeface="Arial"/>
              </a:rPr>
              <a:t>▸  Die formale Bestellung und Werthaltigkeit einer Sicherheit anhand der Unterlagen analysieren</a:t>
            </a:r>
          </a:p>
          <a:p>
            <a:pPr>
              <a:spcBef>
                <a:spcPts val="800"/>
              </a:spcBef>
              <a:spcAft>
                <a:spcPts val="200"/>
              </a:spcAft>
            </a:pPr>
            <a:r>
              <a:rPr sz="1400">
                <a:solidFill>
                  <a:srgbClr val="3D5466"/>
                </a:solidFill>
                <a:latin typeface="Arial"/>
              </a:rPr>
              <a:t>▸  Die Auszahlungsvoraussetzungen eines Kredits analysieren und ihre Erfüllung feststellen</a:t>
            </a:r>
          </a:p>
          <a:p>
            <a:pPr>
              <a:spcBef>
                <a:spcPts val="800"/>
              </a:spcBef>
              <a:spcAft>
                <a:spcPts val="200"/>
              </a:spcAft>
            </a:pPr>
            <a:r>
              <a:rPr sz="1400">
                <a:solidFill>
                  <a:srgbClr val="3D5466"/>
                </a:solidFill>
                <a:latin typeface="Arial"/>
              </a:rPr>
              <a:t>▸  Eine Auszahlung formal korrekt und freigabereif vorbereiten</a:t>
            </a:r>
          </a:p>
          <a:p>
            <a:pPr>
              <a:spcBef>
                <a:spcPts val="800"/>
              </a:spcBef>
              <a:spcAft>
                <a:spcPts val="200"/>
              </a:spcAft>
            </a:pPr>
            <a:r>
              <a:rPr sz="1400">
                <a:solidFill>
                  <a:srgbClr val="3D5466"/>
                </a:solidFill>
                <a:latin typeface="Arial"/>
              </a:rPr>
              <a:t>▸  Mängel und Risiken in der Sicherheiten- und Auszahlungsbearbeitung analysieren und eskalieren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510528"/>
            <a:ext cx="12188952" cy="347472"/>
          </a:xfrm>
          <a:prstGeom prst="rect">
            <a:avLst/>
          </a:prstGeom>
          <a:solidFill>
            <a:srgbClr val="0A1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6583680"/>
            <a:ext cx="6490411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>
                <a:solidFill>
                  <a:srgbClr val="A0B4D2"/>
                </a:solidFill>
                <a:latin typeface="Consolas"/>
              </a:rPr>
              <a:t>FKB Campus  ·  VA02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EDED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50292"/>
          </a:xfrm>
          <a:prstGeom prst="rect">
            <a:avLst/>
          </a:prstGeom>
          <a:solidFill>
            <a:srgbClr val="1F2C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109728"/>
            <a:ext cx="10817352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50">
                <a:solidFill>
                  <a:srgbClr val="78808C"/>
                </a:solidFill>
                <a:latin typeface="Consolas"/>
              </a:rPr>
              <a:t>AGENDA  ·  VA02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234440"/>
            <a:ext cx="12188952" cy="12700"/>
          </a:xfrm>
          <a:prstGeom prst="rect">
            <a:avLst/>
          </a:prstGeom>
          <a:solidFill>
            <a:srgbClr val="D8DF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502920"/>
            <a:ext cx="10817352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1F2C56"/>
                </a:solidFill>
                <a:latin typeface="Arial"/>
              </a:rPr>
              <a:t>So läuft das Modul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463040"/>
            <a:ext cx="10817352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700"/>
              </a:spcBef>
              <a:spcAft>
                <a:spcPts val="100"/>
              </a:spcAft>
            </a:pPr>
            <a:r>
              <a:rPr sz="1200">
                <a:solidFill>
                  <a:srgbClr val="78808C"/>
                </a:solidFill>
                <a:latin typeface="Consolas"/>
              </a:rPr>
              <a:t>00:00–00:05 </a:t>
            </a:r>
            <a:r>
              <a:rPr sz="1500" b="1">
                <a:solidFill>
                  <a:srgbClr val="3D5466"/>
                </a:solidFill>
                <a:latin typeface="Arial"/>
              </a:rPr>
              <a:t>  Begrüßung &amp; Einstieg</a:t>
            </a:r>
            <a:r>
              <a:rPr sz="1200">
                <a:solidFill>
                  <a:srgbClr val="78808C"/>
                </a:solidFill>
                <a:latin typeface="Arial"/>
              </a:rPr>
              <a:t>  ·  Plenum</a:t>
            </a:r>
          </a:p>
          <a:p>
            <a:pPr>
              <a:spcBef>
                <a:spcPts val="700"/>
              </a:spcBef>
              <a:spcAft>
                <a:spcPts val="100"/>
              </a:spcAft>
            </a:pPr>
            <a:r>
              <a:rPr sz="1200">
                <a:solidFill>
                  <a:srgbClr val="78808C"/>
                </a:solidFill>
                <a:latin typeface="Consolas"/>
              </a:rPr>
              <a:t>00:05–00:20 </a:t>
            </a:r>
            <a:r>
              <a:rPr sz="1500" b="1">
                <a:solidFill>
                  <a:srgbClr val="3D5466"/>
                </a:solidFill>
                <a:latin typeface="Arial"/>
              </a:rPr>
              <a:t>  Theorie-Input 1: Sicherheitenarten und ihre Unterlagen</a:t>
            </a:r>
            <a:r>
              <a:rPr sz="1200">
                <a:solidFill>
                  <a:srgbClr val="78808C"/>
                </a:solidFill>
                <a:latin typeface="Arial"/>
              </a:rPr>
              <a:t>  ·  Kurzvortrag + aktivierendes Fragen</a:t>
            </a:r>
          </a:p>
          <a:p>
            <a:pPr>
              <a:spcBef>
                <a:spcPts val="700"/>
              </a:spcBef>
              <a:spcAft>
                <a:spcPts val="100"/>
              </a:spcAft>
            </a:pPr>
            <a:r>
              <a:rPr sz="1200">
                <a:solidFill>
                  <a:srgbClr val="78808C"/>
                </a:solidFill>
                <a:latin typeface="Consolas"/>
              </a:rPr>
              <a:t>00:20–00:30 </a:t>
            </a:r>
            <a:r>
              <a:rPr sz="1500" b="1">
                <a:solidFill>
                  <a:srgbClr val="3D5466"/>
                </a:solidFill>
                <a:latin typeface="Arial"/>
              </a:rPr>
              <a:t>  Theorie-Input 2: Auszahlungsvoraussetzungen und Kompetenzgrenzen</a:t>
            </a:r>
            <a:r>
              <a:rPr sz="1200">
                <a:solidFill>
                  <a:srgbClr val="78808C"/>
                </a:solidFill>
                <a:latin typeface="Arial"/>
              </a:rPr>
              <a:t>  ·  Kurzvortrag + Frage-Antwort</a:t>
            </a:r>
          </a:p>
          <a:p>
            <a:pPr>
              <a:spcBef>
                <a:spcPts val="700"/>
              </a:spcBef>
              <a:spcAft>
                <a:spcPts val="100"/>
              </a:spcAft>
            </a:pPr>
            <a:r>
              <a:rPr sz="1200">
                <a:solidFill>
                  <a:srgbClr val="78808C"/>
                </a:solidFill>
                <a:latin typeface="Consolas"/>
              </a:rPr>
              <a:t>00:30–00:35 </a:t>
            </a:r>
            <a:r>
              <a:rPr sz="1500" b="1">
                <a:solidFill>
                  <a:srgbClr val="3D5466"/>
                </a:solidFill>
                <a:latin typeface="Arial"/>
              </a:rPr>
              <a:t>  Fallübergabe</a:t>
            </a:r>
            <a:r>
              <a:rPr sz="1200">
                <a:solidFill>
                  <a:srgbClr val="78808C"/>
                </a:solidFill>
                <a:latin typeface="Arial"/>
              </a:rPr>
              <a:t>  ·  Plenum</a:t>
            </a:r>
          </a:p>
          <a:p>
            <a:pPr>
              <a:spcBef>
                <a:spcPts val="700"/>
              </a:spcBef>
              <a:spcAft>
                <a:spcPts val="100"/>
              </a:spcAft>
            </a:pPr>
            <a:r>
              <a:rPr sz="1200">
                <a:solidFill>
                  <a:srgbClr val="78808C"/>
                </a:solidFill>
                <a:latin typeface="Consolas"/>
              </a:rPr>
              <a:t>00:35–00:55 </a:t>
            </a:r>
            <a:r>
              <a:rPr sz="1500" b="1">
                <a:solidFill>
                  <a:srgbClr val="3D5466"/>
                </a:solidFill>
                <a:latin typeface="Arial"/>
              </a:rPr>
              <a:t>  AB-1 bis AB-3 in Einzel-/Partnerarbeit</a:t>
            </a:r>
            <a:r>
              <a:rPr sz="1200">
                <a:solidFill>
                  <a:srgbClr val="78808C"/>
                </a:solidFill>
                <a:latin typeface="Arial"/>
              </a:rPr>
              <a:t>  ·  Einzel-/Partnerarbeit</a:t>
            </a:r>
          </a:p>
          <a:p>
            <a:pPr>
              <a:spcBef>
                <a:spcPts val="700"/>
              </a:spcBef>
              <a:spcAft>
                <a:spcPts val="100"/>
              </a:spcAft>
            </a:pPr>
            <a:r>
              <a:rPr sz="1200">
                <a:solidFill>
                  <a:srgbClr val="78808C"/>
                </a:solidFill>
                <a:latin typeface="Consolas"/>
              </a:rPr>
              <a:t>00:55–01:10 </a:t>
            </a:r>
            <a:r>
              <a:rPr sz="1500" b="1">
                <a:solidFill>
                  <a:srgbClr val="3D5466"/>
                </a:solidFill>
                <a:latin typeface="Arial"/>
              </a:rPr>
              <a:t>  Plenumsbesprechung AB-1 bis AB-3</a:t>
            </a:r>
            <a:r>
              <a:rPr sz="1200">
                <a:solidFill>
                  <a:srgbClr val="78808C"/>
                </a:solidFill>
                <a:latin typeface="Arial"/>
              </a:rPr>
              <a:t>  ·  Moderierte Diskussion</a:t>
            </a:r>
          </a:p>
          <a:p>
            <a:pPr>
              <a:spcBef>
                <a:spcPts val="700"/>
              </a:spcBef>
              <a:spcAft>
                <a:spcPts val="100"/>
              </a:spcAft>
            </a:pPr>
            <a:r>
              <a:rPr sz="1200">
                <a:solidFill>
                  <a:srgbClr val="78808C"/>
                </a:solidFill>
                <a:latin typeface="Consolas"/>
              </a:rPr>
              <a:t>01:10–01:20 </a:t>
            </a:r>
            <a:r>
              <a:rPr sz="1500" b="1">
                <a:solidFill>
                  <a:srgbClr val="3D5466"/>
                </a:solidFill>
                <a:latin typeface="Arial"/>
              </a:rPr>
              <a:t>  AB-4 &amp; AB-5</a:t>
            </a:r>
            <a:r>
              <a:rPr sz="1200">
                <a:solidFill>
                  <a:srgbClr val="78808C"/>
                </a:solidFill>
                <a:latin typeface="Arial"/>
              </a:rPr>
              <a:t>  ·  Partnerarbeit + Plenum</a:t>
            </a:r>
          </a:p>
          <a:p>
            <a:pPr>
              <a:spcBef>
                <a:spcPts val="700"/>
              </a:spcBef>
              <a:spcAft>
                <a:spcPts val="100"/>
              </a:spcAft>
            </a:pPr>
            <a:r>
              <a:rPr sz="1200">
                <a:solidFill>
                  <a:srgbClr val="78808C"/>
                </a:solidFill>
                <a:latin typeface="Consolas"/>
              </a:rPr>
              <a:t>01:20–01:27 </a:t>
            </a:r>
            <a:r>
              <a:rPr sz="1500" b="1">
                <a:solidFill>
                  <a:srgbClr val="3D5466"/>
                </a:solidFill>
                <a:latin typeface="Arial"/>
              </a:rPr>
              <a:t>  Reflexion &amp; Transfer</a:t>
            </a:r>
            <a:r>
              <a:rPr sz="1200">
                <a:solidFill>
                  <a:srgbClr val="78808C"/>
                </a:solidFill>
                <a:latin typeface="Arial"/>
              </a:rPr>
              <a:t>  ·  Plenumsgespräch</a:t>
            </a:r>
          </a:p>
          <a:p>
            <a:pPr>
              <a:spcBef>
                <a:spcPts val="700"/>
              </a:spcBef>
              <a:spcAft>
                <a:spcPts val="100"/>
              </a:spcAft>
            </a:pPr>
            <a:r>
              <a:rPr sz="1200">
                <a:solidFill>
                  <a:srgbClr val="78808C"/>
                </a:solidFill>
                <a:latin typeface="Consolas"/>
              </a:rPr>
              <a:t>01:27–01:30 </a:t>
            </a:r>
            <a:r>
              <a:rPr sz="1500" b="1">
                <a:solidFill>
                  <a:srgbClr val="3D5466"/>
                </a:solidFill>
                <a:latin typeface="Arial"/>
              </a:rPr>
              <a:t>  Abschluss &amp; Ausblick</a:t>
            </a:r>
            <a:r>
              <a:rPr sz="1200">
                <a:solidFill>
                  <a:srgbClr val="78808C"/>
                </a:solidFill>
                <a:latin typeface="Arial"/>
              </a:rPr>
              <a:t>  ·  Plenum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510528"/>
            <a:ext cx="12188952" cy="347472"/>
          </a:xfrm>
          <a:prstGeom prst="rect">
            <a:avLst/>
          </a:prstGeom>
          <a:solidFill>
            <a:srgbClr val="0A1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6583680"/>
            <a:ext cx="6490411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>
                <a:solidFill>
                  <a:srgbClr val="A0B4D2"/>
                </a:solidFill>
                <a:latin typeface="Consolas"/>
              </a:rPr>
              <a:t>FKB Campus  ·  VA02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F2C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2377440"/>
            <a:ext cx="108173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>
                <a:solidFill>
                  <a:srgbClr val="D9C089"/>
                </a:solidFill>
                <a:latin typeface="Consolas"/>
              </a:rPr>
              <a:t>00:05–00:20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2788920"/>
            <a:ext cx="548640" cy="38100"/>
          </a:xfrm>
          <a:prstGeom prst="rect">
            <a:avLst/>
          </a:prstGeom>
          <a:solidFill>
            <a:srgbClr val="D9C0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3017520"/>
            <a:ext cx="10817352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 i="0">
                <a:solidFill>
                  <a:srgbClr val="FFFFFF"/>
                </a:solidFill>
                <a:latin typeface="Arial"/>
              </a:rPr>
              <a:t>Theorie-Input 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4480560"/>
            <a:ext cx="8653881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C8D2E6"/>
                </a:solidFill>
                <a:latin typeface="Arial"/>
              </a:rPr>
              <a:t>Die fünf Sicherheitenarten und ihre Unterlagen sicher zuordnen.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6355080"/>
            <a:ext cx="10817352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>
                <a:solidFill>
                  <a:srgbClr val="8CA0C3"/>
                </a:solidFill>
                <a:latin typeface="Consolas"/>
              </a:rPr>
              <a:t>FKB Campus  ·  VA02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EDED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50292"/>
          </a:xfrm>
          <a:prstGeom prst="rect">
            <a:avLst/>
          </a:prstGeom>
          <a:solidFill>
            <a:srgbClr val="1F2C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109728"/>
            <a:ext cx="10817352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50">
                <a:solidFill>
                  <a:srgbClr val="78808C"/>
                </a:solidFill>
                <a:latin typeface="Consolas"/>
              </a:rPr>
              <a:t>VA02  ·  INHALT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234440"/>
            <a:ext cx="12188952" cy="12700"/>
          </a:xfrm>
          <a:prstGeom prst="rect">
            <a:avLst/>
          </a:prstGeom>
          <a:solidFill>
            <a:srgbClr val="D8DF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502920"/>
            <a:ext cx="36576" cy="658368"/>
          </a:xfrm>
          <a:prstGeom prst="rect">
            <a:avLst/>
          </a:prstGeom>
          <a:solidFill>
            <a:srgbClr val="D9C0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13816" y="502920"/>
            <a:ext cx="10634472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1F2C56"/>
                </a:solidFill>
                <a:latin typeface="Arial"/>
              </a:rPr>
              <a:t>Sicherheiten: Realsicherheit oder Personalsicherheit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1417320"/>
            <a:ext cx="10817352" cy="4892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marL="177800" indent="-177800">
              <a:spcBef>
                <a:spcPts val="600"/>
              </a:spcBef>
              <a:spcAft>
                <a:spcPts val="200"/>
              </a:spcAft>
            </a:pPr>
            <a:r>
              <a:rPr sz="1200" i="1">
                <a:solidFill>
                  <a:srgbClr val="3D5466"/>
                </a:solidFill>
                <a:latin typeface="Arial"/>
              </a:rPr>
              <a:t>→  Eine Sicherheit schützt die Bank nur, wenn sie formal korrekt bestellt und werthaltig ist – die Form entscheidet über die Wirksamkeit.</a:t>
            </a:r>
          </a:p>
          <a:p>
            <a:pPr marL="190500" indent="-190500">
              <a:spcBef>
                <a:spcPts val="400"/>
              </a:spcBef>
              <a:spcAft>
                <a:spcPts val="200"/>
              </a:spcAft>
            </a:pPr>
            <a:r>
              <a:rPr sz="1300">
                <a:solidFill>
                  <a:srgbClr val="3D5466"/>
                </a:solidFill>
                <a:latin typeface="Arial"/>
              </a:rPr>
              <a:t>▸  Realsicherheiten haften an einer Sache: Grundschuld, Sicherungsübereignung, Verpfändung.</a:t>
            </a:r>
          </a:p>
          <a:p>
            <a:pPr marL="190500" indent="-190500">
              <a:spcBef>
                <a:spcPts val="400"/>
              </a:spcBef>
              <a:spcAft>
                <a:spcPts val="200"/>
              </a:spcAft>
            </a:pPr>
            <a:r>
              <a:rPr sz="1300">
                <a:solidFill>
                  <a:srgbClr val="3D5466"/>
                </a:solidFill>
                <a:latin typeface="Arial"/>
              </a:rPr>
              <a:t>▸  Personalsicherheiten haften an einer Person: die Bürgschaft (Schriftform zwingend, § 766 BGB – sonst nichtig).</a:t>
            </a:r>
          </a:p>
          <a:p>
            <a:pPr marL="190500" indent="-190500">
              <a:spcBef>
                <a:spcPts val="400"/>
              </a:spcBef>
              <a:spcAft>
                <a:spcPts val="200"/>
              </a:spcAft>
            </a:pPr>
            <a:r>
              <a:rPr sz="1300">
                <a:solidFill>
                  <a:srgbClr val="3D5466"/>
                </a:solidFill>
                <a:latin typeface="Arial"/>
              </a:rPr>
              <a:t>▸  Forderungssicherheiten treten Ansprüche ab: die Forderungsabtretung.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510528"/>
            <a:ext cx="12188952" cy="347472"/>
          </a:xfrm>
          <a:prstGeom prst="rect">
            <a:avLst/>
          </a:prstGeom>
          <a:solidFill>
            <a:srgbClr val="0A1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" y="6583680"/>
            <a:ext cx="6490411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>
                <a:solidFill>
                  <a:srgbClr val="A0B4D2"/>
                </a:solidFill>
                <a:latin typeface="Consolas"/>
              </a:rPr>
              <a:t>FKB Campus  ·  VA02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50292"/>
          </a:xfrm>
          <a:prstGeom prst="rect">
            <a:avLst/>
          </a:prstGeom>
          <a:solidFill>
            <a:srgbClr val="1F2C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109728"/>
            <a:ext cx="10817352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50">
                <a:solidFill>
                  <a:srgbClr val="78808C"/>
                </a:solidFill>
                <a:latin typeface="Consolas"/>
              </a:rPr>
              <a:t>VA02  ·  SCHAUBILD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502920"/>
            <a:ext cx="1081735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1F2C56"/>
                </a:solidFill>
                <a:latin typeface="Arial"/>
              </a:rPr>
              <a:t>Sicherheitenarten und ihre Unterlagen</a:t>
            </a:r>
          </a:p>
        </p:txBody>
      </p:sp>
      <p:sp>
        <p:nvSpPr>
          <p:cNvPr id="6" name="Rectangle 5"/>
          <p:cNvSpPr/>
          <p:nvPr/>
        </p:nvSpPr>
        <p:spPr>
          <a:xfrm>
            <a:off x="685800" y="1143000"/>
            <a:ext cx="10817352" cy="25400"/>
          </a:xfrm>
          <a:prstGeom prst="rect">
            <a:avLst/>
          </a:prstGeom>
          <a:solidFill>
            <a:srgbClr val="D9C0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09463" y="1325880"/>
            <a:ext cx="8170026" cy="493776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0" y="6510528"/>
            <a:ext cx="12188952" cy="347472"/>
          </a:xfrm>
          <a:prstGeom prst="rect">
            <a:avLst/>
          </a:prstGeom>
          <a:solidFill>
            <a:srgbClr val="0A1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6583680"/>
            <a:ext cx="6490411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>
                <a:solidFill>
                  <a:srgbClr val="A0B4D2"/>
                </a:solidFill>
                <a:latin typeface="Consolas"/>
              </a:rPr>
              <a:t>FKB Campus  ·  VA02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176211" y="6583680"/>
            <a:ext cx="432694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700">
                <a:solidFill>
                  <a:srgbClr val="A0B4D2"/>
                </a:solidFill>
                <a:latin typeface="Consolas"/>
              </a:rPr>
              <a:t>Schaubild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F2C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2377440"/>
            <a:ext cx="108173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>
                <a:solidFill>
                  <a:srgbClr val="D9C089"/>
                </a:solidFill>
                <a:latin typeface="Consolas"/>
              </a:rPr>
              <a:t>00:20–00:30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2788920"/>
            <a:ext cx="548640" cy="38100"/>
          </a:xfrm>
          <a:prstGeom prst="rect">
            <a:avLst/>
          </a:prstGeom>
          <a:solidFill>
            <a:srgbClr val="D9C0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3017520"/>
            <a:ext cx="10817352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 i="0">
                <a:solidFill>
                  <a:srgbClr val="FFFFFF"/>
                </a:solidFill>
                <a:latin typeface="Arial"/>
              </a:rPr>
              <a:t>Theorie-Input 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4480560"/>
            <a:ext cx="8653881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C8D2E6"/>
                </a:solidFill>
                <a:latin typeface="Arial"/>
              </a:rPr>
              <a:t>Die Auszahlungsvoraussetzungen prüfen – und die eigene Kompetenzgrenze kennen.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6355080"/>
            <a:ext cx="10817352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>
                <a:solidFill>
                  <a:srgbClr val="8CA0C3"/>
                </a:solidFill>
                <a:latin typeface="Consolas"/>
              </a:rPr>
              <a:t>FKB Campus  ·  VA02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EDED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50292"/>
          </a:xfrm>
          <a:prstGeom prst="rect">
            <a:avLst/>
          </a:prstGeom>
          <a:solidFill>
            <a:srgbClr val="1F2C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109728"/>
            <a:ext cx="10817352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50">
                <a:solidFill>
                  <a:srgbClr val="78808C"/>
                </a:solidFill>
                <a:latin typeface="Consolas"/>
              </a:rPr>
              <a:t>VA02  ·  INHALT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234440"/>
            <a:ext cx="12188952" cy="12700"/>
          </a:xfrm>
          <a:prstGeom prst="rect">
            <a:avLst/>
          </a:prstGeom>
          <a:solidFill>
            <a:srgbClr val="D8DF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502920"/>
            <a:ext cx="36576" cy="658368"/>
          </a:xfrm>
          <a:prstGeom prst="rect">
            <a:avLst/>
          </a:prstGeom>
          <a:solidFill>
            <a:srgbClr val="D9C0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13816" y="502920"/>
            <a:ext cx="10634472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1F2C56"/>
                </a:solidFill>
                <a:latin typeface="Arial"/>
              </a:rPr>
              <a:t>Auszahlungsvoraussetzungen und Kompetenzgrenzen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1417320"/>
            <a:ext cx="10817352" cy="4892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7800" indent="-177800">
              <a:spcBef>
                <a:spcPts val="600"/>
              </a:spcBef>
              <a:spcAft>
                <a:spcPts val="200"/>
              </a:spcAft>
            </a:pPr>
            <a:r>
              <a:rPr sz="1200" i="1">
                <a:solidFill>
                  <a:srgbClr val="3D5466"/>
                </a:solidFill>
                <a:latin typeface="Arial"/>
              </a:rPr>
              <a:t>→  Die Assistenz erkennt, dokumentiert und eskaliert – sie entscheidet nicht. Die Freigabe liegt bei der Marktfolge (MaRisk BTO 1.2).</a:t>
            </a:r>
          </a:p>
          <a:p>
            <a:pPr>
              <a:spcBef>
                <a:spcPts val="1000"/>
              </a:spcBef>
              <a:spcAft>
                <a:spcPts val="200"/>
              </a:spcAft>
            </a:pPr>
            <a:r>
              <a:rPr sz="800" b="1">
                <a:solidFill>
                  <a:srgbClr val="78808C"/>
                </a:solidFill>
                <a:latin typeface="Consolas"/>
              </a:rPr>
              <a:t>VOR JEDER AUSZAHLUNG GEPRÜFT</a:t>
            </a:r>
          </a:p>
          <a:p>
            <a:pPr marL="190500" indent="-190500">
              <a:spcBef>
                <a:spcPts val="400"/>
              </a:spcBef>
              <a:spcAft>
                <a:spcPts val="200"/>
              </a:spcAft>
            </a:pPr>
            <a:r>
              <a:rPr sz="1300">
                <a:solidFill>
                  <a:srgbClr val="3D5466"/>
                </a:solidFill>
                <a:latin typeface="Arial"/>
              </a:rPr>
              <a:t>▸  Kreditvertrag rechtsverbindlich unterschrieben.</a:t>
            </a:r>
          </a:p>
          <a:p>
            <a:pPr marL="190500" indent="-190500">
              <a:spcBef>
                <a:spcPts val="400"/>
              </a:spcBef>
              <a:spcAft>
                <a:spcPts val="200"/>
              </a:spcAft>
            </a:pPr>
            <a:r>
              <a:rPr sz="1300">
                <a:solidFill>
                  <a:srgbClr val="3D5466"/>
                </a:solidFill>
                <a:latin typeface="Arial"/>
              </a:rPr>
              <a:t>▸  Sicherheiten bestellt und nachgewiesen (Grundschuld eingetragen, Rang gesichert).</a:t>
            </a:r>
          </a:p>
          <a:p>
            <a:pPr marL="190500" indent="-190500">
              <a:spcBef>
                <a:spcPts val="400"/>
              </a:spcBef>
              <a:spcAft>
                <a:spcPts val="200"/>
              </a:spcAft>
            </a:pPr>
            <a:r>
              <a:rPr sz="1300">
                <a:solidFill>
                  <a:srgbClr val="3D5466"/>
                </a:solidFill>
                <a:latin typeface="Arial"/>
              </a:rPr>
              <a:t>▸  Offenlegungsunterlagen vollständig (§ 18 KWG).</a:t>
            </a:r>
          </a:p>
          <a:p>
            <a:pPr marL="190500" indent="-190500">
              <a:spcBef>
                <a:spcPts val="400"/>
              </a:spcBef>
              <a:spcAft>
                <a:spcPts val="200"/>
              </a:spcAft>
            </a:pPr>
            <a:r>
              <a:rPr sz="1300">
                <a:solidFill>
                  <a:srgbClr val="3D5466"/>
                </a:solidFill>
                <a:latin typeface="Arial"/>
              </a:rPr>
              <a:t>▸  Besondere Auflagen aus dem Kreditbeschluss erfüllt (z. B. Eigenmittelnachweis).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510528"/>
            <a:ext cx="12188952" cy="347472"/>
          </a:xfrm>
          <a:prstGeom prst="rect">
            <a:avLst/>
          </a:prstGeom>
          <a:solidFill>
            <a:srgbClr val="0A1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" y="6583680"/>
            <a:ext cx="6490411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>
                <a:solidFill>
                  <a:srgbClr val="A0B4D2"/>
                </a:solidFill>
                <a:latin typeface="Consolas"/>
              </a:rPr>
              <a:t>FKB Campus  ·  VA02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50292"/>
          </a:xfrm>
          <a:prstGeom prst="rect">
            <a:avLst/>
          </a:prstGeom>
          <a:solidFill>
            <a:srgbClr val="1F2C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109728"/>
            <a:ext cx="10817352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50">
                <a:solidFill>
                  <a:srgbClr val="78808C"/>
                </a:solidFill>
                <a:latin typeface="Consolas"/>
              </a:rPr>
              <a:t>VA02  ·  SCHAUBILD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502920"/>
            <a:ext cx="1081735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1F2C56"/>
                </a:solidFill>
                <a:latin typeface="Arial"/>
              </a:rPr>
              <a:t>Auszahlungsvoraussetzungen</a:t>
            </a:r>
          </a:p>
        </p:txBody>
      </p:sp>
      <p:sp>
        <p:nvSpPr>
          <p:cNvPr id="6" name="Rectangle 5"/>
          <p:cNvSpPr/>
          <p:nvPr/>
        </p:nvSpPr>
        <p:spPr>
          <a:xfrm>
            <a:off x="685800" y="1143000"/>
            <a:ext cx="10817352" cy="25400"/>
          </a:xfrm>
          <a:prstGeom prst="rect">
            <a:avLst/>
          </a:prstGeom>
          <a:solidFill>
            <a:srgbClr val="D9C0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09463" y="1325880"/>
            <a:ext cx="8170026" cy="493776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0" y="6510528"/>
            <a:ext cx="12188952" cy="347472"/>
          </a:xfrm>
          <a:prstGeom prst="rect">
            <a:avLst/>
          </a:prstGeom>
          <a:solidFill>
            <a:srgbClr val="0A1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6583680"/>
            <a:ext cx="6490411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>
                <a:solidFill>
                  <a:srgbClr val="A0B4D2"/>
                </a:solidFill>
                <a:latin typeface="Consolas"/>
              </a:rPr>
              <a:t>FKB Campus  ·  VA02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176211" y="6583680"/>
            <a:ext cx="432694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700">
                <a:solidFill>
                  <a:srgbClr val="A0B4D2"/>
                </a:solidFill>
                <a:latin typeface="Consolas"/>
              </a:rPr>
              <a:t>Schaubild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F2C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2377440"/>
            <a:ext cx="108173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>
                <a:solidFill>
                  <a:srgbClr val="D9C089"/>
                </a:solidFill>
                <a:latin typeface="Consolas"/>
              </a:rPr>
              <a:t>00:30–01:20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2788920"/>
            <a:ext cx="548640" cy="38100"/>
          </a:xfrm>
          <a:prstGeom prst="rect">
            <a:avLst/>
          </a:prstGeom>
          <a:solidFill>
            <a:srgbClr val="D9C0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3017520"/>
            <a:ext cx="10817352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 i="0">
                <a:solidFill>
                  <a:srgbClr val="FFFFFF"/>
                </a:solidFill>
                <a:latin typeface="Arial"/>
              </a:rPr>
              <a:t>Fallübergabe &amp; Fallarbeit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4480560"/>
            <a:ext cx="8653881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C8D2E6"/>
                </a:solidFill>
                <a:latin typeface="Arial"/>
              </a:rPr>
              <a:t>Ist die Auszahlung der Bau Musterregion GmbH freigabereif?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6355080"/>
            <a:ext cx="10817352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>
                <a:solidFill>
                  <a:srgbClr val="8CA0C3"/>
                </a:solidFill>
                <a:latin typeface="Consolas"/>
              </a:rPr>
              <a:t>FKB Campus  ·  VA02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EDED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50292"/>
          </a:xfrm>
          <a:prstGeom prst="rect">
            <a:avLst/>
          </a:prstGeom>
          <a:solidFill>
            <a:srgbClr val="1F2C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109728"/>
            <a:ext cx="10817352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50">
                <a:solidFill>
                  <a:srgbClr val="78808C"/>
                </a:solidFill>
                <a:latin typeface="Consolas"/>
              </a:rPr>
              <a:t>VA02  ·  INHALT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234440"/>
            <a:ext cx="12188952" cy="12700"/>
          </a:xfrm>
          <a:prstGeom prst="rect">
            <a:avLst/>
          </a:prstGeom>
          <a:solidFill>
            <a:srgbClr val="D8DF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502920"/>
            <a:ext cx="36576" cy="658368"/>
          </a:xfrm>
          <a:prstGeom prst="rect">
            <a:avLst/>
          </a:prstGeom>
          <a:solidFill>
            <a:srgbClr val="D9C0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13816" y="502920"/>
            <a:ext cx="10634472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1F2C56"/>
                </a:solidFill>
                <a:latin typeface="Arial"/>
              </a:rPr>
              <a:t>Praxisfall: Bau Musterregion GmbH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1417320"/>
            <a:ext cx="10817352" cy="4892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Bef>
                <a:spcPts val="1000"/>
              </a:spcBef>
              <a:spcAft>
                <a:spcPts val="200"/>
              </a:spcAft>
            </a:pPr>
            <a:r>
              <a:rPr sz="800" b="1">
                <a:solidFill>
                  <a:srgbClr val="78808C"/>
                </a:solidFill>
                <a:latin typeface="Consolas"/>
              </a:rPr>
              <a:t>DER FALL</a:t>
            </a:r>
          </a:p>
          <a:p>
            <a:pPr marL="190500" indent="-190500">
              <a:spcBef>
                <a:spcPts val="400"/>
              </a:spcBef>
              <a:spcAft>
                <a:spcPts val="200"/>
              </a:spcAft>
            </a:pPr>
            <a:r>
              <a:rPr sz="1300">
                <a:solidFill>
                  <a:srgbClr val="3D5466"/>
                </a:solidFill>
                <a:latin typeface="Arial"/>
              </a:rPr>
              <a:t>▸  Investitionskredit 900 TEUR, Hausbank VR-Bank Musterregion eG.</a:t>
            </a:r>
          </a:p>
          <a:p>
            <a:pPr marL="190500" indent="-190500">
              <a:spcBef>
                <a:spcPts val="400"/>
              </a:spcBef>
              <a:spcAft>
                <a:spcPts val="200"/>
              </a:spcAft>
            </a:pPr>
            <a:r>
              <a:rPr sz="1300">
                <a:solidFill>
                  <a:srgbClr val="3D5466"/>
                </a:solidFill>
                <a:latin typeface="Arial"/>
              </a:rPr>
              <a:t>▸  Vereinbarte Sicherheiten: Grundschuld 900 TEUR auf das Betriebsgrundstück + Bürgschaft des Gesellschafter-GF über 100 TEUR.</a:t>
            </a:r>
          </a:p>
          <a:p>
            <a:pPr>
              <a:spcBef>
                <a:spcPts val="1000"/>
              </a:spcBef>
              <a:spcAft>
                <a:spcPts val="200"/>
              </a:spcAft>
            </a:pPr>
            <a:r>
              <a:rPr sz="800" b="1">
                <a:solidFill>
                  <a:srgbClr val="78808C"/>
                </a:solidFill>
                <a:latin typeface="Consolas"/>
              </a:rPr>
              <a:t>IHRE AUFGABE</a:t>
            </a:r>
          </a:p>
          <a:p>
            <a:pPr marL="190500" indent="-190500">
              <a:spcBef>
                <a:spcPts val="400"/>
              </a:spcBef>
              <a:spcAft>
                <a:spcPts val="200"/>
              </a:spcAft>
            </a:pPr>
            <a:r>
              <a:rPr sz="1300">
                <a:solidFill>
                  <a:srgbClr val="3D5466"/>
                </a:solidFill>
                <a:latin typeface="Arial"/>
              </a:rPr>
              <a:t>▸  Die Auszahlung soll erfolgen. Prüfen Sie, ob alle Voraussetzungen erfüllt sind.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510528"/>
            <a:ext cx="12188952" cy="347472"/>
          </a:xfrm>
          <a:prstGeom prst="rect">
            <a:avLst/>
          </a:prstGeom>
          <a:solidFill>
            <a:srgbClr val="0A1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" y="6583680"/>
            <a:ext cx="6490411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>
                <a:solidFill>
                  <a:srgbClr val="A0B4D2"/>
                </a:solidFill>
                <a:latin typeface="Consolas"/>
              </a:rPr>
              <a:t>FKB Campus  ·  VA02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EDED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50292"/>
          </a:xfrm>
          <a:prstGeom prst="rect">
            <a:avLst/>
          </a:prstGeom>
          <a:solidFill>
            <a:srgbClr val="1F2C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109728"/>
            <a:ext cx="10817352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50">
                <a:solidFill>
                  <a:srgbClr val="78808C"/>
                </a:solidFill>
                <a:latin typeface="Consolas"/>
              </a:rPr>
              <a:t>VA02  ·  INHALT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234440"/>
            <a:ext cx="12188952" cy="12700"/>
          </a:xfrm>
          <a:prstGeom prst="rect">
            <a:avLst/>
          </a:prstGeom>
          <a:solidFill>
            <a:srgbClr val="D8DF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502920"/>
            <a:ext cx="36576" cy="658368"/>
          </a:xfrm>
          <a:prstGeom prst="rect">
            <a:avLst/>
          </a:prstGeom>
          <a:solidFill>
            <a:srgbClr val="D9C0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13816" y="502920"/>
            <a:ext cx="10634472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1F2C56"/>
                </a:solidFill>
                <a:latin typeface="Arial"/>
              </a:rPr>
              <a:t>Handlungsempfehlung: vom Mangel zur Eskalation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1417320"/>
            <a:ext cx="10817352" cy="4892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marL="177800" indent="-177800">
              <a:spcBef>
                <a:spcPts val="600"/>
              </a:spcBef>
              <a:spcAft>
                <a:spcPts val="200"/>
              </a:spcAft>
            </a:pPr>
            <a:r>
              <a:rPr sz="1200" i="1">
                <a:solidFill>
                  <a:srgbClr val="3D5466"/>
                </a:solidFill>
                <a:latin typeface="Arial"/>
              </a:rPr>
              <a:t>→  Wenn die Grundschuld nicht im vereinbarten Rang steht — dann Auszahlung stoppen und Rangklärung über die Marktfolge veranlassen.</a:t>
            </a:r>
          </a:p>
          <a:p>
            <a:pPr marL="177800" indent="-177800">
              <a:spcBef>
                <a:spcPts val="600"/>
              </a:spcBef>
              <a:spcAft>
                <a:spcPts val="200"/>
              </a:spcAft>
            </a:pPr>
            <a:r>
              <a:rPr sz="1200" i="1">
                <a:solidFill>
                  <a:srgbClr val="3D5466"/>
                </a:solidFill>
                <a:latin typeface="Arial"/>
              </a:rPr>
              <a:t>→  Wenn ein Eigenmittelnachweis aus dem Kreditbeschluss fehlt — dann Nachweis beim Berater/Kunden anfordern und als offenen Punkt dokumentieren.</a:t>
            </a:r>
          </a:p>
          <a:p>
            <a:pPr marL="177800" indent="-177800">
              <a:spcBef>
                <a:spcPts val="600"/>
              </a:spcBef>
              <a:spcAft>
                <a:spcPts val="200"/>
              </a:spcAft>
            </a:pPr>
            <a:r>
              <a:rPr sz="1200" i="1">
                <a:solidFill>
                  <a:srgbClr val="3D5466"/>
                </a:solidFill>
                <a:latin typeface="Arial"/>
              </a:rPr>
              <a:t>→  Wenn eine Bürgschaft ohne Schriftform vorliegt — dann als nichtig behandeln und formgerechte Neubestellung veranlassen (§ 766 BGB).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510528"/>
            <a:ext cx="12188952" cy="347472"/>
          </a:xfrm>
          <a:prstGeom prst="rect">
            <a:avLst/>
          </a:prstGeom>
          <a:solidFill>
            <a:srgbClr val="0A1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" y="6583680"/>
            <a:ext cx="6490411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>
                <a:solidFill>
                  <a:srgbClr val="A0B4D2"/>
                </a:solidFill>
                <a:latin typeface="Consolas"/>
              </a:rPr>
              <a:t>FKB Campus  ·  VA02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EDED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50292"/>
          </a:xfrm>
          <a:prstGeom prst="rect">
            <a:avLst/>
          </a:prstGeom>
          <a:solidFill>
            <a:srgbClr val="1F2C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109728"/>
            <a:ext cx="10817352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50">
                <a:solidFill>
                  <a:srgbClr val="78808C"/>
                </a:solidFill>
                <a:latin typeface="Consolas"/>
              </a:rPr>
              <a:t>VA02  ·  ARBEITSBLATT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234440"/>
            <a:ext cx="12188952" cy="12700"/>
          </a:xfrm>
          <a:prstGeom prst="rect">
            <a:avLst/>
          </a:prstGeom>
          <a:solidFill>
            <a:srgbClr val="D8DF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502920"/>
            <a:ext cx="36576" cy="658368"/>
          </a:xfrm>
          <a:prstGeom prst="rect">
            <a:avLst/>
          </a:prstGeom>
          <a:solidFill>
            <a:srgbClr val="D9C0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13816" y="502920"/>
            <a:ext cx="10634472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1F2C56"/>
                </a:solidFill>
                <a:latin typeface="Arial"/>
              </a:rPr>
              <a:t>Praxisfall bearbeiten: Auszahlung prüfen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1554480"/>
            <a:ext cx="10817352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90500" indent="-190500">
              <a:spcBef>
                <a:spcPts val="400"/>
              </a:spcBef>
              <a:spcAft>
                <a:spcPts val="200"/>
              </a:spcAft>
            </a:pPr>
            <a:r>
              <a:rPr sz="1400">
                <a:solidFill>
                  <a:srgbClr val="3D5466"/>
                </a:solidFill>
                <a:latin typeface="Arial"/>
              </a:rPr>
              <a:t>▸  Ordnen Sie die vereinbarten Sicherheiten ihren Typen und Unterlagen zu (AB-1).</a:t>
            </a:r>
          </a:p>
          <a:p>
            <a:pPr marL="190500" indent="-190500">
              <a:spcBef>
                <a:spcPts val="400"/>
              </a:spcBef>
              <a:spcAft>
                <a:spcPts val="200"/>
              </a:spcAft>
            </a:pPr>
            <a:r>
              <a:rPr sz="1400">
                <a:solidFill>
                  <a:srgbClr val="3D5466"/>
                </a:solidFill>
                <a:latin typeface="Arial"/>
              </a:rPr>
              <a:t>▸  Prüfen Sie die sechs Auszahlungsvoraussetzungen anhand der Falldaten (AB-2).</a:t>
            </a:r>
          </a:p>
          <a:p>
            <a:pPr marL="190500" indent="-190500">
              <a:spcBef>
                <a:spcPts val="400"/>
              </a:spcBef>
              <a:spcAft>
                <a:spcPts val="200"/>
              </a:spcAft>
            </a:pPr>
            <a:r>
              <a:rPr sz="1400">
                <a:solidFill>
                  <a:srgbClr val="3D5466"/>
                </a:solidFill>
                <a:latin typeface="Arial"/>
              </a:rPr>
              <a:t>▸  Benennen Sie die Mängel, die die Auszahlung blockieren (AB-3).</a:t>
            </a:r>
          </a:p>
          <a:p>
            <a:pPr marL="190500" indent="-190500">
              <a:spcBef>
                <a:spcPts val="400"/>
              </a:spcBef>
              <a:spcAft>
                <a:spcPts val="200"/>
              </a:spcAft>
            </a:pPr>
            <a:r>
              <a:rPr sz="1400">
                <a:solidFill>
                  <a:srgbClr val="3D5466"/>
                </a:solidFill>
                <a:latin typeface="Arial"/>
              </a:rPr>
              <a:t>▸  Strukturieren Sie die Eskalation: Wer erhält was? (AB-4) – nutzen Sie die Prüfkarte AB-5.</a:t>
            </a:r>
          </a:p>
        </p:txBody>
      </p:sp>
      <p:sp>
        <p:nvSpPr>
          <p:cNvPr id="9" name="Rectangle 8"/>
          <p:cNvSpPr/>
          <p:nvPr/>
        </p:nvSpPr>
        <p:spPr>
          <a:xfrm>
            <a:off x="685800" y="5486400"/>
            <a:ext cx="10817352" cy="640080"/>
          </a:xfrm>
          <a:prstGeom prst="rect">
            <a:avLst/>
          </a:prstGeom>
          <a:solidFill>
            <a:srgbClr val="1F2C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5596128"/>
            <a:ext cx="1045159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Arial"/>
              </a:rPr>
              <a:t>→  Bearbeitung im Teilnehmer-Workbook (Arbeitsblatt mit Ausfüllfeldern)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510528"/>
            <a:ext cx="12188952" cy="347472"/>
          </a:xfrm>
          <a:prstGeom prst="rect">
            <a:avLst/>
          </a:prstGeom>
          <a:solidFill>
            <a:srgbClr val="0A1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85800" y="6583680"/>
            <a:ext cx="6490411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>
                <a:solidFill>
                  <a:srgbClr val="A0B4D2"/>
                </a:solidFill>
                <a:latin typeface="Consolas"/>
              </a:rPr>
              <a:t>FKB Campus  ·  VA02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EDED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50292"/>
          </a:xfrm>
          <a:prstGeom prst="rect">
            <a:avLst/>
          </a:prstGeom>
          <a:solidFill>
            <a:srgbClr val="1F2C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109728"/>
            <a:ext cx="10817352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50">
                <a:solidFill>
                  <a:srgbClr val="78808C"/>
                </a:solidFill>
                <a:latin typeface="Consolas"/>
              </a:rPr>
              <a:t>VA02  ·  INHALT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234440"/>
            <a:ext cx="12188952" cy="12700"/>
          </a:xfrm>
          <a:prstGeom prst="rect">
            <a:avLst/>
          </a:prstGeom>
          <a:solidFill>
            <a:srgbClr val="D8DF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502920"/>
            <a:ext cx="36576" cy="658368"/>
          </a:xfrm>
          <a:prstGeom prst="rect">
            <a:avLst/>
          </a:prstGeom>
          <a:solidFill>
            <a:srgbClr val="D9C0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13816" y="502920"/>
            <a:ext cx="10634472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1F2C56"/>
                </a:solidFill>
                <a:latin typeface="Arial"/>
              </a:rPr>
              <a:t>Prinzip dieses Moduls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1417320"/>
            <a:ext cx="10817352" cy="4892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marL="177800" indent="-177800">
              <a:spcBef>
                <a:spcPts val="600"/>
              </a:spcBef>
              <a:spcAft>
                <a:spcPts val="200"/>
              </a:spcAft>
            </a:pPr>
            <a:r>
              <a:rPr sz="1200" i="1">
                <a:solidFill>
                  <a:srgbClr val="3D5466"/>
                </a:solidFill>
                <a:latin typeface="Arial"/>
              </a:rPr>
              <a:t>→  Erst die Voraussetzungen, dann die Auszahlung.</a:t>
            </a:r>
          </a:p>
          <a:p>
            <a:pPr marL="190500" indent="-190500">
              <a:spcBef>
                <a:spcPts val="400"/>
              </a:spcBef>
              <a:spcAft>
                <a:spcPts val="200"/>
              </a:spcAft>
            </a:pPr>
            <a:r>
              <a:rPr sz="1300">
                <a:solidFill>
                  <a:srgbClr val="3D5466"/>
                </a:solidFill>
                <a:latin typeface="Arial"/>
              </a:rPr>
              <a:t>▸  Eine formal korrekt bestellte, werthaltige Sicherheit ist Bedingung, kein Nachtrag – Genauigkeit geht vor Tempo.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510528"/>
            <a:ext cx="12188952" cy="347472"/>
          </a:xfrm>
          <a:prstGeom prst="rect">
            <a:avLst/>
          </a:prstGeom>
          <a:solidFill>
            <a:srgbClr val="0A1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" y="6583680"/>
            <a:ext cx="6490411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>
                <a:solidFill>
                  <a:srgbClr val="A0B4D2"/>
                </a:solidFill>
                <a:latin typeface="Consolas"/>
              </a:rPr>
              <a:t>FKB Campus  ·  VA02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EDED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50292"/>
          </a:xfrm>
          <a:prstGeom prst="rect">
            <a:avLst/>
          </a:prstGeom>
          <a:solidFill>
            <a:srgbClr val="1F2C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109728"/>
            <a:ext cx="10817352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50">
                <a:solidFill>
                  <a:srgbClr val="78808C"/>
                </a:solidFill>
                <a:latin typeface="Consolas"/>
              </a:rPr>
              <a:t>VA02  ·  INHALT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234440"/>
            <a:ext cx="12188952" cy="12700"/>
          </a:xfrm>
          <a:prstGeom prst="rect">
            <a:avLst/>
          </a:prstGeom>
          <a:solidFill>
            <a:srgbClr val="D8DF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502920"/>
            <a:ext cx="36576" cy="658368"/>
          </a:xfrm>
          <a:prstGeom prst="rect">
            <a:avLst/>
          </a:prstGeom>
          <a:solidFill>
            <a:srgbClr val="D9C0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13816" y="502920"/>
            <a:ext cx="10634472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1F2C56"/>
                </a:solidFill>
                <a:latin typeface="Arial"/>
              </a:rPr>
              <a:t>Reflexionsfragen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1417320"/>
            <a:ext cx="10817352" cy="4892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marL="190500" indent="-190500">
              <a:spcBef>
                <a:spcPts val="400"/>
              </a:spcBef>
              <a:spcAft>
                <a:spcPts val="200"/>
              </a:spcAft>
            </a:pPr>
            <a:r>
              <a:rPr sz="1300">
                <a:solidFill>
                  <a:srgbClr val="3D5466"/>
                </a:solidFill>
                <a:latin typeface="Arial"/>
              </a:rPr>
              <a:t>▸  Bei welcher Sicherheit ist Ihnen die formale Bestellung am wenigsten klar – und wen fragen Sie?</a:t>
            </a:r>
          </a:p>
          <a:p>
            <a:pPr marL="190500" indent="-190500">
              <a:spcBef>
                <a:spcPts val="400"/>
              </a:spcBef>
              <a:spcAft>
                <a:spcPts val="200"/>
              </a:spcAft>
            </a:pPr>
            <a:r>
              <a:rPr sz="1300">
                <a:solidFill>
                  <a:srgbClr val="3D5466"/>
                </a:solidFill>
                <a:latin typeface="Arial"/>
              </a:rPr>
              <a:t>▸  Wie formulieren Sie eine Eskalation, ohne dass sie wie eine Blockade wirkt?</a:t>
            </a:r>
          </a:p>
          <a:p>
            <a:pPr marL="190500" indent="-190500">
              <a:spcBef>
                <a:spcPts val="400"/>
              </a:spcBef>
              <a:spcAft>
                <a:spcPts val="200"/>
              </a:spcAft>
            </a:pPr>
            <a:r>
              <a:rPr sz="1300">
                <a:solidFill>
                  <a:srgbClr val="3D5466"/>
                </a:solidFill>
                <a:latin typeface="Arial"/>
              </a:rPr>
              <a:t>▸  Woran erkennen Sie, dass eine Auszahlung trotz „vollständiger" Akte noch nicht freigabereif ist?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510528"/>
            <a:ext cx="12188952" cy="347472"/>
          </a:xfrm>
          <a:prstGeom prst="rect">
            <a:avLst/>
          </a:prstGeom>
          <a:solidFill>
            <a:srgbClr val="0A1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" y="6583680"/>
            <a:ext cx="6490411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>
                <a:solidFill>
                  <a:srgbClr val="A0B4D2"/>
                </a:solidFill>
                <a:latin typeface="Consolas"/>
              </a:rPr>
              <a:t>FKB Campus  ·  VA02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