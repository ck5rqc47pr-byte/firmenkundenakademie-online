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AB-2 Musterlösung (Trainer-Version)</a:t>
            </a:r>
          </a:p>
          <a:p>
            <a:r>
              <a:t>Trainer-Hinweis Anlagendeckung II: Langfristiges FK = Bankverbindlichkeiten (1.580) abzgl. kurzfristigem Anteil (340) = 1.240 TEUR + Gesellschafterdarlehen 680 TEUR. Ohne Rangrücktrittsvertrag beim Gesellschafterdarlehen: (802 + 1.240) / 2.400 = 84,3 % → Gelb. Wichtiger Nachfragepunkt im Kundengespräch!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M01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Bilanzlesen für Praktiker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Jahresabschlüsse sicher lesen, verstehen und interpretieren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K-01 Finanzanalyse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Berater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M01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Viele Kundengespräche bleiben an der Oberfläche, weil die Bilanz ungelesen in der Akte liegt.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In diesem Modul lernen Sie, HGB-Jahresabschlüsse sicher zu lesen und die zentralen Kennzahlen selbst zu berechnen – am durchgängigen Praxisfall eines süddeutschen Maschinenbauers.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Danach erkennen Sie Warnsignale auf einen Blick und leiten daraus konkrete Fragen für das nächste Kundengespräch ab.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M01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Bestandteile eines HGB-Jahresabschlusses (Bilanz, GuV, Anhang) benennen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Den Zusammenhang zwischen Bilanzstruktur und wirtschaftlicher Lage eines Unternehmens erklären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Zentrale Bilanzkennzahlen (EK-Quote, Verschuldungsgrad, EBIT-Marge, KDCG, Liquidität II) anhand eines Praxisfalls berechnen und einordnen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Häufige Warnsignale in Bilanzen (stille Lasten, Forderungsüberbestand, rückläufige EK-Quote) identifizieren und erste Nachfragen für das Kundengespräch ableiten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M01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00–05       </a:t>
            </a:r>
            <a:r>
              <a:rPr sz="1500" b="1">
                <a:solidFill>
                  <a:srgbClr val="3D5466"/>
                </a:solidFill>
                <a:latin typeface="Arial"/>
              </a:rPr>
              <a:t>  Einstieg</a:t>
            </a:r>
            <a:r>
              <a:rPr sz="1200">
                <a:solidFill>
                  <a:srgbClr val="78808C"/>
                </a:solidFill>
                <a:latin typeface="Arial"/>
              </a:rPr>
              <a:t>  ·  Blitzrunde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05–13       </a:t>
            </a:r>
            <a:r>
              <a:rPr sz="1500" b="1">
                <a:solidFill>
                  <a:srgbClr val="3D5466"/>
                </a:solidFill>
                <a:latin typeface="Arial"/>
              </a:rPr>
              <a:t>  Aktivierung</a:t>
            </a:r>
            <a:r>
              <a:rPr sz="1200">
                <a:solidFill>
                  <a:srgbClr val="78808C"/>
                </a:solidFill>
                <a:latin typeface="Arial"/>
              </a:rPr>
              <a:t>  ·  Einzelarbeit → kurze Plenumsdiskussion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13–33       </a:t>
            </a:r>
            <a:r>
              <a:rPr sz="1500" b="1">
                <a:solidFill>
                  <a:srgbClr val="3D5466"/>
                </a:solidFill>
                <a:latin typeface="Arial"/>
              </a:rPr>
              <a:t>  Input 1</a:t>
            </a:r>
            <a:r>
              <a:rPr sz="1200">
                <a:solidFill>
                  <a:srgbClr val="78808C"/>
                </a:solidFill>
                <a:latin typeface="Arial"/>
              </a:rPr>
              <a:t>  ·  Interaktiver Vortrag (Folie + Tafelanschrieb)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33–41       </a:t>
            </a:r>
            <a:r>
              <a:rPr sz="1500" b="1">
                <a:solidFill>
                  <a:srgbClr val="3D5466"/>
                </a:solidFill>
                <a:latin typeface="Arial"/>
              </a:rPr>
              <a:t>  Übung 1</a:t>
            </a:r>
            <a:r>
              <a:rPr sz="1200">
                <a:solidFill>
                  <a:srgbClr val="78808C"/>
                </a:solidFill>
                <a:latin typeface="Arial"/>
              </a:rPr>
              <a:t>  ·  Partnerarbeit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41–56       </a:t>
            </a:r>
            <a:r>
              <a:rPr sz="1500" b="1">
                <a:solidFill>
                  <a:srgbClr val="3D5466"/>
                </a:solidFill>
                <a:latin typeface="Arial"/>
              </a:rPr>
              <a:t>  Input 2a</a:t>
            </a:r>
            <a:r>
              <a:rPr sz="1200">
                <a:solidFill>
                  <a:srgbClr val="78808C"/>
                </a:solidFill>
                <a:latin typeface="Arial"/>
              </a:rPr>
              <a:t>  ·  Interaktiver Vortrag mit direkter Anwendung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56–66       </a:t>
            </a:r>
            <a:r>
              <a:rPr sz="1500" b="1">
                <a:solidFill>
                  <a:srgbClr val="3D5466"/>
                </a:solidFill>
                <a:latin typeface="Arial"/>
              </a:rPr>
              <a:t>  Input 2b</a:t>
            </a:r>
            <a:r>
              <a:rPr sz="1200">
                <a:solidFill>
                  <a:srgbClr val="78808C"/>
                </a:solidFill>
                <a:latin typeface="Arial"/>
              </a:rPr>
              <a:t>  ·  Muster-Whiteboard-Rechnung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66–81       </a:t>
            </a:r>
            <a:r>
              <a:rPr sz="1500" b="1">
                <a:solidFill>
                  <a:srgbClr val="3D5466"/>
                </a:solidFill>
                <a:latin typeface="Arial"/>
              </a:rPr>
              <a:t>  Übung 2</a:t>
            </a:r>
            <a:r>
              <a:rPr sz="1200">
                <a:solidFill>
                  <a:srgbClr val="78808C"/>
                </a:solidFill>
                <a:latin typeface="Arial"/>
              </a:rPr>
              <a:t>  ·  Einzelarbeit → Vergleich Partnerarbeit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81–96       </a:t>
            </a:r>
            <a:r>
              <a:rPr sz="1500" b="1">
                <a:solidFill>
                  <a:srgbClr val="3D5466"/>
                </a:solidFill>
                <a:latin typeface="Arial"/>
              </a:rPr>
              <a:t>  Auswertung</a:t>
            </a:r>
            <a:r>
              <a:rPr sz="1200">
                <a:solidFill>
                  <a:srgbClr val="78808C"/>
                </a:solidFill>
                <a:latin typeface="Arial"/>
              </a:rPr>
              <a:t>  ·  Plenumsgespräch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96–100      </a:t>
            </a:r>
            <a:r>
              <a:rPr sz="1500" b="1">
                <a:solidFill>
                  <a:srgbClr val="3D5466"/>
                </a:solidFill>
                <a:latin typeface="Arial"/>
              </a:rPr>
              <a:t>  Abschluss</a:t>
            </a:r>
            <a:r>
              <a:rPr sz="1200">
                <a:solidFill>
                  <a:srgbClr val="78808C"/>
                </a:solidFill>
                <a:latin typeface="Arial"/>
              </a:rPr>
              <a:t>  ·  Plenum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Theorie-Input: Aufbau des HGB-Jahresabschlusses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WAS IST EIN JAHRESABSCHLUSS?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Der Jahresabschluss ist die jährliche Zusammenfassung der wirtschaftlichen Lage eines Unternehmens. Für Kapitalgesellschaften (GmbH, AG) schreibt das HGB in §§ 264 ff. folgende Bestandteile vor: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Bilanz (§ 266 HGB): Stichtagsbezogene Gegenüberstellung von Vermögen (Aktiva) und Kapital (Passiva). Die Bilanz zeigt, was ein Unternehmen besitzt und wie es finanziert ist.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Gewinn- und Verlustrechnung (§ 275 HGB): Zeitraumbezogene Darstellung von Erträgen und Aufwendungen eines Geschäftsjahres. Sie zeigt, wie ein Unternehmen Geld verdient (oder verliert).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Anhang (§ 284 HGB): Erläuterungen und Ergänzungen zu Bilanz und GuV (z.B. Bilanzierungsmethoden, Haftungsverhältnisse). Für den Kreditgeber oft wertvoller als die nackten Zahlen.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Lagebericht (§ 289 HGB): Lageeinschätzung des Managements, Risikobericht, Ausblick. Nur für mittelgroße und große Unternehmen verpflichtend.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BILANZKENNZAHLEN IM ÜBERBLICK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sechs zentralen Kennzahlen mit Formel, Benchmark und Bewertungsampel: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M01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Bilanzstruktur T-Konto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981" y="1325880"/>
            <a:ext cx="8324990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M01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Bilanzkennzahlen-Karte mit Bewertungsampel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1" y="1325880"/>
            <a:ext cx="7861110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M01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Theorie-Input: Aufbau des HGB-Jahresabschlusses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470"/>
                <a:gridCol w="2163470"/>
                <a:gridCol w="2163470"/>
                <a:gridCol w="2163470"/>
                <a:gridCol w="2163472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Größenklasse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Bilanzsumme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Umsatz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Mitarbeiter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Offenlegungspflicht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Klein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≤ 7,5 Mio. 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≤ 15 Mio. 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≤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Verkürzte Bilanz, keine GuV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Mittel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≤ 25 Mio. 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≤ 50 Mio. 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≤ 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Bilanz + GuV + Anhang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Groß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&gt; 25 Mio. 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&gt; 50 Mio. 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&gt; 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Vollständig + Lagebericht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M01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Theorie-Input: Aufbau des HGB-Jahresabschlusses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5784"/>
                <a:gridCol w="3605784"/>
                <a:gridCol w="3605784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Wahlrecht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Wirkung defensiv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Wirkung aggressiv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Herstellungskosten (§ 255 HGB)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Niedrige Vorräte, niedrige Gewinne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Hohe Vorräte, hohe Gewinne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GWG-Sofortabschreibung (§ 6 Abs. 2 EStG)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Höhere AfA, niedrigerer Gewinn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Geringere AfA, höherer Gewinn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Rückstellungen (§ 249 HGB)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Höhere Rückstellungen, niedrigerer Gewinn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Niedrigere Rückstellungen, höherer Gewinn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Forderungsbewertung (§ 253 HGB)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Strenge Abwertung bei Zweifeln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Beibehaltung zweifelhafter Forderungen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M01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Praxisfall: Musterbilanz „Bauer GmbH"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Unternehmensportrait (anonymisiert, branchentypisch)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Situation: Der Kunde beantragt ein neues Investitionsdarlehen über 650.000 EUR für eine neue CNC-Fräsmaschine. Sie bereiten die Kreditvorlage vor und lesen den Jahresabschluss 2023.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folgende Handlungsempfehlung verknüpft typische Bilanzsignale mit der passenden Reaktion im Kreditgespräch – nutzen Sie sie als Orientierung bei der Auswertung des Praxisfalls.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Musterbilanz Bauer GmbH (31.12.2023)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BILANZ – Aktivseite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M01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Analyseprozess in vier Schritten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951" y="1325880"/>
            <a:ext cx="8847050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M01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Handlungsempfehlung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Reflexionsfragen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Beantworten Sie diese Fragen am Ende des Moduls schriftlich (5 Minuten):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 der sechs Kennzahlen war Ihnen vor diesem Modul noch unklar?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Was ist der kritischste Befund in der Bauer GmbH-Analyse? Wie würden Sie ihn im Kundengespräch ansprechen?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Welcher Kunde in Ihrem Portfolio kommt Ihnen beim Blick auf die Bauer-Bilanz spontan in den Sinn?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Was werden Sie konkret in den nächsten 30 Tagen anders machen, wenn ein Jahresabschluss auf Ihrem Tisch liegt?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