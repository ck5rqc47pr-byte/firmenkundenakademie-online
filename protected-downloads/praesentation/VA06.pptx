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Kernfrage: „Was braucht der Berater zur Entscheidung?" – nicht „Was gibt es alles?" Regieanweisung: Weglassen ist eine Leistung. Ein Berater mit zehn Minuten liest eine Seite, nicht zehn.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Aus Kundensicht entsteht so Servicequalität: der Berater wirkt zuverlässig und kompetent, weil er Zahlen und Historie parat hat (SERVQUAL).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Zentrale Botschaft: Stärke = aktive Anlass-Markierung. Eine Andeutung ist kein schwacher Anlass – oft der wertvollste.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Beobachten, welche Auswahlentscheidungen die TN treffen. Kernfrage in der Besprechung: „Wer hat etwas bewusst weggelassen – und warum?"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Praxistipp Nachbereitung: realistische Fristen (10 Werktage statt 7 Kalendertage). Eskalationsweg mitdenken.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AB-2 Musterlösung (Trainer-Version)</a:t>
            </a:r>
          </a:p>
          <a:p>
            <a:r>
              <a:t>Anlässe im Fall: Zinsbindung (Handlungsbedarf), 95 %-Auslastung (Kapazitätssignal), Investitionsandeutung (Kundensignal – am wichtigsten zu markieren), fehlende BWA (offener Punkt).</a:t>
            </a:r>
          </a:p>
          <a:p>
            <a:r>
              <a:t>Trainer-Hinweis: Stärke zeigt sich im bewussten Weglassen und in der aktiven Anlass-Markierung, nicht in der Dicke der Mappe.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Drei Merksätze zum Abschluss: Verdichten – Anlässe markieren – nichts mündlich merken. Transfer-Anker: Sec 5.1, ersten realen Termin eintragen.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Fragen 1 und 3 gemeinsam besprechen. Ausblick VA07 – Schnittstelle Berater–Assistenz aktiv gestalten.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VA06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Termine vor- und nachbereiten, die den Berater entlasten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Aus Daten eine entscheidungsreife Terminmappe machen – und nichts nach dem Termin verlieren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K-A03 Kundenkommunikation Innendienst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Eigenständige Assistenz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VA06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Ein gut vorbereiteter Termin spart dem Berater Zeit und macht im Kundengespräch den Unterschied – ein schlecht nachbereiteter verliert Vereinbarungen und Anlässe.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Modul lernen Sie, aus Engagement- und Kundenhistorie die relevanten Informationen zu einer entscheidungsreifen Terminmappe zu bündeln und Termine so nachzubereiten, dass Aufgaben, Wiedervorlagen und Dokumentation sauber laufen.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entlasten Sie den Berater spürbar.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VA06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Kundengespräch systematisch vorbereiten (Unterlagen, Kennzahlen, Agenda, offene Punkte)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Aus der Engagement- und Kundenhistorie die für den Termin relevanten Informationen herausfiltern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entscheidungsreife Terminmappe für den Berater erstellen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Einen Termin nachbereiten (Protokoll, Aufgaben, Wiedervorlagen, Dokumentation)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Beurteilen, welche Schritte der Vor- und Nachbereitung den Berater wirklich entlasten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VA06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00:00–00:05 </a:t>
            </a:r>
            <a:r>
              <a:rPr sz="1500" b="1">
                <a:solidFill>
                  <a:srgbClr val="3D5466"/>
                </a:solidFill>
                <a:latin typeface="Arial"/>
              </a:rPr>
              <a:t>  Begrüßung &amp; Einstieg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00:05–00:15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1: Was eine Terminmappe leisten muss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mit Visualisierung (Flipchart oder Folie)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00:15–00:20 </a:t>
            </a:r>
            <a:r>
              <a:rPr sz="1500" b="1">
                <a:solidFill>
                  <a:srgbClr val="3D5466"/>
                </a:solidFill>
                <a:latin typeface="Arial"/>
              </a:rPr>
              <a:t>  Fallübergabe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00:20–00:35 </a:t>
            </a:r>
            <a:r>
              <a:rPr sz="1500" b="1">
                <a:solidFill>
                  <a:srgbClr val="3D5466"/>
                </a:solidFill>
                <a:latin typeface="Arial"/>
              </a:rPr>
              <a:t>  AB-1 &amp; AB-2 in Einzelarbeit</a:t>
            </a:r>
            <a:r>
              <a:rPr sz="1200">
                <a:solidFill>
                  <a:srgbClr val="78808C"/>
                </a:solidFill>
                <a:latin typeface="Arial"/>
              </a:rPr>
              <a:t>  ·  Einzelarbeit (15 Min.)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00:35–00:50 </a:t>
            </a:r>
            <a:r>
              <a:rPr sz="1500" b="1">
                <a:solidFill>
                  <a:srgbClr val="3D5466"/>
                </a:solidFill>
                <a:latin typeface="Arial"/>
              </a:rPr>
              <a:t>  Plenumsbesprechung AB-1/AB-2</a:t>
            </a:r>
            <a:r>
              <a:rPr sz="1200">
                <a:solidFill>
                  <a:srgbClr val="78808C"/>
                </a:solidFill>
                <a:latin typeface="Arial"/>
              </a:rPr>
              <a:t>  ·  Moderierte Diskussion + Moderationskarten am Flipchart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00:50–01:10 </a:t>
            </a:r>
            <a:r>
              <a:rPr sz="1500" b="1">
                <a:solidFill>
                  <a:srgbClr val="3D5466"/>
                </a:solidFill>
                <a:latin typeface="Arial"/>
              </a:rPr>
              <a:t>  AB-3 &amp; AB-4: Anlässe + Nachbereitung</a:t>
            </a:r>
            <a:r>
              <a:rPr sz="1200">
                <a:solidFill>
                  <a:srgbClr val="78808C"/>
                </a:solidFill>
                <a:latin typeface="Arial"/>
              </a:rPr>
              <a:t>  ·  Einzel-/Partnerarbeit +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01:10–01:15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2: Nachbereitung als Kreislauf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(Flipchart-Skizze)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01:15–01:25 </a:t>
            </a:r>
            <a:r>
              <a:rPr sz="1500" b="1">
                <a:solidFill>
                  <a:srgbClr val="3D5466"/>
                </a:solidFill>
                <a:latin typeface="Arial"/>
              </a:rPr>
              <a:t>  Reflexion &amp; Transfer</a:t>
            </a:r>
            <a:r>
              <a:rPr sz="1200">
                <a:solidFill>
                  <a:srgbClr val="78808C"/>
                </a:solidFill>
                <a:latin typeface="Arial"/>
              </a:rPr>
              <a:t>  ·  Plenumsgespräch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01:25–01:30 </a:t>
            </a:r>
            <a:r>
              <a:rPr sz="1500" b="1">
                <a:solidFill>
                  <a:srgbClr val="3D5466"/>
                </a:solidFill>
                <a:latin typeface="Arial"/>
              </a:rPr>
              <a:t>  Abschluss &amp; Ausblick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00:05–00:15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Was eine Terminmappe leisten muss – verdichten statt sammeln.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Die Terminmappe: relevant statt vollständig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Eine gute Vorbereitung beantwortet eine Frage: Was braucht der Berater, um im Gespräch souverän und entscheidungsfähig zu sein?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Fünf Bausteine: Kurzprofil, Engagementübersicht, Kennzahlen, offene Punkte, Agenda.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Vorauswahl und Verdichtung statt „Unterlagen kopieren" – die Mappe ist Entscheidungsinstrument, kein Archiv.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Agenda ist ein Vorschlag, keine Vorgabe; Erwartungen des Beraters aktiv klären, nicht vermuten.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VA06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Die Terminmappe: verdichten statt sammeln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Was ist ein Anlass?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Ein Anlass ist alles aus der Kundenhistorie, das der Berater im Gespräch ansprechen sollte – sichtbar markiert in den offenen Punkten.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DREI ANLASSTYPEN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Konkreter Handlungsbedarf – z. B. eine Zinsbindung läuft aus, die Prolongation steht an.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Kapazitätssignal – z. B. eine Linie ist zu 95 % ausgelastet; reicht das noch?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Andeutung des Kunden – z. B. „nächstes Jahr vielleicht eine Investition".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Andeutung ist der wichtigste Typ: am fragilsten, weil sie verloren geht, wenn niemand sie festhält.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00:15–01:10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Fallübergabe &amp; Fallarbeit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Jahresgespräch Handwerk Musterregion in zwei Tagen – bauen Sie die Terminmappe.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Jahresgespräch Handwerk Musterregion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AUS DER HISTORIE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Betriebsmittellinie zu 95 % ausgelastet; Zinsbindung eines Darlehens läuft in 4 Monaten aus.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Im letzten Gespräch wurde eine Investition „nächstes Jahr" angedeutet; eine BWA fehlt noch.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IHRE AUFGABE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Bereiten Sie die Terminmappe vor – die Unterlagen sind bewusst unstrukturiert, das ist Alltag.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Handlungsempfehlung: markieren statt merken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Sie eine Terminmappe erstellen — dann jeden Anlass als offenen Punkt markieren, damit der Berater ihn im Gespräch ansprechen kann.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der Kunde etwas nur andeutet — dann genau das festhalten; die Andeutung geht sonst im nächsten Termin verloren.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nach dem Termin Ergebnisse anfallen — dann sofort Wiedervorlagen mit realistischer Frist setzen, nichts mündlich merken.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VA06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Nachbereitung als Kreislauf (Kolb)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863" y="1325880"/>
            <a:ext cx="7079225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VA06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 bearbeiten: Mappe und Nachbereitung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Bestimmen Sie den Informationsbedarf für das Gespräch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Befüllen Sie die fünf Bausteine der Terminmappe – verdichtet, nicht vollständig (AB-2).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Identifizieren Sie die Anlässe aus dem Fall und markieren Sie sie (AB-3).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Stellen Sie einen Nachbereitungsplan mit Wiedervorlagen auf (AB-4) – Karte AB-5 als Werkzeug.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Die beste Vorbereitung ist die, die der Berater nicht mehr machen muss.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Eine entscheidungsreife Terminmappe entlastet den Berater und macht den Innendienst unsichtbar wirksam.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Information landet bei Ihnen heute noch auf einem Zettel statt in der Mappe – und warum?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Kundenandeutung ist Ihnen schon einmal verloren gegangen?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 würde der Berater weglassen, wenn er Ihre letzte Mappe sähe – und was ergänzen?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