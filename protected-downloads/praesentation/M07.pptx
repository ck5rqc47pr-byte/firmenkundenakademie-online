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(Trainer-Referenz)</a:t>
            </a:r>
          </a:p>
          <a:p>
            <a:r>
              <a:t>Aufgabe 1 – IDW S5:</a:t>
            </a:r>
          </a:p>
          <a:p>
            <a:r>
              <a:t>Ø Jahresüberschuss:          303.333 EUR</a:t>
            </a:r>
          </a:p>
          <a:p>
            <a:r>
              <a:t>./. Unternehmerlohn:         130.000 EUR</a:t>
            </a:r>
          </a:p>
          <a:p>
            <a:r>
              <a:t>= Ertrag vor Risiko:         173.333 EUR</a:t>
            </a:r>
          </a:p>
          <a:p>
            <a:r>
              <a:t>./. Risikoabschlag 25 %:     - 43.333 EUR</a:t>
            </a:r>
          </a:p>
          <a:p>
            <a:r>
              <a:t>= Nachhaltiger Jahresertrag: 130.000 EUR</a:t>
            </a:r>
          </a:p>
          <a:p>
            <a:r>
              <a:t>× Kapitalisierungsfaktor 3,0:</a:t>
            </a:r>
          </a:p>
          <a:p>
            <a:r>
              <a:t>= Goodwill (rechnerisch):    390.000 EUR</a:t>
            </a:r>
          </a:p>
          <a:p>
            <a:r>
              <a:t>Der vereinbarte Goodwill von 220.000 EUR liegt deutlich unter dem rechnerischen Wert (Differenz: 170.000 EUR). Die Übernahme erscheint aus Käuferperspektive günstig bewertet.</a:t>
            </a:r>
          </a:p>
          <a:p>
            <a:r>
              <a:t>Trainer-Hinweis – Vertiefungsfragen zum Gap: Dieser Unterschied von 170.000 EUR ist erklärungsbedürftig. Regen Sie folgende Diskussion an:</a:t>
            </a:r>
          </a:p>
          <a:p>
            <a:r>
              <a:t>1. Warum akzeptiert Dr. Schmidt einen Goodwill von nur 220.000 EUR statt der rechnerischen 390.000 EUR? Mögliche Antworten: Zeitdruck beim Verkäufer (gesundheitliche Gründe), begrenzte Zahl qualifizierter Käufer in der Region, Patientenstamm-Risiko durch hohen Anteil an Stammkunden älterer Patienten, persönliche Sympathie für den Nachfolger.</a:t>
            </a:r>
          </a:p>
          <a:p>
            <a:r>
              <a:t>2. Ist der niedrige Kaufpreis für die Bank ein Signal oder ein Vorteil? Ein Käufer, der günstig einkauft, hat einen besseren DSCR – aber: Warum wird so günstig verkauft? Hat Dr. Schmidt Informationen, die Dr. Mayer (und die Bank) nicht haben? → Asymmetrische Information ist das zentrale Risiko.</a:t>
            </a:r>
          </a:p>
          <a:p>
            <a:r>
              <a:t>3. Was sollte die Bank zusätzlich prüfen? Laufende Regressverfahren, Abrechnungsauffälligkeiten bei der KV, Patientenstamm-Altersstruktur (wie viele Patienten sind unter 60 und bleiben der Praxis erhalten?), lokale Wettbewerbssituation (neues MVZ in der Nähe?).</a:t>
            </a:r>
          </a:p>
          <a:p>
            <a:r>
              <a:t>Fazit: Der günstige Kaufpreis ist aus DSCR-Sicht attraktiv – rechtfertigt aber intensivere Due Diligence, nicht weniger.</a:t>
            </a:r>
          </a:p>
          <a:p>
            <a:r>
              <a:t>Aufgabe 2 – DSCR:</a:t>
            </a:r>
          </a:p>
          <a:p>
            <a:r>
              <a:t>380.000 EUR / 10 Jahre = 38.000 EUR Tilgung p.a.</a:t>
            </a:r>
          </a:p>
          <a:p>
            <a:r>
              <a:t>Zinsen Anfangsjahr: 380.000 × 5,5 % = 20.900 EUR</a:t>
            </a:r>
          </a:p>
          <a:p>
            <a:r>
              <a:t>Zinsen Endjahr: 38.000 × 5,5 % = 2.090 EUR</a:t>
            </a:r>
          </a:p>
          <a:p>
            <a:r>
              <a:t>Ø Zinsen: (20.900 + 2.090) / 2 = 11.495 EUR p.a.</a:t>
            </a:r>
          </a:p>
          <a:p>
            <a:r>
              <a:t>Kapitaldienst gesamt: 38.000 + 11.495 = 49.495 EUR p.a.</a:t>
            </a:r>
          </a:p>
          <a:p>
            <a:r>
              <a:t>DSCR: 75.000 / 49.495 = 1,52</a:t>
            </a:r>
          </a:p>
          <a:p>
            <a:r>
              <a:t>Trainer-Hinweis – Kritische Diskussion: DSCR 1,52 liegt rechnerisch über der Mindestanforderung (1,20) – aber ist er bei diesem Risikoniveau wirklich ausreichend? Folgende Argumente sprechen dafür, ihn kritisch zu hinterfragen:</a:t>
            </a:r>
          </a:p>
          <a:p>
            <a:r>
              <a:t>1. Anlaufrisiko: Die 65 %-Patientenübernahme ist eine Prognose, kein gesicherter Wert. Historisch werden in den ersten 12 Monaten nach Übernahme teils nur 50–60 % erreicht. Sinkt die Patientenquote auf 55 %, bricht der Cashflow auf ca. 55.000 EUR – DSCR dann unter 1,20.</a:t>
            </a:r>
          </a:p>
          <a:p>
            <a:r>
              <a:t>2. Kein Puffer für unvorhergesehene Ausgaben: Bei einer einzigen größeren Reparatur oder einem KV-Regressverfahren fehlt der Puffer.</a:t>
            </a:r>
          </a:p>
          <a:p>
            <a:r>
              <a:t>3. Empfehlung: Tilgungsfreie Anlaufzeit (12 Monate nur Zinsen: 11.495 EUR p.a.) deutlich beantragen – reduziert den Kapitaldienst im ersten Jahr auf ca. 23 % des freien Cashflows und schafft echten Sicherheits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Ärzte, Zahnärzte und Apotheker sind gefragte Kunden – aber KV-Abrechnung, Goodwill und Praxisübernahme folgen eigenen Regeln.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die Besonderheiten der Heilberufe durch und rechnen eine Praxisübernahme-Finanzierung vollständig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beraten Sie Heilberufler fachkundig und beurteilen Übernahmefinanzierungen sicher.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Visualisierung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Gruppenarbeit 1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1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dann 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2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Hauptfall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Wissenstest +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Praxiswert gesamt = Substanzwert + Goodwill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IDW S5 (2021 ); Frodl (2019 )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TYPISCHE INVESTITIONSANLÄSSE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Medizinische Versorgungszentren (MVZ):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Betriebseinnahmen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Betriebsausgaben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Jahresüberschuss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680.000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290.000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710.000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700.000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