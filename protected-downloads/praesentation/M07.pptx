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(Trainer-Referenz)</a:t>
            </a:r>
          </a:p>
          <a:p>
            <a:r>
              <a:t>Aufgabe 1 – IDW S5:</a:t>
            </a:r>
          </a:p>
          <a:p>
            <a:r>
              <a:t>Ø Jahresüberschuss:          303.333 EUR</a:t>
            </a:r>
          </a:p>
          <a:p>
            <a:r>
              <a:t>./. Unternehmerlohn:         130.000 EUR</a:t>
            </a:r>
          </a:p>
          <a:p>
            <a:r>
              <a:t>= Ertrag vor Risiko:         173.333 EUR</a:t>
            </a:r>
          </a:p>
          <a:p>
            <a:r>
              <a:t>./. Risikoabschlag 25 %:     - 43.333 EUR</a:t>
            </a:r>
          </a:p>
          <a:p>
            <a:r>
              <a:t>= Nachhaltiger Jahresertrag: 130.000 EUR</a:t>
            </a:r>
          </a:p>
          <a:p>
            <a:r>
              <a:t>× Kapitalisierungsfaktor 3,0:</a:t>
            </a:r>
          </a:p>
          <a:p>
            <a:r>
              <a:t>= Goodwill (rechnerisch):    390.000 EUR</a:t>
            </a:r>
          </a:p>
          <a:p>
            <a:r>
              <a:t>Der vereinbarte Goodwill von 220.000 EUR liegt deutlich unter dem rechnerischen Wert (Differenz: 170.000 EUR). Die Übernahme erscheint aus Käuferperspektive günstig bewertet.</a:t>
            </a:r>
          </a:p>
          <a:p>
            <a:r>
              <a:t>Trainer-Hinweis – Vertiefungsfragen zum Gap: Dieser Unterschied von 170.000 EUR ist erklärungsbedürftig. Regen Sie folgende Diskussion an:</a:t>
            </a:r>
          </a:p>
          <a:p>
            <a:r>
              <a:t>1. Warum akzeptiert Dr. Schmidt einen Goodwill von nur 220.000 EUR statt der rechnerischen 390.000 EUR? Mögliche Antworten: Zeitdruck beim Verkäufer (gesundheitliche Gründe), begrenzte Zahl qualifizierter Käufer in der Region, Patientenstamm-Risiko durch hohen Anteil an Stammkunden älterer Patienten, persönliche Sympathie für den Nachfolger.</a:t>
            </a:r>
          </a:p>
          <a:p>
            <a:r>
              <a:t>2. Ist der niedrige Kaufpreis für die Bank ein Signal oder ein Vorteil? Ein Käufer, der günstig einkauft, hat einen besseren DSCR – aber: Warum wird so günstig verkauft? Hat Dr. Schmidt Informationen, die Dr. Mayer (und die Bank) nicht haben? → Asymmetrische Information ist das zentrale Risiko.</a:t>
            </a:r>
          </a:p>
          <a:p>
            <a:r>
              <a:t>3. Was sollte die Bank zusätzlich prüfen? Laufende Regressverfahren, Abrechnungsauffälligkeiten bei der KV, Patientenstamm-Altersstruktur (wie viele Patienten sind unter 60 und bleiben der Praxis erhalten?), lokale Wettbewerbssituation (neues MVZ in der Nähe?).</a:t>
            </a:r>
          </a:p>
          <a:p>
            <a:r>
              <a:t>Fazit: Der günstige Kaufpreis ist aus DSCR-Sicht attraktiv – rechtfertigt aber intensivere Due Diligence, nicht weniger.</a:t>
            </a:r>
          </a:p>
          <a:p>
            <a:r>
              <a:t>Aufgabe 2 – DSCR:</a:t>
            </a:r>
          </a:p>
          <a:p>
            <a:r>
              <a:t>380.000 EUR / 10 Jahre = 38.000 EUR Tilgung p.a.</a:t>
            </a:r>
          </a:p>
          <a:p>
            <a:r>
              <a:t>Zinsen Anfangsjahr: 380.000 × 5,5 % = 20.900 EUR</a:t>
            </a:r>
          </a:p>
          <a:p>
            <a:r>
              <a:t>Zinsen Endjahr: 38.000 × 5,5 % = 2.090 EUR</a:t>
            </a:r>
          </a:p>
          <a:p>
            <a:r>
              <a:t>Ø Zinsen: (20.900 + 2.090) / 2 = 11.495 EUR p.a.</a:t>
            </a:r>
          </a:p>
          <a:p>
            <a:r>
              <a:t>Kapitaldienst gesamt: 38.000 + 11.495 = 49.495 EUR p.a.</a:t>
            </a:r>
          </a:p>
          <a:p>
            <a:r>
              <a:t>DSCR: 75.000 / 49.495 = 1,52</a:t>
            </a:r>
          </a:p>
          <a:p>
            <a:r>
              <a:t>Trainer-Hinweis – Kritische Diskussion: DSCR 1,52 liegt rechnerisch über der Mindestanforderung (1,20) – aber ist er bei diesem Risikoniveau wirklich ausreichend? Folgende Argumente sprechen dafür, ihn kritisch zu hinterfragen:</a:t>
            </a:r>
          </a:p>
          <a:p>
            <a:r>
              <a:t>1. Anlaufrisiko: Die 65 %-Patientenübernahme ist eine Prognose, kein gesicherter Wert. Historisch werden in den ersten 12 Monaten nach Übernahme teils nur 50–60 % erreicht. Sinkt die Patientenquote auf 55 %, bricht der Cashflow auf ca. 55.000 EUR – DSCR dann unter 1,20.</a:t>
            </a:r>
          </a:p>
          <a:p>
            <a:r>
              <a:t>2. Kein Puffer für unvorhergesehene Ausgaben: Bei einer einzigen größeren Reparatur oder einem KV-Regressverfahren fehlt der Puffer.</a:t>
            </a:r>
          </a:p>
          <a:p>
            <a:r>
              <a:t>3. Empfehlung: Tilgungsfreie Anlaufzeit (12 Monate nur Zinsen: 11.495 EUR p.a.) deutlich beantragen – reduziert den Kapitaldienst im ersten Jahr auf ca. 23 % des freien Cashflows und schafft echten Sicherheits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Branchenvertiefung Heilberufe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Arztpraxen, Apotheken und Heilberufe als Firmenkundensegment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K-02 Branchenwissen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Ärzte, Zahnärzte und Apotheker sind gefragte Kunden – aber KV-Abrechnung, Goodwill und Praxisübernahme folgen eigenen Regeln.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arbeiten die Besonderheiten der Heilberufe durch und rechnen eine Praxisübernahme-Finanzierung vollständig durch.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beraten Sie Heilberufler fachkundig und beurteilen Übernahmefinanzierungen sicher.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Heilberufsgruppen nach ihrer rechtlichen Einordnung als Freie Berufe gemäß § 18 EStG differenzieren und von Gewerbebetrieben abgrenzen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Einnahmen-Überschuss-Rechnung (EÜR) eines Heilberufe-Kunden auf Schuldendienstfähigkeit analysieren und Besonderheiten gegenüber einer handelsrechtlichen Bilanz erläutern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Goodwill einer Arzt- oder Zahnarztpraxis nach der modifizierten Ertragswertmethode (IDW S5) berechnen und eine tragfähige Finanzierungsstruktur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branchenspezifische Risikoprofil eines Heilberufe-Kunden (Zulassungsrisiken, Regressrisiken, Versorgungswerk-Effekte) bewerten und ein passendes Sicherheitenkonzept empfehlen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Plenum, Blitzlicht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1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 mit Visualisierung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Gruppenarbeit 1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(3–4 TN)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Pause 1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2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 mit Rechenbeispiel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Rechenübung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Einzelarbeit, dann Besprechung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Pause 2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3</a:t>
            </a:r>
            <a:r>
              <a:rPr sz="900">
                <a:solidFill>
                  <a:srgbClr val="78808C"/>
                </a:solidFill>
                <a:latin typeface="Arial"/>
              </a:rPr>
              <a:t>  ·  Trainer-Vortrag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Hauptfall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Kleingruppenarbeit (3–4 TN)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Präsentation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Wissenstest +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/>
            </a:r>
            <a:r>
              <a:rPr sz="12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1: Freie Berufe – rechtliche und wirtschaftliche Grundlagen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ABGRENZUNG: FREIER BERUF VS. GEWERBE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praktischen Konsequenzen für die Bankbeziehung: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Quellen: § 18 EStG; § 4 Abs. 3 EStG; Gumpert &amp; Kausch (2022 )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PRAXISRELEVANZ: EINZELPRAXIS, BERUFSAUSÜBUNGSGEMEINSCHAFT (BAG) UND MVZ IM VERGLEICH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bloße Abgrenzung „Freier Beruf vs. Gewerbe" greift in der Beratungspraxis zu kurz. Entscheidend für die Kreditanalyse ist auch die Organisationsform, in der der Heilberuf ausgeübt wird: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Für den Berater – Daumenregel: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Einzelpraxis: Standardvorgehen gemäß M07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BAG mit 2–3 Partnern: immer Gesellschaftsvertrag anfordern, Bonitätsprüfung aller Partner, Regelung bei Ausscheiden eines Partners klären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MVZ: Spezialisten einbinden (DZ BANK Corporate Finance oder internen gewerblichen Spezialisten) – das ist keine klassische Freiberufler-Finanzierung mehr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Quelle: Gumpert &amp; Kausch (2022 )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EÜR VS. BILANZ: WAS DER BERATER WISSEN MUSS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Keine Abgrenzung von Anlagevermögen in der EÜR: Investitionen erscheinen als sofortiger Aufwand oder werden über AfA-Listen abgeschrieben; eine bilanzielle Kapitalstruktur fehlt.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2: Praxisbewertung und Finanzierungsstruktur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PRAXISÜBERNAHME VS. PRAXISGRÜNDUNG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Bewertungsverfahren nach IDW S5: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Substanzwert: Zeitwert aller materiellen Wirtschaftsgüter (Praxiseinrichtung, Medizintechnik, IT, Vorräte). Dieser Anteil ist relativ unproblematisch zu finanzieren und gut beleihbar.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```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Modifizierte Ertragswertmethode (IDW S5):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./. Risikoabschlag (Zulassungsrisiko, Inhaberabhängigkeit) ca. 20–30 %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× Kapitalisierungsfaktor (ca. 2,0–3,5×, je nach Fach/Lage)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Praxiswert gesamt = Substanzwert + Goodwill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```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Quelle: IDW S5 (2021 ); Frodl (2019 )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TYPISCHE INVESTITIONSANLÄSSE IM ÜBERBLICK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Medizinische Versorgungszentren (MVZ):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Praxiswert-Ermittlung nach IDW S5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3: Risikoprofil und Sicherheitenkonzept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SPEZIFISCHE RISIKEN BEI HEILBERUFE-KUNDEN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Zulassungsrisiko: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Kassenarztzulassung und ihre Übertragbarkeit in der Nachfolge: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Regressrisiko: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Inhaberabhängigkeit: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Versorgungswerk statt gesetzliche Rentenversicherung: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Strukturrisiko MVZ-Konsolidierung: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SICHERHEITENKONZEPT BEI HEILBERUFE-FINANZIERUNGEN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§ 18 KWG (Offenlegungspflicht ab 750.000 EUR Kreditbetrag) ist zu beachten. Die gesamtschuldnerische Bonitätsanalyse bei Praxisübernahmen folgt MaRisk BTO 1.2.1 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VERBUNDPARTNER SCHWÄBISCH HALL: PRAXISIMMOBILIEN UND TILGUNGSAUSSETZUNGSMODELL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Tilgungsaussetzungsmodell (Vorfinanzierung mit Bausparvertrag):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Vorteile für den Kunden: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 Heilberufe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Praxiscase: Dr. Mayer – Zahnarztpraxis-Übernahme in Ravensburg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AUSGANGSSITUATION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Kaufpreisverhandlung: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Substanzwert (Einrichtung, Geräte): 160.000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Goodwill (vereinbart, auf Basis IDW S5): 220.000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Gesamtkaufpreis: 380.000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Finanzdaten der Praxis (letzte 3 Jahre, EÜR Dr. Schmidt):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Durchschnittlicher Jahresüberschuss: 303.333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Finanzierungsbedarf: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Praxiskauf: 380.000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Betriebsmittel (Warenlager, Anlaufkosten): 30.000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Modernisierung Röntgenanlage: 25.000 EUR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Gesamtbedarf: 435.000 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Praxiscase: Dr. Mayer – Zahnarztpraxis-Übernahme in Ravensburg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Jahr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Betriebseinnahmen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Betriebsausgaben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Jahresüberschuss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680.000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390.000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290.000 EUR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710.000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400.000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310.000 EUR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700.000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390.000 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310.000 EUR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Checkliste Heilberufe-Erstgespräch (15 Punkte)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Nutzen Sie diese Checkliste zur Vorbereitung und Strukturierung von Erstgesprächen mit Heilberufe-Kunden.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Branche &amp; Zulassung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1. Zulassungsart: GKV-Zulassung, Privatarzt, MVZ-Anstellung?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2. KV-Bezirk und Versorgungsgebiet – überversorgt oder Mangelgebiet?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3. Berufsbezeichnung und Kammerzugehörigkeit klären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4. Einzelpraxis oder BAG/Gemeinschaftspraxis? → Bei Berufsausübungsgemeinschaft (BAG): Gesellschaftsvertrag anfordern; Sicherheitenkonzept und Bonitätsprüfung gelten für alle Partner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5. Umsatzsteuer-Status klären (§ 4 Nr. 14 UStG: Heilbehandlungen grds. USt-frei; Ausnahmen: Gutachtertätigkeit, Schönheitschirurgie ohne Heilzweck → partielle USt-Pflicht möglich)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Einkommenssituation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6. Einnahmenquellen: GKV-Anteil / PKV-Anteil / Selbstzahler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7. EÜR letzter 3 Jahre + Steuerbescheide anfordern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8. Rückstände oder laufende Regressverfahren erfragen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[ ] 9. Betriebsausgaben auf Plausibilität prüfen (Personalquote, Mietquote)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drei Informationen fehlen Ihnen typischerweise beim ersten Gespräch mit einem Heilberufe-Kunden, und wie würden Sie diese strukturiert erfragen?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Arzt zeigt eine EÜR mit 500.000 EUR Betriebseinnahmen und 350.000 EUR Betriebsausgaben. Was müssen Sie zusätzlich zum Jahresüberschuss wissen, um eine fundierte Kreditentscheidung treffen zu können?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 liegt der wesentliche Unterschied zwischen der Finanzierung einer Zahnarztpraxis und der Finanzierung eines KMU-Betriebs? Was bedeutet das für Ihre Sicherheitenstrategie?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