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Einstiegsrunde (09:00–09:10): Eine Unsicherheitssituation, die mich gerade beschäftigt – Stichwort-Nennungen an der Flipchart sammeln, noch nicht einordnen.</a:t>
            </a:r>
          </a:p>
          <a:p>
            <a:r>
              <a:t>Überleitung: Diese Nennungen sind das Material des Tages. Wir werden sie zweimal anfassen – mit Heifetz und mit der Report-Struktur.</a:t>
            </a:r>
          </a:p>
          <a:p>
            <a:r>
              <a:t>Brücke zu TL09 explizit ziehen: TL09 hat gelernt, Veränderungsprozesse zu gestalten – TL10 arbeitet mit Situationen, in denen das Veränderungsgeschehen selbst noch nicht klar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Sofortübung direkt nach der Tabelle (09:10–09:30): TN ordnen ihre Einstiegs-Nennungen ein – technisch oder adaptiv? Ergebnis an Flipchart; Trainer kommentiert Muster, nicht Einzelurteile.</a:t>
            </a:r>
          </a:p>
          <a:p>
            <a:r>
              <a:t>Wiederkehrendes Muster ansprechen: Viele TN klassifizieren anfangs zu viel als adaptiv. Nach dem Input korrigieren viele. Das ist ein produktiver Moment: Wann ist etwas wirklich adaptiv – und nicht nur komplex technisch?</a:t>
            </a:r>
          </a:p>
          <a:p>
            <a:r>
              <a:t>FK-Kontext verankern: agree-Migration ist überwiegend technisch – hat aber einen adaptiven Kern bei erfahrenen Beratern, die Beratungsidentität damit verbinden. Das Nebeneinander erkennen.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 Beispiele aus dem FK-Alltag: neue Zielsystematik nach Verbandsvorgabe (adaptiv), CRM-Umstellung (technisch), Neuausrichtung des Beratungsansatzes (adaptiv mit technischem Deckmantel).</a:t>
            </a:r>
          </a:p>
          <a:p>
            <a:r>
              <a:t>Grenze benennen: Die Dichotomie ist idealtypisch – in der Praxis überlagern sich technische und adaptive Anteile. Das Modell hat dennoch hohen diagnostischen Wert: Es stellt eine Frage, die sonst implizit bleibt.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Gesprächsrunde (09:30–09:50): Wie sprichst du mit deinem Team über Situationen, in denen du selbst noch nicht klar bist? Trainer visualisiert Muster an Flipchart.</a:t>
            </a:r>
          </a:p>
          <a:p>
            <a:r>
              <a:t>Pseudosicherheitsformeln im FK-Alltag benennen und kontrastieren: 'Das kriegen wir hin.' vs. 'Ich weiß noch nicht genau, wie das ausgeht – was ich weiß ist ... und was wir jetzt tun können ist...'</a:t>
            </a:r>
          </a:p>
          <a:p>
            <a:r>
              <a:t>Edmondson verankern: Ambiguitätstoleranz der Führungskraft ist kein persönliches Merkmal, sondern ein Systemparameter – sie bestimmt, ob das Team in der nächsten Unsicherheitsphase lernfähig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drei Fragen sind die Merkkarte für das Team-Gespräch. TN kennen sie nach diesem Impuls – AB-1 Schritt 2 und AB-2 Teil C bauen direkt darauf auf.</a:t>
            </a:r>
          </a:p>
          <a:p>
            <a:r>
              <a:t>Sandra-Überleitung vorbereiten: 'Es wird bald konkreter' – leistet welchen Beitrag zu diesen drei Fragen? Antwort: keinen. Das ist der Eingang in den Praxisfall.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ist ein Vertrauensmoment im Seminarraum – nicht abschwächen. TN, die sagen 'Das kostet mich mehr als es bringt', haben oft recht – kurzfristig.</a:t>
            </a:r>
          </a:p>
          <a:p>
            <a:r>
              <a:t>Reaktion 'Ich wurde dafür bestraft' ernst nehmen: Formulierungsfrage oder Kulturfrage unterscheiden helfen. Der Trainer entscheidet das nicht für die TN, hilft aber bei der Einordnung.</a:t>
            </a:r>
          </a:p>
          <a:p>
            <a:r>
              <a:t>Was das Modul verspricht: Beschönigung ist langfristig teurer – für das Vertrauen nach oben UND nach unten. Was es nicht verspricht: dass Ehrlichkeit überall sofort belohnt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Servant-Leadership-Anker: Greenleaf (1977) – die dienende Führungskraft vermeidet keine Konflikte, sie steht für ihr Team ein, auch wenn das unbequem ist.</a:t>
            </a:r>
          </a:p>
          <a:p>
            <a:r>
              <a:t>Van Dierendonck (2011): Teams unter Führungskräften mit hoher Authentizität und Rückendeckung entwickeln messbar höhere Resilienz in Unsicherheitssituationen. Das ist kein Idealismus, das ist ein Systemparameter.</a:t>
            </a:r>
          </a:p>
          <a:p>
            <a:r>
              <a:t>Frage an die Gruppe: In welche Richtung – nach oben oder nach unten – fällt es Ihnen leichter, unbequeme Wahrheiten zu sagen? Kurze Runde, kein Werturteil.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Zeitregie ankündigen: Teil A–C in ca. 10 Min. abschließen, danach ausschließlich Teil D – mindestens 20 Min. Echter Bericht, keine Stichworte.</a:t>
            </a:r>
          </a:p>
          <a:p>
            <a:r>
              <a:t>Situation muss real sein – muss aber nicht die sensibelste sein. Ideal: eine Situation, bei der TN in den nächsten zwei Wochen wirklich nach oben berichten müssen.</a:t>
            </a:r>
          </a:p>
          <a:p>
            <a:r>
              <a:t>Mindesttiefe bei Teil D prüfen: Kein vollständig ausformulierter Bericht → kein substanzieller Fallberatungsgegenstand. Nach 15 Min. im Raum prüfen: steht da ein echter Bericht oder nur Stichworte?</a:t>
            </a:r>
          </a:p>
          <a:p>
            <a:r>
              <a:t>Kollegiale Fallberatung (11:45–12:20): Dreiergruppen. Takt: 3 Min. Fallvorstellung, 6–7 Min. Rückmeldung, 1 Min. Reaktion. Feedback-Fokus: Technisch oder adaptiv richtig diagnostiziert? Sensemaking-Botschaft glaubwürdig? Report vollständig und risikoehrlich?</a:t>
            </a:r>
          </a:p>
          <a:p>
            <a:r>
              <a:t>Trainer interveniert nur wenn Gruppe in Ratschläge statt Fragen verfällt: 'Nicht raten – fragen. Was versteht ihr noch nicht an diesem Fall?'</a:t>
            </a:r>
          </a:p>
          <a:p>
            <a:r>
              <a:t>Falls TN keine eigene Situation einbringen will: Sandra/agree-Migration als Projektionsfläche – Erkenntnisse mental übertragen.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Transferaufgaben kurz einführen, nicht erklären – sie liegen im Workbook.</a:t>
            </a:r>
          </a:p>
          <a:p>
            <a:r>
              <a:t>Jeden TN einen konkreten ersten Schritt mit Datum benennen lassen – auf Moderationskarte, TN nehmen sie mit.</a:t>
            </a:r>
          </a:p>
          <a:p>
            <a:r>
              <a:t>Folgetermin sofort im Kalender: Die drei Transferaufgaben produzieren genau die Level-3-Evidenz des Moduls. Sie sind kein optionaler Zusatz.</a:t>
            </a:r>
          </a:p>
          <a:p>
            <a:r>
              <a:t>Selbstcheck (Sec 5): in Stille ausfüllen, ca. 3 Min., bevor der Abschlussimpuls kommt.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Abschlussrunde (1 Satz pro TN): Was nehme ich aus diesem Track mit – nicht nur aus TL10?</a:t>
            </a:r>
          </a:p>
          <a:p>
            <a:r>
              <a:t>Trainer benennt den roten Faden explizit: Jedes Modul dieses Tracks hat eine Version dieser Frage gestellt. TL10 macht sie explizit.</a:t>
            </a:r>
          </a:p>
          <a:p>
            <a:r>
              <a:t>Reflexionsfrage nicht beantworten – stehenlassen. Der Abschlussimpuls ist die Frage, nicht die Antwort.</a:t>
            </a:r>
          </a:p>
          <a:p>
            <a:r>
              <a:t>Feedbackbogen Level 1: 5 Min., nicht als Add-on behandeln – ist Teil des Abschlusses.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Führen in Unsicherheit &amp; Kommunikation nach oben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Ambiguität navigieren, das Team orientieren, nach oben wirkungsvoll berichten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TL10 ist das krönende Abschlussmodul des Teamleiter-Tracks und macht den roten Faden explizit, der sich durch alle TL-Module zieht: die Frage, wie eine Teamleiterin nach oben kommuniziert – nicht nur als Vollzugsmelderin, sondern als eigenständige Stimme, die Fortschritte, Risiken und Ressourcenbedarf klar und couragiert nach oben trägt.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TL10 verknüpft das mit der größten Führungsherausforderung der strategischen Ebene: Orientierung geben in Situationen, in denen niemand – auch die Führungskraft selbst – die Antworten kennt.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VUCA-Lagen, regulatorische Ungewissheit, agree-Migrationen mit offenem Zeitplan, Zinsturbulenzen: Das sind keine temporären Störungen, sondern der Normalzustand strategischer Führung.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analysieren Teilnehmer eigene Unsicherheitssituationen mit Weicks Sensemaking-Konzept und Heifetz' Unterscheidung technischer versus adaptiver Herausforderungen, entwickeln eine eigene Haltung zur Ambiguitätstoleranz und entwerfen ein strukturiertes Report-nach-oben-Konzept für eine reale Situation.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Modul schließt den Track nicht mit einer Zusammenfassung, sondern mit einer Frage: Was für eine Führungskraft will ich sein – in der Unsicherheit?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Eigene Unsicherheitssituationen im FK-Führungsalltag differenziert analysieren: technische Herausforderungen (Heifetz) von adaptiven Herausforderungen trennen, das eigene Sensemaking-Muster untersuchen und die Implikationen für Führungshandeln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Praxis der Kommunikation nach oben kritisch bewerten: beurteilen, ob Berichte strukturiert, risikoehrlich und ressourcenbewusst formuliert sind oder ob Vollzugsorientierung und Aufwärtsloyalität dominieren – und auf dieser Grundlage eine persönliche Verbesserungsstrategie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Doppelte Loyalität (nach oben und nach unten) als strukturelles Spannungsfeld der mittleren Führungsebene bewerten, die eigene Standortbestimmung in diesem Spannungsfeld prüfen und die Konsequenzen für Glaubwürdigkeit nach beiden Seiten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Report-nach-oben-Konzept für eine reale Unsicherheitssituation im eigenen FK-Team entwerfen: Situationsanalyse (technisch vs. adaptiv), Sensemaking-Botschaft ans Team, Berichtsstruktur nach oben (Fortschritt – Risiken – Ressourcen) und persönliche Haltung zur Ambiguität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1: Heifetz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2: Weick Sensemaking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3: Managing Up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Fallanalyse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AB-1-Besprechung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Unsicherheit ist kein Ausnahmezustand – sie ist der Job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 strukturelle Unsicherheitsquellen, die sich im FK-Alltag überlagern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Regulatorik: MaRisk-Updates ohne finale operative Auslegung.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Technologie: agree-Migrationen mit externem Zeitplan.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Markt: Zinsdynamik, die Jahresziele unter Vorbehalt stellt.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Organisation: Fusionen, Verbundneuausrichtungen, Rollenwechsel.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dieser Quellen verschwindet – die Kompetenz ist Navigieren, nicht Lösen.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1: HEIFETZ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Technisch oder adaptiv? – Die erste Führungsfrage in Unsicherheit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Herausforderungstypen differenzieren – und den häufigsten Führungsfehler vermeiden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häufigste Führungsfehler: adaptives Problem, technische Lösung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Problem-Definition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Was muss sich verändern?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Führungsaufgabe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Typischer Fehler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Diagnosefrage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Wenn das Problem trotz gutem Plan nicht verschwindet – prüfen Sie den Diagnose-Typ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Schulungsprogramm löst kein Werteproblem.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Kennzahlensystem löst keine Identitätsfrage.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Neues Meeting-Format löst keinen Vertrauensverlust.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Adaptive Diagnose-Frage: Wessen Überzeugung müsste sich ändern?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Wenn die Antwort auf Menschen zeigt – braucht es Beteiligung, nicht bessere Technik.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2: WEICK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Sensemaking: Orientierung geben, bevor man die Antworten kennt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Leitfragen als Führungswerkzeug in Unsicherheit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auf vollständige Klarheit wartet, wartet als Führungskraft zu lange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Sensemaking: plausible Deutung aus Fragmenten – kein Warten auf Vollständigkeit.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Rückwärts gerichtet: Bedeutung entsteht im Handeln, nicht vor dem Handeln.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Sozial: Orientierung entsteht im Dialog – Ansage ersetzt kein gemeinsames Verstehen.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Cue-basiert: Was konkret beobachtbar ist, ist die Führungsgrundlage.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Pseudosicherheit kostet Glaubwürdigkeit – ehrliches Nicht-Wissen stärkt sie.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Leitfragen: Sensemaking-Botschaft für das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Was wissen wir sicher? (Cues benennen – konkret, nicht abstrakt)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Was interpretieren wir – und auf welcher Grundlage? (Deutung transparent machen)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3. Was können wir jetzt tun – auch ohne vollständige Klarheit? (Handlungsfähigkeit)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Botschaft = Was wir wissen + Was wir nicht wissen + Was wir beeinflussen + Nächster Schritt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Dieser Rahmen funktioniert in 3 Sätzen – er braucht keine Sicherheit, nur Ehrlichkeit.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3: MANAGING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Kommunikation nach oben: Vollzugsmelder oder eigenständige Stimme?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Report-Struktur einführen – und doppelte Loyalität als strukturelles Spannungsfeld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strukturiert berichtet, ist Sparringspartner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770" y="1325880"/>
            <a:ext cx="573741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Risikoehrlich berichten ist der professionellste Weg – aber keine Garantie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Befund gilt im Mittel und mittelfristig – kein Naturgesetz.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gibt Kulturen, die schlechte Nachrichten bestrafen – das ist real.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Diagnose-Frage: Formulierungsproblem oder Kulturproblem?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Formulierung: Report-Struktur ist die Lösung.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Kultur: kluge Kalibrierung – ehrlich in der Sache, strategisch im Format, schriftlich dokumentiert.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Doppelte Loyalität: das Spannungsfeld ist nicht auflösbar – nur produktiv nutzbar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oben: Transparenz, Verlässlichkeit, Umsetzung.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unten: Glaubwürdigkeit, Rückendeckung, Interessenvertretung.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Weder verlängerter Arm des Vorstands noch Interessenvertreter ohne Einfluss.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 Mitte: nach oben den Bedarf des Teams klar artikulieren.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Und nach unten klar benennen, was nicht verhandelbar ist – und warum.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AB-1: FALLANALYSE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Sandra und die offene agree-Migration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Heifetz-Diagnose, Sensemaking-Analyse, Report-Struktur-Prüfung – scharf anwenden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(40 MIN.) + KOLLEGIALE FALLBERATUNG (35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Eigener Fall – Report-nach-oben-Konzept für eine reale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Integriertes Report-Konzept für eine eigene aktuelle Unsicherheitssituation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Die fünf Bausteine – vollständig, nicht nur als Stichworte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Situation – Was ist unklar, für wen, welche Cues?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Herausforderungs-Typ – technisch, adaptiv oder beides?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C: Sensemaking-Botschaft ans Team – drei Sätze ohne Beschönigung.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D: Report nach oben – fünf Strukturelemente vollständig ausformuliert.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E: Doppelte Loyalität – persönliche Standortbestimmung.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 (12:20–12:40)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Transfer: Drei Aufgaben – und die Frage, die den Track schließt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Selbstverpflichtung + Abschlussimpuls des gesamten Führungs-Tracks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Unsicherheits-Diagnose – eine aktuelle Situation mit Heifetz und Weick analysieren.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Report nach oben schreiben – vollständig, mit allen fünf Elementen, absenden.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Doppelte Loyalität aktiv gestalten – nach oben eintreten, nach unten klar sein.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Ergebnisse in die nächste Teamleiter-Runde bringen – verbindlich (Termin jetzt eintragen).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für eine Führungskraft will ich sein – in der Unsicherheit?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TL00: Rollenwechsel – von der Einzelleistung zur Führungsleistung.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TL01–TL09: Ziele, Feedback, Konflikte, Veränderung – Einzelkompetenzen.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TL10: Alle Kompetenzen unter Druck – wenn der Kontext selbst unklar ist.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Dreyfus-Stufe 4: aus der Gesamtgestalt handeln, auch ohne vollständige Information.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Antwort auf diese Frage ist kein Zertifikat – sie ist eine Haltung, täglich neu.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