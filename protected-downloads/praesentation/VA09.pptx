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AB-2 Musterlösung (Trainer-Version)</a:t>
            </a:r>
          </a:p>
          <a:p>
            <a:r>
              <a:t>Hohe Relevanz: Möbel Musterregion (dauerhaft &gt; 90 % über 4 Monate = belastbar, akuter Erweiterungs-/Strukturbedarf) und Stahlbau Musterregion (Inhaber 63 ohne Nachfolge = strategisch hoher, zeitkritischer Anlass; Brücke zu M12/M24). Mittlere Relevanz: Dental Musterregion (1,2 Mio. EUR unbewegt = klarer Anlage-/Verbundanlass, aber weniger dringend). Kein Anlass: Gastro Musterregion – die hohe Dezemberzahlung ist saisonal (Weihnachtsgeschäft) erklärbar und damit Datenrauschen.</a:t>
            </a:r>
          </a:p>
          <a:p>
            <a:r>
              <a:t>Kernbefund: Der Co-Pilot liefert nicht möglichst viele, sondern die richtigen Anlässe – belastbar, relevant, entscheidungsreif aufbereitet. Das Aussortieren des saisonalen Rauschens ist genauso wertvoll wie das Erkennen der echten Anlässe.</a:t>
            </a:r>
          </a:p>
          <a:p>
            <a:r>
              <a:t>Trainer-Hinweis: Der Gastro-Fall ist die Lernpointe: Disziplin im Aussortieren schafft beim Berater Vertrauen in die Anlässe. Betonen Sie die Co-Pilot-Haltung – proaktiv, aber qualitätsbewusst. Datenzugriff/Auswertungen sind installationsabhängig; mit anonymisiertem Demo-Datensatz arbeiten (DSGVO).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VA09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Vertriebsanlässe erkennen und für den Berater aufbereiten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Aus Bestandsdaten Beratungschancen machen – die Co-Pilot-Rolle der Assistenz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K-A05 Vertriebsunterstützung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Co-Pilot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VA09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den Bestandsdaten Ihrer Bank stecken Vertriebsanlässe, die oft niemand hebt – ausgelastete Linien, auslaufende Verträge, ungenutzte Liquidität, Nachfolgesituationen.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Premium-Modul des Assistenz-Tracks lernen Sie, solche Anlässe systematisch zu erkennen, ihre Relevanz zu beurteilen und sie entscheidungsreif für den Berater aufzubereiten.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agieren Sie als Co-Pilot: Sie bringen Anlässe proaktiv ein, statt nur Aufträge abzuarbeiten.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VA09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Aus Bestands- und Engagementdaten typische Vertriebsanlässe (Trigger) erkennen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Einen Anlass nach Relevanz und Dringlichkeit für den Berater bewerten und priorisieren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Beurteilen, welche Anlässe echte Beratungschancen sind und welche nur Datenrauschen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Für den Berater eine entscheidungsreife Anlass-Aufbereitung (Kurzprofil und Empfehlung) erstellen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eigene Rolle als Co-Pilot beurteilen und Anlässe proaktiv einbringen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VA09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00:00–00:05 </a:t>
            </a:r>
            <a:r>
              <a:rPr sz="1500" b="1">
                <a:solidFill>
                  <a:srgbClr val="3D5466"/>
                </a:solidFill>
                <a:latin typeface="Arial"/>
              </a:rPr>
              <a:t>  Begrüßung &amp; Einstieg</a:t>
            </a:r>
            <a:r>
              <a:rPr sz="1200">
                <a:solidFill>
                  <a:srgbClr val="78808C"/>
                </a:solidFill>
                <a:latin typeface="Arial"/>
              </a:rPr>
              <a:t>  ·  Plenum, aktivierend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00:05–00:20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 1: Hausbankvorteil &amp; Anlasstypen</a:t>
            </a:r>
            <a:r>
              <a:rPr sz="1200">
                <a:solidFill>
                  <a:srgbClr val="78808C"/>
                </a:solidFill>
                <a:latin typeface="Arial"/>
              </a:rPr>
              <a:t>  ·  Kurzvortrag + aktivierendes Fragen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00:20–00:30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 2: Signal oder Rauschen?</a:t>
            </a:r>
            <a:r>
              <a:rPr sz="1200">
                <a:solidFill>
                  <a:srgbClr val="78808C"/>
                </a:solidFill>
                <a:latin typeface="Arial"/>
              </a:rPr>
              <a:t>  ·  Kurzvortrag + Diskussion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00:30–00:35 </a:t>
            </a:r>
            <a:r>
              <a:rPr sz="1500" b="1">
                <a:solidFill>
                  <a:srgbClr val="3D5466"/>
                </a:solidFill>
                <a:latin typeface="Arial"/>
              </a:rPr>
              <a:t>  Rollenklärung: Die Co-Pilot-Haltung</a:t>
            </a:r>
            <a:r>
              <a:rPr sz="1200">
                <a:solidFill>
                  <a:srgbClr val="78808C"/>
                </a:solidFill>
                <a:latin typeface="Arial"/>
              </a:rPr>
              <a:t>  ·  Plenum, Impuls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00:35–00:50 </a:t>
            </a:r>
            <a:r>
              <a:rPr sz="1500" b="1">
                <a:solidFill>
                  <a:srgbClr val="3D5466"/>
                </a:solidFill>
                <a:latin typeface="Arial"/>
              </a:rPr>
              <a:t>  AB-1 &amp; AB-2 Einzelarbeit</a:t>
            </a:r>
            <a:r>
              <a:rPr sz="1200">
                <a:solidFill>
                  <a:srgbClr val="78808C"/>
                </a:solidFill>
                <a:latin typeface="Arial"/>
              </a:rPr>
              <a:t>  ·  Einzelarbeit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00:50–01:05 </a:t>
            </a:r>
            <a:r>
              <a:rPr sz="1500" b="1">
                <a:solidFill>
                  <a:srgbClr val="3D5466"/>
                </a:solidFill>
                <a:latin typeface="Arial"/>
              </a:rPr>
              <a:t>  Plenumsbesprechung AB-1 &amp; AB-2</a:t>
            </a:r>
            <a:r>
              <a:rPr sz="1200">
                <a:solidFill>
                  <a:srgbClr val="78808C"/>
                </a:solidFill>
                <a:latin typeface="Arial"/>
              </a:rPr>
              <a:t>  ·  Moderierte Diskussion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01:05–01:15 </a:t>
            </a:r>
            <a:r>
              <a:rPr sz="1500" b="1">
                <a:solidFill>
                  <a:srgbClr val="3D5466"/>
                </a:solidFill>
                <a:latin typeface="Arial"/>
              </a:rPr>
              <a:t>  AB-3 &amp; AB-4 Einzel-/Partnerarbeit</a:t>
            </a:r>
            <a:r>
              <a:rPr sz="1200">
                <a:solidFill>
                  <a:srgbClr val="78808C"/>
                </a:solidFill>
                <a:latin typeface="Arial"/>
              </a:rPr>
              <a:t>  ·  Einzel-/Partnerarbeit +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01:15–01:25 </a:t>
            </a:r>
            <a:r>
              <a:rPr sz="1500" b="1">
                <a:solidFill>
                  <a:srgbClr val="3D5466"/>
                </a:solidFill>
                <a:latin typeface="Arial"/>
              </a:rPr>
              <a:t>  Reflexion &amp; Transfer</a:t>
            </a:r>
            <a:r>
              <a:rPr sz="1200">
                <a:solidFill>
                  <a:srgbClr val="78808C"/>
                </a:solidFill>
                <a:latin typeface="Arial"/>
              </a:rPr>
              <a:t>  ·  Plenumsgespräch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01:25–01:30 </a:t>
            </a:r>
            <a:r>
              <a:rPr sz="1500" b="1">
                <a:solidFill>
                  <a:srgbClr val="3D5466"/>
                </a:solidFill>
                <a:latin typeface="Arial"/>
              </a:rPr>
              <a:t>  Abschluss &amp; Ausblick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Theorie-Input: Anlässe und der Hausbankvorteil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Typische Anlasstypen: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VA09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Theorie-Input: Anlässe und der Hausbankvorteil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Signal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Möglicher Bedarf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Verbund/Produkt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Kreditlinie dauerhaft hoch ausgelastet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Erweiterung / Umstrukturierung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Kredit, Betriebsmittel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Zinsbindung läuft aus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Prolongation / Umschuldung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Kredit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Hohe, ungenutzte Liquidität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Anlage / Geldanlage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Union Investment, Festgeld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Inhaber 60+ ohne Nachfolge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Nachfolge / Bewertung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DZ Bank M&amp;A (→ M12/M24)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Investition angedeutet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Finanzierung / Förderung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KfW/L-Bank, Leasing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Umsatzwachstum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Working-Capital-Bedarf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Kontokorrent, Factoring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Theorie-Input: Signal oder Rauschen?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Praxishinweis: Erst die Einladung, dann die Anlässe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VA09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Praxisfall: Anlass-Screening im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Ausgangslage (anonymisiert)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Sie screenen ein Teilportfolio (VR-Bank Musterregion eG) auf Anlässe und finden: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Anlässe erkennen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Anleitung: Markieren Sie für jede Beobachtung den Anlasstyp und einen möglichen Bedarf.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Relevanz bewerten und priorisieren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VA09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Welchen Anlass in Ihrem Bestand haben Sie zuletzt gesehen, aber nicht weitergegeben – warum?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Woran erkennen Sie den Unterschied zwischen einem echten Signal und Rauschen?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 hält Sie davon ab, Anlässe proaktiv beim Berater einzubringen – und wie ändern Sie das?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