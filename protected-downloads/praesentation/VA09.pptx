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Agenda aus dem Ablaufplan (Sektion 3.1). Timing und Pausen siehe Trainerhandbuch.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Erwartungsabfrage: „Was ist für Sie ein guter Anlass – und wann nervt so ein Hinweis nur?" Relationship-Lending-Logik in drei Sätzen: die Hausbank sieht die Daten früher.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Anlasstypen-Tabelle zeigen, dann zwei Praxisbeispiele aus dem Plenum ergänzen lassen.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Leitfrage: „Wann macht ein guter Anlass den Berater froh – und wann kostet er nur Zeit?" Ein Nein bei einer der drei Fragen = Rauschen, nicht weitergeben.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Kernbotschaft: Gastro-Fall = Rauschen (Saisonalität), nicht weitergeben. Das Aussortieren ist genauso wertvoll wie das Erkennen.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Aufbereitungsstruktur je Anlass: Kurzprofil + Beleg (Datenpunkt) + Empfehlung/Gesprächsanlass + Timing. Ohne Verbundkenntnis bewusst nur den Gesprächsanlass statt eines Produktvorschlags formulieren.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AB-2/AB-3 Musterlösung (Trainer-Version)</a:t>
            </a:r>
          </a:p>
          <a:p>
            <a:r>
              <a:t>Stärkster Anlass: Stahlbau (Nachfolge, Inhaber 63) – als Nachfolge-Anlass markieren (Bewertung/Nachfolge, vgl. M12/M24). Gastro = Rauschen (Saisonalität).</a:t>
            </a:r>
          </a:p>
          <a:p>
            <a:r>
              <a:t>Trainer-Hinweis: Co-Pilot-Botschaft betonen – das Aussortieren ist genauso wertvoll wie das Erkennen.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VA09 ist das Abschlussmodul – kurzer Rückblick auf den Track und Ausblick auf den Co-Pilot-Selbstcheck. Transfer: Sec 5.1.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Fragen 1 und 3 je 3 Min. Karte „Vom Signal zum Anlass" (AB-5) übergeben.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01168"/>
            <a:ext cx="1081735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C8D2E6"/>
                </a:solidFill>
                <a:latin typeface="Consolas"/>
              </a:rPr>
              <a:t>FKB CAMPUS  ·  FIRMENKUNDENAKADEMIE  ·  VA09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8173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Arial"/>
              </a:rPr>
              <a:t>Vertriebsanlässe erkennen und für den Berater aufbereiten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977639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1">
                <a:solidFill>
                  <a:srgbClr val="BECDE6"/>
                </a:solidFill>
                <a:latin typeface="Arial"/>
              </a:rPr>
              <a:t>Aus Bestandsdaten Beratungschancen machen – die Co-Pilot-Rolle der Assistenz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5029200"/>
            <a:ext cx="10817352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5193792"/>
            <a:ext cx="36057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KOMPETENZFELD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394960"/>
            <a:ext cx="3605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K-A05 Vertriebsunterstützung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1584" y="5193792"/>
            <a:ext cx="36057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KOMPETENZSTUFE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1584" y="5394960"/>
            <a:ext cx="3605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Co-Pilot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97368" y="5193792"/>
            <a:ext cx="36057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VERSION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97368" y="5394960"/>
            <a:ext cx="3605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v1.0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6583680"/>
            <a:ext cx="540867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96A5BE"/>
                </a:solidFill>
                <a:latin typeface="Consolas"/>
              </a:rPr>
              <a:t>FKB Campus  · 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4476" y="6583680"/>
            <a:ext cx="540867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96A5BE"/>
                </a:solidFill>
                <a:latin typeface="Consolas"/>
              </a:rPr>
              <a:t>Trainer-Präsentation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ÜBERBLICK  ·  VA09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10817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2C56"/>
                </a:solidFill>
                <a:latin typeface="Arial"/>
              </a:rPr>
              <a:t>Worum geht es heute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972007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3D5466"/>
                </a:solidFill>
                <a:latin typeface="Arial"/>
              </a:rPr>
              <a:t>In den Bestandsdaten Ihrer Bank stecken Vertriebsanlässe, die oft niemand hebt – ausgelastete Linien, auslaufende Verträge, ungenutzte Liquidität, Nachfolgesituationen.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3D5466"/>
                </a:solidFill>
                <a:latin typeface="Arial"/>
              </a:rPr>
              <a:t>In diesem Premium-Modul des Assistenz-Tracks lernen Sie, solche Anlässe systematisch zu erkennen, ihre Relevanz zu beurteilen und sie entscheidungsreif für den Berater aufzubereiten.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3D5466"/>
                </a:solidFill>
                <a:latin typeface="Arial"/>
              </a:rPr>
              <a:t>Danach agieren Sie als Co-Pilot: Sie bringen Anlässe proaktiv ein, statt nur Aufträge abzuarbeiten.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VA09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LERNZIELE  ·  VA09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10817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2C56"/>
                </a:solidFill>
                <a:latin typeface="Arial"/>
              </a:rPr>
              <a:t>Was Sie heute mitnehmen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10817352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Aus Bestands- und Engagementdaten typische Vertriebsanlässe (Trigger) erkennen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Einen Anlass nach Relevanz und Dringlichkeit für den Berater bewerten und priorisieren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Beurteilen, welche Anlässe echte Beratungschancen sind und welche nur Datenrauschen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Für den Berater eine entscheidungsreife Anlass-Aufbereitung (Kurzprofil und Empfehlung) erstellen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Die eigene Rolle als Co-Pilot beurteilen und Anlässe proaktiv einbringen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VA09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AGENDA  ·  VA09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10817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2C56"/>
                </a:solidFill>
                <a:latin typeface="Arial"/>
              </a:rPr>
              <a:t>So läuft das Modul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63040"/>
            <a:ext cx="10817352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200">
                <a:solidFill>
                  <a:srgbClr val="78808C"/>
                </a:solidFill>
                <a:latin typeface="Consolas"/>
              </a:rPr>
              <a:t>00:00–00:05 </a:t>
            </a:r>
            <a:r>
              <a:rPr sz="1500" b="1">
                <a:solidFill>
                  <a:srgbClr val="3D5466"/>
                </a:solidFill>
                <a:latin typeface="Arial"/>
              </a:rPr>
              <a:t>  Begrüßung &amp; Einstieg</a:t>
            </a:r>
            <a:r>
              <a:rPr sz="1200">
                <a:solidFill>
                  <a:srgbClr val="78808C"/>
                </a:solidFill>
                <a:latin typeface="Arial"/>
              </a:rPr>
              <a:t>  ·  Plenum, aktivierend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200">
                <a:solidFill>
                  <a:srgbClr val="78808C"/>
                </a:solidFill>
                <a:latin typeface="Consolas"/>
              </a:rPr>
              <a:t>00:05–00:20 </a:t>
            </a:r>
            <a:r>
              <a:rPr sz="1500" b="1">
                <a:solidFill>
                  <a:srgbClr val="3D5466"/>
                </a:solidFill>
                <a:latin typeface="Arial"/>
              </a:rPr>
              <a:t>  Theorie-Input 1: Hausbankvorteil &amp; Anlasstypen</a:t>
            </a:r>
            <a:r>
              <a:rPr sz="1200">
                <a:solidFill>
                  <a:srgbClr val="78808C"/>
                </a:solidFill>
                <a:latin typeface="Arial"/>
              </a:rPr>
              <a:t>  ·  Kurzvortrag + aktivierendes Fragen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200">
                <a:solidFill>
                  <a:srgbClr val="78808C"/>
                </a:solidFill>
                <a:latin typeface="Consolas"/>
              </a:rPr>
              <a:t>00:20–00:30 </a:t>
            </a:r>
            <a:r>
              <a:rPr sz="1500" b="1">
                <a:solidFill>
                  <a:srgbClr val="3D5466"/>
                </a:solidFill>
                <a:latin typeface="Arial"/>
              </a:rPr>
              <a:t>  Theorie-Input 2: Signal oder Rauschen?</a:t>
            </a:r>
            <a:r>
              <a:rPr sz="1200">
                <a:solidFill>
                  <a:srgbClr val="78808C"/>
                </a:solidFill>
                <a:latin typeface="Arial"/>
              </a:rPr>
              <a:t>  ·  Kurzvortrag + Diskussion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200">
                <a:solidFill>
                  <a:srgbClr val="78808C"/>
                </a:solidFill>
                <a:latin typeface="Consolas"/>
              </a:rPr>
              <a:t>00:30–00:35 </a:t>
            </a:r>
            <a:r>
              <a:rPr sz="1500" b="1">
                <a:solidFill>
                  <a:srgbClr val="3D5466"/>
                </a:solidFill>
                <a:latin typeface="Arial"/>
              </a:rPr>
              <a:t>  Rollenklärung: Die Co-Pilot-Haltung</a:t>
            </a:r>
            <a:r>
              <a:rPr sz="1200">
                <a:solidFill>
                  <a:srgbClr val="78808C"/>
                </a:solidFill>
                <a:latin typeface="Arial"/>
              </a:rPr>
              <a:t>  ·  Plenum, Impuls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200">
                <a:solidFill>
                  <a:srgbClr val="78808C"/>
                </a:solidFill>
                <a:latin typeface="Consolas"/>
              </a:rPr>
              <a:t>00:35–00:50 </a:t>
            </a:r>
            <a:r>
              <a:rPr sz="1500" b="1">
                <a:solidFill>
                  <a:srgbClr val="3D5466"/>
                </a:solidFill>
                <a:latin typeface="Arial"/>
              </a:rPr>
              <a:t>  AB-1 &amp; AB-2 Einzelarbeit</a:t>
            </a:r>
            <a:r>
              <a:rPr sz="1200">
                <a:solidFill>
                  <a:srgbClr val="78808C"/>
                </a:solidFill>
                <a:latin typeface="Arial"/>
              </a:rPr>
              <a:t>  ·  Einzelarbeit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200">
                <a:solidFill>
                  <a:srgbClr val="78808C"/>
                </a:solidFill>
                <a:latin typeface="Consolas"/>
              </a:rPr>
              <a:t>00:50–01:05 </a:t>
            </a:r>
            <a:r>
              <a:rPr sz="1500" b="1">
                <a:solidFill>
                  <a:srgbClr val="3D5466"/>
                </a:solidFill>
                <a:latin typeface="Arial"/>
              </a:rPr>
              <a:t>  Plenumsbesprechung AB-1 &amp; AB-2</a:t>
            </a:r>
            <a:r>
              <a:rPr sz="1200">
                <a:solidFill>
                  <a:srgbClr val="78808C"/>
                </a:solidFill>
                <a:latin typeface="Arial"/>
              </a:rPr>
              <a:t>  ·  Moderierte Diskussion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200">
                <a:solidFill>
                  <a:srgbClr val="78808C"/>
                </a:solidFill>
                <a:latin typeface="Consolas"/>
              </a:rPr>
              <a:t>01:05–01:15 </a:t>
            </a:r>
            <a:r>
              <a:rPr sz="1500" b="1">
                <a:solidFill>
                  <a:srgbClr val="3D5466"/>
                </a:solidFill>
                <a:latin typeface="Arial"/>
              </a:rPr>
              <a:t>  AB-3 &amp; AB-4 Einzel-/Partnerarbeit</a:t>
            </a:r>
            <a:r>
              <a:rPr sz="1200">
                <a:solidFill>
                  <a:srgbClr val="78808C"/>
                </a:solidFill>
                <a:latin typeface="Arial"/>
              </a:rPr>
              <a:t>  ·  Einzel-/Partnerarbeit + Plenum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200">
                <a:solidFill>
                  <a:srgbClr val="78808C"/>
                </a:solidFill>
                <a:latin typeface="Consolas"/>
              </a:rPr>
              <a:t>01:15–01:25 </a:t>
            </a:r>
            <a:r>
              <a:rPr sz="1500" b="1">
                <a:solidFill>
                  <a:srgbClr val="3D5466"/>
                </a:solidFill>
                <a:latin typeface="Arial"/>
              </a:rPr>
              <a:t>  Reflexion &amp; Transfer</a:t>
            </a:r>
            <a:r>
              <a:rPr sz="1200">
                <a:solidFill>
                  <a:srgbClr val="78808C"/>
                </a:solidFill>
                <a:latin typeface="Arial"/>
              </a:rPr>
              <a:t>  ·  Plenumsgespräch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200">
                <a:solidFill>
                  <a:srgbClr val="78808C"/>
                </a:solidFill>
                <a:latin typeface="Consolas"/>
              </a:rPr>
              <a:t>01:25–01:30 </a:t>
            </a:r>
            <a:r>
              <a:rPr sz="1500" b="1">
                <a:solidFill>
                  <a:srgbClr val="3D5466"/>
                </a:solidFill>
                <a:latin typeface="Arial"/>
              </a:rPr>
              <a:t>  Abschluss &amp; Ausblick</a:t>
            </a:r>
            <a:r>
              <a:rPr sz="1200">
                <a:solidFill>
                  <a:srgbClr val="78808C"/>
                </a:solidFill>
                <a:latin typeface="Arial"/>
              </a:rPr>
              <a:t>  ·  Plenum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VA09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D9C089"/>
                </a:solidFill>
                <a:latin typeface="Consolas"/>
              </a:rPr>
              <a:t>00:05–00:20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788920"/>
            <a:ext cx="548640" cy="381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017520"/>
            <a:ext cx="108173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Theorie-Input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480560"/>
            <a:ext cx="865388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2E6"/>
                </a:solidFill>
                <a:latin typeface="Arial"/>
              </a:rPr>
              <a:t>Den Hausbankvorteil nutzen – die typischen Vertriebsanlässe kennen.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8CA0C3"/>
                </a:solidFill>
                <a:latin typeface="Consolas"/>
              </a:rPr>
              <a:t>FKB Campus  ·  VA09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VA09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Der Hausbankvorteil: Signale früh sehen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7800" indent="-177800">
              <a:spcBef>
                <a:spcPts val="600"/>
              </a:spcBef>
              <a:spcAft>
                <a:spcPts val="200"/>
              </a:spcAft>
            </a:pPr>
            <a:r>
              <a:rPr sz="1200" i="1">
                <a:solidFill>
                  <a:srgbClr val="3D5466"/>
                </a:solidFill>
                <a:latin typeface="Arial"/>
              </a:rPr>
              <a:t>→  Relationship Lending (Petersen &amp; Rajan, 1994): Die Hausbank sieht die Daten früher als jeder Wettbewerber – der Innendienst ist das Frühwarnsystem.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Jedes Signal steht für einen möglichen Bedarf und ein passendes Verbundprodukt.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Beispiele: dauerhaft ausgelastete Linie, auslaufende Zinsbindung, ungenutzte Liquidität, Inhaber 60+ ohne Nachfolge.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Der Innendienst erkennt das Signal – der Berater führt das Gespräch.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VA09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VA09  ·  SCHAUBILD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817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2C56"/>
                </a:solidFill>
                <a:latin typeface="Arial"/>
              </a:rPr>
              <a:t>Vertriebsanlässe: das Signal und der Bedarf dahinter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143000"/>
            <a:ext cx="10817352" cy="254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9463" y="1325880"/>
            <a:ext cx="8170026" cy="49377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VA09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6211" y="6583680"/>
            <a:ext cx="43269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A0B4D2"/>
                </a:solidFill>
                <a:latin typeface="Consolas"/>
              </a:rPr>
              <a:t>Schaubild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D9C089"/>
                </a:solidFill>
                <a:latin typeface="Consolas"/>
              </a:rPr>
              <a:t>00:20–00:35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788920"/>
            <a:ext cx="548640" cy="381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017520"/>
            <a:ext cx="108173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Theorie-Input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480560"/>
            <a:ext cx="865388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2E6"/>
                </a:solidFill>
                <a:latin typeface="Arial"/>
              </a:rPr>
              <a:t>Signal von Rauschen trennen – und die Co-Pilot-Haltung einnehmen.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8CA0C3"/>
                </a:solidFill>
                <a:latin typeface="Consolas"/>
              </a:rPr>
              <a:t>FKB Campus  ·  VA09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VA09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Signal oder Rauschen?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7800" indent="-177800">
              <a:spcBef>
                <a:spcPts val="600"/>
              </a:spcBef>
              <a:spcAft>
                <a:spcPts val="200"/>
              </a:spcAft>
            </a:pPr>
            <a:r>
              <a:rPr sz="1200" i="1">
                <a:solidFill>
                  <a:srgbClr val="3D5466"/>
                </a:solidFill>
                <a:latin typeface="Arial"/>
              </a:rPr>
              <a:t>→  Das Aussortieren ist genauso wertvoll wie das Erkennen – der Innendienst reicht kein Datenrauschen weiter.</a:t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800" b="1">
                <a:solidFill>
                  <a:srgbClr val="78808C"/>
                </a:solidFill>
                <a:latin typeface="Consolas"/>
              </a:rPr>
              <a:t>DREI PRÜFFRAGEN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Dauerhaft? – oder nur ein einmaliger, saisonaler Ausschlag (z. B. Weihnachtsgeschäft).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Situationspassend? – passt der Bedarf wirklich zu diesem Kunden?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Jetzt relevant? – ist der Zeitpunkt für ein Gespräch richtig?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Co-Pilot-Haltung: proaktiv statt reaktiv – aber einmal fragen schützt vor Abwehrreaktionen.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VA09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VA09  ·  SCHAUBILD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817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2C56"/>
                </a:solidFill>
                <a:latin typeface="Arial"/>
              </a:rPr>
              <a:t>Signal oder Rauschen?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143000"/>
            <a:ext cx="10817352" cy="254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9463" y="1325880"/>
            <a:ext cx="8170026" cy="49377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VA09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6211" y="6583680"/>
            <a:ext cx="43269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A0B4D2"/>
                </a:solidFill>
                <a:latin typeface="Consolas"/>
              </a:rPr>
              <a:t>Schaubild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D9C089"/>
                </a:solidFill>
                <a:latin typeface="Consolas"/>
              </a:rPr>
              <a:t>00:35–01:15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788920"/>
            <a:ext cx="548640" cy="381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017520"/>
            <a:ext cx="108173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Fallübergabe &amp; Fallarbeit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480560"/>
            <a:ext cx="865388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2E6"/>
                </a:solidFill>
                <a:latin typeface="Arial"/>
              </a:rPr>
              <a:t>Vier Kundenprofile screenen – drei entscheidungsreife Anlässe statt dreißig vager.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8CA0C3"/>
                </a:solidFill>
                <a:latin typeface="Consolas"/>
              </a:rPr>
              <a:t>FKB Campus  ·  VA09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VA09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Praxisfall: Anlass-Screening im Portfolio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800" b="1">
                <a:solidFill>
                  <a:srgbClr val="78808C"/>
                </a:solidFill>
                <a:latin typeface="Consolas"/>
              </a:rPr>
              <a:t>VIER KUNDENPROFILE AUF IHREM TISCH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Stahlbau Musterregion GmbH: Inhaber 63, keine Nachfolge dokumentiert.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Gastro Musterregion GmbH: einmalige hohe Zahlung im Dezember (saisonales Weihnachtsgeschäft).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Weitere Profile mit ausgelasteter Linie bzw. ungenutzter Liquidität.</a:t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800" b="1">
                <a:solidFill>
                  <a:srgbClr val="78808C"/>
                </a:solidFill>
                <a:latin typeface="Consolas"/>
              </a:rPr>
              <a:t>IHRE AUFGABE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Screenen Sie auf Anlässe, bewerten Sie die Relevanz und bereiten Sie den stärksten Anlass entscheidungsreif auf.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VA09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VA09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Handlungsempfehlung: filtern und aufbereiten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7800" indent="-177800">
              <a:spcBef>
                <a:spcPts val="600"/>
              </a:spcBef>
              <a:spcAft>
                <a:spcPts val="200"/>
              </a:spcAft>
            </a:pPr>
            <a:r>
              <a:rPr sz="1200" i="1">
                <a:solidFill>
                  <a:srgbClr val="3D5466"/>
                </a:solidFill>
                <a:latin typeface="Arial"/>
              </a:rPr>
              <a:t>→  Wenn eine Kreditlinie dauerhaft über 90 % ausgelastet ist — dann als Erweiterungs-/Strukturanlass aufbereiten und dem Berater vorlegen.</a:t>
            </a:r>
          </a:p>
          <a:p>
            <a:pPr marL="177800" indent="-177800">
              <a:spcBef>
                <a:spcPts val="600"/>
              </a:spcBef>
              <a:spcAft>
                <a:spcPts val="200"/>
              </a:spcAft>
            </a:pPr>
            <a:r>
              <a:rPr sz="1200" i="1">
                <a:solidFill>
                  <a:srgbClr val="3D5466"/>
                </a:solidFill>
                <a:latin typeface="Arial"/>
              </a:rPr>
              <a:t>→  Wenn ein Ausschlag einmalig oder saisonal erklärbar ist — dann als Datenrauschen einordnen und nicht als Anlass weitergeben.</a:t>
            </a:r>
          </a:p>
          <a:p>
            <a:pPr marL="177800" indent="-177800">
              <a:spcBef>
                <a:spcPts val="600"/>
              </a:spcBef>
              <a:spcAft>
                <a:spcPts val="200"/>
              </a:spcAft>
            </a:pPr>
            <a:r>
              <a:rPr sz="1200" i="1">
                <a:solidFill>
                  <a:srgbClr val="3D5466"/>
                </a:solidFill>
                <a:latin typeface="Arial"/>
              </a:rPr>
              <a:t>→  Wenn der Berater vier Wochen nicht auf Anlässe eingeht — dann ein Check-in-Gespräch führen: nützlich, oder Fokus/Format anpassen?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VA09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VA09  ·  ARBEITSBLATT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Praxisfall bearbeiten: vom Signal zum Anlass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554480"/>
            <a:ext cx="1081735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Screenen Sie die vier Kundenprofile auf Anlasstypen (AB-1).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Bewerten Sie die Relevanz mit den drei Prüffragen (AB-2).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Begründen Sie Ihre Signal-/Rauschen-Entscheidung je Fall (AB-3).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Erstellen Sie für den stärksten Anlass eine entscheidungsreife Aufbereitung (AB-4) – Karte AB-5 als Werkzeug.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5486400"/>
            <a:ext cx="10817352" cy="64008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596128"/>
            <a:ext cx="10451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→  Bearbeitung im Teilnehmer-Workbook (Arbeitsblatt mit Ausfüllfeldern)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VA09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VA09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Prinzip dieses Moduls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7800" indent="-177800">
              <a:spcBef>
                <a:spcPts val="600"/>
              </a:spcBef>
              <a:spcAft>
                <a:spcPts val="200"/>
              </a:spcAft>
            </a:pPr>
            <a:r>
              <a:rPr sz="1200" i="1">
                <a:solidFill>
                  <a:srgbClr val="3D5466"/>
                </a:solidFill>
                <a:latin typeface="Arial"/>
              </a:rPr>
              <a:t>→  Ein guter Anlass wird aufbereitet, kein Datenrauschen weitergereicht.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Der Innendienst filtert die echte Beratungschance heraus und legt sie dem Berater entscheidungsreif vor.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VA09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VA09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Reflexionsfragen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Welchen Anlass in Ihrem Portfolio würden Sie morgen früh als ersten aufbereiten?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Wo haben Sie zuletzt Datenrauschen für einen Anlass gehalten – oder umgekehrt?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Was bringen Sie aus diesem Track als Erstes in Ihr Team ein?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VA09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