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NMZ-Optimierung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Nettomargenziffer im Firmenkundenbestand messen, verstehen und systematisch verbessern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K-04 Vertrieb &amp; Ertragsoptimierung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Berater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Ein erheblicher Teil der Beraterzeit fließt in Administration statt in Kundenkontakt.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analysieren Ihre eigene Nettomarktzeit, identifizieren die größten Zeitfresser und entwickeln konkrete Gegenmaßnahmen.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gewinnen Sie messbar Zeit für das, was Ertrag bringt: das Kundengespräch.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Erklären, was die Nettomargenziffer (NMZ) misst, wie sie berechnet wird und warum sie die zentrale Steuerungsgröße im VR-Firmenkundensegment ist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Unterschiede zwischen NMZ auf Einzel-, Segment- und Bestandsebene erläutern und die eigene NMZ in den internen Benchmark einordnen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NMZ-Berichte in agree lesen und die drei Kunden mit dem größten Verbesserungspotenzial im eigenen Bestand identifizieren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Für jeden identifizierten Kunden mind. eine konkrete NMZ-Verbesserungsmaßnahme ableiten und den Hebel begründen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NMZ-Struktur des Gesamtbestands nach Ertragskomponenten analysieren und das dominante Schwachfeld benennen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00:05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Folie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00:20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agree-Demo</a:t>
            </a:r>
            <a:r>
              <a:rPr sz="900">
                <a:solidFill>
                  <a:srgbClr val="78808C"/>
                </a:solidFill>
                <a:latin typeface="Arial"/>
              </a:rPr>
              <a:t>  ·  Demo am Beamer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00:30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–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00:35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Einzelübung I</a:t>
            </a:r>
            <a:r>
              <a:rPr sz="900">
                <a:solidFill>
                  <a:srgbClr val="78808C"/>
                </a:solidFill>
                <a:latin typeface="Arial"/>
              </a:rPr>
              <a:t>  ·  agree-Einzelarbeit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01:03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Partnercheck</a:t>
            </a:r>
            <a:r>
              <a:rPr sz="900">
                <a:solidFill>
                  <a:srgbClr val="78808C"/>
                </a:solidFill>
                <a:latin typeface="Arial"/>
              </a:rPr>
              <a:t>  ·  2er-Teams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01:06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Einzelübung II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01:23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Blitzlicht-Runde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01:35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 &amp;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Einzeln schriftlich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01:40  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Ende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NMZ (%) = Deckungsbeitrag II × 100 / Kreditvolumen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Sie ist damit die auf das Volumen normierte Version des Kundendeckungsbeitrags (M14), was Vergleiche zwischen Kunden unterschiedlicher Größe erst möglich macht.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Warum die NMZ dem DB überlegen 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Rolfes (1999 ) betont, dass Banken ohne normierte Ertragskennzahlen systematisch Kapital in renditeschwache Engagements lenken, weil die absoluten Beträge groß aussehen.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4.2 Die NMZ-Komponenten im Detail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NMZ wird von vier Treibern bewegt – jeder Treiber entspricht einem Hebel für die Optimierung: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4.3 NMZ-Berichte in agree lesen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M16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Nettomargenbeitrag NMZ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1" y="1325880"/>
            <a:ext cx="7861110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Wo finde ich meine NMZ-Daten?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 agree (Atruvia) stehen NMZ-relevante Auswertungen über folgende Einstiegspunkte zur Verfügung: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Leseübung: NMZ-Ranking interpretieren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Stellen Sie sich vor, Ihr Bestand zeigt folgendes NMZ-Ranking (Auszug):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Sofortmaßnahmen aus diesem Ranking: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Huber Bau GmbH (0,30 %): Rating prüfen, Besicherung optimieren, Verbund aktivieren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Fischer Transport (−0,30 %): Konditionengespräch unverzüglich, Exit-Prüfung falls keine Verbesserung möglich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4.4 Der NMZ-Optimierungsprozess: 3 Schritte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Schritt 1: Identifizieren (monatlich, 30 Minuten)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Einmal im Monat: agree-NMZ-Ranking aufrufen. Die fünf Kunden mit der niedrigsten NMZ markieren. Für jeden prüfen: Was ist die Hauptursache? (Marge? Kein Verbund? Rating? Betreuungskosten?)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Schritt 2: Priorisieren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Nicht alle fünf auf einmal angehen. Priorisierung nach zwei Kriterien: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Potenzial der Verbesserung: Wie stark könnte sich die NMZ verbessern?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Hebelverfügbarkeit: Wie schnell und einfach lässt sich der Hebel aktivieren?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Einfache Priorisierungsmatrix: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M16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Schritt 2: Priorisieren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5784"/>
                <a:gridCol w="3605784"/>
                <a:gridCol w="3605784"/>
              </a:tblGrid>
              <a:tr h="384048">
                <a:tc>
                  <a:txBody>
                    <a:bodyPr/>
                    <a:lstStyle/>
                    <a:p/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Schnell umsetzbar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Langfristig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Hohes Verbesserungspotenzial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Sofort angehen (Prio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Mittelfristig planen (Prio 2)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Niedriges Verbesserungspotenzial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Opportunistisch (Prio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Deprioritisieren (Prio 4)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Schritt 3: Handeln und dokumentieren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Für jeden Prio-1-Kunden: konkrete Maßnahme definieren, Termin setzen, in agree dokumentieren. Die Maßnahme muss einem der vier NMZ-Hebel zugeordnet sein: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Zinshebel: Konditionengespräch vorbereiten (→ M14)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Verbundhebel: Verbundpartner-Termin vereinbaren (→ M13)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Risikohebel: Rating-Gespräch, Besicherungsoptimierung (gemeinsam mit Marktfolge/Kredit)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Kostenhebel: Betreuungsintensität überprüfen (Führungsgespräch)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Stichwort-Leitfaden: Margenverteidigung im Konditionsgespräch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Das Ablesen der NMZ ist der einfache Teil. Das Gespräch mit dem Kunden über eine Margenanpassung ist der schwierige. Drei praxiserprobte Argumentationslinien: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## 4.5 Praxiscase: Felix Braun optimiert seinen Bestand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Ausgangssituation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Analyse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Felix ruft das Bestandsranking auf. Er sieht sofort: Sieben Kunden haben eine NMZ unter 0,5 %, davon zwei mit negativem DB. Die Hauptursache variiert: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Felix priorisiert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M16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Schritt 3: Handeln und dokumentieren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2704338"/>
                <a:gridCol w="2704338"/>
                <a:gridCol w="270433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Kunde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NMZ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Hauptursache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Hebel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Metzger GmbH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−0,20 %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Rating D, Marge 1,10 %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Rating / Exit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Bau Franz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0,22 %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Niedrige Marge (0,95 %), kein Verbund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Verbund + Zins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Holz Meier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0,38 %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Hohe Betreuungskosten (22 Std.)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Kostenhebel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Auto König GmbH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0,41 %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Kein Verbund (R+V, UI beide offen)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Verbund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Druck Schmidt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0,45 %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Laufende Linie hoch ausgenutzt (EAD↑)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Besicherung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AB-1: Mein NMZ-Bestandsbild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Dominantes Schwachfeld in meinem Bestand: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Zinsmarge zu niedrig  ☐ Verbundgeschäft fehlt  ☐ Risikokosten zu hoch  ☐ Betreuungskosten zu hoch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M16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AB-1: Mein NMZ-Bestandsbild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470"/>
                <a:gridCol w="2163470"/>
                <a:gridCol w="2163470"/>
                <a:gridCol w="2163470"/>
                <a:gridCol w="2163472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Rang (von unten)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Kunde (anonymisiert)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NMZ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Hauptursache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Hebel</a:t>
                      </a:r>
                    </a:p>
                  </a:txBody>
                  <a:tcPr>
                    <a:solidFill>
                      <a:srgbClr val="1F2C5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M16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AB-2: Maßnahmenplan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Mein Ziel für die nächsten 90 Tage: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