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Einstiegsfrage: „Was nervt Sie am meisten, wenn Sie als Kundin oder Kunde anrufen?" Antworten am Flipchart sammeln, dann am Fallbeispiel demonstrieren.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Beispielaussage des Geschäftsführers auf allen vier Seiten durchspielen. AB-1 kurz vorstellen, noch nicht ausfüllen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 an die Gruppe: „Welche dieser vier verletzen Sie am häufigsten – und warum?" Praxishinweis Auskunftspolitik/Schweigepflicht (DSGVO, Bankgeheimnis) einbetten.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Anruf zuerst auf den vier Seiten analysieren (AB-1), dann das Gespräch entlang der vier Schritte strukturieren (AB-2). Kurzrollenspiele mit rotierenden Rollen.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Empathie klingt nur aufgesetzt, wenn die Formulierung nicht der eigenen Sprache entspricht. Musterformulierungen aus AB-5 nicht wörtlich übernehmen – Prüffrage: Würden Sie den Satz auch zu einer guten Freundin sagen, die sich ärgert?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Guter Ablauf: 1. Melden, 2. Ärger anerkennen und ausreden lassen, 3. Sachlage ehrlich (Unterlage fehlt), 4. konkreter Termin + Rückruf zusagen.</a:t>
            </a:r>
          </a:p>
          <a:p>
            <a:r>
              <a:t>Trainer-Hinweis: beobachten, wann zu früh zur Sache gewechselt wird. Formulierungshemmung bei Schritt 2 als normalen Lernschritt einordnen, nicht als Defizit.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Transfer-Anker direkt: Sec 5.1 öffnen lassen und den ersten realen Fall sofort eintragen. Ausblick VA06 – Terminvor- und -nachbereitung.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kurz in der Gruppe. Karte AB-5 als Schreibtisch-Werkzeug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Professionell am Telefon und im Schriftverkehr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Klar, freundlich und serviceorientiert kommunizieren im Firmenkunden-Innendienst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K-A03 Kundenkommunikation Innendienst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Sachbearbeitung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Der Innendienst ist oft die erste Stimme und die erste Zeile, die der Firmenkunde erlebt – am Telefon und in Mails entsteht hier ein großer Teil des Serviceeindrucks.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lernen Sie, wie Kommunikation wirkt (vier Seiten einer Nachricht, Beziehungs- vor Sachebene) und woran Kunden gute Servicequalität festmachen.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führen Sie Telefonate strukturiert, formulieren klare und freundliche Schreiben und reagieren auch in schwierigen Situationen souverän.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vier Seiten einer Nachricht und die Unterscheidung von Inhalts- und Beziehungsebene an einem Beispiel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Dimensionen guter Servicequalität auf die Innendienst-Kommunikation übertragen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Kundentelefonat strukturiert führen (Annahme, Anliegen klären, Zusage, Abschluss)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Kundenmail klar, freundlich und vollständig formulieren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In einer schwierigen Situation (Beschwerde, Verzögerung) deeskalierend und serviceorientiert reagieren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Plenum, aktivierend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Kommunikation verstehen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Servicequalität im Innendienst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in Einzelarbeit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00:50–01:10 </a:t>
            </a:r>
            <a:r>
              <a:rPr sz="1500" b="1">
                <a:solidFill>
                  <a:srgbClr val="3D5466"/>
                </a:solidFill>
                <a:latin typeface="Arial"/>
              </a:rPr>
              <a:t>  Kurzrollenspiele AB-2</a:t>
            </a:r>
            <a:r>
              <a:rPr sz="1200">
                <a:solidFill>
                  <a:srgbClr val="78808C"/>
                </a:solidFill>
                <a:latin typeface="Arial"/>
              </a:rPr>
              <a:t>  ·  Rollenspiel + moderierte Reflexion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01:10–01:18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AB-3: Mail formulieren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01:18–01:25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AB-4: Deeskalation + Reflexion + Transfer-Anker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Kommunikation verstehen – jede Nachricht hat vier Seiten.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Erst die Beziehung, dann die Sache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Jede Äußerung enthält vier Botschaften (Schulz von Thun). Reagieren Sie zuerst auf die Beziehungsebene, dann auf den Sachinhalt (Watzlawick).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Sachinhalt, Selbstoffenbarung, Beziehung und Appell schwingen in jedem Satz mit.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verärgerter Anruf ist selten Sachkritik – meist geht es um die Beziehungsebene.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zuerst Verständnis zeigt, entschärft den Ärger, bevor er die Sachlage erklärt.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vier Seiten einer Nachricht (Schulz von Thun)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Servicequalität im Innendienst – vier Dimensionen, die der Kunde spürt.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Servicequalität: was der Kunde bewertet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Zuverlässigkeit ist die wichtigste Servicedimension – Kunden reagieren auf eingehaltene Zusagen sensibler als auf jeden anderen Qualitätsindikator (Parasuraman et al., 1988).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VIER SERVQUAL-DIMENSIONEN FÜR DEN INNENDIENST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Zuverlässigkeit – Zusagen einhalten; was vereinbart ist, passiert.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Reaktionsfähigkeit – schnell erreichbar sein, zeitnah zurückrufen und antworten.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Leistungskompetenz – fachlich sicher und verständlich Auskunft geben.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Einfühlung – individuell auf das Anliegen eingehen, zuhören.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Das Servicetelefonat in vier Schritten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verärgerter Anruf und eine Mail mit drei Fragen – wie reagieren Sie?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Ein Anruf und eine 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ZWEI VORGÄNGE, ELEKTRO MUSTERREGION GMBH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Telefon: Der Geschäftsführer ruft verärgert an – „Ist die Darlehenszusage immer noch nicht durch? Ich warte seit über einer Woche!" Sie wissen: eine Unterlage fehlt, der Berater ist im Termin.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Mail: Eine Mitarbeiterin schreibt drei Fragen – Stand der Zusage, benötigte Unterlagen, möglicher Auszahlungstermin.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Reagieren Sie auf beides: erst das Telefonat strukturieren, dann die Mail klar und serviceorientiert beantworten.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Beziehung vor Sache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 Kunde verärgert anruft — dann zuerst zuhören und Verständnis zeigen, erst danach die Sachlage erklären (Beziehung vor Sache).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offene Zusage im Raum steht — dann proaktiv einen realistischen Termin und den nächsten Schritt nennen (Zuverlässigkeit).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Mail mehrere Fragen enthält — dann jede Frage sichtbar einzeln beantworten, in der Reihenfolge der Mail.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Telefonat und 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Analysieren Sie die Aussage des Geschäftsführers auf den vier Seiten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Strukturieren Sie das Telefonat entlang der vier Schritte und spielen Sie es im Paar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Formulieren Sie die Antwortmail an die Mitarbeiterin – klar, freundlich, vollständig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Finden Sie den ersten deeskalierenden Satz für ein zweites Szenario (AB-4) – 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Am Telefon zählt nicht nur, was du sagst, sondern wie es ankommt.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Inhalts- und Beziehungsebene trennen; ein strukturiertes, freundliches Gespräch ist gelebter Kundenservice.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der vier SERVQUAL-Dimensionen verletzen Sie im Alltag am häufigsten – und was wäre die kleinste Änderung?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erste Satz zeigt einem verärgerten Kunden, dass Sie ihn ernst nehmen?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merken Sie selbst, dass Sie zu früh von der Beziehung zur Sache gewechselt sind?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