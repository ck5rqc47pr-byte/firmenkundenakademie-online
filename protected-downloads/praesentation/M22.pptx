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Provokanter Fall-Teaser: solide Zahlen ≠ sichere Kreditentscheidung. „Was fehlt für die Entscheidung?"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Wenn alle fünf Kräfte ähnlich bewertet werden, gezielt nachfragen, welche wirklich dominiert.</a:t>
            </a:r>
          </a:p>
          <a:p>
            <a:r>
              <a:t>Moderation (HB Sec 3): Methode: Problembasiertes Lernen in Kleingruppen (Barrows, 1986) Fallblatt Haller GmbH austeilen, 2 Minuten Lesezeit, dann AB-1 austeilen. Aufgabenstellung (Trainer liest vor): „Analysieren Sie die Wettbewerbssituation der Haller GmbH mit dem Five-Forces-Modell. Bewerten Sie jede Kraft von 1 (gering) bis 3 (hoch). Bestimmen Sie: Welche generische Strategie verfolgt Haller — oder ist das Unternehmen stuck in the middle? Begründen Sie." Gruppen: 3–4 Personen, 20 Minuten Arbeitszeit. Trainer-Runde durch den Raum (ab Minute 5):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Haller ist ein Differenzierer (Präzision) – aber mit einem Klumpenrisiko, das die Position gefährdet.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 Haller sofort sichtbar: ein Kundensegment trägt 60 % – das Modell steht auf einem Bein.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Haller: Stärke Präzision/Reputation, Schwäche Kundenkonzentration + fehlende Nachfolge trifft auf Risiko Konjunktur/Maschinenbau.</a:t>
            </a:r>
          </a:p>
          <a:p>
            <a:r>
              <a:t>Moderation (HB Sec 3): Gleiche Gruppen. AB-2 und AB-3 gleichzeitig austeilen. Zeitfenster: 30 Minuten (25 Min. Arbeit, 5 Min. Trainer-Rundgang und Abschluss). Für Gruppen mit Einsteiger-Profil: Eine zu 50 % ausgefüllte SWOT (AB-2) ist akzeptabel – das Krediturteil (AB-3) hat Priorität. AB-2 SWOT: Ergebnisse aus Five Forces in SWOT-Raster übertragen; explizit: „Markieren Sie die drei größten Red Flags für das Kreditvotum." Schnelle Teilnehmer (Zusatzaufgabe): Wer AB-3 früh fertig hat, erhält mündlich (oder über den AB-3-Erweiterungskasten): „Szenario: Haller plant statt des Betriebsmittelkredits ein Investitionsdarlehen über 1,2 Mio. EUR für neue CNC-Maschinen. Was ändert sich an Ihrer qualitativen Einschätzung – und was bleibt? Formulieren Sie einen Satz fürs Kreditvotum unter dieser Annahme." AB-3 Krediturteil: Formulierung in max. 5 Sätzen mit: 1. Strategische Positionierung (max. 2 Sätze) 2. Identifizierte Risikofaktoren mit Fallbezug (1–2 Sätze) 3. Kreditempfehlung mit Bedingung oder Vorbehalt (1 Satz) Häufiger Fehler: Empfehlung ohne Begründung oder Risiken ohne Strategiebezug. Korrekturimpuls: „Ihr Kreditausschuss fragt: Woher wissen Sie das? — Was ist Ihre Antwort?"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Hallers Präzisions-Know-how ist stark, aber am 63-jährigen GF hängend – Ressource mit Ablaufdatum.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Zahlen sind solide – die beiden entscheidenden Risiken (Klumpen, Nachfolge) stehen in keiner Kennzahl.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Kernbefund: solide Zahlen, aber zwei existenzielle qualitative Risiken (60 %-Klumpen, Nachfolge). Empfehlung: Kredit mit Auflagen (Diversifizierung, Nachfolgeplanung) statt reiner Zahlenfreigabe.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Karte verbindet erkanntes Signal, passendes Framework und konkrete Kreditmaßnahme – das Werkzeug für den Alltag.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Transferaufgabe: Five Forces auf einen eigenen Bestandskunden anwenden.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Geschäftsmodell &amp; Strategie bewerten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Strategische Unternehmensanalyse als Kern der Kreditwürdigkeitsbeurteilung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Bilanz erklärt die Vergangenheit – ob der Kredit zurückgezahlt wird, entscheidet das Geschäftsmodell.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vier Strategie-Frameworks (Five Forces, generische Strategien, Business Model Canvas, SWOT) als Werkzeuge der qualitativen Kreditwürdigkeitsanalyse.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strategische Risiken wie Stuck-in-the-Middle oder Klumpenrisiken und übersetzen sie in fundierte Kreditempfehlungen.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Analyseinstrumente (Five Forces, Business Model Canvas, SWOT) auf ein KMU-Fallbeispiel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Stärken, Schwächen und strategische Abhängigkeiten eines Unternehmens analysieren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Risikofaktoren (Klumpenrisiken, Nachfolge, Wettbewerbsdruck) von Stabilitätssignalen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strategische Position eines Unternehmens hinsichtlich seiner mittelfristigen Kreditwürdigkeit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Befunde strukturiert in einer Kreditvorlage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Porters generische Wettbewerbsstrategien (Kostenführerschaft, Differenzierung, Fokus) identifizieren und das Stuck-in-the-Middle-Risiko eines KMU beurteilen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0–10 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Blitzlicht,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10–30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</a:t>
            </a:r>
            <a:r>
              <a:rPr sz="1200">
                <a:solidFill>
                  <a:srgbClr val="78808C"/>
                </a:solidFill>
                <a:latin typeface="Arial"/>
              </a:rPr>
              <a:t>  ·  Trainer-Input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30–55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Gruppenarbeit AB-1</a:t>
            </a:r>
            <a:r>
              <a:rPr sz="1200">
                <a:solidFill>
                  <a:srgbClr val="78808C"/>
                </a:solidFill>
                <a:latin typeface="Arial"/>
              </a:rPr>
              <a:t>  ·  Problembasiertes Lernen, Kleingruppen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55–65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Plenumspräsentation AB-1</a:t>
            </a:r>
            <a:r>
              <a:rPr sz="1200">
                <a:solidFill>
                  <a:srgbClr val="78808C"/>
                </a:solidFill>
                <a:latin typeface="Arial"/>
              </a:rPr>
              <a:t>  ·  Präsentation,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65–95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Gruppenarbeit AB-2 + AB-3</a:t>
            </a:r>
            <a:r>
              <a:rPr sz="1200">
                <a:solidFill>
                  <a:srgbClr val="78808C"/>
                </a:solidFill>
                <a:latin typeface="Arial"/>
              </a:rPr>
              <a:t>  ·  Kleingruppen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95–115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 &amp; Debriefing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115–127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Warum solide Zahlen keine sichere Kreditentscheidung sind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Bewerte das Geschäftsmodell, nicht nur den Jahresabschluss – Klumpenrisiken, Nachfolge und Wettbewerbsdruck stehen in keiner Kennzahl.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zeigt die Vergangenheit; die Zukunftsfähigkeit steht zwischen den Zeilen.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Qualitative Analyse arbeitet auf drei Ebenen: Branche, Geschäftsmodell, Ressourcen.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Analyse-Ebenen der qualitativen Kreditwürdigkeit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10–100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Vier Frameworks der qualitativen 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Branche, Wettbewerb, Geschäftsmodell und Ressourcen systematisch bewerten.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Framework 1: die Branche mit Five Forces lesen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Fünf Kräfte bestimmen, wie viel Ertrag eine Branche überhaupt zulässt – unabhängig von der einzelnen Bilanz.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Wettbewerb, Lieferanten, Abnehmer, neue Anbieter, Substitute.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Leitfrage: Welche Kraft dominiert gerade – und in drei Jahren?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Wettbewerbskräfte der Branche (Five Forces)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Framework 1b: die Wettbewerbsstrategie einordnen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Kostenführerschaft oder Differenzierung – wer keine klare Position hat, steckt in der Mitte fest und verdient am wenigsten.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Generische Strategien nach Porter: Kostenführerschaft, Differenzierung, Fokus.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Strategie muss zur Branchenstruktur passen, sonst trägt sie nicht.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Wettbewerbsstrategie-Matrix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Framework 2: das Geschäftsmodell auf Robustheit prüfen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Business Model Canvas macht sichtbar, ob ein Geschäftsmodell auf einem Bein steht oder auf mehreren.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Neun Bausteine: von Kundensegmenten über Wertangebot bis Kostenstruktur.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Robustheit zeigt sich in der Abhängigkeit von einzelnen Kunden, Lieferanten oder Personen.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Framework 3: SWOT als Kreditrisikofilter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SWOT wird zum Risikofilter, wenn man Chancen und Risiken konsequent auf die Kreditfrage bezieht.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Stärken und Schwächen (intern), Chancen und Risiken (extern).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Entscheidend ist die Verknüpfung: Welche Schwäche trifft auf welches externe Risiko?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Framework 4: die Ressourcenstärke bewerten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Nach dem Resource-Based View entscheiden schwer imitierbare Ressourcen über den dauerhaften Wettbewerbsvorteil.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Wertvoll, selten, schwer imitierbar, organisatorisch nutzbar (VRIO).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Familienbetrieben ist Wissen oft an eine Person gebunden – ein Nachfolgerisiko.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100–115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 Präzisionswerk Haller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vier Frameworks auf einen echten Kreditfall anwenden.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Präzisionswerk Haller: Eckdaten und Risiken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7,2 Mio.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wachsend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solide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Hauptkunde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60 % 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Klumpenrisiko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GF Andreas Haller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63 J., kein Nachfolger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Nachfolgerisiko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Haller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Analysieren Sie Haller mit Five Forces und der Wettbewerbsstrategie-Matrix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Prüfen Sie die Robustheit des Geschäftsmodells (Canvas) und die Ressourcenstärke.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Verdichten Sie die Befunde in einer SWOT und leiten Sie eine Kreditempfehlung ab.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vom Framework-Befund zur Kreditmaßnahme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Kennzahlen- und Formelkarte: qualitative Kreditwürdigkeit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Framework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Kreditmaßnahme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Kundenkonzentration &gt;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Canvas / Five Forces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Diversifizierung als Auflage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Keine Nachfolge, GF &gt; 60 J.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Resource-Based 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Nachfolgeplanung thematisieren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Strategie „stuck in the middle"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Wettbewerbsmatrix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Positionierung hinterfragen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Bewerte das Geschäftsmodell, nicht nur den Jahresabschluss.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Klumpenrisiken, Nachfolge und Wettbewerbsdruck stehen in keiner Kennzahl, entscheiden aber über die Zukunft.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Bestandskunden verbergen solide Zahlen ein qualitatives Risiko?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Welches der vier Frameworks nehmen Sie als Erstes in Ihre nächste Kreditvorlage auf?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formulieren Sie eine Framework-Erkenntnis im Kundengespräch, ohne zu belehren?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