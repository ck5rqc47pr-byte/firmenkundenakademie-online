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Methode: Problembasiertes Lernen in Kleingruppen (Barrows, 1986) Fallblatt Haller GmbH austeilen, 2 Minuten Lesezeit, dann AB-1 austeilen. Aufgabenstellung (Trainer liest vor): „Analysieren Sie die Wettbewerbssituation der Haller GmbH mit dem Five-Forces-Modell. Bewerten Sie jede Kraft von 1 (gering) bis 3 (hoch). Bestimmen Sie: Welche generische Strategie verfolgt Haller — oder ist das Unternehmen stuck in the middle? Begründen Sie." Gruppen: 3–4 Personen, 20 Minuten Arbeitszeit. Trainer-Runde durch den Raum (ab Minute 5):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Das Business Model Canvas ist kein Pflichtbestandteil des Workshop-Ablaufs — es dient als Referenzrahmen und Selbststudium-Werkzeug. Im Workshop-Setting fokussieren wir auf Five Forces, Generische Strategien und SWOT. Teilnehmer, die das BMC vertiefen möchten, finden hier den kreditwirtschaftlichen Übertrag.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Gleiche Gruppen. AB-2 und AB-3 gleichzeitig austeilen. AB-2 SWOT: Ergebnisse aus Five Forces in SWOT-Raster übertragen; explizit: „Markieren Sie die drei größten Red Flags für das Kreditvotum." AB-3 Krediturteil: Formulierung in max. 5 Sätzen mit: 1. Strategische Positionierung (max. 2 Sätze) 2. Identifizierte Risikofaktoren mit Fallbezug (1–2 Sätze) 3. Kreditempfehlung mit Bedingung oder Vorbehalt (1 Satz) Häufiger Fehler: Empfehlung ohne Begründung oder Risiken ohne Strategiebezug. Korrekturimpuls: „Ihr Kreditausschuss fragt: Woher wissen Sie das? — Was ist Ihre Antwort?"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Methode: Problembasiertes Lernen in Kleingruppen (Barrows, 1986) Fallblatt Haller GmbH austeilen, 2 Minuten Lesezeit, dann AB-1 austeilen. Aufgabenstellung (Trainer liest vor): „Analysieren Sie die Wettbewerbssituation der Haller GmbH mit dem Five-Forces-Modell. Bewerten Sie jede Kraft von 1 (gering) bis 3 (hoch). Bestimmen Sie: Welche generische Strategie verfolgt Haller — oder ist das Unternehmen stuck in the middle? Begründen Sie." Gruppen: 3–4 Personen, 20 Minuten Arbeitszeit. Trainer-Runde durch den Raum (ab Minute 5):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Gesamteinschätzung Branchenattraktivität: mittel bis niedrig. Dominierende Risiken: Kundenklumpen + Niedrigpreiswettbewerb aus Asien. Für die Kreditwürdigkeitsbeurteilung ist die Abhängigkeit von Kunde A das zentrale qualitative Red Flag.</a:t>
            </a:r>
          </a:p>
          <a:p>
            <a:r>
              <a:t>Strategische Positionierung: Haller verfolgt implizit eine Differenzierungsstrategie (Qualität, Liefertreue, Präzisions-Know-how). Diese Strategie ist solange tragfähig, wie der Qualitätsvorteil verteidigbar bleibt. Mit dem Eintritt asiatischer Wettbewerber und ohne erkennbare Reinvestition in neue Differenzierungsmerkmale droht jedoch ein Stuck-in-the-Middle: nicht günstig genug für Preiskampf, aber zunehmend weniger differenziert. Klassisches Signal: GF Haller kann vermutlich nicht klar benennen, was das Unternehmen in 5 Jahren noch einzigartig macht.</a:t>
            </a:r>
          </a:p>
          <a:p>
            <a:r>
              <a:t>AB-2 Musterlösung (Trainer-Version)</a:t>
            </a:r>
          </a:p>
          <a:p>
            <a:r>
              <a:t>Stärken: (1) Langjährige Kundenbindungen, hohe Liefertreue und Qualitätsstandard; (2) Erfahrenes Facharbeiterteam mit spezifischem Präzisions-Know-how (VRIN-Ressource nach Barney, 1991); (3) Gesunde Eigenkapitalquote (31,4 %) und positiver DSCR (1,42x)</a:t>
            </a:r>
          </a:p>
          <a:p>
            <a:r>
              <a:t>Schwächen: (1) ! Extreme Kundenabhängigkeit (Kunde A = 60 % Umsatz — Klumpenrisiko); (2) ! Fehlende Nachfolgeplanung (GF 63 Jahre, kein Nachfolger); (3) Veralteter Maschinenpark (Ø 9 Jahre, letzte große Investition 2019)</a:t>
            </a:r>
          </a:p>
          <a:p>
            <a:r>
              <a:t>Chancen: (1) Reshoring-Trend — europäische Kunden bauen asiatische Abhängigkeiten ab; (2) Wachstum im Bereich Elektromobilität-Komponenten als Diversifikationsoption; (3) Förderprogramme für KMU-Digitalisierung (z. B. go-digital, BMWi)</a:t>
            </a:r>
          </a:p>
          <a:p>
            <a:r>
              <a:t>Risiken: (1) ! Asiatischer Niedrigpreiswettbewerb bereits im Markt; (2) Fachkräfteverlust durch Altersabgänge ohne Nachbesetzung; (3) Abhängigkeit vom Konjunkturzyklus des Maschinenbaus</a:t>
            </a:r>
          </a:p>
          <a:p>
            <a:r>
              <a:t>Die drei kritischsten: (1) Klumpenrisiko Kunde A — Wegfall würde Deckungsbeitrag auf 40 % reduzieren; Zahlungsunfähigkeit droht. (2) Nachfolgerisiko GF Haller — kein Managementnachfolger = operatives Schlüsselpersonenrisiko. (3) Preiserosion durch asiatische Wettbewerber — mittelfristige Margenkompression strukturell angelegt.</a:t>
            </a:r>
          </a:p>
          <a:p>
            <a:r>
              <a:t>Kreditvorlage-Formulierungsvorschlag: „Die Haller GmbH verfügt über eine solide Bilanzstruktur und ein qualifiziertes Facharbeiterteam als nachhaltige Wettbewerbsressource. Die Kreditwürdigkeit wird jedoch durch drei qualitative Risiken erheblich belastet: das extreme Klumpenrisiko auf Kundenseite (Kunde A: 60 % Umsatzanteil), das ungeklärte Nachfolgeproblem des 63-jährigen Alleingeschäftsführers sowie den strukturell zunehmenden Preisdruck durch asiatische Wettbewerber. Diese Faktoren erfordern eine differenzierte Bewertung und ggf. Absicherungsmaßnahmen im Kreditrahmen."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Die Kennzahlen der Haller GmbH sind quantitativ unauffällig. Genau darin liegt die didaktische Stärke des Fallbeispiels: Teilnehmer sollen erkennen, dass ein auf den ersten Blick gesundes Unternehmen qualitativ erhebliche Risiken trägt, die sich in einer reinen Bilanzanalyse nicht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Geschäftsmodell &amp; Strategie bewerten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Strategische Unternehmensanalyse als Kern der Kreditwürdigkeitsbeurteilung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Strategieberatung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Bilanz erklärt die Vergangenheit – ob der Kredit zurückgezahlt wird, entscheidet das Geschäftsmodell.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vier Strategie-Frameworks (Five Forces, generische Strategien, Business Model Canvas, SWOT) als Werkzeuge der qualitativen Kreditwürdigkeitsanalyse.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strategische Risiken wie Stuck-in-the-Middle oder Klumpenrisiken und übersetzen sie in fundierte Kreditempfehlungen.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Analyseinstrumente (Five Forces, Business Model Canvas, SWOT) auf ein KMU-Fallbeispiel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Stärken, Schwächen und strategische Abhängigkeiten eines Unternehmens analysieren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Risikofaktoren (Klumpenrisiken, Nachfolge, Wettbewerbsdruck) von Stabilitätssignalen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strategische Position eines Unternehmens hinsichtlich seiner mittelfristigen Kreditwürdigkeit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Befunde strukturiert in einer Kreditvorlage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Porters generische Wettbewerbsstrategien (Kostenführerschaft, Differenzierung, Fokus) identifizieren und das Stuck-in-the-Middle-Risiko eines KMU beurteilen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Theoretischer Hintergrund: Warum Strategie zur Kreditwürdigkeit gehört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VOM BILANZBILD ZUM ZUKUNFTSURTEIL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DREI-EBENEN-MODELL DER QUALITATIVEN KREDITWÜRDIGKEITSANALYSE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vollständige qualitative Unternehmensanalyse umfasst drei Ebenen: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Analyse-Ebenen der qualitativen Kreditwürdigkeitsanalys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1: Branchenanalyse mit Porter's Five Forces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GRUNDPRINZIP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fünf Kräfte im Überblick: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EINSCHRÄNKUNGEN UND VERWENDUNGSREGELN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1b: Generische Wettbewerbsstrategien und das Stuck-in-the-Middle-Risiko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GRUNDSTRATEGIEN NACH PORTER (1980)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vierte Option gibt es laut Porter (1980) nicht — ein Unternehmen, das keine klare Strategie wählt, hat keine.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STUCK-IN-THE-MIDDLE-PROBLEM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Warum das für Kreditberater relevant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Warnsignale für Stuck in the Middle im Kundengespräch: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Unklare Antwort auf die Frage: „Was ist Ihr Alleinstellungsmerkmal — und wofür bezahlen Ihre Kunden gerne mehr?"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Gleichzeitig Preisdruck von günstigeren Wettbewerbern und Qualitätsdruck von Premiumanbietern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Rückläufige Marge trotz stabilem Umsatz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Investitionen in beide Richtungen: gleichzeitig Kostenoptimierung und Qualitätsausbau ohne klare 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GF-Aussagen wie: „Wir machen alles — wir sind flexibel"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Stuck in the Middle und der Haller-Fall: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Wettbewerbsstrategie-Matrix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2: Business Model Canvas als Robustheitscheck *(Vertiefung / Selbststudium)*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2: Business Model Canvas als Robustheitscheck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GRUNDSTRUKTUR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Gruppe A – Ertragsstabilität (rechte Canvas-Seite)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Gruppe B – Kostenstruktur &amp; Abhängigkeiten (linke Canvas-Seite)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3: SWOT als Kreditrisikofilter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VON DER STRATEGISCHEN SWOT ZUR RISIKOKLASSIFIZIERUNG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Kreditrelevante SWOT-Lesart: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Kritische Hinweise zur SWOT im Kreditkontext (nach Welge &amp; Al-Laham, 2012):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Alle Faktoren erscheinen formal gleichwertig — Berater müssen aktiv gewichten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Subjektive Unternehmersicht dominiert; externe Verifikation (z. B. Branchendaten) ist nötig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SWOT liefert ein Lagebild, keine Prognose; strategische Dynamik muss separat eingeschätzt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4: Strategische Ressourcenstärke (Resource-based View)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Beispiele kreditrelevanter VRIN-Ressourcen im Mittelstand: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Spezialisiertes Know-how mit langjähriger Entwicklungszeit (schwer zu kopieren)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Exklusivlieferantenverträge oder Zulassungen (selten, nicht substituierbar)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Langfristige Kundenbeziehungen mit Wechselkosten auf Kundenseite (wertvoll, nicht imitierbar)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Qualifizierte Fachkräfte mit spezifischer Expertise (Schlüsselpersonenrisiko = Kehrseite)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Präzisionswerk Haller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Kennzahlen Geschäftsjahr 2024: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*Branchenbenchmark: VDMA Maschinenbau-Statistik 2024; zeb-Mittelstandsstudie 2023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Ausgangssituation: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Hauptkunden, einer davon (Maschinenbaukonzern aus Baden-Württemberg) stellt 60 % des Jahresumsatzes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STRATEGISCHE RED-FLAG-CHECKLISTE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QUANTITATIVE UNTERSTÜTZUNGSKENNZAHLEN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Nehmen Sie sich nach dem Modul 10 Minuten Zeit für folgende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welchem Ihrer aktuellen Kunden würden Sie bei einer SWOT-Analyse das größte Klumpenrisiko vermuten? Was würden Sie in einem Gespräch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Frameworks (Five Forces, Business Model Canvas, SWOT) finden Sie für Ihre Praxis am unmittelbar anwendbarsten — und warum?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Haben Sie in den letzten 12 Monaten einen Kunden erlebt, bei dem strategische Warnsignale in der Kreditanalyse übersehen wurden? Was hätte eine qualitative Analyse ergeben?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das qualitative Krediturteil zur Haller GmbH einem skeptischen Kreditausschuss überzeugend vertreten?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