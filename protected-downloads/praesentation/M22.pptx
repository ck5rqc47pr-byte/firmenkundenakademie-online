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Gleiche Gruppen. AB-2 und AB-3 gleichzeitig austeilen. AB-2 SWOT: Ergebnisse aus Five Forces in SWOT-Raster übertragen; explizit: „Markieren Sie die drei größten Red Flags für das Kreditvotum."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Gesamteinschätzung Branchenattraktivität: mittel bis niedrig. Dominierende Risiken: Kundenklumpen + Niedrigpreiswettbewerb aus Asien. Für die Kreditwürdigkeitsbeurteilung ist die Abhängigkeit von Kunde A das zentrale qualitative Red Flag.</a:t>
            </a:r>
          </a:p>
          <a:p>
            <a:r>
              <a:t>Strategische Positionierung: Haller verfolgt implizit eine Differenzierungsstrategie (Qualität, Liefertreue, Präzisions-Know-how). Diese Strategie ist solange tragfähig, wie der Qualitätsvorteil verteidigbar bleibt. Mit dem Eintritt asiatischer Wettbewerber und ohne erkennbare Reinvestition in neue Differenzierungsmerkmale droht jedoch ein Stuck-in-the-Middle: nicht günstig genug für Preiskampf, aber zunehmend weniger differenziert. Klassisches Signal: GF Haller kann vermutlich nicht klar benennen, was das Unternehmen in 5 Jahren noch einzigartig macht.</a:t>
            </a:r>
          </a:p>
          <a:p>
            <a:r>
              <a:t>AB-2 Musterlösung (Trainer-Version)</a:t>
            </a:r>
          </a:p>
          <a:p>
            <a:r>
              <a:t>Stärken: (1) Langjährige Kundenbindungen, hohe Liefertreue und Qualitätsstandard; (2) Erfahrenes Facharbeiterteam mit spezifischem Präzisions-Know-how (VRIN-Ressource nach Barney, 1991); (3) Gesunde Eigenkapitalquote (31,4 %) und positiver DSCR (1,42x)</a:t>
            </a:r>
          </a:p>
          <a:p>
            <a:r>
              <a:t>Schwächen: (1) ! Extreme Kundenabhängigkeit (Kunde A = 60 % Umsatz — Klumpenrisiko); (2) ! Fehlende Nachfolgeplanung (GF 63 Jahre, kein Nachfolger); (3) Veralteter Maschinenpark (Ø 9 Jahre, letzte große Investition 2019)</a:t>
            </a:r>
          </a:p>
          <a:p>
            <a:r>
              <a:t>Chancen: (1) Reshoring-Trend — europäische Kunden bauen asiatische Abhängigkeiten ab; (2) Wachstum im Bereich Elektromobilität-Komponenten als Diversifikationsoption; (3) Förderprogramme für KMU-Digitalisierung (z. B. go-digital, BMWi)</a:t>
            </a:r>
          </a:p>
          <a:p>
            <a:r>
              <a:t>Risiken: (1) ! Asiatischer Niedrigpreiswettbewerb bereits im Markt; (2) Fachkräfteverlust durch Altersabgänge ohne Nachbesetzung; (3) Abhängigkeit vom Konjunkturzyklus des Maschinenbaus</a:t>
            </a:r>
          </a:p>
          <a:p>
            <a:r>
              <a:t>Die drei kritischsten: (1) Klumpenrisiko Kunde A — Wegfall würde Deckungsbeitrag auf 40 % reduzieren; Zahlungsunfähigkeit droht. (2) Nachfolgerisiko GF Haller — kein Managementnachfolger = operatives Schlüsselpersonenrisiko. (3) Preiserosion durch asiatische Wettbewerber — mittelfristige Margenkompression strukturell angelegt.</a:t>
            </a:r>
          </a:p>
          <a:p>
            <a:r>
              <a:t>Kreditvorlage-Formulierungsvorschlag: „Die Haller GmbH verfügt über eine solide Bilanzstruktur und ein qualifiziertes Facharbeiterteam als nachhaltige Wettbewerbsressource. Die Kreditwürdigkeit wird jedoch durch drei qualitative Risiken erheblich belastet: das extreme Klumpenrisiko auf Kundenseite (Kunde A: 60 % Umsatzanteil), das ungeklärte Nachfolgeproblem des 63-jährigen Alleingeschäftsführers sowie den strukturell zunehmenden Preisdruck durch asiatische Wettbewerber. Diese Faktoren erfordern eine differenzierte Bewertung und ggf. Absicherungsmaßnahmen im Kreditrahmen."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Kennzahlen der Haller GmbH sind quantitativ unauffällig. Genau darin liegt die didaktische Stärke des Fallbeispiels: Teilnehmer sollen erkennen, dass ein auf den ersten Blick gesundes Unternehmen qualitativ erhebliche Risiken trägt, die sich in einer reinen Bilanzanalyse nicht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der Kredit zurückgezahlt wird, entscheidet das Geschäftsmodell.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vier Strategie-Frameworks (Five Forces, generische Strategien, Business Model Canvas, SWOT) als Werkzeuge der qualitativen Kreditwürdigkeitsanalyse.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strategische Risiken wie Stuck-in-the-Middle oder Klumpenrisiken und übersetzen sie in fundierte Kreditempfehlungen.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Red Flag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Schwellenwert / Hinweis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Beurteilung Haller GmbH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Kunde &gt; 30 %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— Kunde A: 60 %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Lieferant &gt; 50 % Beschaffung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Nachfolgelücke GF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GF &gt; 60 Jahre, kein Nachfolger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Maschinenalter / Investitionsstau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&gt; 8 Jahre ohne Erneuerungsinvestition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 (Ø 9 Jahre)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Marktkonzentration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 mit &lt; 5 relevanten Abnehmern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Exportabhängigkeit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0 % Export in preissensitiver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 — umgekehrt: kein Export als Risiko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Schlüsselpersonenrisiken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Unverzichtbare Einzelperson ohne Vertretung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(GF Haller)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Orientierungswert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Haller GmbH 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Schuldendienst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1,42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Zinsaufwand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3,8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31,4 % — gut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Branche: 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6,7 % — über Branche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