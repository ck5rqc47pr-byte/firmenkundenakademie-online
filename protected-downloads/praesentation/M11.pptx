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 aus dem Ablaufplan (Sektion 3.1). Timing und Pausen siehe Trainerhandbuch.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Auswertungshilfe (Musterlösungen – nur für Trainer/Seminarleitung)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JetBrains Mono"/>
              </a:rPr>
              <a:t>FKB CAMPUS  ·  FIRMENKUNDENAKADEMIE  ·  M11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ource Serif 4"/>
              </a:rPr>
              <a:t>Latente Bedarfe erkennen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Source Serif 4"/>
              </a:rPr>
              <a:t>Implizite Kundenbedürfnisse durch SPIN-Fragetechnik und aktives Zuhören aufdecken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K-03 Gesprächsführung &amp; Beratung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Sparringspartner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v1.0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JetBrains Mono"/>
              </a:rPr>
              <a:t>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JetBrains Mono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ÜBERBLICK  ·  M11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Die wichtigsten Bedarfe spricht der Kunde nie von selbst an – sie liegen unter der Wasserlinie.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Mit Eisbergmodell und Videoanalyse trainieren Sie, verdeckte Signale in Kundenaussagen zu hören und behutsam nachzufassen.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Danach erkennen Sie latente Bedarfe im Gespräch und machen daraus konkrete Beratungsanlässe.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LERNZIELE  ·  M11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Explizite von latenten Bedarfen anhand konkreter Gesprächsbeispiele unterscheiden und Kundensignale systematisch zuordnen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SPIN-Fragetechnik in simulierten Kundengesprächen anwenden und implizite Problemformulierungen in explizite Bedarfsaussagen überführen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Gesprächsverläufe auf latente Signale (verbal, paraverbal, nonverbal) analysieren und den wahrscheinlichen Hintergrundbedarf benennen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Qualität des eigenen Frageverhaltens in Rollenspielen bewerten und konkrete Verbesserungsschritte ableiten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Situationsgerecht zwischen verschiedenen Fragetechniken wählen und die Wahl begründen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AGENDA  ·  M11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So läuft das Modul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8173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0–5 min     </a:t>
            </a:r>
            <a:r>
              <a:rPr sz="1500" b="1">
                <a:solidFill>
                  <a:srgbClr val="3D5466"/>
                </a:solidFill>
                <a:latin typeface="Arial"/>
              </a:rPr>
              <a:t>  Warm-up &amp; Zielklärung</a:t>
            </a:r>
            <a:r>
              <a:rPr sz="1200">
                <a:solidFill>
                  <a:srgbClr val="78808C"/>
                </a:solidFill>
                <a:latin typeface="Arial"/>
              </a:rPr>
              <a:t>  ·  Plenum, offene Frage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5–20 min    </a:t>
            </a:r>
            <a:r>
              <a:rPr sz="1500" b="1">
                <a:solidFill>
                  <a:srgbClr val="3D5466"/>
                </a:solidFill>
                <a:latin typeface="Arial"/>
              </a:rPr>
              <a:t>  Theorie-Input: Latente Bedarfe &amp; SPIN</a:t>
            </a:r>
            <a:r>
              <a:rPr sz="1200">
                <a:solidFill>
                  <a:srgbClr val="78808C"/>
                </a:solidFill>
                <a:latin typeface="Arial"/>
              </a:rPr>
              <a:t>  ·  Kurzinput + Flipchart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20–30 min   </a:t>
            </a:r>
            <a:r>
              <a:rPr sz="1500" b="1">
                <a:solidFill>
                  <a:srgbClr val="3D5466"/>
                </a:solidFill>
                <a:latin typeface="Arial"/>
              </a:rPr>
              <a:t>  Übung: „Was höre ich wirklich?"</a:t>
            </a:r>
            <a:r>
              <a:rPr sz="1200">
                <a:solidFill>
                  <a:srgbClr val="78808C"/>
                </a:solidFill>
                <a:latin typeface="Arial"/>
              </a:rPr>
              <a:t>  ·  Plenum-Übung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30–38 min   </a:t>
            </a:r>
            <a:r>
              <a:rPr sz="1500" b="1">
                <a:solidFill>
                  <a:srgbClr val="3D5466"/>
                </a:solidFill>
                <a:latin typeface="Arial"/>
              </a:rPr>
              <a:t>  Rollenspiel-Vorbereitung</a:t>
            </a:r>
            <a:r>
              <a:rPr sz="1200">
                <a:solidFill>
                  <a:srgbClr val="78808C"/>
                </a:solidFill>
                <a:latin typeface="Arial"/>
              </a:rPr>
              <a:t>  ·  Tandems/Dreiergruppen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38–78 min   </a:t>
            </a:r>
            <a:r>
              <a:rPr sz="1500" b="1">
                <a:solidFill>
                  <a:srgbClr val="3D5466"/>
                </a:solidFill>
                <a:latin typeface="Arial"/>
              </a:rPr>
              <a:t>  Rollenspiele</a:t>
            </a:r>
            <a:r>
              <a:rPr sz="1200">
                <a:solidFill>
                  <a:srgbClr val="78808C"/>
                </a:solidFill>
                <a:latin typeface="Arial"/>
              </a:rPr>
              <a:t>  ·  Dreiergruppen (rotierend)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78–88 min   </a:t>
            </a:r>
            <a:r>
              <a:rPr sz="1500" b="1">
                <a:solidFill>
                  <a:srgbClr val="3D5466"/>
                </a:solidFill>
                <a:latin typeface="Arial"/>
              </a:rPr>
              <a:t>  Gruppenreflexion</a:t>
            </a:r>
            <a:r>
              <a:rPr sz="1200">
                <a:solidFill>
                  <a:srgbClr val="78808C"/>
                </a:solidFill>
                <a:latin typeface="Arial"/>
              </a:rPr>
              <a:t>  ·  Plenum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88–95 min   </a:t>
            </a:r>
            <a:r>
              <a:rPr sz="1500" b="1">
                <a:solidFill>
                  <a:srgbClr val="3D5466"/>
                </a:solidFill>
                <a:latin typeface="Arial"/>
              </a:rPr>
              <a:t>  Transfer &amp; Abschluss</a:t>
            </a:r>
            <a:r>
              <a:rPr sz="1200">
                <a:solidFill>
                  <a:srgbClr val="78808C"/>
                </a:solidFill>
                <a:latin typeface="Arial"/>
              </a:rPr>
              <a:t>  ·  Trainer-Demo + Einzelarbeit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Das Eisberg-Modell der Kundenbedürfnisse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Explizite Bedarfe: Der Kunde benennt klar, was er will. „Ich brauche eine Anschlussfinanzierung für meine Maschine." Explizite Bedarfe entstehen, wenn der Kunde seine Situation analysiert und eine Lösung definiert hat.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Implizite (latente) Bedarfe: Der Kunde beschreibt ein Problem, einen Schmerz oder eine Unzufriedenheit, ohne eine Lösung zu benennen. „Unsere Abschreibungen sind dieses Jahr sehr hoch." Oder: „Ich mache mir Sorgen wegen der Nachfolge." Latente Bedarfe sind die Grundlage – und oft der eigentliche Grund für das Gespräch.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M11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Eisberg-Modell latente Bedarfe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4863" y="1325880"/>
            <a:ext cx="7079225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Warum Kunden latente Bedarfe nicht artikulieren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Es gibt vier Hauptgründe, warum Kunden ihre eigentlichen Bedarfe nicht spontan nennen (praxisbasiert; vgl. Rackham, 1988 , S. 57–62):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Unbewusstheit: Der Bedarf ist noch nicht als solcher erkannt. Der Kunde spürt das Problem, hat es aber nicht als lösungswürdig eingeordnet.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Schambarriere: Sensitive Themen wie Nachfolge, Unternehmenskrise oder Privatsphäre werden nicht freiwillig angesprochen.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Fehlende Sicherheit: Der Kunde weiß nicht, ob der Berater kompetent genug ist für das eigentliche Thema. Im Volksbankenalltag kommt ein verstärkender Faktor hinzu: Häufige Beraterwechsel. Wer innerhalb von sechs Jahren den vierten Berater bekommt, hat gelernt, sensible Themen wie Nachfolge oder Unternehmenskrise nicht mehr anzusprechen – das Vertrauen für diese Ebene muss jedes Mal neu aufgebaut werden. Praxistipp: Eigene Erfahrungen kurz einbringen öffnet schneller als jede Frage – „Ich habe das bei einem anderen Kunden ähnlich erlebt, wie er das gelöst hat, war interessant…" signalisiert Kompetenz und schafft Vertrautheit.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Gewohnheit: Der Kunde ist es gewohnt, dass Bankgespräche Produktgespräche sind – er stellt sich selbst anders ein.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Der Berater, der latente Bedarfe erkennen will, muss aktiv dazu einladen: durch offene Haltung, gezielte Fragen und echtes Zuhören.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Typische latente Bedarfsfelder im Firmenkunden-Alltag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Ein Berater braucht ein inneres Radar: Worauf soll ich achten? Die folgende Übersicht zeigt die vier häufigsten Felder – mit typischen Kundensignalen und passendem Gesprächseinstieg: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## 4.2 SPIN – Das Fragetechnik-System für tiefe Bedarfe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Rackham (1988) entwickelte das SPIN-Modell auf Basis empirischer Gesprächsanalysen. Die vier Fragetypen führen den Kunden von der Oberfläche in die Tiefe: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Fragetechnik in der Praxis: Drei Tiefen-Ebenen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Latente Bedarfe liegen oft unter zwei oder drei Gesprächsschichten. Eine einfache Orientierung: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Ebene 1 – Thema (Was ist das Gesprächsthema?)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„Wie läuft das Geschäft aktuell?"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Ebene 2 – Problem (Wo drückt der Schuh?)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„Sie sagten, die Personalkosten steigen. Was steckt dahinter?"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Ebene 3 – Bedeutung (Was steht auf dem Spiel?)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„Wenn sich das fortsetzt: Was bedeutet das für Ihre Pläne für die nächsten fünf Jahre?"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Erst auf Ebene 3 wird der latente Bedarf sichtbar – und damit auch, welches Produkt oder welche Lösung wirklich passt.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## 4.3 Signale erkennen: Die vier Kanäle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Kunden kommunizieren latente Bedarfe auf vier Kanälen gleichzeitig (Watzlawick et al., 1967; Schulz von Thun, 1981). Wer nur den Sachkanal hört, verpasst 75 % der Information.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Paraverbale Signale: Pausen, Zögern, plötzlich leiser werden, Themenwechsel nach Nachfrage.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Nonverbale Signale: Abwenden, kurzes Lächeln das nicht bis zu den Augen geht, angespannte Körperhaltung beim bestimmten Thema.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Übung im Plenum: „Was höre ich wirklich?"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Der Trainer liest fünf Kundenaussagen vor. Die Teilnehmenden notieren: (1) Sachinhalt, (2) vermuteter latenter Hintergrund. Anschließend Auswertung im Plenum.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## 4.4 Aktives Zuhören als Schlüsselkompetenz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Techniken des aktiven Zuhörens: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Paraphrasieren: Den Kern des Gesagten in eigenen Worten wiedergeben. „Wenn ich Sie richtig verstehe, macht Ihnen weniger die Finanzierung Sorgen als die Frage, wer das Unternehmen in zehn Jahren führt?"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Verbalisieren: Wahrgenommenes Gefühl benennen (mit Vorsicht). „Ich habe das Gefühl, das Thema liegt Ihnen schon länger am Herzen."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Schweigen lassen: Pausen aushalten. Viele latente Bedarfe werden erst geäußert, wenn der Berater aufhört zu reden. Vier Sekunden Stille fühlen sich für einen unerfahrenen Berater wie eine Ewigkeit an – für den Kunden sind es vier Sekunden Denkzeit. Wer das Schweigen bricht, beraubt den Kunden dieser Denkzeit. Konkrete Hilfe: Nicken und Augenkontakt halten. Oder leise sagen: „Ich lasse Ihnen einen Moment." Nichts weiter. Rollenspielübung: Üben Sie bewusst, bis zu 6 Sekunden Stille auszuhalten, bevor Sie weitermachen – lassen Sie den Beobachter die Sekunden zählen.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Offene Einladung: „Gibt es etwas, das wir heute noch ansprechen sollten, das wir noch nicht berührt haben?"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Eine der wichtigsten Fragen am Ende jedes Gesprächs: „Ist noch etwas, das ich wissen sollte?" Einfach. Direkt. Wirkungsvoll.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## 4.5 Praxiscase: Das Zinsgespräch, das keines ist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Ausgangssituation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 zuständige Beraterin Lisa Kern bereitet sich auf ein Konditionengespräch vor.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Das Gespräch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Arbeitsblatt A: SPIN-Fragen vorbereiten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Bereiten Sie für jede SPIN-Kategorie mindestens zwei Fragen vor, die zu diesem Kunden passen: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Meine Hypothese: Welchen latenten Bedarf könnte dieser Kunde haben?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M11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Arbeitsblatt A: SPIN-Fragen vorbereiten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5784"/>
                <a:gridCol w="3605784"/>
                <a:gridCol w="3605784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Fragetyp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Meine Frage 1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Meine Frage 2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Situationsfrage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Problemfrage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Implikationsfrage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Nutzenfrage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Übersicht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Arbeitsblatt B: Beobachtungsbogen Rollenspiel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(Wird vom Beobachter ausgefüllt – nicht vom Spielenden)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Stärkster Moment im Gespräch: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Eine konkrete Verbesserungsmöglichkeit: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M11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Arbeitsblatt B: Beobachtungsbogen Rollenspiel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3470"/>
                <a:gridCol w="2163470"/>
                <a:gridCol w="2163470"/>
                <a:gridCol w="2163470"/>
                <a:gridCol w="2163472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Beobachtungskriterium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Sehr gut (3)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Gut (2)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Ausbaufähig (1)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Nicht beobachtet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Offene Einstiegsfragen gestellt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☐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Problemfragen aktiv eingesetzt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☐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Implikationsfragen verwendet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☐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Latente Signale aufgegriffen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☐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Schweigen ausgehalten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☐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Paraphrase/Zusammenfassung eingesetzt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☐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Zu früh zu Produkten gewechselt (neg.)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☐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Übersicht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