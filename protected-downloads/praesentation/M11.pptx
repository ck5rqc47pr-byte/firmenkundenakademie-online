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Auswertungshilfe (Musterlösungen – nur für Trainer/Seminarleitung)</a:t>
            </a:r>
          </a:p>
          <a:p>
            <a:r>
              <a:t>Moderation (HB Sec 3): Fünf Aussagen aus Sec 4.3 vorlesen (oder auf Karten austeilen). TN notieren in 30 Sekunden Sachinhalt und vermuteten latenten Hintergrund. Auswertung im Plenum: Welche Aussage war am schwierigsten? Warum? Trainer-Hinweis: Aussage Nr. 1 („Die Banken geben einem ja momentan viele Angebote") hat das höchste Überraschungspotenzial – viele Berater hören zuerst nur einen allgemeinen Kommentar, nicht das Wechselsignal. Diese Aussage zum Schluss besprechen, um den Lerneffekt zu maximieren. Trainer-Hinweis Scaffolding: Bei Teilnehmenden ohne Vorerfahrung die erste Aussage gemeinsam im Plenum anhand der drei Leitfragen aus Sec 4.3 durcharbeiten (Was hat der Kunde gesagt? Welches Gefühl/welche Erfahrung steckt dahinter? Worum bittet er implizit?), bevor die übrigen fünf Aussagen in Einzelarbeit bearbeitet werden. Ohne diesen Schritt bleibt das Erkennen des latenten Hintergrunds bei unbekannten Aussagen für Einsteiger Glückssache.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M11</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Latente Bedarfe erkennen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Implizite Kundenbedürfnisse durch SPIN-Fragetechnik und aktives Zuhören aufdecken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Sparringspartner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M11</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Die wichtigsten Bedarfe spricht der Kunde nie von selbst an – sie liegen unter der Wasserlinie.</a:t>
            </a:r>
          </a:p>
          <a:p>
            <a:pPr>
              <a:spcAft>
                <a:spcPts val="1200"/>
              </a:spcAft>
            </a:pPr>
            <a:r>
              <a:rPr sz="1700">
                <a:solidFill>
                  <a:srgbClr val="3D5466"/>
                </a:solidFill>
                <a:latin typeface="Arial"/>
              </a:rPr>
              <a:t>Mit Eisbergmodell und Videoanalyse trainieren Sie, verdeckte Signale in Kundenaussagen zu hören und behutsam nachzufassen.</a:t>
            </a:r>
          </a:p>
          <a:p>
            <a:pPr>
              <a:spcAft>
                <a:spcPts val="1200"/>
              </a:spcAft>
            </a:pPr>
            <a:r>
              <a:rPr sz="1700">
                <a:solidFill>
                  <a:srgbClr val="3D5466"/>
                </a:solidFill>
                <a:latin typeface="Arial"/>
              </a:rPr>
              <a:t>Danach erkennen Sie latente Bedarfe im Gespräch und machen daraus konkrete Beratungsanlässe.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M11</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Explizite von latenten Bedarfen anhand konkreter Gesprächsbeispiele unterscheiden und Kundensignale systematisch zuordnen</a:t>
            </a:r>
          </a:p>
          <a:p>
            <a:pPr>
              <a:spcBef>
                <a:spcPts val="800"/>
              </a:spcBef>
              <a:spcAft>
                <a:spcPts val="200"/>
              </a:spcAft>
            </a:pPr>
            <a:r>
              <a:rPr sz="1400">
                <a:solidFill>
                  <a:srgbClr val="3D5466"/>
                </a:solidFill>
                <a:latin typeface="Arial"/>
              </a:rPr>
              <a:t>▸  Die SPIN-Fragetechnik in simulierten Kundengesprächen anwenden und implizite Problemformulierungen in explizite Bedarfsaussagen überführen</a:t>
            </a:r>
          </a:p>
          <a:p>
            <a:pPr>
              <a:spcBef>
                <a:spcPts val="800"/>
              </a:spcBef>
              <a:spcAft>
                <a:spcPts val="200"/>
              </a:spcAft>
            </a:pPr>
            <a:r>
              <a:rPr sz="1400">
                <a:solidFill>
                  <a:srgbClr val="3D5466"/>
                </a:solidFill>
                <a:latin typeface="Arial"/>
              </a:rPr>
              <a:t>▸  Gesprächsverläufe auf latente Signale (verbal, paraverbal, nonverbal) analysieren und den wahrscheinlichen Hintergrundbedarf benennen</a:t>
            </a:r>
          </a:p>
          <a:p>
            <a:pPr>
              <a:spcBef>
                <a:spcPts val="800"/>
              </a:spcBef>
              <a:spcAft>
                <a:spcPts val="200"/>
              </a:spcAft>
            </a:pPr>
            <a:r>
              <a:rPr sz="1400">
                <a:solidFill>
                  <a:srgbClr val="3D5466"/>
                </a:solidFill>
                <a:latin typeface="Arial"/>
              </a:rPr>
              <a:t>▸  Die Qualität des eigenen Frageverhaltens in Rollenspielen bewerten und konkrete Verbesserungsschritte ableiten</a:t>
            </a:r>
          </a:p>
          <a:p>
            <a:pPr>
              <a:spcBef>
                <a:spcPts val="800"/>
              </a:spcBef>
              <a:spcAft>
                <a:spcPts val="200"/>
              </a:spcAft>
            </a:pPr>
            <a:r>
              <a:rPr sz="1400">
                <a:solidFill>
                  <a:srgbClr val="3D5466"/>
                </a:solidFill>
                <a:latin typeface="Arial"/>
              </a:rPr>
              <a:t>▸  Situationsgerecht zwischen verschiedenen Fragetechniken wählen und die Wahl begründen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M11</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700"/>
              </a:spcBef>
              <a:spcAft>
                <a:spcPts val="100"/>
              </a:spcAft>
            </a:pPr>
            <a:r>
              <a:rPr sz="1200">
                <a:solidFill>
                  <a:srgbClr val="78808C"/>
                </a:solidFill>
                <a:latin typeface="Consolas"/>
              </a:rPr>
              <a:t>0–5 min     </a:t>
            </a:r>
            <a:r>
              <a:rPr sz="1500" b="1">
                <a:solidFill>
                  <a:srgbClr val="3D5466"/>
                </a:solidFill>
                <a:latin typeface="Arial"/>
              </a:rPr>
              <a:t>  Warm-up &amp; Zielklärung</a:t>
            </a:r>
            <a:r>
              <a:rPr sz="1200">
                <a:solidFill>
                  <a:srgbClr val="78808C"/>
                </a:solidFill>
                <a:latin typeface="Arial"/>
              </a:rPr>
              <a:t>  ·  Plenum, offene Frage</a:t>
            </a:r>
          </a:p>
          <a:p>
            <a:pPr>
              <a:spcBef>
                <a:spcPts val="700"/>
              </a:spcBef>
              <a:spcAft>
                <a:spcPts val="100"/>
              </a:spcAft>
            </a:pPr>
            <a:r>
              <a:rPr sz="1200">
                <a:solidFill>
                  <a:srgbClr val="78808C"/>
                </a:solidFill>
                <a:latin typeface="Consolas"/>
              </a:rPr>
              <a:t>5–20 min    </a:t>
            </a:r>
            <a:r>
              <a:rPr sz="1500" b="1">
                <a:solidFill>
                  <a:srgbClr val="3D5466"/>
                </a:solidFill>
                <a:latin typeface="Arial"/>
              </a:rPr>
              <a:t>  Theorie-Input: Latente Bedarfe &amp; SPIN</a:t>
            </a:r>
            <a:r>
              <a:rPr sz="1200">
                <a:solidFill>
                  <a:srgbClr val="78808C"/>
                </a:solidFill>
                <a:latin typeface="Arial"/>
              </a:rPr>
              <a:t>  ·  Kurzinput + Flipchart</a:t>
            </a:r>
          </a:p>
          <a:p>
            <a:pPr>
              <a:spcBef>
                <a:spcPts val="700"/>
              </a:spcBef>
              <a:spcAft>
                <a:spcPts val="100"/>
              </a:spcAft>
            </a:pPr>
            <a:r>
              <a:rPr sz="1200">
                <a:solidFill>
                  <a:srgbClr val="78808C"/>
                </a:solidFill>
                <a:latin typeface="Consolas"/>
              </a:rPr>
              <a:t>20–30 min   </a:t>
            </a:r>
            <a:r>
              <a:rPr sz="1500" b="1">
                <a:solidFill>
                  <a:srgbClr val="3D5466"/>
                </a:solidFill>
                <a:latin typeface="Arial"/>
              </a:rPr>
              <a:t>  Übung: „Was höre ich wirklich?"</a:t>
            </a:r>
            <a:r>
              <a:rPr sz="1200">
                <a:solidFill>
                  <a:srgbClr val="78808C"/>
                </a:solidFill>
                <a:latin typeface="Arial"/>
              </a:rPr>
              <a:t>  ·  Plenum-Übung</a:t>
            </a:r>
          </a:p>
          <a:p>
            <a:pPr>
              <a:spcBef>
                <a:spcPts val="700"/>
              </a:spcBef>
              <a:spcAft>
                <a:spcPts val="100"/>
              </a:spcAft>
            </a:pPr>
            <a:r>
              <a:rPr sz="1200">
                <a:solidFill>
                  <a:srgbClr val="78808C"/>
                </a:solidFill>
                <a:latin typeface="Consolas"/>
              </a:rPr>
              <a:t>30–38 min   </a:t>
            </a:r>
            <a:r>
              <a:rPr sz="1500" b="1">
                <a:solidFill>
                  <a:srgbClr val="3D5466"/>
                </a:solidFill>
                <a:latin typeface="Arial"/>
              </a:rPr>
              <a:t>  Rollenspiel-Vorbereitung</a:t>
            </a:r>
            <a:r>
              <a:rPr sz="1200">
                <a:solidFill>
                  <a:srgbClr val="78808C"/>
                </a:solidFill>
                <a:latin typeface="Arial"/>
              </a:rPr>
              <a:t>  ·  Tandems/Dreiergruppen</a:t>
            </a:r>
          </a:p>
          <a:p>
            <a:pPr>
              <a:spcBef>
                <a:spcPts val="700"/>
              </a:spcBef>
              <a:spcAft>
                <a:spcPts val="100"/>
              </a:spcAft>
            </a:pPr>
            <a:r>
              <a:rPr sz="1200">
                <a:solidFill>
                  <a:srgbClr val="78808C"/>
                </a:solidFill>
                <a:latin typeface="Consolas"/>
              </a:rPr>
              <a:t>38–78 min   </a:t>
            </a:r>
            <a:r>
              <a:rPr sz="1500" b="1">
                <a:solidFill>
                  <a:srgbClr val="3D5466"/>
                </a:solidFill>
                <a:latin typeface="Arial"/>
              </a:rPr>
              <a:t>  Rollenspiele</a:t>
            </a:r>
            <a:r>
              <a:rPr sz="1200">
                <a:solidFill>
                  <a:srgbClr val="78808C"/>
                </a:solidFill>
                <a:latin typeface="Arial"/>
              </a:rPr>
              <a:t>  ·  Dreiergruppen (rotierend)</a:t>
            </a:r>
          </a:p>
          <a:p>
            <a:pPr>
              <a:spcBef>
                <a:spcPts val="700"/>
              </a:spcBef>
              <a:spcAft>
                <a:spcPts val="100"/>
              </a:spcAft>
            </a:pPr>
            <a:r>
              <a:rPr sz="1200">
                <a:solidFill>
                  <a:srgbClr val="78808C"/>
                </a:solidFill>
                <a:latin typeface="Consolas"/>
              </a:rPr>
              <a:t>78–88 min   </a:t>
            </a:r>
            <a:r>
              <a:rPr sz="1500" b="1">
                <a:solidFill>
                  <a:srgbClr val="3D5466"/>
                </a:solidFill>
                <a:latin typeface="Arial"/>
              </a:rPr>
              <a:t>  Gruppenreflexion</a:t>
            </a:r>
            <a:r>
              <a:rPr sz="1200">
                <a:solidFill>
                  <a:srgbClr val="78808C"/>
                </a:solidFill>
                <a:latin typeface="Arial"/>
              </a:rPr>
              <a:t>  ·  Plenum</a:t>
            </a:r>
          </a:p>
          <a:p>
            <a:pPr>
              <a:spcBef>
                <a:spcPts val="700"/>
              </a:spcBef>
              <a:spcAft>
                <a:spcPts val="100"/>
              </a:spcAft>
            </a:pPr>
            <a:r>
              <a:rPr sz="1200">
                <a:solidFill>
                  <a:srgbClr val="78808C"/>
                </a:solidFill>
                <a:latin typeface="Consolas"/>
              </a:rPr>
              <a:t>88–95 min   </a:t>
            </a:r>
            <a:r>
              <a:rPr sz="1500" b="1">
                <a:solidFill>
                  <a:srgbClr val="3D5466"/>
                </a:solidFill>
                <a:latin typeface="Arial"/>
              </a:rPr>
              <a:t>  Transfer &amp; Abschluss</a:t>
            </a:r>
            <a:r>
              <a:rPr sz="1200">
                <a:solidFill>
                  <a:srgbClr val="78808C"/>
                </a:solidFill>
                <a:latin typeface="Arial"/>
              </a:rPr>
              <a:t>  ·  Trainer-Demo + Einzelarbeit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Das Eisberg-Modell der Kundenbedürfnisse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Explizite Bedarfe: Der Kunde benennt klar, was er will. „Ich brauche eine Anschlussfinanzierung für meine Maschine." Explizite Bedarfe entstehen, wenn der Kunde seine Situation analysiert und eine Lösung definiert hat.</a:t>
            </a:r>
          </a:p>
          <a:p>
            <a:pPr marL="190500" indent="-190500">
              <a:spcBef>
                <a:spcPts val="400"/>
              </a:spcBef>
              <a:spcAft>
                <a:spcPts val="200"/>
              </a:spcAft>
            </a:pPr>
            <a:r>
              <a:rPr sz="1300">
                <a:solidFill>
                  <a:srgbClr val="3D5466"/>
                </a:solidFill>
                <a:latin typeface="Arial"/>
              </a:rPr>
              <a:t>▸  Implizite (latente) Bedarfe: Der Kunde beschreibt ein Problem, einen Schmerz oder eine Unzufriedenheit, ohne eine Lösung zu benennen. „Unsere Abschreibungen sind dieses Jahr sehr hoch." Oder: „Ich mache mir Sorgen wegen der Nachfolge." Latente Bedarfe sind die Grundlage – und oft der eigentliche Grund für das 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Eisberg-Modell latente Bedarfe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554863" y="1325880"/>
            <a:ext cx="7079225"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Warum Kunden latente Bedarfe nicht artikulieren</a:t>
            </a:r>
          </a:p>
        </p:txBody>
      </p:sp>
      <p:sp>
        <p:nvSpPr>
          <p:cNvPr id="8" name="TextBox 7"/>
          <p:cNvSpPr txBox="1"/>
          <p:nvPr/>
        </p:nvSpPr>
        <p:spPr>
          <a:xfrm>
            <a:off x="685800" y="1417320"/>
            <a:ext cx="10817352" cy="4892040"/>
          </a:xfrm>
          <a:prstGeom prst="rect">
            <a:avLst/>
          </a:prstGeom>
          <a:noFill/>
        </p:spPr>
        <p:txBody>
          <a:bodyPr wrap="square">
            <a:spAutoFit/>
          </a:bodyPr>
          <a:lstStyle/>
          <a:p>
            <a:pPr marL="190500" indent="-190500">
              <a:spcBef>
                <a:spcPts val="400"/>
              </a:spcBef>
              <a:spcAft>
                <a:spcPts val="200"/>
              </a:spcAft>
            </a:pPr>
            <a:r>
              <a:rPr sz="1300">
                <a:solidFill>
                  <a:srgbClr val="3D5466"/>
                </a:solidFill>
                <a:latin typeface="Arial"/>
              </a:rPr>
              <a:t>▸  Es gibt vier Hauptgründe, warum Kunden ihre eigentlichen Bedarfe nicht spontan nennen (praxisbasiert; vgl. Rackham, 1988 , S. 57–62):</a:t>
            </a:r>
          </a:p>
          <a:p>
            <a:pPr marL="190500" indent="-190500">
              <a:spcBef>
                <a:spcPts val="400"/>
              </a:spcBef>
              <a:spcAft>
                <a:spcPts val="200"/>
              </a:spcAft>
            </a:pPr>
            <a:r>
              <a:rPr sz="1300">
                <a:solidFill>
                  <a:srgbClr val="3D5466"/>
                </a:solidFill>
                <a:latin typeface="Arial"/>
              </a:rPr>
              <a:t>▸  Unbewusstheit: Der Bedarf ist noch nicht als solcher erkannt. Der Kunde spürt das Problem, hat es aber nicht als lösungswürdig eingeordnet.</a:t>
            </a:r>
          </a:p>
          <a:p>
            <a:pPr marL="190500" indent="-190500">
              <a:spcBef>
                <a:spcPts val="400"/>
              </a:spcBef>
              <a:spcAft>
                <a:spcPts val="200"/>
              </a:spcAft>
            </a:pPr>
            <a:r>
              <a:rPr sz="1300">
                <a:solidFill>
                  <a:srgbClr val="3D5466"/>
                </a:solidFill>
                <a:latin typeface="Arial"/>
              </a:rPr>
              <a:t>▸  Schambarriere: Sensitive Themen wie Nachfolge, Unternehmenskrise oder Privatsphäre werden nicht freiwillig angesprochen.</a:t>
            </a:r>
          </a:p>
          <a:p>
            <a:pPr marL="190500" indent="-190500">
              <a:spcBef>
                <a:spcPts val="400"/>
              </a:spcBef>
              <a:spcAft>
                <a:spcPts val="200"/>
              </a:spcAft>
            </a:pPr>
            <a:r>
              <a:rPr sz="1300">
                <a:solidFill>
                  <a:srgbClr val="3D5466"/>
                </a:solidFill>
                <a:latin typeface="Arial"/>
              </a:rPr>
              <a:t>▸  Fehlende Sicherheit: Der Kunde weiß nicht, ob der Berater kompetent genug ist für das eigentliche Thema. Im Volksbankenalltag kommt ein verstärkender Faktor hinzu: Häufige Beraterwechsel. Wer innerhalb von sechs Jahren den vierten Berater bekommt, hat gelernt, sensible Themen wie Nachfolge oder Unternehmenskrise nicht mehr anzusprechen – das Vertrauen für diese Ebene muss jedes Mal neu aufgebaut werden. Praxistipp: Eigene Erfahrungen kurz einbringen öffnet schneller als jede Frage – „Ich habe das bei einem anderen Kunden ähnlich erlebt, wie er das gelöst hat, war interessant…" signalisiert Kompetenz und schafft Vertrautheit.</a:t>
            </a:r>
          </a:p>
          <a:p>
            <a:pPr marL="190500" indent="-190500">
              <a:spcBef>
                <a:spcPts val="400"/>
              </a:spcBef>
              <a:spcAft>
                <a:spcPts val="200"/>
              </a:spcAft>
            </a:pPr>
            <a:r>
              <a:rPr sz="1300">
                <a:solidFill>
                  <a:srgbClr val="3D5466"/>
                </a:solidFill>
                <a:latin typeface="Arial"/>
              </a:rPr>
              <a:t>▸  Gewohnheit: Der Kunde ist es gewohnt, dass Bankgespräche Produktgespräche sind – er stellt sich selbst anders ein.</a:t>
            </a:r>
          </a:p>
          <a:p>
            <a:pPr marL="190500" indent="-190500">
              <a:spcBef>
                <a:spcPts val="400"/>
              </a:spcBef>
              <a:spcAft>
                <a:spcPts val="200"/>
              </a:spcAft>
            </a:pPr>
            <a:r>
              <a:rPr sz="1300">
                <a:solidFill>
                  <a:srgbClr val="3D5466"/>
                </a:solidFill>
                <a:latin typeface="Arial"/>
              </a:rPr>
              <a:t>▸  Der Berater, der latente Bedarfe erkennen will, muss aktiv dazu einladen: durch offene Haltung, gezielte Fragen und echtes Zuhören.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Typische latente Bedarfsfelder im Firmenkunden-Alltag</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Ein Berater braucht ein inneres Radar: Worauf soll ich achten? Die folgende Übersicht zeigt die vier häufigsten Felder – mit typischen Kundensignalen und passendem Gesprächseinstieg:</a:t>
            </a:r>
          </a:p>
          <a:p>
            <a:pPr marL="190500" indent="-190500">
              <a:spcBef>
                <a:spcPts val="400"/>
              </a:spcBef>
              <a:spcAft>
                <a:spcPts val="200"/>
              </a:spcAft>
            </a:pPr>
            <a:r>
              <a:rPr sz="1300">
                <a:solidFill>
                  <a:srgbClr val="3D5466"/>
                </a:solidFill>
                <a:latin typeface="Arial"/>
              </a:rPr>
              <a:t>▸  ## 4.2 SPIN – Das Fragetechnik-System für tiefe Bedarfe</a:t>
            </a:r>
          </a:p>
          <a:p>
            <a:pPr marL="190500" indent="-190500">
              <a:spcBef>
                <a:spcPts val="400"/>
              </a:spcBef>
              <a:spcAft>
                <a:spcPts val="200"/>
              </a:spcAft>
            </a:pPr>
            <a:r>
              <a:rPr sz="1300">
                <a:solidFill>
                  <a:srgbClr val="3D5466"/>
                </a:solidFill>
                <a:latin typeface="Arial"/>
              </a:rPr>
              <a:t>▸  Rackham (1988) entwickelte das SPIN-Modell auf Basis empirischer Gesprächsanalysen. Die vier Fragetypen führen den Kunden von der Oberfläche in die Tiefe: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Fragetechnik in der Praxis: Drei Tiefen-Ebenen</a:t>
            </a:r>
          </a:p>
        </p:txBody>
      </p:sp>
      <p:sp>
        <p:nvSpPr>
          <p:cNvPr id="8" name="TextBox 7"/>
          <p:cNvSpPr txBox="1"/>
          <p:nvPr/>
        </p:nvSpPr>
        <p:spPr>
          <a:xfrm>
            <a:off x="685800" y="1417320"/>
            <a:ext cx="10817352" cy="4892040"/>
          </a:xfrm>
          <a:prstGeom prst="rect">
            <a:avLst/>
          </a:prstGeom>
          <a:noFill/>
        </p:spPr>
        <p:txBody>
          <a:bodyPr wrap="square">
            <a:spAutoFit/>
          </a:bodyPr>
          <a:lstStyle/>
          <a:p>
            <a:pPr marL="190500" indent="-190500">
              <a:spcBef>
                <a:spcPts val="400"/>
              </a:spcBef>
              <a:spcAft>
                <a:spcPts val="200"/>
              </a:spcAft>
            </a:pPr>
            <a:r>
              <a:rPr sz="1300">
                <a:solidFill>
                  <a:srgbClr val="3D5466"/>
                </a:solidFill>
                <a:latin typeface="Arial"/>
              </a:rPr>
              <a:t>▸  Latente Bedarfe liegen oft unter zwei oder drei Gesprächsschichten. Eine einfache Orientierung:</a:t>
            </a:r>
          </a:p>
          <a:p>
            <a:pPr marL="190500" indent="-190500">
              <a:spcBef>
                <a:spcPts val="400"/>
              </a:spcBef>
              <a:spcAft>
                <a:spcPts val="200"/>
              </a:spcAft>
            </a:pPr>
            <a:r>
              <a:rPr sz="1300">
                <a:solidFill>
                  <a:srgbClr val="3D5466"/>
                </a:solidFill>
                <a:latin typeface="Arial"/>
              </a:rPr>
              <a:t>▸  Ebene 1 – Thema (Was ist das Gesprächsthema?)</a:t>
            </a:r>
          </a:p>
          <a:p>
            <a:pPr marL="177800" indent="-177800">
              <a:spcBef>
                <a:spcPts val="600"/>
              </a:spcBef>
              <a:spcAft>
                <a:spcPts val="200"/>
              </a:spcAft>
            </a:pPr>
            <a:r>
              <a:rPr sz="1200" i="1">
                <a:solidFill>
                  <a:srgbClr val="3D5466"/>
                </a:solidFill>
                <a:latin typeface="Arial"/>
              </a:rPr>
              <a:t>→  „Wie läuft das Geschäft aktuell?"</a:t>
            </a:r>
          </a:p>
          <a:p>
            <a:pPr marL="190500" indent="-190500">
              <a:spcBef>
                <a:spcPts val="400"/>
              </a:spcBef>
              <a:spcAft>
                <a:spcPts val="200"/>
              </a:spcAft>
            </a:pPr>
            <a:r>
              <a:rPr sz="1300">
                <a:solidFill>
                  <a:srgbClr val="3D5466"/>
                </a:solidFill>
                <a:latin typeface="Arial"/>
              </a:rPr>
              <a:t>▸  Ebene 2 – Problem (Wo drückt der Schuh?)</a:t>
            </a:r>
          </a:p>
          <a:p>
            <a:pPr marL="177800" indent="-177800">
              <a:spcBef>
                <a:spcPts val="600"/>
              </a:spcBef>
              <a:spcAft>
                <a:spcPts val="200"/>
              </a:spcAft>
            </a:pPr>
            <a:r>
              <a:rPr sz="1200" i="1">
                <a:solidFill>
                  <a:srgbClr val="3D5466"/>
                </a:solidFill>
                <a:latin typeface="Arial"/>
              </a:rPr>
              <a:t>→  „Sie sagten, die Personalkosten steigen. Was steckt dahinter?"</a:t>
            </a:r>
          </a:p>
          <a:p>
            <a:pPr marL="190500" indent="-190500">
              <a:spcBef>
                <a:spcPts val="400"/>
              </a:spcBef>
              <a:spcAft>
                <a:spcPts val="200"/>
              </a:spcAft>
            </a:pPr>
            <a:r>
              <a:rPr sz="1300">
                <a:solidFill>
                  <a:srgbClr val="3D5466"/>
                </a:solidFill>
                <a:latin typeface="Arial"/>
              </a:rPr>
              <a:t>▸  Ebene 3 – Bedeutung (Was steht auf dem Spiel?)</a:t>
            </a:r>
          </a:p>
          <a:p>
            <a:pPr marL="177800" indent="-177800">
              <a:spcBef>
                <a:spcPts val="600"/>
              </a:spcBef>
              <a:spcAft>
                <a:spcPts val="200"/>
              </a:spcAft>
            </a:pPr>
            <a:r>
              <a:rPr sz="1200" i="1">
                <a:solidFill>
                  <a:srgbClr val="3D5466"/>
                </a:solidFill>
                <a:latin typeface="Arial"/>
              </a:rPr>
              <a:t>→  „Wenn sich das fortsetzt: Was bedeutet das für Ihre Pläne für die nächsten fünf Jahre?"</a:t>
            </a:r>
          </a:p>
          <a:p>
            <a:pPr marL="190500" indent="-190500">
              <a:spcBef>
                <a:spcPts val="400"/>
              </a:spcBef>
              <a:spcAft>
                <a:spcPts val="200"/>
              </a:spcAft>
            </a:pPr>
            <a:r>
              <a:rPr sz="1300">
                <a:solidFill>
                  <a:srgbClr val="3D5466"/>
                </a:solidFill>
                <a:latin typeface="Arial"/>
              </a:rPr>
              <a:t>▸  Erst auf Ebene 3 wird der latente Bedarf sichtbar – und damit auch, welches Produkt oder welche Lösung wirklich passt.</a:t>
            </a:r>
          </a:p>
          <a:p>
            <a:pPr marL="190500" indent="-190500">
              <a:spcBef>
                <a:spcPts val="400"/>
              </a:spcBef>
              <a:spcAft>
                <a:spcPts val="200"/>
              </a:spcAft>
            </a:pPr>
            <a:r>
              <a:rPr sz="1300">
                <a:solidFill>
                  <a:srgbClr val="3D5466"/>
                </a:solidFill>
                <a:latin typeface="Arial"/>
              </a:rPr>
              <a:t>▸  ## 4.3 Signale erkennen: Die vier Kanäle</a:t>
            </a:r>
          </a:p>
          <a:p>
            <a:pPr marL="190500" indent="-190500">
              <a:spcBef>
                <a:spcPts val="400"/>
              </a:spcBef>
              <a:spcAft>
                <a:spcPts val="200"/>
              </a:spcAft>
            </a:pPr>
            <a:r>
              <a:rPr sz="1300">
                <a:solidFill>
                  <a:srgbClr val="3D5466"/>
                </a:solidFill>
                <a:latin typeface="Arial"/>
              </a:rPr>
              <a:t>▸  Kunden kommunizieren latente Bedarfe auf vier Kanälen gleichzeitig (Watzlawick et al., 1967; Schulz von Thun, 1981). Wer nur den Sachkanal hört, verpasst 75 % der Information.</a:t>
            </a:r>
          </a:p>
          <a:p>
            <a:pPr marL="190500" indent="-190500">
              <a:spcBef>
                <a:spcPts val="400"/>
              </a:spcBef>
              <a:spcAft>
                <a:spcPts val="200"/>
              </a:spcAft>
            </a:pPr>
            <a:r>
              <a:rPr sz="1300">
                <a:solidFill>
                  <a:srgbClr val="3D5466"/>
                </a:solidFill>
                <a:latin typeface="Arial"/>
              </a:rPr>
              <a:t>▸  Paraverbale Signale: Pausen, Zögern, plötzlich leiser werden, Themenwechsel nach Nachfrage.</a:t>
            </a:r>
          </a:p>
          <a:p>
            <a:pPr marL="190500" indent="-190500">
              <a:spcBef>
                <a:spcPts val="400"/>
              </a:spcBef>
              <a:spcAft>
                <a:spcPts val="200"/>
              </a:spcAft>
            </a:pPr>
            <a:r>
              <a:rPr sz="1300">
                <a:solidFill>
                  <a:srgbClr val="3D5466"/>
                </a:solidFill>
                <a:latin typeface="Arial"/>
              </a:rPr>
              <a:t>▸  Nonverbale Signale: Abwenden, kurzes Lächeln das nicht bis zu den Augen geht, angespannte Körperhaltung beim bestimmten Thema.</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Übung im Plenum: „Was höre ich wirklich?"</a:t>
            </a:r>
          </a:p>
        </p:txBody>
      </p:sp>
      <p:sp>
        <p:nvSpPr>
          <p:cNvPr id="8" name="TextBox 7"/>
          <p:cNvSpPr txBox="1"/>
          <p:nvPr/>
        </p:nvSpPr>
        <p:spPr>
          <a:xfrm>
            <a:off x="685800" y="1417320"/>
            <a:ext cx="10817352" cy="4892040"/>
          </a:xfrm>
          <a:prstGeom prst="rect">
            <a:avLst/>
          </a:prstGeom>
          <a:noFill/>
        </p:spPr>
        <p:txBody>
          <a:bodyPr wrap="square">
            <a:spAutoFit/>
          </a:bodyPr>
          <a:lstStyle/>
          <a:p>
            <a:pPr marL="190500" indent="-190500">
              <a:spcBef>
                <a:spcPts val="400"/>
              </a:spcBef>
              <a:spcAft>
                <a:spcPts val="200"/>
              </a:spcAft>
            </a:pPr>
            <a:r>
              <a:rPr sz="1300">
                <a:solidFill>
                  <a:srgbClr val="3D5466"/>
                </a:solidFill>
                <a:latin typeface="Arial"/>
              </a:rPr>
              <a:t>▸  Der Trainer liest fünf Kundenaussagen vor. Die Teilnehmenden notieren: (1) Sachinhalt, (2) vermuteter latenter Hintergrund. Anschließend Auswertung im Plenum.</a:t>
            </a:r>
          </a:p>
          <a:p>
            <a:pPr marL="190500" indent="-190500">
              <a:spcBef>
                <a:spcPts val="400"/>
              </a:spcBef>
              <a:spcAft>
                <a:spcPts val="200"/>
              </a:spcAft>
            </a:pPr>
            <a:r>
              <a:rPr sz="1300">
                <a:solidFill>
                  <a:srgbClr val="3D5466"/>
                </a:solidFill>
                <a:latin typeface="Arial"/>
              </a:rPr>
              <a:t>▸  ## 4.4 Aktives Zuhören als Schlüsselkompetenz</a:t>
            </a:r>
          </a:p>
          <a:p>
            <a:pPr marL="190500" indent="-190500">
              <a:spcBef>
                <a:spcPts val="400"/>
              </a:spcBef>
              <a:spcAft>
                <a:spcPts val="200"/>
              </a:spcAft>
            </a:pPr>
            <a:r>
              <a:rPr sz="1300">
                <a:solidFill>
                  <a:srgbClr val="3D5466"/>
                </a:solidFill>
                <a:latin typeface="Arial"/>
              </a:rPr>
              <a:t>▸  Techniken des aktiven Zuhörens:</a:t>
            </a:r>
          </a:p>
          <a:p>
            <a:pPr marL="190500" indent="-190500">
              <a:spcBef>
                <a:spcPts val="400"/>
              </a:spcBef>
              <a:spcAft>
                <a:spcPts val="200"/>
              </a:spcAft>
            </a:pPr>
            <a:r>
              <a:rPr sz="1300">
                <a:solidFill>
                  <a:srgbClr val="3D5466"/>
                </a:solidFill>
                <a:latin typeface="Arial"/>
              </a:rPr>
              <a:t>▸  Paraphrasieren: Den Kern des Gesagten in eigenen Worten wiedergeben. „Wenn ich Sie richtig verstehe, macht Ihnen weniger die Finanzierung Sorgen als die Frage, wer das Unternehmen in zehn Jahren führt?"</a:t>
            </a:r>
          </a:p>
          <a:p>
            <a:pPr marL="190500" indent="-190500">
              <a:spcBef>
                <a:spcPts val="400"/>
              </a:spcBef>
              <a:spcAft>
                <a:spcPts val="200"/>
              </a:spcAft>
            </a:pPr>
            <a:r>
              <a:rPr sz="1300">
                <a:solidFill>
                  <a:srgbClr val="3D5466"/>
                </a:solidFill>
                <a:latin typeface="Arial"/>
              </a:rPr>
              <a:t>▸  Verbalisieren: Wahrgenommenes Gefühl benennen (mit Vorsicht). „Ich habe das Gefühl, das Thema liegt Ihnen schon länger am Herzen."</a:t>
            </a:r>
          </a:p>
          <a:p>
            <a:pPr marL="190500" indent="-190500">
              <a:spcBef>
                <a:spcPts val="400"/>
              </a:spcBef>
              <a:spcAft>
                <a:spcPts val="200"/>
              </a:spcAft>
            </a:pPr>
            <a:r>
              <a:rPr sz="1300">
                <a:solidFill>
                  <a:srgbClr val="3D5466"/>
                </a:solidFill>
                <a:latin typeface="Arial"/>
              </a:rPr>
              <a:t>▸  Schweigen lassen: Pausen aushalten. Viele latente Bedarfe werden erst geäußert, wenn der Berater aufhört zu reden. Vier Sekunden Stille fühlen sich für einen unerfahrenen Berater wie eine Ewigkeit an – für den Kunden sind es vier Sekunden Denkzeit. Wer das Schweigen bricht, beraubt den Kunden dieser Denkzeit. Konkrete Hilfe: Nicken und Augenkontakt halten. Oder leise sagen: „Ich lasse Ihnen einen Moment." Nichts weiter. Rollenspielübung: Üben Sie bewusst, bis zu 6 Sekunden Stille auszuhalten, bevor Sie weitermachen – lassen Sie den Beobachter die Sekunden zählen.</a:t>
            </a:r>
          </a:p>
          <a:p>
            <a:pPr marL="190500" indent="-190500">
              <a:spcBef>
                <a:spcPts val="400"/>
              </a:spcBef>
              <a:spcAft>
                <a:spcPts val="200"/>
              </a:spcAft>
            </a:pPr>
            <a:r>
              <a:rPr sz="1300">
                <a:solidFill>
                  <a:srgbClr val="3D5466"/>
                </a:solidFill>
                <a:latin typeface="Arial"/>
              </a:rPr>
              <a:t>▸  Offene Einladung: „Gibt es etwas, das wir heute noch ansprechen sollten, das wir noch nicht berührt haben?"</a:t>
            </a:r>
          </a:p>
          <a:p>
            <a:pPr marL="177800" indent="-177800">
              <a:spcBef>
                <a:spcPts val="600"/>
              </a:spcBef>
              <a:spcAft>
                <a:spcPts val="200"/>
              </a:spcAft>
            </a:pPr>
            <a:r>
              <a:rPr sz="1200" i="1">
                <a:solidFill>
                  <a:srgbClr val="3D5466"/>
                </a:solidFill>
                <a:latin typeface="Arial"/>
              </a:rPr>
              <a:t>→  Eine der wichtigsten Fragen am Ende jedes Gesprächs: „Ist noch etwas, das ich wissen sollte?" Einfach. Direkt. Wirkungsvoll.</a:t>
            </a:r>
          </a:p>
          <a:p>
            <a:pPr marL="190500" indent="-190500">
              <a:spcBef>
                <a:spcPts val="400"/>
              </a:spcBef>
              <a:spcAft>
                <a:spcPts val="200"/>
              </a:spcAft>
            </a:pPr>
            <a:r>
              <a:rPr sz="1300">
                <a:solidFill>
                  <a:srgbClr val="3D5466"/>
                </a:solidFill>
                <a:latin typeface="Arial"/>
              </a:rPr>
              <a:t>▸  ## 4.5 Praxiscase: Das Zinsgespräch, das keines ist</a:t>
            </a:r>
          </a:p>
          <a:p>
            <a:pPr marL="190500" indent="-190500">
              <a:spcBef>
                <a:spcPts val="400"/>
              </a:spcBef>
              <a:spcAft>
                <a:spcPts val="200"/>
              </a:spcAft>
            </a:pPr>
            <a:r>
              <a:rPr sz="1300">
                <a:solidFill>
                  <a:srgbClr val="3D5466"/>
                </a:solidFill>
                <a:latin typeface="Arial"/>
              </a:rPr>
              <a:t>▸  Ausgangssituation</a:t>
            </a:r>
          </a:p>
          <a:p>
            <a:pPr marL="190500" indent="-190500">
              <a:spcBef>
                <a:spcPts val="400"/>
              </a:spcBef>
              <a:spcAft>
                <a:spcPts val="200"/>
              </a:spcAft>
            </a:pPr>
            <a:r>
              <a:rPr sz="1300">
                <a:solidFill>
                  <a:srgbClr val="3D5466"/>
                </a:solidFill>
                <a:latin typeface="Arial"/>
              </a:rPr>
              <a:t>▸  Die zuständige Beraterin Lisa Kern bereitet sich auf ein Konditionengespräch vor.</a:t>
            </a:r>
          </a:p>
          <a:p>
            <a:pPr marL="190500" indent="-190500">
              <a:spcBef>
                <a:spcPts val="400"/>
              </a:spcBef>
              <a:spcAft>
                <a:spcPts val="200"/>
              </a:spcAft>
            </a:pPr>
            <a:r>
              <a:rPr sz="1300">
                <a:solidFill>
                  <a:srgbClr val="3D5466"/>
                </a:solidFill>
                <a:latin typeface="Arial"/>
              </a:rPr>
              <a:t>▸  Das 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SPIN-Fragen vorbereiten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Bereiten Sie für jede SPIN-Kategorie mindestens zwei Fragen vor, die zu diesem Kunden passen:</a:t>
            </a:r>
          </a:p>
          <a:p>
            <a:pPr marL="190500" indent="-190500">
              <a:spcBef>
                <a:spcPts val="400"/>
              </a:spcBef>
              <a:spcAft>
                <a:spcPts val="200"/>
              </a:spcAft>
            </a:pPr>
            <a:r>
              <a:rPr sz="1300">
                <a:solidFill>
                  <a:srgbClr val="3D5466"/>
                </a:solidFill>
                <a:latin typeface="Arial"/>
              </a:rPr>
              <a:t>▸  Meine Hypothese: Welchen latenten Bedarf könnte dieser Kunde haben?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AB-1: SPIN-Fragen vorbereiten</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920240"/>
        </p:xfrm>
        <a:graphic>
          <a:graphicData uri="http://schemas.openxmlformats.org/drawingml/2006/table">
            <a:tbl>
              <a:tblPr firstRow="1" bandRow="1">
                <a:tableStyleId>{5C22544A-7EE6-4342-B048-85BDC9FD1C3A}</a:tableStyleId>
              </a:tblPr>
              <a:tblGrid>
                <a:gridCol w="3605784"/>
                <a:gridCol w="3605784"/>
                <a:gridCol w="3605784"/>
              </a:tblGrid>
              <a:tr h="384048">
                <a:tc>
                  <a:txBody>
                    <a:bodyPr/>
                    <a:lstStyle/>
                    <a:p>
                      <a:r>
                        <a:rPr sz="1100" b="1">
                          <a:solidFill>
                            <a:srgbClr val="FFFFFF"/>
                          </a:solidFill>
                          <a:latin typeface="Arial"/>
                        </a:rPr>
                        <a:t>Fragetyp</a:t>
                      </a:r>
                    </a:p>
                  </a:txBody>
                  <a:tcPr>
                    <a:solidFill>
                      <a:srgbClr val="1F2C56"/>
                    </a:solidFill>
                  </a:tcPr>
                </a:tc>
                <a:tc>
                  <a:txBody>
                    <a:bodyPr/>
                    <a:lstStyle/>
                    <a:p>
                      <a:r>
                        <a:rPr sz="1100" b="1">
                          <a:solidFill>
                            <a:srgbClr val="FFFFFF"/>
                          </a:solidFill>
                          <a:latin typeface="Arial"/>
                        </a:rPr>
                        <a:t>Meine Frage 1</a:t>
                      </a:r>
                    </a:p>
                  </a:txBody>
                  <a:tcPr>
                    <a:solidFill>
                      <a:srgbClr val="1F2C56"/>
                    </a:solidFill>
                  </a:tcPr>
                </a:tc>
                <a:tc>
                  <a:txBody>
                    <a:bodyPr/>
                    <a:lstStyle/>
                    <a:p>
                      <a:r>
                        <a:rPr sz="1100" b="1">
                          <a:solidFill>
                            <a:srgbClr val="FFFFFF"/>
                          </a:solidFill>
                          <a:latin typeface="Arial"/>
                        </a:rPr>
                        <a:t>Meine Frage 2</a:t>
                      </a:r>
                    </a:p>
                  </a:txBody>
                  <a:tcPr>
                    <a:solidFill>
                      <a:srgbClr val="1F2C56"/>
                    </a:solidFill>
                  </a:tcPr>
                </a:tc>
              </a:tr>
              <a:tr h="384048">
                <a:tc>
                  <a:txBody>
                    <a:bodyPr/>
                    <a:lstStyle/>
                    <a:p>
                      <a:r>
                        <a:rPr sz="1050">
                          <a:solidFill>
                            <a:srgbClr val="3D5466"/>
                          </a:solidFill>
                          <a:latin typeface="Arial"/>
                        </a:rPr>
                        <a:t>Situationsfrage</a:t>
                      </a:r>
                    </a:p>
                  </a:txBody>
                  <a:tcPr/>
                </a:tc>
                <a:tc>
                  <a:txBody>
                    <a:bodyPr/>
                    <a:lstStyle/>
                    <a:p/>
                  </a:txBody>
                  <a:tcPr/>
                </a:tc>
                <a:tc>
                  <a:txBody>
                    <a:bodyPr/>
                    <a:lstStyle/>
                    <a:p/>
                  </a:txBody>
                  <a:tcPr/>
                </a:tc>
              </a:tr>
              <a:tr h="384048">
                <a:tc>
                  <a:txBody>
                    <a:bodyPr/>
                    <a:lstStyle/>
                    <a:p>
                      <a:r>
                        <a:rPr sz="1050">
                          <a:solidFill>
                            <a:srgbClr val="3D5466"/>
                          </a:solidFill>
                          <a:latin typeface="Arial"/>
                        </a:rPr>
                        <a:t>Problemfrage</a:t>
                      </a:r>
                    </a:p>
                  </a:txBody>
                  <a:tcPr/>
                </a:tc>
                <a:tc>
                  <a:txBody>
                    <a:bodyPr/>
                    <a:lstStyle/>
                    <a:p/>
                  </a:txBody>
                  <a:tcPr/>
                </a:tc>
                <a:tc>
                  <a:txBody>
                    <a:bodyPr/>
                    <a:lstStyle/>
                    <a:p/>
                  </a:txBody>
                  <a:tcPr/>
                </a:tc>
              </a:tr>
              <a:tr h="384048">
                <a:tc>
                  <a:txBody>
                    <a:bodyPr/>
                    <a:lstStyle/>
                    <a:p>
                      <a:r>
                        <a:rPr sz="1050">
                          <a:solidFill>
                            <a:srgbClr val="3D5466"/>
                          </a:solidFill>
                          <a:latin typeface="Arial"/>
                        </a:rPr>
                        <a:t>Implikationsfrage</a:t>
                      </a:r>
                    </a:p>
                  </a:txBody>
                  <a:tcPr/>
                </a:tc>
                <a:tc>
                  <a:txBody>
                    <a:bodyPr/>
                    <a:lstStyle/>
                    <a:p/>
                  </a:txBody>
                  <a:tcPr/>
                </a:tc>
                <a:tc>
                  <a:txBody>
                    <a:bodyPr/>
                    <a:lstStyle/>
                    <a:p/>
                  </a:txBody>
                  <a:tcPr/>
                </a:tc>
              </a:tr>
              <a:tr h="384048">
                <a:tc>
                  <a:txBody>
                    <a:bodyPr/>
                    <a:lstStyle/>
                    <a:p>
                      <a:r>
                        <a:rPr sz="1050">
                          <a:solidFill>
                            <a:srgbClr val="3D5466"/>
                          </a:solidFill>
                          <a:latin typeface="Arial"/>
                        </a:rPr>
                        <a:t>Nutzenfrage</a:t>
                      </a:r>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Beobachtungsbogen Rollenspiel</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(Wird vom Beobachter ausgefüllt – nicht vom Spielenden)</a:t>
            </a:r>
          </a:p>
          <a:p>
            <a:pPr marL="190500" indent="-190500">
              <a:spcBef>
                <a:spcPts val="400"/>
              </a:spcBef>
              <a:spcAft>
                <a:spcPts val="200"/>
              </a:spcAft>
            </a:pPr>
            <a:r>
              <a:rPr sz="1300">
                <a:solidFill>
                  <a:srgbClr val="3D5466"/>
                </a:solidFill>
                <a:latin typeface="Arial"/>
              </a:rPr>
              <a:t>▸  Stärkster Moment im Gespräch:</a:t>
            </a:r>
          </a:p>
          <a:p>
            <a:pPr marL="190500" indent="-190500">
              <a:spcBef>
                <a:spcPts val="400"/>
              </a:spcBef>
              <a:spcAft>
                <a:spcPts val="200"/>
              </a:spcAft>
            </a:pPr>
            <a:r>
              <a:rPr sz="1300">
                <a:solidFill>
                  <a:srgbClr val="3D5466"/>
                </a:solidFill>
                <a:latin typeface="Arial"/>
              </a:rPr>
              <a:t>▸  Eine konkrete Verbesserungsmöglichkeit: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M11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AB-2: Beobachtungsbogen Rollenspiel</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3072384"/>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Beobachtungskriterium</a:t>
                      </a:r>
                    </a:p>
                  </a:txBody>
                  <a:tcPr>
                    <a:solidFill>
                      <a:srgbClr val="1F2C56"/>
                    </a:solidFill>
                  </a:tcPr>
                </a:tc>
                <a:tc>
                  <a:txBody>
                    <a:bodyPr/>
                    <a:lstStyle/>
                    <a:p>
                      <a:r>
                        <a:rPr sz="1100" b="1">
                          <a:solidFill>
                            <a:srgbClr val="FFFFFF"/>
                          </a:solidFill>
                          <a:latin typeface="Arial"/>
                        </a:rPr>
                        <a:t>Sehr gut (3)</a:t>
                      </a:r>
                    </a:p>
                  </a:txBody>
                  <a:tcPr>
                    <a:solidFill>
                      <a:srgbClr val="1F2C56"/>
                    </a:solidFill>
                  </a:tcPr>
                </a:tc>
                <a:tc>
                  <a:txBody>
                    <a:bodyPr/>
                    <a:lstStyle/>
                    <a:p>
                      <a:r>
                        <a:rPr sz="1100" b="1">
                          <a:solidFill>
                            <a:srgbClr val="FFFFFF"/>
                          </a:solidFill>
                          <a:latin typeface="Arial"/>
                        </a:rPr>
                        <a:t>Gut (2)</a:t>
                      </a:r>
                    </a:p>
                  </a:txBody>
                  <a:tcPr>
                    <a:solidFill>
                      <a:srgbClr val="1F2C56"/>
                    </a:solidFill>
                  </a:tcPr>
                </a:tc>
                <a:tc>
                  <a:txBody>
                    <a:bodyPr/>
                    <a:lstStyle/>
                    <a:p>
                      <a:r>
                        <a:rPr sz="1100" b="1">
                          <a:solidFill>
                            <a:srgbClr val="FFFFFF"/>
                          </a:solidFill>
                          <a:latin typeface="Arial"/>
                        </a:rPr>
                        <a:t>Ausbaufähig (1)</a:t>
                      </a:r>
                    </a:p>
                  </a:txBody>
                  <a:tcPr>
                    <a:solidFill>
                      <a:srgbClr val="1F2C56"/>
                    </a:solidFill>
                  </a:tcPr>
                </a:tc>
                <a:tc>
                  <a:txBody>
                    <a:bodyPr/>
                    <a:lstStyle/>
                    <a:p>
                      <a:r>
                        <a:rPr sz="1100" b="1">
                          <a:solidFill>
                            <a:srgbClr val="FFFFFF"/>
                          </a:solidFill>
                          <a:latin typeface="Arial"/>
                        </a:rPr>
                        <a:t>Nicht beobachtet</a:t>
                      </a:r>
                    </a:p>
                  </a:txBody>
                  <a:tcPr>
                    <a:solidFill>
                      <a:srgbClr val="1F2C56"/>
                    </a:solidFill>
                  </a:tcPr>
                </a:tc>
              </a:tr>
              <a:tr h="384048">
                <a:tc>
                  <a:txBody>
                    <a:bodyPr/>
                    <a:lstStyle/>
                    <a:p>
                      <a:r>
                        <a:rPr sz="1050">
                          <a:solidFill>
                            <a:srgbClr val="3D5466"/>
                          </a:solidFill>
                          <a:latin typeface="Arial"/>
                        </a:rPr>
                        <a:t>Offene Einstiegsfragen gestellt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Problemfragen aktiv eingesetzt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Implikationsfragen verwendet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Latente Signale aufgegriffen</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Schweigen ausgehalten</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Paraphrase/Zusammenfassung eingesetzt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Zu früh zu Produkten gewechselt (neg.)</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M11</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