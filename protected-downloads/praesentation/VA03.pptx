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AB-2 Musterlösung (Trainer-Version)</a:t>
            </a:r>
          </a:p>
          <a:p>
            <a:r>
              <a:t>1. Einstieg über Suche/Kundenstamm → Kunde „Metallbau Musterregion GmbH" → Engagement-/Kreditübersicht → Bereich Sicherheiten; ergänzend Dokumentenablage für den hinterlegten Vertrag.</a:t>
            </a:r>
          </a:p>
          <a:p>
            <a:r>
              <a:t>2. „Aktuell" beurteilt sich über Vertragsdatum/Version und Übereinstimmung mit dem aktuellen Engagement (z. B. valutierter Kredit, bestellte Grundschuld). Liegt nur eine ältere Version vor → als offenen Punkt behandeln.</a:t>
            </a:r>
          </a:p>
          <a:p>
            <a:r>
              <a:t>3. Rückmeldung an den Berater kurz und faktisch; Dokumentation als Vorgangsnotiz im System, nicht per E-Mail – so ist sie auffindbar und nachvollziehbar.</a:t>
            </a:r>
          </a:p>
          <a:p>
            <a:r>
              <a:t>Trainer-Hinweis: Ziel ist das Prinzip „im System statt daneben". Wenn Teilnehmer sagen „per Zuruf geht das schneller", die Folgekosten sichtbar machen (Was passiert, wenn Sie krank sind und die Kollegin den Vorgang übernimmt?). Menüwege je Installation variieren – nicht den Klickpfad bewerten, sondern ob der richtige Funktionsbereich gewählt wurde.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JetBrains Mono"/>
              </a:rPr>
              <a:t>FKB CAMPUS  ·  FIRMENKUNDENAKADEMIE  ·  VA03</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Source Serif 4"/>
              </a:rPr>
              <a:t>agree im Innendienst effizient nutzen</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Source Serif 4"/>
              </a:rPr>
              <a:t>Die Kern-Workflows des Firmenkunden-Innendiensts sicher und ohne Umwege bedienen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JetBrains Mono"/>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K-A02 Systeme &amp; Prozesse</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JetBrains Mono"/>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Sachbearbeitung</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JetBrains Mono"/>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v0.1</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JetBrains Mono"/>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JetBrains Mono"/>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ÜBERBLICK  ·  VA03</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Doppelte Eingaben, eigene Excel-Listen und Notizzettel kosten im Innendienst täglich Zeit – und schaffen Fehler- und Datenschutzrisiken.</a:t>
            </a:r>
          </a:p>
          <a:p>
            <a:pPr>
              <a:spcAft>
                <a:spcPts val="1200"/>
              </a:spcAft>
            </a:pPr>
            <a:r>
              <a:rPr sz="1700">
                <a:solidFill>
                  <a:srgbClr val="3D5466"/>
                </a:solidFill>
                <a:latin typeface="Arial"/>
              </a:rPr>
              <a:t>In diesem Hands-on-Modul arbeiten Sie die agree-Kernfunktionen für den Firmenkunden-Innendienst gezielt durch: Kunden und Engagements recherchieren, Stammdaten pflegen, Vorgänge revisionssicher dokumentieren und Wiedervorlagen anlegen.</a:t>
            </a:r>
          </a:p>
          <a:p>
            <a:pPr>
              <a:spcAft>
                <a:spcPts val="1200"/>
              </a:spcAft>
            </a:pPr>
            <a:r>
              <a:rPr sz="1700">
                <a:solidFill>
                  <a:srgbClr val="3D5466"/>
                </a:solidFill>
                <a:latin typeface="Arial"/>
              </a:rPr>
              <a:t>Danach erledigen Sie Innendienst-Aufgaben direkt im System – statt an agree vorbei.</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VA03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LERNZIELE  ·  VA03</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Die für den Innendienst relevanten agree-Funktionsbereiche benennen und typische Aufgaben zuordnen</a:t>
            </a:r>
          </a:p>
          <a:p>
            <a:pPr>
              <a:spcBef>
                <a:spcPts val="800"/>
              </a:spcBef>
              <a:spcAft>
                <a:spcPts val="200"/>
              </a:spcAft>
            </a:pPr>
            <a:r>
              <a:rPr sz="1400">
                <a:solidFill>
                  <a:srgbClr val="3D5466"/>
                </a:solidFill>
                <a:latin typeface="Arial"/>
              </a:rPr>
              <a:t>▸  Erklären, warum System-Workarounds (Excel-Listen, Notizzettel) entstehen und welche Risiken sie bergen</a:t>
            </a:r>
          </a:p>
          <a:p>
            <a:pPr>
              <a:spcBef>
                <a:spcPts val="800"/>
              </a:spcBef>
              <a:spcAft>
                <a:spcPts val="200"/>
              </a:spcAft>
            </a:pPr>
            <a:r>
              <a:rPr sz="1400">
                <a:solidFill>
                  <a:srgbClr val="3D5466"/>
                </a:solidFill>
                <a:latin typeface="Arial"/>
              </a:rPr>
              <a:t>▸  Einen Kundenvorgang in agree vollständig recherchieren, ohne beim Berater nachzufragen</a:t>
            </a:r>
          </a:p>
          <a:p>
            <a:pPr>
              <a:spcBef>
                <a:spcPts val="800"/>
              </a:spcBef>
              <a:spcAft>
                <a:spcPts val="200"/>
              </a:spcAft>
            </a:pPr>
            <a:r>
              <a:rPr sz="1400">
                <a:solidFill>
                  <a:srgbClr val="3D5466"/>
                </a:solidFill>
                <a:latin typeface="Arial"/>
              </a:rPr>
              <a:t>▸  Eine Stammdaten-/Adressänderung korrekt und nachvollziehbar im System ausführen</a:t>
            </a:r>
          </a:p>
          <a:p>
            <a:pPr>
              <a:spcBef>
                <a:spcPts val="800"/>
              </a:spcBef>
              <a:spcAft>
                <a:spcPts val="200"/>
              </a:spcAft>
            </a:pPr>
            <a:r>
              <a:rPr sz="1400">
                <a:solidFill>
                  <a:srgbClr val="3D5466"/>
                </a:solidFill>
                <a:latin typeface="Arial"/>
              </a:rPr>
              <a:t>▸  Einen Bearbeitungsschritt revisionssicher im System dokumentieren und eine Wiedervorlage anlegen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VA03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AGENDA  ·  VA03</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400"/>
              </a:spcBef>
              <a:spcAft>
                <a:spcPts val="100"/>
              </a:spcAft>
            </a:pPr>
            <a:r>
              <a:rPr sz="900">
                <a:solidFill>
                  <a:srgbClr val="78808C"/>
                </a:solidFill>
                <a:latin typeface="Consolas"/>
              </a:rPr>
              <a:t>00:00–00:05 </a:t>
            </a:r>
            <a:r>
              <a:rPr sz="1200" b="1">
                <a:solidFill>
                  <a:srgbClr val="3D5466"/>
                </a:solidFill>
                <a:latin typeface="Arial"/>
              </a:rPr>
              <a:t>  Begrüßung &amp; Einstieg</a:t>
            </a:r>
            <a:r>
              <a:rPr sz="900">
                <a:solidFill>
                  <a:srgbClr val="78808C"/>
                </a:solidFill>
                <a:latin typeface="Arial"/>
              </a:rPr>
              <a:t>  ·  Plenum, aktivierende Einstiegsfrage</a:t>
            </a:r>
          </a:p>
          <a:p>
            <a:pPr>
              <a:spcBef>
                <a:spcPts val="400"/>
              </a:spcBef>
              <a:spcAft>
                <a:spcPts val="100"/>
              </a:spcAft>
            </a:pPr>
            <a:r>
              <a:rPr sz="900">
                <a:solidFill>
                  <a:srgbClr val="78808C"/>
                </a:solidFill>
                <a:latin typeface="Consolas"/>
              </a:rPr>
              <a:t>00:05–00:20 </a:t>
            </a:r>
            <a:r>
              <a:rPr sz="1200" b="1">
                <a:solidFill>
                  <a:srgbClr val="3D5466"/>
                </a:solidFill>
                <a:latin typeface="Arial"/>
              </a:rPr>
              <a:t>  Theorie-Input 1: agree als Single Source of Truth</a:t>
            </a:r>
            <a:r>
              <a:rPr sz="900">
                <a:solidFill>
                  <a:srgbClr val="78808C"/>
                </a:solidFill>
                <a:latin typeface="Arial"/>
              </a:rPr>
              <a:t>  ·  Kurzvortrag + Frage-Antwort</a:t>
            </a:r>
          </a:p>
          <a:p>
            <a:pPr>
              <a:spcBef>
                <a:spcPts val="400"/>
              </a:spcBef>
              <a:spcAft>
                <a:spcPts val="100"/>
              </a:spcAft>
            </a:pPr>
            <a:r>
              <a:rPr sz="900">
                <a:solidFill>
                  <a:srgbClr val="78808C"/>
                </a:solidFill>
                <a:latin typeface="Consolas"/>
              </a:rPr>
              <a:t>00:20–00:30 </a:t>
            </a:r>
            <a:r>
              <a:rPr sz="1200" b="1">
                <a:solidFill>
                  <a:srgbClr val="3D5466"/>
                </a:solidFill>
                <a:latin typeface="Arial"/>
              </a:rPr>
              <a:t>  Theorie-Input 2: Warum Workarounds entstehen</a:t>
            </a:r>
            <a:r>
              <a:rPr sz="900">
                <a:solidFill>
                  <a:srgbClr val="78808C"/>
                </a:solidFill>
                <a:latin typeface="Arial"/>
              </a:rPr>
              <a:t>  ·  Kurzvortrag + Frage-Antwort</a:t>
            </a:r>
          </a:p>
          <a:p>
            <a:pPr>
              <a:spcBef>
                <a:spcPts val="400"/>
              </a:spcBef>
              <a:spcAft>
                <a:spcPts val="100"/>
              </a:spcAft>
            </a:pPr>
            <a:r>
              <a:rPr sz="900">
                <a:solidFill>
                  <a:srgbClr val="78808C"/>
                </a:solidFill>
                <a:latin typeface="Consolas"/>
              </a:rPr>
              <a:t>00:30–00:35 </a:t>
            </a:r>
            <a:r>
              <a:rPr sz="1200" b="1">
                <a:solidFill>
                  <a:srgbClr val="3D5466"/>
                </a:solidFill>
                <a:latin typeface="Arial"/>
              </a:rPr>
              <a:t>  Fallübergabe: Metallbau Musterregion GmbH</a:t>
            </a:r>
            <a:r>
              <a:rPr sz="900">
                <a:solidFill>
                  <a:srgbClr val="78808C"/>
                </a:solidFill>
                <a:latin typeface="Arial"/>
              </a:rPr>
              <a:t>  ·  Plenum</a:t>
            </a:r>
          </a:p>
          <a:p>
            <a:pPr>
              <a:spcBef>
                <a:spcPts val="400"/>
              </a:spcBef>
              <a:spcAft>
                <a:spcPts val="100"/>
              </a:spcAft>
            </a:pPr>
            <a:r>
              <a:rPr sz="900">
                <a:solidFill>
                  <a:srgbClr val="78808C"/>
                </a:solidFill>
                <a:latin typeface="Consolas"/>
              </a:rPr>
              <a:t>00:35–00:50 </a:t>
            </a:r>
            <a:r>
              <a:rPr sz="1200" b="1">
                <a:solidFill>
                  <a:srgbClr val="3D5466"/>
                </a:solidFill>
                <a:latin typeface="Arial"/>
              </a:rPr>
              <a:t>  AB-1 &amp; AB-2 am System</a:t>
            </a:r>
            <a:r>
              <a:rPr sz="900">
                <a:solidFill>
                  <a:srgbClr val="78808C"/>
                </a:solidFill>
                <a:latin typeface="Arial"/>
              </a:rPr>
              <a:t>  ·  Einzelarbeit am System</a:t>
            </a:r>
          </a:p>
          <a:p>
            <a:pPr>
              <a:spcBef>
                <a:spcPts val="400"/>
              </a:spcBef>
              <a:spcAft>
                <a:spcPts val="100"/>
              </a:spcAft>
            </a:pPr>
            <a:r>
              <a:rPr sz="900">
                <a:solidFill>
                  <a:srgbClr val="78808C"/>
                </a:solidFill>
                <a:latin typeface="Consolas"/>
              </a:rPr>
              <a:t>00:50–01:00 </a:t>
            </a:r>
            <a:r>
              <a:rPr sz="1200" b="1">
                <a:solidFill>
                  <a:srgbClr val="3D5466"/>
                </a:solidFill>
                <a:latin typeface="Arial"/>
              </a:rPr>
              <a:t>  Plenumsbesprechung AB-1/AB-2</a:t>
            </a:r>
            <a:r>
              <a:rPr sz="900">
                <a:solidFill>
                  <a:srgbClr val="78808C"/>
                </a:solidFill>
                <a:latin typeface="Arial"/>
              </a:rPr>
              <a:t>  ·  Moderierte Diskussion</a:t>
            </a:r>
          </a:p>
          <a:p>
            <a:pPr>
              <a:spcBef>
                <a:spcPts val="400"/>
              </a:spcBef>
              <a:spcAft>
                <a:spcPts val="100"/>
              </a:spcAft>
            </a:pPr>
            <a:r>
              <a:rPr sz="900">
                <a:solidFill>
                  <a:srgbClr val="78808C"/>
                </a:solidFill>
                <a:latin typeface="Consolas"/>
              </a:rPr>
              <a:t>01:00–01:10 </a:t>
            </a:r>
            <a:r>
              <a:rPr sz="1200" b="1">
                <a:solidFill>
                  <a:srgbClr val="3D5466"/>
                </a:solidFill>
                <a:latin typeface="Arial"/>
              </a:rPr>
              <a:t>  AB-3: Workaround-Analyse</a:t>
            </a:r>
            <a:r>
              <a:rPr sz="900">
                <a:solidFill>
                  <a:srgbClr val="78808C"/>
                </a:solidFill>
                <a:latin typeface="Arial"/>
              </a:rPr>
              <a:t>  ·  Einzelarbeit + Plenum</a:t>
            </a:r>
          </a:p>
          <a:p>
            <a:pPr>
              <a:spcBef>
                <a:spcPts val="400"/>
              </a:spcBef>
              <a:spcAft>
                <a:spcPts val="100"/>
              </a:spcAft>
            </a:pPr>
            <a:r>
              <a:rPr sz="900">
                <a:solidFill>
                  <a:srgbClr val="78808C"/>
                </a:solidFill>
                <a:latin typeface="Consolas"/>
              </a:rPr>
              <a:t>01:10–01:20 </a:t>
            </a:r>
            <a:r>
              <a:rPr sz="1200" b="1">
                <a:solidFill>
                  <a:srgbClr val="3D5466"/>
                </a:solidFill>
                <a:latin typeface="Arial"/>
              </a:rPr>
              <a:t>  AB-4: Dokumentieren &amp; Wiedervorlage am System</a:t>
            </a:r>
            <a:r>
              <a:rPr sz="900">
                <a:solidFill>
                  <a:srgbClr val="78808C"/>
                </a:solidFill>
                <a:latin typeface="Arial"/>
              </a:rPr>
              <a:t>  ·  Einzelarbeit am System + Plenum</a:t>
            </a:r>
          </a:p>
          <a:p>
            <a:pPr>
              <a:spcBef>
                <a:spcPts val="400"/>
              </a:spcBef>
              <a:spcAft>
                <a:spcPts val="100"/>
              </a:spcAft>
            </a:pPr>
            <a:r>
              <a:rPr sz="900">
                <a:solidFill>
                  <a:srgbClr val="78808C"/>
                </a:solidFill>
                <a:latin typeface="Consolas"/>
              </a:rPr>
              <a:t>01:20–01:25 </a:t>
            </a:r>
            <a:r>
              <a:rPr sz="1200" b="1">
                <a:solidFill>
                  <a:srgbClr val="3D5466"/>
                </a:solidFill>
                <a:latin typeface="Arial"/>
              </a:rPr>
              <a:t>  Reflexion &amp; Transfer</a:t>
            </a:r>
            <a:r>
              <a:rPr sz="900">
                <a:solidFill>
                  <a:srgbClr val="78808C"/>
                </a:solidFill>
                <a:latin typeface="Arial"/>
              </a:rPr>
              <a:t>  ·  Plenumsgespräch</a:t>
            </a:r>
          </a:p>
          <a:p>
            <a:pPr>
              <a:spcBef>
                <a:spcPts val="400"/>
              </a:spcBef>
              <a:spcAft>
                <a:spcPts val="100"/>
              </a:spcAft>
            </a:pPr>
            <a:r>
              <a:rPr sz="900">
                <a:solidFill>
                  <a:srgbClr val="78808C"/>
                </a:solidFill>
                <a:latin typeface="Consolas"/>
              </a:rPr>
              <a:t>01:25–01:30 </a:t>
            </a:r>
            <a:r>
              <a:rPr sz="1200" b="1">
                <a:solidFill>
                  <a:srgbClr val="3D5466"/>
                </a:solidFill>
                <a:latin typeface="Arial"/>
              </a:rPr>
              <a:t>  Abschluss &amp; Ausblick</a:t>
            </a:r>
            <a:r>
              <a:rPr sz="900">
                <a:solidFill>
                  <a:srgbClr val="78808C"/>
                </a:solidFill>
                <a:latin typeface="Arial"/>
              </a:rPr>
              <a:t>  ·  Plenum</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VA03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VA03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Theorie-Input: agree als Single Source of Truth</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agree-Funktionsbereiche für den Innendienst (funktionsorientiert):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VA03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VA03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Theorie-Input: Warum Workarounds entstehen – und was sie kosten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Doppelpflege: Daten müssen an zwei Stellen gepflegt werden; eine veraltet.</a:t>
            </a:r>
          </a:p>
          <a:p>
            <a:pPr>
              <a:spcBef>
                <a:spcPts val="400"/>
              </a:spcBef>
              <a:spcAft>
                <a:spcPts val="200"/>
              </a:spcAft>
            </a:pPr>
            <a:r>
              <a:rPr sz="1300">
                <a:solidFill>
                  <a:srgbClr val="3D5466"/>
                </a:solidFill>
                <a:latin typeface="Arial"/>
              </a:rPr>
              <a:t>▸  Fehlerquelle: Aus widersprüchlichen Ständen entstehen falsche Auskünfte.</a:t>
            </a:r>
          </a:p>
          <a:p>
            <a:pPr>
              <a:spcBef>
                <a:spcPts val="400"/>
              </a:spcBef>
              <a:spcAft>
                <a:spcPts val="200"/>
              </a:spcAft>
            </a:pPr>
            <a:r>
              <a:rPr sz="1300">
                <a:solidFill>
                  <a:srgbClr val="3D5466"/>
                </a:solidFill>
                <a:latin typeface="Arial"/>
              </a:rPr>
              <a:t>▸  Datenschutz: Personenbezogene Kundendaten außerhalb des Systems sind ein DSGVO-Risiko (Art. 5 Abs. 1 lit. f und Art. 32 DSGVO ). Konkret heißt das: Eine Excel-Liste mit Kundennamen und Kreditbeträgen auf einem privaten Laufwerk oder einem USB-Stick ist ein Datenschutzverstoß, den Ihre Bank im Prüfungsfall melden müsste. Kundendaten gehören ausschließlich ins System.</a:t>
            </a:r>
          </a:p>
          <a:p>
            <a:pPr>
              <a:spcBef>
                <a:spcPts val="400"/>
              </a:spcBef>
              <a:spcAft>
                <a:spcPts val="200"/>
              </a:spcAft>
            </a:pPr>
            <a:r>
              <a:rPr sz="1300">
                <a:solidFill>
                  <a:srgbClr val="3D5466"/>
                </a:solidFill>
                <a:latin typeface="Arial"/>
              </a:rPr>
              <a:t>▸  Kein gemeinsamer Stand: Der Berater sieht Ihre Notiz nicht – Wissen geht verloren.</a:t>
            </a:r>
          </a:p>
          <a:p>
            <a:pPr>
              <a:spcBef>
                <a:spcPts val="400"/>
              </a:spcBef>
              <a:spcAft>
                <a:spcPts val="200"/>
              </a:spcAft>
            </a:pPr>
            <a:r>
              <a:rPr sz="1300">
                <a:solidFill>
                  <a:srgbClr val="3D5466"/>
                </a:solidFill>
                <a:latin typeface="Arial"/>
              </a:rPr>
              <a:t>▸  Die Lösung ist nicht „mehr Disziplin", sondern den Systemweg so zu kennen, dass er der schnellere ist. Genau das üben Sie heute.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VA03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VA03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Praxisfall: Ein Vormittag im Innendienst (Metallbau Musterregion GmbH)</a:t>
            </a:r>
          </a:p>
        </p:txBody>
      </p:sp>
      <p:sp>
        <p:nvSpPr>
          <p:cNvPr id="8" name="TextBox 7"/>
          <p:cNvSpPr txBox="1"/>
          <p:nvPr/>
        </p:nvSpPr>
        <p:spPr>
          <a:xfrm>
            <a:off x="685800" y="1554480"/>
            <a:ext cx="10817352" cy="3840480"/>
          </a:xfrm>
          <a:prstGeom prst="rect">
            <a:avLst/>
          </a:prstGeom>
          <a:noFill/>
        </p:spPr>
        <p:txBody>
          <a:bodyPr wrap="square">
            <a:spAutoFit/>
          </a:bodyPr>
          <a:lstStyle/>
          <a:p>
            <a:pPr>
              <a:spcBef>
                <a:spcPts val="400"/>
              </a:spcBef>
              <a:spcAft>
                <a:spcPts val="200"/>
              </a:spcAft>
            </a:pPr>
            <a:r>
              <a:rPr sz="1400">
                <a:solidFill>
                  <a:srgbClr val="3D5466"/>
                </a:solidFill>
                <a:latin typeface="Arial"/>
              </a:rPr>
              <a:t>▸  Ausgangslage (anonymisiert)</a:t>
            </a:r>
          </a:p>
          <a:p>
            <a:pPr>
              <a:spcBef>
                <a:spcPts val="400"/>
              </a:spcBef>
              <a:spcAft>
                <a:spcPts val="200"/>
              </a:spcAft>
            </a:pPr>
            <a:r>
              <a:rPr sz="1400">
                <a:solidFill>
                  <a:srgbClr val="3D5466"/>
                </a:solidFill>
                <a:latin typeface="Arial"/>
              </a:rPr>
              <a:t>▸  Sie betreuen im Innendienst das Engagement der Metallbau Musterregion GmbH (Hausbank: VR-Bank Musterregion eG). An einem Vormittag laufen drei Vorgänge bei Ihnen auf:</a:t>
            </a:r>
          </a:p>
          <a:p>
            <a:pPr>
              <a:spcBef>
                <a:spcPts val="400"/>
              </a:spcBef>
              <a:spcAft>
                <a:spcPts val="200"/>
              </a:spcAft>
            </a:pPr>
            <a:r>
              <a:rPr sz="1400">
                <a:solidFill>
                  <a:srgbClr val="3D5466"/>
                </a:solidFill>
                <a:latin typeface="Arial"/>
              </a:rPr>
              <a:t>▸  Die Geschäftsführung hat per E-Mail eine neue Geschäftsadresse mitgeteilt.</a:t>
            </a:r>
          </a:p>
          <a:p>
            <a:pPr>
              <a:spcBef>
                <a:spcPts val="400"/>
              </a:spcBef>
              <a:spcAft>
                <a:spcPts val="200"/>
              </a:spcAft>
            </a:pPr>
            <a:r>
              <a:rPr sz="1400">
                <a:solidFill>
                  <a:srgbClr val="3D5466"/>
                </a:solidFill>
                <a:latin typeface="Arial"/>
              </a:rPr>
              <a:t>▸  Der Berater fragt telefonisch, ob der aktuelle Sicherheitenvertrag vorliegt.</a:t>
            </a:r>
          </a:p>
          <a:p>
            <a:pPr>
              <a:spcBef>
                <a:spcPts val="400"/>
              </a:spcBef>
              <a:spcAft>
                <a:spcPts val="200"/>
              </a:spcAft>
            </a:pPr>
            <a:r>
              <a:rPr sz="1400">
                <a:solidFill>
                  <a:srgbClr val="3D5466"/>
                </a:solidFill>
                <a:latin typeface="Arial"/>
              </a:rPr>
              <a:t>▸  Eine BWA wurde zugesagt, ist aber noch nicht eingegangen – das müssen Sie nachhalten.</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VA03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VA03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Reflexionsfragen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Welcher Workaround kostet Sie persönlich am meisten Zeit – und was hält Sie vom Systemweg ab?</a:t>
            </a:r>
          </a:p>
          <a:p>
            <a:pPr>
              <a:spcBef>
                <a:spcPts val="400"/>
              </a:spcBef>
              <a:spcAft>
                <a:spcPts val="200"/>
              </a:spcAft>
            </a:pPr>
            <a:r>
              <a:rPr sz="1300">
                <a:solidFill>
                  <a:srgbClr val="3D5466"/>
                </a:solidFill>
                <a:latin typeface="Arial"/>
              </a:rPr>
              <a:t>▸  Woran merken Sie, dass eine Information „nur in Ihrem Kopf" und nicht im System steht?</a:t>
            </a:r>
          </a:p>
          <a:p>
            <a:pPr>
              <a:spcBef>
                <a:spcPts val="400"/>
              </a:spcBef>
              <a:spcAft>
                <a:spcPts val="200"/>
              </a:spcAft>
            </a:pPr>
            <a:r>
              <a:rPr sz="1300">
                <a:solidFill>
                  <a:srgbClr val="3D5466"/>
                </a:solidFill>
                <a:latin typeface="Arial"/>
              </a:rPr>
              <a:t>▸  Wie würden Sie einer neuen Kollegin in einem Satz erklären, warum alles in agree gehört?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VA03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