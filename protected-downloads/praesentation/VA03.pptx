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aus dem Ablaufplan (Sektion 3.1). Timing und Pausen siehe Trainerhandbuch.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Einstiegsfrage: „Welche Aufgabe erledigen Sie heute noch nicht im System?" Kurze Diskussion: Was passiert, wenn die Kollegin krank ist und die Notiz nirgends im System steht?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Kernbotschaft: ein Datenpunkt, ein Ort. Der gemeinsame Stand ist der eigentliche Wert des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DSGVO greifbar machen: eine Excel-Liste mit Kundennamen und Kreditbeträgen auf privatem Laufwerk oder USB-Stick ist ein meldepflichtiger Verstoß.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Erst zuordnen (AB-1), dann am System recherchieren (AB-2). Trainer beobachtet, ohne einzugreifen; nur bei Navigationsfragen kurz den Weg zeigen.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Revisionssicherheit testen lassen: nach dem Speichern der Vorgangsnotiz prüfen, ob der Text noch änderbar ist – das ist der Test für die eigene Installation.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AB-2 Musterlösung (Trainer-Version)</a:t>
            </a:r>
          </a:p>
          <a:p>
            <a:r>
              <a:t>Guter Lösungsweg: Kunde suchen, Engagement öffnen, Dokumentenablage/Sicherheiten prüfen – ohne beim Berater zurückzufragen.</a:t>
            </a:r>
          </a:p>
          <a:p>
            <a:r>
              <a:t>Trainer-Hinweis: typischer Reflex ist die Rückfrage beim Berater statt der Recherche im System. Genau das sichtbar machen.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Überleitung zum Transfer: die zwei eigenen Workarounds aus AB-3 in die Tabelle von Sec 5.1 eintragen – letzter Systemschritt im Seminar.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Fragen 1 und 3 je eine kurze Runde im Plenum.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817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C8D2E6"/>
                </a:solidFill>
                <a:latin typeface="Consolas"/>
              </a:rPr>
              <a:t>FKB CAMPUS  ·  FIRMENKUNDENAKADEMIE  ·  VA03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173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Arial"/>
              </a:rPr>
              <a:t>agree im Innendienst effizient nutzen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977639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BECDE6"/>
                </a:solidFill>
                <a:latin typeface="Arial"/>
              </a:rPr>
              <a:t>Die Kern-Workflows des Firmenkunden-Innendiensts sicher und ohne Umwege bedienen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029200"/>
            <a:ext cx="10817352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KOMPETENZFELD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K-A02 Systeme &amp; Prozesse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1584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KOMPETENZSTUFE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1584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Sachbearbeitung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7368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7368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v1.0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96A5BE"/>
                </a:solidFill>
                <a:latin typeface="Consolas"/>
              </a:rPr>
              <a:t>FKB Campus  · 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4476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96A5BE"/>
                </a:solidFill>
                <a:latin typeface="Consolas"/>
              </a:rPr>
              <a:t>Trainer-Präsentation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ÜBERBLICK  ·  VA03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Worum geht es heute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97200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Doppelte Eingaben, eigene Excel-Listen und Notizzettel kosten im Innendienst täglich Zeit – und schaffen Fehler- und Datenschutzrisiken.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In diesem Hands-on-Modul arbeiten Sie die agree-Kernfunktionen für den Firmenkunden-Innendienst gezielt durch: Kunden und Engagements recherchieren, Stammdaten pflegen, Vorgänge revisionssicher dokumentieren und Wiedervorlagen anlegen.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Danach erledigen Sie Innendienst-Aufgaben direkt im System – statt an agree vorbei.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LERNZIELE  ·  VA03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Was Sie heute mitnehmen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81735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Die für den Innendienst relevanten agree-Funktionsbereiche benennen und typische Aufgaben zuordnen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Erklären, warum System-Workarounds (Excel-Listen, Notizzettel) entstehen und welche Risiken sie bergen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Einen Kundenvorgang in agree vollständig recherchieren, ohne beim Berater nachzufragen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Eine Stammdaten-/Adressänderung korrekt und nachvollziehbar im System ausführen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Einen Bearbeitungsschritt revisionssicher im System dokumentieren und eine Wiedervorlage anlegen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AGENDA  ·  VA03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So läuft das Modul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1081735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00:00–00:05 </a:t>
            </a:r>
            <a:r>
              <a:rPr sz="1200" b="1">
                <a:solidFill>
                  <a:srgbClr val="3D5466"/>
                </a:solidFill>
                <a:latin typeface="Arial"/>
              </a:rPr>
              <a:t>  Begrüßung &amp; Einstieg</a:t>
            </a:r>
            <a:r>
              <a:rPr sz="900">
                <a:solidFill>
                  <a:srgbClr val="78808C"/>
                </a:solidFill>
                <a:latin typeface="Arial"/>
              </a:rPr>
              <a:t>  ·  Plenum, aktivierende Einstiegsfrage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00:05–00:20 </a:t>
            </a:r>
            <a:r>
              <a:rPr sz="1200" b="1">
                <a:solidFill>
                  <a:srgbClr val="3D5466"/>
                </a:solidFill>
                <a:latin typeface="Arial"/>
              </a:rPr>
              <a:t>  Theorie-Input 1: agree als Single Source of Truth</a:t>
            </a:r>
            <a:r>
              <a:rPr sz="900">
                <a:solidFill>
                  <a:srgbClr val="78808C"/>
                </a:solidFill>
                <a:latin typeface="Arial"/>
              </a:rPr>
              <a:t>  ·  Kurzvortrag + Frage-Antwort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00:20–00:30 </a:t>
            </a:r>
            <a:r>
              <a:rPr sz="1200" b="1">
                <a:solidFill>
                  <a:srgbClr val="3D5466"/>
                </a:solidFill>
                <a:latin typeface="Arial"/>
              </a:rPr>
              <a:t>  Theorie-Input 2: Warum Workarounds entstehen</a:t>
            </a:r>
            <a:r>
              <a:rPr sz="900">
                <a:solidFill>
                  <a:srgbClr val="78808C"/>
                </a:solidFill>
                <a:latin typeface="Arial"/>
              </a:rPr>
              <a:t>  ·  Kurzvortrag + Frage-Antwort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00:30–00:35 </a:t>
            </a:r>
            <a:r>
              <a:rPr sz="1200" b="1">
                <a:solidFill>
                  <a:srgbClr val="3D5466"/>
                </a:solidFill>
                <a:latin typeface="Arial"/>
              </a:rPr>
              <a:t>  Fallübergabe: Metallbau Musterregion GmbH</a:t>
            </a:r>
            <a:r>
              <a:rPr sz="900">
                <a:solidFill>
                  <a:srgbClr val="78808C"/>
                </a:solidFill>
                <a:latin typeface="Arial"/>
              </a:rPr>
              <a:t>  ·  Plenum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00:35–00:50 </a:t>
            </a:r>
            <a:r>
              <a:rPr sz="1200" b="1">
                <a:solidFill>
                  <a:srgbClr val="3D5466"/>
                </a:solidFill>
                <a:latin typeface="Arial"/>
              </a:rPr>
              <a:t>  AB-1 &amp; AB-2 am System</a:t>
            </a:r>
            <a:r>
              <a:rPr sz="900">
                <a:solidFill>
                  <a:srgbClr val="78808C"/>
                </a:solidFill>
                <a:latin typeface="Arial"/>
              </a:rPr>
              <a:t>  ·  Einzelarbeit am System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00:50–01:00 </a:t>
            </a:r>
            <a:r>
              <a:rPr sz="1200" b="1">
                <a:solidFill>
                  <a:srgbClr val="3D5466"/>
                </a:solidFill>
                <a:latin typeface="Arial"/>
              </a:rPr>
              <a:t>  Plenumsbesprechung AB-1/AB-2</a:t>
            </a:r>
            <a:r>
              <a:rPr sz="900">
                <a:solidFill>
                  <a:srgbClr val="78808C"/>
                </a:solidFill>
                <a:latin typeface="Arial"/>
              </a:rPr>
              <a:t>  ·  Moderierte Diskussion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01:00–01:10 </a:t>
            </a:r>
            <a:r>
              <a:rPr sz="1200" b="1">
                <a:solidFill>
                  <a:srgbClr val="3D5466"/>
                </a:solidFill>
                <a:latin typeface="Arial"/>
              </a:rPr>
              <a:t>  AB-3: Workaround-Analyse</a:t>
            </a:r>
            <a:r>
              <a:rPr sz="900">
                <a:solidFill>
                  <a:srgbClr val="78808C"/>
                </a:solidFill>
                <a:latin typeface="Arial"/>
              </a:rPr>
              <a:t>  ·  Einzelarbeit + Plenum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01:10–01:20 </a:t>
            </a:r>
            <a:r>
              <a:rPr sz="1200" b="1">
                <a:solidFill>
                  <a:srgbClr val="3D5466"/>
                </a:solidFill>
                <a:latin typeface="Arial"/>
              </a:rPr>
              <a:t>  AB-4: Dokumentieren &amp; Wiedervorlage am System</a:t>
            </a:r>
            <a:r>
              <a:rPr sz="900">
                <a:solidFill>
                  <a:srgbClr val="78808C"/>
                </a:solidFill>
                <a:latin typeface="Arial"/>
              </a:rPr>
              <a:t>  ·  Einzelarbeit am System + Plenum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01:20–01:25 </a:t>
            </a:r>
            <a:r>
              <a:rPr sz="1200" b="1">
                <a:solidFill>
                  <a:srgbClr val="3D5466"/>
                </a:solidFill>
                <a:latin typeface="Arial"/>
              </a:rPr>
              <a:t>  Reflexion &amp; Transfer</a:t>
            </a:r>
            <a:r>
              <a:rPr sz="900">
                <a:solidFill>
                  <a:srgbClr val="78808C"/>
                </a:solidFill>
                <a:latin typeface="Arial"/>
              </a:rPr>
              <a:t>  ·  Plenumsgespräch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01:25–01:30 </a:t>
            </a:r>
            <a:r>
              <a:rPr sz="1200" b="1">
                <a:solidFill>
                  <a:srgbClr val="3D5466"/>
                </a:solidFill>
                <a:latin typeface="Arial"/>
              </a:rPr>
              <a:t>  Abschluss &amp; Ausblick</a:t>
            </a:r>
            <a:r>
              <a:rPr sz="900">
                <a:solidFill>
                  <a:srgbClr val="78808C"/>
                </a:solidFill>
                <a:latin typeface="Arial"/>
              </a:rPr>
              <a:t>  ·  Plenum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00:05–00:20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Theorie-Input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agree als eine Wahrheit verstehen – ein Datenpunkt, ein 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VA03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VA03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agree als Single Source of Truth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Ein Datenpunkt – ein Ort. Wer den Vorgang im System führt, macht ihn nachvollziehbar, vertretbar und prüfsicher.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Das Kernbankverfahren bildet alle Innendienst-Aufgaben ab: Stammdaten, Engagement, Vorgänge, Dokumente, Suche, Auswertungen.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Jede Information hat genau einen richtigen Platz im System – nicht auf einem Notizzettel daneben.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Wer im System führt, ist auch bei Urlaub oder Krankheit vertretbar: die Kollegin sieht denselben Stand.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VA03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agree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463" y="1325880"/>
            <a:ext cx="8170026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00:20–00:30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Theorie-Input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Verstehen, warum Workarounds entstehen – und was sie wirklich kosten.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VA03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VA03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Warum Workarounds entstehen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Ein System wird genutzt, wenn es nützlich und bedienbar ist (Davis, 1989). Ein Workaround ist ein Signal, kein Charakterfehler.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DIE VIER VERSTECKTEN KOSTEN EINER PARALLELLISTE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Doppelpflege – dieselben Daten an zwei Stellen; eine veraltet.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Fehlerquelle – aus widersprüchlichen Ständen entstehen falsche Auskünfte.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Datenschutz – Kundendaten außerhalb des Systems sind ein DSGVO-Risiko (Art. 5, 32 DSGVO).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Kein gemeinsamer Stand – der Berater sieht die Notiz nicht, Wissen geht verloren.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VA03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Was ein Workaround wirklich kostet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463" y="1325880"/>
            <a:ext cx="8170026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00:30–01:20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Fallübergabe &amp; Fallarbeit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Ein Innendienst-Vormittag bei der Metallbau Musterregion GmbH – drei Vorgänge, ein System.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VA03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VA03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Praxisfall: Ein Vormittag im Innendienst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DER FALL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Sie betreuen das Engagement der Metallbau Musterregion GmbH (Hausbank VR-Bank Musterregion eG).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An einem Vormittag laufen drei Vorgänge auf: eine Beraternachfrage, eine Adressänderung und eine fehlende BWA.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IHRE AUFGABE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Bearbeiten Sie alle drei Vorgänge vollständig in agree – ohne Notizzettel, ohne Rückfrage beim Berater.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VA03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Handlungsempfehlung: statt Workaround ins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Wenn eine Information mündlich oder per Notiz hereinkommt — dann sie direkt im System erfassen und dem Vorgang zuordnen (eine Wahrheit).</a:t>
            </a:r>
          </a:p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Wenn eine Aufgabe später erledigt werden muss — dann eine Wiedervorlage mit Frist anlegen, statt sie im Kopf zu behalten.</a:t>
            </a:r>
          </a:p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Wenn Kundendaten in einer Liste außerhalb des Systems stehen — dann sie ins System überführen und die Liste löschen (DSGVO).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VA03  ·  ARBEITSBLATT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Praxisfall bearbeiten: Vorgänge in agree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108173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Ordnen Sie die drei Vorgänge den Funktionsbereichen zu, bevor Sie das System öffnen (AB-1).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Bearbeiten Sie die Beraternachfrage („Liegt der aktuelle Sicherheitenvertrag vor?") vollständig in agree (AB-2).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Notieren Sie zwei eigene Workarounds mit Risiko und agree-Lösung (AB-3).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Erfassen Sie die Adressänderung und legen Sie für die fehlende BWA eine Wiedervorlage an (AB-4).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5486400"/>
            <a:ext cx="10817352" cy="64008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596128"/>
            <a:ext cx="10451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→  Bearbeitung im Teilnehmer-Workbook (Arbeitsblatt mit Ausfüllfeldern)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VA03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Prinzip dieses Moduls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Jeder Workaround ist ein verstecktes Risiko.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Excel-Listen und Notizzettel umgehen das System – wer den Vorgang in agree führt, macht ihn nachvollziehbar und prüfsicher.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VA03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Reflexionsfragen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Welchen Workaround nutzen Sie am häufigsten – und welches Problem löst er, das agree (noch) nicht löst?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Woran erkennen Sie, dass eine Information ins System gehört und nicht auf einen Notizzettel?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Wie würden Sie einer neuen Kollegin erklären, warum die Excel-Liste ein Risiko ist?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