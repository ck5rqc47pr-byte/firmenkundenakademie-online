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aus dem Ablaufplan (Sektion 3.1). Timing und Pausen siehe Trainerhandbuch.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Einstiegsfrage: 'Welches Format führen Sie häufiger – Ziel- oder Steuerungsgespräch?' – 2–3 Antworten zulassen.</a:t>
            </a:r>
          </a:p>
          <a:p>
            <a:r>
              <a:t>Flipchart-Nennungen aus Blitzlicht-Runde (0–15 Min.) hier aufgreifen.</a:t>
            </a:r>
          </a:p>
          <a:p>
            <a:r>
              <a:t>Merksatz für Flipchart: 'Das Zielgespräch klärt, was erreicht werden soll. Das Steuerungsgespräch klärt, wie der Weg korrigiert werden kann.'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Zeile 'Bezug zu TL04' bewusst weggelassen – das kennen alle aus dem Vorgänger-Modul.</a:t>
            </a:r>
          </a:p>
          <a:p>
            <a:r>
              <a:t>Folgefrage: 'Was passiert, wenn Sie das Steuerungsgespräch führen, aber das Zielgespräch am Periodenbeginn nie klar war?'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Kritische Nachfrage antizipieren: 'Aber bei uns gibt es nichts zu vereinbaren – die Zahlen kommen von oben.' → Antwort: Ziel nicht verhandelbar, Weg sehr wohl.</a:t>
            </a:r>
          </a:p>
          <a:p>
            <a:r>
              <a:t>Moderationsantwort auf diesen Einwand: 'Locke &amp; Latham zeigen: Partizipation beim Weg erhöht Zielbindung – auch bei vorgegebenen Zielen.'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SMART-Aktivierungsfrage: 'Wer kennt SMART?' – fast alle. 'Wer hat in den letzten 6 Monaten ein SMART-Ziel mit einem Berater vereinbart?' – erheblich weniger.</a:t>
            </a:r>
          </a:p>
          <a:p>
            <a:r>
              <a:t>Diese Diskrepanz zwischen Kenntnis und Anwendung ist der Einstieg in die kritische Einordnung.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Beispiel gemeinsam im Plenum entwickeln: Ein TN nennt ein aktuelles Ziel aus dem eigenen Team – gemeinsam SMART-Check machen.</a:t>
            </a:r>
          </a:p>
          <a:p>
            <a:r>
              <a:t>Kritische Einordnung sofort anschließen: SMART für quantifizierbare Aktivitäten stark; für Beratungsqualität und Kundenbindung ergänzend qualitative Maßstäbe nötig (Watzka, 2014).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Quelle: Schreyögg &amp; Koch (2020): 'you get what you measure'.</a:t>
            </a:r>
          </a:p>
          <a:p>
            <a:r>
              <a:t>Dieser Abschnitt schließt an TL04-Befunde zu dysfunktionaler Kennzahlensteuerung an – explizit benennen.</a:t>
            </a:r>
          </a:p>
          <a:p>
            <a:r>
              <a:t>Formulierungshilfe: 'SMART ist ein nützliches Handwerkzeug, kein Erfolgsgarant. Wer nur misst, was er zählen kann, misst am Ende möglicherweise das Falsche.'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TN lesen den Fall still (4 Min.), dann Plenumsfrage: 'Was macht dieses Gespräch schwieriger als ein normales Steuerungsgespräch?'</a:t>
            </a:r>
          </a:p>
          <a:p>
            <a:r>
              <a:t>Lenkung auf drei Analysefragen: Was kann Kathrin ehrlich sagen? Was liegt in Markus' Gestaltungsbereich? Was braucht Markus von diesem Gespräch?</a:t>
            </a:r>
          </a:p>
          <a:p>
            <a:r>
              <a:t>Stille nach 'Was würden Sie als Kathrin sagen?' aushalten – das ist der Lernort.</a:t>
            </a:r>
          </a:p>
          <a:p>
            <a:r>
              <a:t>Häufigste Fehlantwort im Raum: Ziel relativieren oder 'realistisch nach unten verhandeln' → direkt eingreifen: Was wäre die Konsequenz für Kathrins Glaubwürdigkeit?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Formulierungsbeispiel aus dem Modul vorlesen (Sec 4): 'Das Ziel ist gesetzt, und ich stehe dazu – auch wenn ich weiß, dass es ambitioniert ist. Lass uns besprechen, wie wir das gemeinsam angehen.'</a:t>
            </a:r>
          </a:p>
          <a:p>
            <a:r>
              <a:t>Wichtig: Wenn Ziel für sachlich falsch gehalten → zuerst intern eskalieren, DANN Berater-Gespräch. Diese Reihenfolge klar benennen.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Timo-Szenario als Fallszenario (6 Monate, weit hinter Plan – noch nicht angesprochen).</a:t>
            </a:r>
          </a:p>
          <a:p>
            <a:r>
              <a:t>Zwischenerinnerung nach 12 Min.: 'Prüfen Sie: Ist Ihr Einstiegssatz eine Frage oder eine Aussage?'</a:t>
            </a:r>
          </a:p>
          <a:p>
            <a:r>
              <a:t>Nach Einzelarbeit: 2-Min.-Blitzauswertung im Plenum – ein TN nennt seine Kernhypothese.</a:t>
            </a:r>
          </a:p>
          <a:p>
            <a:r>
              <a:t>Kollegiale Fallberatung (25 Min.) in 3–4er-Gruppen: Schritt 5 (schwierige Konstellation) gemeinsam bearbeiten. Timo-Szenario als Hauptfall planen – eigene Fälle als Bonus.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Sandra-Szenario: 8 Jahre FK, stärkste Abschlussquote, aber Anlassgespräche konstant halbiert (5 von Ziel 10). Halbjahres-Zielgespräch.</a:t>
            </a:r>
          </a:p>
          <a:p>
            <a:r>
              <a:t>Sprachcheck-Instruktion: 'Wenn ich als Berater diesen Satz höre – will ich antworten und mitdenken, oder will ich mich verteidigen?' Kein Rollenspiel – es geht um den Text.</a:t>
            </a:r>
          </a:p>
          <a:p>
            <a:r>
              <a:t>Zwischenerinnerung nach 10 Min.: Einstiegssatz muss drei Elemente enthalten: Stärke anerkennen, Entwicklungsfrage benennen, gemeinsame Arbeit einladen.</a:t>
            </a:r>
          </a:p>
          <a:p>
            <a:r>
              <a:t>Plenum-Auswertung (205–215 Min.): Erste vs. zweite Version vergleichen – was hat der Sprachcheck konkret verändert?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Selbstcheck (Sec 5) in Stille ausfüllen (4 Min.): Welche Frage ist die unbequemste?</a:t>
            </a:r>
          </a:p>
          <a:p>
            <a:r>
              <a:t>Plenumsfrage: 'Was nehme ich heute Nachmittag mit – eine konkrete Handlung bis Ende dieser Woche?' Lassen Sie 2–3 TN antworten.</a:t>
            </a:r>
          </a:p>
          <a:p>
            <a:r>
              <a:t>Transferaufgabe 3 besonders betonen: schwierige Konstellation aus dem eigenen Team – das ist der Brückenfall zu TL06.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Greenleaf (1977): 'Wachsen die Menschen, denen Sie führend begegnen?'</a:t>
            </a:r>
          </a:p>
          <a:p>
            <a:r>
              <a:t>Verbindung zur genossenschaftlichen Haltung: nicht ideeller Anspruch, sondern praktischer Prüfstein nach jedem Gespräch.</a:t>
            </a:r>
          </a:p>
          <a:p>
            <a:r>
              <a:t>Überleitung zu TL06: 'Wenn ein Berater das dritte Mal einen vereinbarten Schritt nicht umsetzt – dann reicht die Entwicklungsstruktur von TL05 nicht mehr. TL06 gibt das Konsequenzformat.'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4864"/>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201168"/>
            <a:ext cx="10817352" cy="256032"/>
          </a:xfrm>
          <a:prstGeom prst="rect">
            <a:avLst/>
          </a:prstGeom>
          <a:noFill/>
        </p:spPr>
        <p:txBody>
          <a:bodyPr wrap="none">
            <a:spAutoFit/>
          </a:bodyPr>
          <a:lstStyle/>
          <a:p>
            <a:pPr algn="l"/>
            <a:r>
              <a:rPr sz="800">
                <a:solidFill>
                  <a:srgbClr val="C8D2E6"/>
                </a:solidFill>
                <a:latin typeface="Consolas"/>
              </a:rPr>
              <a:t>FKB CAMPUS  ·  FIRMENKUNDENAKADEMIE  ·  TL05</a:t>
            </a:r>
          </a:p>
        </p:txBody>
      </p:sp>
      <p:sp>
        <p:nvSpPr>
          <p:cNvPr id="5" name="TextBox 4"/>
          <p:cNvSpPr txBox="1"/>
          <p:nvPr/>
        </p:nvSpPr>
        <p:spPr>
          <a:xfrm>
            <a:off x="685800" y="1828800"/>
            <a:ext cx="10817352" cy="2011680"/>
          </a:xfrm>
          <a:prstGeom prst="rect">
            <a:avLst/>
          </a:prstGeom>
          <a:noFill/>
        </p:spPr>
        <p:txBody>
          <a:bodyPr wrap="square">
            <a:spAutoFit/>
          </a:bodyPr>
          <a:lstStyle/>
          <a:p>
            <a:pPr algn="l"/>
            <a:r>
              <a:rPr sz="4600" b="1" i="0">
                <a:solidFill>
                  <a:srgbClr val="FFFFFF"/>
                </a:solidFill>
                <a:latin typeface="Arial"/>
              </a:rPr>
              <a:t>Ziel- und Steuerungsgespräche wirksam führen</a:t>
            </a:r>
          </a:p>
        </p:txBody>
      </p:sp>
      <p:sp>
        <p:nvSpPr>
          <p:cNvPr id="6" name="TextBox 5"/>
          <p:cNvSpPr txBox="1"/>
          <p:nvPr/>
        </p:nvSpPr>
        <p:spPr>
          <a:xfrm>
            <a:off x="685800" y="3977639"/>
            <a:ext cx="10817352" cy="731520"/>
          </a:xfrm>
          <a:prstGeom prst="rect">
            <a:avLst/>
          </a:prstGeom>
          <a:noFill/>
        </p:spPr>
        <p:txBody>
          <a:bodyPr wrap="square">
            <a:spAutoFit/>
          </a:bodyPr>
          <a:lstStyle/>
          <a:p>
            <a:pPr algn="l"/>
            <a:r>
              <a:rPr sz="1900" b="0" i="1">
                <a:solidFill>
                  <a:srgbClr val="BECDE6"/>
                </a:solidFill>
                <a:latin typeface="Arial"/>
              </a:rPr>
              <a:t>Vom Cockpit-Befund zum wirksamen Gespräch – Ziele vereinbaren, Entwicklung begleiten, Verbindlichkeit herstellen</a:t>
            </a:r>
          </a:p>
        </p:txBody>
      </p:sp>
      <p:sp>
        <p:nvSpPr>
          <p:cNvPr id="7" name="Rectangle 6"/>
          <p:cNvSpPr/>
          <p:nvPr/>
        </p:nvSpPr>
        <p:spPr>
          <a:xfrm>
            <a:off x="685800" y="5029200"/>
            <a:ext cx="10817352" cy="1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193792"/>
            <a:ext cx="3605784" cy="201168"/>
          </a:xfrm>
          <a:prstGeom prst="rect">
            <a:avLst/>
          </a:prstGeom>
          <a:noFill/>
        </p:spPr>
        <p:txBody>
          <a:bodyPr wrap="none">
            <a:spAutoFit/>
          </a:bodyPr>
          <a:lstStyle/>
          <a:p>
            <a:pPr algn="l"/>
            <a:r>
              <a:rPr sz="700">
                <a:solidFill>
                  <a:srgbClr val="A0B4D2"/>
                </a:solidFill>
                <a:latin typeface="Consolas"/>
              </a:rPr>
              <a:t>KOMPETENZFELD</a:t>
            </a:r>
          </a:p>
        </p:txBody>
      </p:sp>
      <p:sp>
        <p:nvSpPr>
          <p:cNvPr id="9" name="TextBox 8"/>
          <p:cNvSpPr txBox="1"/>
          <p:nvPr/>
        </p:nvSpPr>
        <p:spPr>
          <a:xfrm>
            <a:off x="685800" y="5394960"/>
            <a:ext cx="3605784" cy="320040"/>
          </a:xfrm>
          <a:prstGeom prst="rect">
            <a:avLst/>
          </a:prstGeom>
          <a:noFill/>
        </p:spPr>
        <p:txBody>
          <a:bodyPr wrap="square">
            <a:spAutoFit/>
          </a:bodyPr>
          <a:lstStyle/>
          <a:p>
            <a:pPr algn="l"/>
            <a:r>
              <a:rPr sz="1100" b="0" i="0">
                <a:solidFill>
                  <a:srgbClr val="FFFFFF"/>
                </a:solidFill>
                <a:latin typeface="Arial"/>
              </a:rPr>
              <a:t>K-F02 Vertriebssteuerung &amp; Cockpit</a:t>
            </a:r>
          </a:p>
        </p:txBody>
      </p:sp>
      <p:sp>
        <p:nvSpPr>
          <p:cNvPr id="10" name="TextBox 9"/>
          <p:cNvSpPr txBox="1"/>
          <p:nvPr/>
        </p:nvSpPr>
        <p:spPr>
          <a:xfrm>
            <a:off x="4291584" y="5193792"/>
            <a:ext cx="3605784" cy="201168"/>
          </a:xfrm>
          <a:prstGeom prst="rect">
            <a:avLst/>
          </a:prstGeom>
          <a:noFill/>
        </p:spPr>
        <p:txBody>
          <a:bodyPr wrap="none">
            <a:spAutoFit/>
          </a:bodyPr>
          <a:lstStyle/>
          <a:p>
            <a:pPr algn="l"/>
            <a:r>
              <a:rPr sz="700">
                <a:solidFill>
                  <a:srgbClr val="A0B4D2"/>
                </a:solidFill>
                <a:latin typeface="Consolas"/>
              </a:rPr>
              <a:t>KOMPETENZSTUFE</a:t>
            </a:r>
          </a:p>
        </p:txBody>
      </p:sp>
      <p:sp>
        <p:nvSpPr>
          <p:cNvPr id="11" name="TextBox 10"/>
          <p:cNvSpPr txBox="1"/>
          <p:nvPr/>
        </p:nvSpPr>
        <p:spPr>
          <a:xfrm>
            <a:off x="4291584" y="5394960"/>
            <a:ext cx="3605784" cy="320040"/>
          </a:xfrm>
          <a:prstGeom prst="rect">
            <a:avLst/>
          </a:prstGeom>
          <a:noFill/>
        </p:spPr>
        <p:txBody>
          <a:bodyPr wrap="square">
            <a:spAutoFit/>
          </a:bodyPr>
          <a:lstStyle/>
          <a:p>
            <a:pPr algn="l"/>
            <a:r>
              <a:rPr sz="1100" b="0" i="0">
                <a:solidFill>
                  <a:srgbClr val="FFFFFF"/>
                </a:solidFill>
                <a:latin typeface="Arial"/>
              </a:rPr>
              <a:t>Führungscoach</a:t>
            </a:r>
          </a:p>
        </p:txBody>
      </p:sp>
      <p:sp>
        <p:nvSpPr>
          <p:cNvPr id="12" name="TextBox 11"/>
          <p:cNvSpPr txBox="1"/>
          <p:nvPr/>
        </p:nvSpPr>
        <p:spPr>
          <a:xfrm>
            <a:off x="7897368" y="5193792"/>
            <a:ext cx="3605784" cy="201168"/>
          </a:xfrm>
          <a:prstGeom prst="rect">
            <a:avLst/>
          </a:prstGeom>
          <a:noFill/>
        </p:spPr>
        <p:txBody>
          <a:bodyPr wrap="none">
            <a:spAutoFit/>
          </a:bodyPr>
          <a:lstStyle/>
          <a:p>
            <a:pPr algn="l"/>
            <a:r>
              <a:rPr sz="700">
                <a:solidFill>
                  <a:srgbClr val="A0B4D2"/>
                </a:solidFill>
                <a:latin typeface="Consolas"/>
              </a:rPr>
              <a:t>VERSION</a:t>
            </a:r>
          </a:p>
        </p:txBody>
      </p:sp>
      <p:sp>
        <p:nvSpPr>
          <p:cNvPr id="13" name="TextBox 12"/>
          <p:cNvSpPr txBox="1"/>
          <p:nvPr/>
        </p:nvSpPr>
        <p:spPr>
          <a:xfrm>
            <a:off x="7897368" y="5394960"/>
            <a:ext cx="3605784" cy="320040"/>
          </a:xfrm>
          <a:prstGeom prst="rect">
            <a:avLst/>
          </a:prstGeom>
          <a:noFill/>
        </p:spPr>
        <p:txBody>
          <a:bodyPr wrap="square">
            <a:spAutoFit/>
          </a:bodyPr>
          <a:lstStyle/>
          <a:p>
            <a:pPr algn="l"/>
            <a:r>
              <a:rPr sz="1100" b="0" i="0">
                <a:solidFill>
                  <a:srgbClr val="FFFFFF"/>
                </a:solidFill>
                <a:latin typeface="Arial"/>
              </a:rPr>
              <a:t>v1.0</a:t>
            </a:r>
          </a:p>
        </p:txBody>
      </p:sp>
      <p:sp>
        <p:nvSpPr>
          <p:cNvPr id="14" name="Rectangle 13"/>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6583680"/>
            <a:ext cx="5408676" cy="256032"/>
          </a:xfrm>
          <a:prstGeom prst="rect">
            <a:avLst/>
          </a:prstGeom>
          <a:noFill/>
        </p:spPr>
        <p:txBody>
          <a:bodyPr wrap="none">
            <a:spAutoFit/>
          </a:bodyPr>
          <a:lstStyle/>
          <a:p>
            <a:pPr algn="l"/>
            <a:r>
              <a:rPr sz="700">
                <a:solidFill>
                  <a:srgbClr val="96A5BE"/>
                </a:solidFill>
                <a:latin typeface="Consolas"/>
              </a:rPr>
              <a:t>FKB Campus  ·  2026</a:t>
            </a:r>
          </a:p>
        </p:txBody>
      </p:sp>
      <p:sp>
        <p:nvSpPr>
          <p:cNvPr id="16" name="TextBox 15"/>
          <p:cNvSpPr txBox="1"/>
          <p:nvPr/>
        </p:nvSpPr>
        <p:spPr>
          <a:xfrm>
            <a:off x="6094476" y="6583680"/>
            <a:ext cx="5408676" cy="256032"/>
          </a:xfrm>
          <a:prstGeom prst="rect">
            <a:avLst/>
          </a:prstGeom>
          <a:noFill/>
        </p:spPr>
        <p:txBody>
          <a:bodyPr wrap="none">
            <a:spAutoFit/>
          </a:bodyPr>
          <a:lstStyle/>
          <a:p>
            <a:pPr algn="r"/>
            <a:r>
              <a:rPr sz="700">
                <a:solidFill>
                  <a:srgbClr val="96A5BE"/>
                </a:solidFill>
                <a:latin typeface="Consolas"/>
              </a:rPr>
              <a:t>Trainer-Präsentation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ÜBERBLICK  ·  TL05</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Worum geht es heute</a:t>
            </a:r>
          </a:p>
        </p:txBody>
      </p:sp>
      <p:sp>
        <p:nvSpPr>
          <p:cNvPr id="7" name="TextBox 6"/>
          <p:cNvSpPr txBox="1"/>
          <p:nvPr/>
        </p:nvSpPr>
        <p:spPr>
          <a:xfrm>
            <a:off x="685800" y="1737360"/>
            <a:ext cx="9720072" cy="4206240"/>
          </a:xfrm>
          <a:prstGeom prst="rect">
            <a:avLst/>
          </a:prstGeom>
          <a:noFill/>
        </p:spPr>
        <p:txBody>
          <a:bodyPr wrap="square">
            <a:spAutoFit/>
          </a:bodyPr>
          <a:lstStyle/>
          <a:p>
            <a:pPr>
              <a:spcAft>
                <a:spcPts val="1200"/>
              </a:spcAft>
            </a:pPr>
            <a:r>
              <a:rPr sz="1700">
                <a:solidFill>
                  <a:srgbClr val="3D5466"/>
                </a:solidFill>
                <a:latin typeface="Arial"/>
              </a:rPr>
              <a:t>TL04 lehrte, das Cockpit zu lesen und eine Diagnose zu bilden.</a:t>
            </a:r>
          </a:p>
          <a:p>
            <a:pPr>
              <a:spcAft>
                <a:spcPts val="1200"/>
              </a:spcAft>
            </a:pPr>
            <a:r>
              <a:rPr sz="1700">
                <a:solidFill>
                  <a:srgbClr val="3D5466"/>
                </a:solidFill>
                <a:latin typeface="Arial"/>
              </a:rPr>
              <a:t>TL05 baut die entscheidende nächste Kompetenz: das wirksame Führungsgespräch, das aus der Diagnose folgt.</a:t>
            </a:r>
          </a:p>
          <a:p>
            <a:pPr>
              <a:spcAft>
                <a:spcPts val="1200"/>
              </a:spcAft>
            </a:pPr>
            <a:r>
              <a:rPr sz="1700">
                <a:solidFill>
                  <a:srgbClr val="3D5466"/>
                </a:solidFill>
                <a:latin typeface="Arial"/>
              </a:rPr>
              <a:t>Führungscoachs lernen den Unterschied zwischen Zielvereinbarung und Steuerungsgespräch, zwischen Zielvorgabe und partizipativer Zielvereinbarung – und erarbeiten eine Gesprächsstruktur, die steuert UND entwickelt.</a:t>
            </a:r>
          </a:p>
          <a:p>
            <a:pPr>
              <a:spcAft>
                <a:spcPts val="1200"/>
              </a:spcAft>
            </a:pPr>
            <a:r>
              <a:rPr sz="1700">
                <a:solidFill>
                  <a:srgbClr val="3D5466"/>
                </a:solidFill>
                <a:latin typeface="Arial"/>
              </a:rPr>
              <a:t>Schwerpunkt: die schwierige Konstellation, wenn Ziele von oben als unrealistisch erlebt werden, und die Frage, wie ein Teamleiter dabei seiner doppelten Loyalität gerecht wird.</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LERNZIELE  ·  TL05</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Was Sie heute mitnehmen</a:t>
            </a:r>
          </a:p>
        </p:txBody>
      </p:sp>
      <p:sp>
        <p:nvSpPr>
          <p:cNvPr id="7" name="TextBox 6"/>
          <p:cNvSpPr txBox="1"/>
          <p:nvPr/>
        </p:nvSpPr>
        <p:spPr>
          <a:xfrm>
            <a:off x="685800" y="1371600"/>
            <a:ext cx="10817352" cy="5120640"/>
          </a:xfrm>
          <a:prstGeom prst="rect">
            <a:avLst/>
          </a:prstGeom>
          <a:noFill/>
        </p:spPr>
        <p:txBody>
          <a:bodyPr wrap="square">
            <a:spAutoFit/>
          </a:bodyPr>
          <a:lstStyle/>
          <a:p>
            <a:pPr>
              <a:spcBef>
                <a:spcPts val="800"/>
              </a:spcBef>
              <a:spcAft>
                <a:spcPts val="200"/>
              </a:spcAft>
            </a:pPr>
            <a:r>
              <a:rPr sz="1400">
                <a:solidFill>
                  <a:srgbClr val="3D5466"/>
                </a:solidFill>
                <a:latin typeface="Arial"/>
              </a:rPr>
              <a:t>▸  Zielgespräch und Steuerungsgespräch klar voneinander abgrenzen, Zielvorgabe und Zielvereinbarung hinsichtlich ihrer Wirkung auf Motivation und Verbindlichkeit analysieren und situationsgerecht einsetzen</a:t>
            </a:r>
          </a:p>
          <a:p>
            <a:pPr>
              <a:spcBef>
                <a:spcPts val="800"/>
              </a:spcBef>
              <a:spcAft>
                <a:spcPts val="200"/>
              </a:spcAft>
            </a:pPr>
            <a:r>
              <a:rPr sz="1400">
                <a:solidFill>
                  <a:srgbClr val="3D5466"/>
                </a:solidFill>
                <a:latin typeface="Arial"/>
              </a:rPr>
              <a:t>▸  Die Zielsetzungstheorie (Locke &amp; Latham) und SMART-Kriterien auf eine konkrete Berater-Zielsituation anwenden und eine motivationswirksame, messbare Zielformulierung entwickeln</a:t>
            </a:r>
          </a:p>
          <a:p>
            <a:pPr>
              <a:spcBef>
                <a:spcPts val="800"/>
              </a:spcBef>
              <a:spcAft>
                <a:spcPts val="200"/>
              </a:spcAft>
            </a:pPr>
            <a:r>
              <a:rPr sz="1400">
                <a:solidFill>
                  <a:srgbClr val="3D5466"/>
                </a:solidFill>
                <a:latin typeface="Arial"/>
              </a:rPr>
              <a:t>▸  Ein Steuerungs- oder Zielgespräch anhand der fünfschrittigen Gesprächsstruktur (Vorbereitung, Einstieg, Lagebewertung, Zielklärung/Maßnahmen, Verbindlichkeit) strukturiert vorbereiten</a:t>
            </a:r>
          </a:p>
          <a:p>
            <a:pPr>
              <a:spcBef>
                <a:spcPts val="800"/>
              </a:spcBef>
              <a:spcAft>
                <a:spcPts val="200"/>
              </a:spcAft>
            </a:pPr>
            <a:r>
              <a:rPr sz="1400">
                <a:solidFill>
                  <a:srgbClr val="3D5466"/>
                </a:solidFill>
                <a:latin typeface="Arial"/>
              </a:rPr>
              <a:t>▸  Eine schwierige Konstellation – von oben vorgegebene Ziele, die als unrealistisch erlebt werden – analysieren, die eigene Positionierung (doppelte Loyalität) klären und einen entwicklungsorientierten Gesprächseinstieg formulieren</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AGENDA  ·  TL05</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502920"/>
            <a:ext cx="10817352" cy="658368"/>
          </a:xfrm>
          <a:prstGeom prst="rect">
            <a:avLst/>
          </a:prstGeom>
          <a:noFill/>
        </p:spPr>
        <p:txBody>
          <a:bodyPr wrap="square">
            <a:spAutoFit/>
          </a:bodyPr>
          <a:lstStyle/>
          <a:p>
            <a:pPr algn="l"/>
            <a:r>
              <a:rPr sz="2600" b="1" i="0">
                <a:solidFill>
                  <a:srgbClr val="1F2C56"/>
                </a:solidFill>
                <a:latin typeface="Arial"/>
              </a:rPr>
              <a:t>So läuft das Modul</a:t>
            </a:r>
          </a:p>
        </p:txBody>
      </p:sp>
      <p:sp>
        <p:nvSpPr>
          <p:cNvPr id="7" name="TextBox 6"/>
          <p:cNvSpPr txBox="1"/>
          <p:nvPr/>
        </p:nvSpPr>
        <p:spPr>
          <a:xfrm>
            <a:off x="685800" y="1463040"/>
            <a:ext cx="10817352" cy="4937760"/>
          </a:xfrm>
          <a:prstGeom prst="rect">
            <a:avLst/>
          </a:prstGeom>
          <a:noFill/>
        </p:spPr>
        <p:txBody>
          <a:bodyPr wrap="square">
            <a:spAutoFit/>
          </a:bodyPr>
          <a:lstStyle/>
          <a:p>
            <a:pPr>
              <a:spcBef>
                <a:spcPts val="400"/>
              </a:spcBef>
              <a:spcAft>
                <a:spcPts val="100"/>
              </a:spcAft>
            </a:pPr>
            <a:r>
              <a:rPr sz="900">
                <a:solidFill>
                  <a:srgbClr val="78808C"/>
                </a:solidFill>
                <a:latin typeface="Consolas"/>
              </a:rPr>
              <a:t>0–15 Min.   </a:t>
            </a:r>
            <a:r>
              <a:rPr sz="1200" b="1">
                <a:solidFill>
                  <a:srgbClr val="3D5466"/>
                </a:solidFill>
                <a:latin typeface="Arial"/>
              </a:rPr>
              <a:t>  Einstieg &amp; Erwartungscheck</a:t>
            </a:r>
            <a:r>
              <a:rPr sz="900">
                <a:solidFill>
                  <a:srgbClr val="78808C"/>
                </a:solidFill>
                <a:latin typeface="Arial"/>
              </a:rPr>
              <a:t>  ·  Blitzlicht-Runde: Jeder TN nennt in einem Satz, welche Situation ihn derzeit bei Ziel- oder Steuerungsgesprächen am meisten beschäftigt. Trainer notiert stichwortartig auf dem Flipchart (max. 10 Nennungen). Diese Liste bleibt den gesamten Workshop sichtbar.</a:t>
            </a:r>
          </a:p>
          <a:p>
            <a:pPr>
              <a:spcBef>
                <a:spcPts val="400"/>
              </a:spcBef>
              <a:spcAft>
                <a:spcPts val="100"/>
              </a:spcAft>
            </a:pPr>
            <a:r>
              <a:rPr sz="900">
                <a:solidFill>
                  <a:srgbClr val="78808C"/>
                </a:solidFill>
                <a:latin typeface="Consolas"/>
              </a:rPr>
              <a:t>15–45 Min.  </a:t>
            </a:r>
            <a:r>
              <a:rPr sz="1200" b="1">
                <a:solidFill>
                  <a:srgbClr val="3D5466"/>
                </a:solidFill>
                <a:latin typeface="Arial"/>
              </a:rPr>
              <a:t>  Theorie-Input I: Zielgespräch vs. Steuerungsgespräch</a:t>
            </a:r>
            <a:r>
              <a:rPr sz="900">
                <a:solidFill>
                  <a:srgbClr val="78808C"/>
                </a:solidFill>
                <a:latin typeface="Arial"/>
              </a:rPr>
              <a:t>  ·  Lehrgespräch mit Visualisierung (Folie 4–6): Zwei Gesprächsformate, ihre Unterschiede und ihre Bezüge zur TL04-Cockpit-Diagnose. Zielvereinbarung vs. Zielvorgabe – Wirkungsunterschiede nach Locke &amp; Latham (2002) und Deci &amp; Ryan (2000). Trainer fragt nach 20 Minuten: „Welches Format führen Sie in Ihrem Team häufiger – das Ziel- oder das Steuerungsgespräch?"</a:t>
            </a:r>
          </a:p>
          <a:p>
            <a:pPr>
              <a:spcBef>
                <a:spcPts val="400"/>
              </a:spcBef>
              <a:spcAft>
                <a:spcPts val="100"/>
              </a:spcAft>
            </a:pPr>
            <a:r>
              <a:rPr sz="900">
                <a:solidFill>
                  <a:srgbClr val="78808C"/>
                </a:solidFill>
                <a:latin typeface="Consolas"/>
              </a:rPr>
              <a:t>45–70 Min.  </a:t>
            </a:r>
            <a:r>
              <a:rPr sz="1200" b="1">
                <a:solidFill>
                  <a:srgbClr val="3D5466"/>
                </a:solidFill>
                <a:latin typeface="Arial"/>
              </a:rPr>
              <a:t>  Theorie-Input II: Zielsetzungstheorie &amp; SMART</a:t>
            </a:r>
            <a:r>
              <a:rPr sz="900">
                <a:solidFill>
                  <a:srgbClr val="78808C"/>
                </a:solidFill>
                <a:latin typeface="Arial"/>
              </a:rPr>
              <a:t>  ·  Lehrgespräch mit Visualisierung (Folie 7–9): Vier Wirkmechanismen spezifischer, herausfordernder Ziele (Locke &amp; Latham, 2002); SMART-Akronym (Doran, 1981) mit FK-Beispielen; kritische Einordnung (Fehlanreize, Gaming). Trainer zeigt die SMART-Tabelle aus Sec 4 und entwickelt gemeinsam mit TN ein Beispiel-Ziel aus dem Raum.</a:t>
            </a:r>
          </a:p>
          <a:p>
            <a:pPr>
              <a:spcBef>
                <a:spcPts val="400"/>
              </a:spcBef>
              <a:spcAft>
                <a:spcPts val="100"/>
              </a:spcAft>
            </a:pPr>
            <a:r>
              <a:rPr sz="900">
                <a:solidFill>
                  <a:srgbClr val="78808C"/>
                </a:solidFill>
                <a:latin typeface="Consolas"/>
              </a:rPr>
              <a:t>70–80 Min.  </a:t>
            </a:r>
            <a:r>
              <a:rPr sz="1200" b="1">
                <a:solidFill>
                  <a:srgbClr val="3D5466"/>
                </a:solidFill>
                <a:latin typeface="Arial"/>
              </a:rPr>
              <a:t>  Theorie-Input III: Fünf-Schritte-Gesprächsstruktur</a:t>
            </a:r>
            <a:r>
              <a:rPr sz="900">
                <a:solidFill>
                  <a:srgbClr val="78808C"/>
                </a:solidFill>
                <a:latin typeface="Arial"/>
              </a:rPr>
              <a:t>  ·  Kompakter Trainer-Input (max. 10 Min.): Die fünf Schritte (Vorbereitung, Einstieg, Lagebewertung, Zielklärung/Maßnahmen, Verbindlichkeit) als Schaubild. Trainer betont: Schritt 1 beginnt VOR dem Gespräch (Cockpit-Hypothese). Bezug zu TL04 herstellen: „Das Cockpit liefert die Hypothese; das Gespräch prüft sie."</a:t>
            </a:r>
          </a:p>
          <a:p>
            <a:pPr>
              <a:spcBef>
                <a:spcPts val="400"/>
              </a:spcBef>
              <a:spcAft>
                <a:spcPts val="100"/>
              </a:spcAft>
            </a:pPr>
            <a:r>
              <a:rPr sz="900">
                <a:solidFill>
                  <a:srgbClr val="78808C"/>
                </a:solidFill>
                <a:latin typeface="Consolas"/>
              </a:rPr>
              <a:t>80–90 Min.  </a:t>
            </a:r>
            <a:r>
              <a:rPr sz="1200" b="1">
                <a:solidFill>
                  <a:srgbClr val="3D5466"/>
                </a:solidFill>
                <a:latin typeface="Arial"/>
              </a:rPr>
              <a:t>  PAUSE</a:t>
            </a:r>
            <a:r>
              <a:rPr sz="900">
                <a:solidFill>
                  <a:srgbClr val="78808C"/>
                </a:solidFill>
                <a:latin typeface="Arial"/>
              </a:rPr>
              <a:t>  ·  –</a:t>
            </a:r>
          </a:p>
          <a:p>
            <a:pPr>
              <a:spcBef>
                <a:spcPts val="400"/>
              </a:spcBef>
              <a:spcAft>
                <a:spcPts val="100"/>
              </a:spcAft>
            </a:pPr>
            <a:r>
              <a:rPr sz="900">
                <a:solidFill>
                  <a:srgbClr val="78808C"/>
                </a:solidFill>
                <a:latin typeface="Consolas"/>
              </a:rPr>
              <a:t>90–108 Min. </a:t>
            </a:r>
            <a:r>
              <a:rPr sz="1200" b="1">
                <a:solidFill>
                  <a:srgbClr val="3D5466"/>
                </a:solidFill>
                <a:latin typeface="Arial"/>
              </a:rPr>
              <a:t>  Praxisfall Kathrin Bergmann – Analyse im Plenum</a:t>
            </a:r>
            <a:r>
              <a:rPr sz="900">
                <a:solidFill>
                  <a:srgbClr val="78808C"/>
                </a:solidFill>
                <a:latin typeface="Arial"/>
              </a:rPr>
              <a:t>  ·  Trainer stellt den Praxisfall (Sec 4: Kathrin Bergmann, VR-Bank Musterregion eG, 12 % Zielanpassung, Berater Markus) vor. TN lesen den Fall still (ca. 4 Min.), dann gelenkte Plenumsdiskussion: „Was macht dieses Gespräch schwierig – was ist hier anders als bei einem normalen Steuerungsgespräch?" Trainer lenkt auf die drei Analysefragen (Was kann ich ehrlich sagen? Was liegt in Markus' Gestaltungsbereich? Was braucht Markus von diesem Gespräch?).</a:t>
            </a:r>
          </a:p>
          <a:p>
            <a:pPr>
              <a:spcBef>
                <a:spcPts val="400"/>
              </a:spcBef>
              <a:spcAft>
                <a:spcPts val="100"/>
              </a:spcAft>
            </a:pPr>
            <a:r>
              <a:rPr sz="900">
                <a:solidFill>
                  <a:srgbClr val="78808C"/>
                </a:solidFill>
                <a:latin typeface="Consolas"/>
              </a:rPr>
              <a:t>108–130 Min.</a:t>
            </a:r>
            <a:r>
              <a:rPr sz="1200" b="1">
                <a:solidFill>
                  <a:srgbClr val="3D5466"/>
                </a:solidFill>
                <a:latin typeface="Arial"/>
              </a:rPr>
              <a:t>  AB-1: Gesprächsvorbereitung – Einzelarbeit</a:t>
            </a:r>
            <a:r>
              <a:rPr sz="900">
                <a:solidFill>
                  <a:srgbClr val="78808C"/>
                </a:solidFill>
                <a:latin typeface="Arial"/>
              </a:rPr>
              <a:t>  ·  TN arbeiten 20 Min. an AB-1 (Schritte 1–5: Diagnose und Hypothesen, Gesprächsformat, Gesprächsziel, Einstieg + SMART-Ziel, schwierige Konstellation). Trainer begleitet still, gibt auf Nachfrage Orientierungshilfen – keine Musterlösungen. Nach 12 Minuten kurze Zwischenerinnerung: „Prüfen Sie, ob Ihr Einstiegssatz eine Frage ist oder eine Aussage." Anschließend: 2-Min.-Blitzauswertung im Plenum – ein TN nennt seine Kernhypothese, Gruppe ergänzt kurz.</a:t>
            </a:r>
          </a:p>
          <a:p>
            <a:pPr>
              <a:spcBef>
                <a:spcPts val="400"/>
              </a:spcBef>
              <a:spcAft>
                <a:spcPts val="100"/>
              </a:spcAft>
            </a:pPr>
            <a:r>
              <a:rPr sz="900">
                <a:solidFill>
                  <a:srgbClr val="78808C"/>
                </a:solidFill>
                <a:latin typeface="Consolas"/>
              </a:rPr>
              <a:t>130–155 Min.</a:t>
            </a:r>
            <a:r>
              <a:rPr sz="1200" b="1">
                <a:solidFill>
                  <a:srgbClr val="3D5466"/>
                </a:solidFill>
                <a:latin typeface="Arial"/>
              </a:rPr>
              <a:t>  AB-1: Kollegiale Fallberatung – doppelte Loyalität</a:t>
            </a:r>
            <a:r>
              <a:rPr sz="900">
                <a:solidFill>
                  <a:srgbClr val="78808C"/>
                </a:solidFill>
                <a:latin typeface="Arial"/>
              </a:rPr>
              <a:t>  ·  Hauptblock: 25 Min. kollegiale Fallberatung in Gruppen zu je 3–4 TN. Thema: „Wie bereiten Sie das Gespräch vor, wenn Sie das Ziel selbst als schwer erreichbar einschätzen?" Jede Gruppe bearbeitet Schritt 5 (schwierige Konstellation) und formuliert einen Gesprächseinstieg für den eigenen Praxisfall (oder das Timo-Szenario). Danach: 2 Gruppen stellen ihre Einstiege vor; Trainer moderiert gezielt: „Hören Sie das als Berater – würden Sie sich eingeladen oder überrumpelt fühlen?"</a:t>
            </a:r>
          </a:p>
          <a:p>
            <a:pPr>
              <a:spcBef>
                <a:spcPts val="400"/>
              </a:spcBef>
              <a:spcAft>
                <a:spcPts val="100"/>
              </a:spcAft>
            </a:pPr>
            <a:r>
              <a:rPr sz="900">
                <a:solidFill>
                  <a:srgbClr val="78808C"/>
                </a:solidFill>
                <a:latin typeface="Consolas"/>
              </a:rPr>
              <a:t>155–165 Min.</a:t>
            </a:r>
            <a:r>
              <a:rPr sz="1200" b="1">
                <a:solidFill>
                  <a:srgbClr val="3D5466"/>
                </a:solidFill>
                <a:latin typeface="Arial"/>
              </a:rPr>
              <a:t>  PAUSE</a:t>
            </a:r>
            <a:r>
              <a:rPr sz="900">
                <a:solidFill>
                  <a:srgbClr val="78808C"/>
                </a:solidFill>
                <a:latin typeface="Arial"/>
              </a:rPr>
              <a:t>  ·  –</a:t>
            </a:r>
          </a:p>
          <a:p>
            <a:pPr>
              <a:spcBef>
                <a:spcPts val="400"/>
              </a:spcBef>
              <a:spcAft>
                <a:spcPts val="100"/>
              </a:spcAft>
            </a:pPr>
            <a:r>
              <a:rPr sz="900">
                <a:solidFill>
                  <a:srgbClr val="78808C"/>
                </a:solidFill>
                <a:latin typeface="Consolas"/>
              </a:rPr>
              <a:t>165–185 Min.</a:t>
            </a:r>
            <a:r>
              <a:rPr sz="1200" b="1">
                <a:solidFill>
                  <a:srgbClr val="3D5466"/>
                </a:solidFill>
                <a:latin typeface="Arial"/>
              </a:rPr>
              <a:t>  AB-2: SMART-Zielformulierung &amp; Gesprächseinstieg – Einzelarbeit</a:t>
            </a:r>
            <a:r>
              <a:rPr sz="900">
                <a:solidFill>
                  <a:srgbClr val="78808C"/>
                </a:solidFill>
                <a:latin typeface="Arial"/>
              </a:rPr>
              <a:t>  ·  TN arbeiten 20 Min. an AB-2 (Schritte 1–3: SMART-Ziel für Sandra, partizipative Fragen, Gesprächseinstieg). Trainer gibt nach 10 Min. Zwischenerinnerung: „Stellen Sie sicher, dass Ihr Einstiegssatz drei Elemente enthält: Stärke anerkennen, Entwicklungsfrage benennen, gemeinsame Arbeit einladen."</a:t>
            </a:r>
          </a:p>
          <a:p>
            <a:pPr>
              <a:spcBef>
                <a:spcPts val="400"/>
              </a:spcBef>
              <a:spcAft>
                <a:spcPts val="100"/>
              </a:spcAft>
            </a:pPr>
            <a:r>
              <a:rPr sz="900">
                <a:solidFill>
                  <a:srgbClr val="78808C"/>
                </a:solidFill>
                <a:latin typeface="Consolas"/>
              </a:rPr>
              <a:t>185–205 Min.</a:t>
            </a:r>
            <a:r>
              <a:rPr sz="1200" b="1">
                <a:solidFill>
                  <a:srgbClr val="3D5466"/>
                </a:solidFill>
                <a:latin typeface="Arial"/>
              </a:rPr>
              <a:t>  Sprachcheck in 2er-Gruppen &amp; Überarbeitung</a:t>
            </a:r>
            <a:r>
              <a:rPr sz="900">
                <a:solidFill>
                  <a:srgbClr val="78808C"/>
                </a:solidFill>
                <a:latin typeface="Arial"/>
              </a:rPr>
              <a:t>  ·  Je zwei TN lesen sich gegenseitig Einstiegssatz und zwei Partizipationsfragen (AB-2, Schritte 2–3) vor. Rückmeldung aus der Mitarbeiterperspektive (AB-2 Schritt 4): „Fühle ich mich eingeladen oder überrumpelt?" / „Klingt das nach Kontrolle oder nach Entwicklungsinteresse?" Kein Rollenspiel – es geht um den Text, nicht um eine Gesprächssimulation. Danach ca. 3 Min. stille Überarbeitung (AB-2 Schritt 5): TN schreiben eine zweite Version ihres Einstiegssatzes. Trainer begleitet die Runden und gibt punktuell Rückmeldung auf Formulierungen.</a:t>
            </a:r>
          </a:p>
          <a:p>
            <a:pPr>
              <a:spcBef>
                <a:spcPts val="400"/>
              </a:spcBef>
              <a:spcAft>
                <a:spcPts val="100"/>
              </a:spcAft>
            </a:pPr>
            <a:r>
              <a:rPr sz="900">
                <a:solidFill>
                  <a:srgbClr val="78808C"/>
                </a:solidFill>
                <a:latin typeface="Consolas"/>
              </a:rPr>
              <a:t>205–215 Min.</a:t>
            </a:r>
            <a:r>
              <a:rPr sz="1200" b="1">
                <a:solidFill>
                  <a:srgbClr val="3D5466"/>
                </a:solidFill>
                <a:latin typeface="Arial"/>
              </a:rPr>
              <a:t>  AB-2: Plenum-Auswertung</a:t>
            </a:r>
            <a:r>
              <a:rPr sz="900">
                <a:solidFill>
                  <a:srgbClr val="78808C"/>
                </a:solidFill>
                <a:latin typeface="Arial"/>
              </a:rPr>
              <a:t>  ·  Zwei TN stellen ihre zweite Version des Einstiegssatzes vor (nach Überarbeitung in AB-2 Schritt 5). Plenum kommentiert: Was wirkt entwicklungsorientiert – was klingt wie Kontrolle oder Druck? Der Vergleich erste/zweite Version zeigt, was der Sprachcheck bewirkt. Trainer schließt mit Merksatz: „Das Gespräch mit Sandra ist erfolgreich, wenn sie das Gespräch als mitgestaltete Vereinbarung erlebt – nicht als Zieldiktat mit weicher Verpackung."</a:t>
            </a:r>
          </a:p>
          <a:p>
            <a:pPr>
              <a:spcBef>
                <a:spcPts val="400"/>
              </a:spcBef>
              <a:spcAft>
                <a:spcPts val="100"/>
              </a:spcAft>
            </a:pPr>
            <a:r>
              <a:rPr sz="900">
                <a:solidFill>
                  <a:srgbClr val="78808C"/>
                </a:solidFill>
                <a:latin typeface="Consolas"/>
              </a:rPr>
              <a:t>215–230 Min.</a:t>
            </a:r>
            <a:r>
              <a:rPr sz="1200" b="1">
                <a:solidFill>
                  <a:srgbClr val="3D5466"/>
                </a:solidFill>
                <a:latin typeface="Arial"/>
              </a:rPr>
              <a:t>  Transfer-Aufgaben besprechen &amp; Selbstcheck</a:t>
            </a:r>
            <a:r>
              <a:rPr sz="900">
                <a:solidFill>
                  <a:srgbClr val="78808C"/>
                </a:solidFill>
                <a:latin typeface="Arial"/>
              </a:rPr>
              <a:t>  ·  Trainer stellt die drei Transferaufgaben (Sec 5) kurz vor. TN lesen den Selbstcheck-Bogen (Sec 5) und markieren, welche Fragen sie heute bereits mit 3+ beantworten würden. Kurzes Plenum: „Was nehme ich heute Nachmittag mit – eine konkrete Handlung bis Ende dieser Woche?"</a:t>
            </a:r>
          </a:p>
          <a:p>
            <a:pPr>
              <a:spcBef>
                <a:spcPts val="400"/>
              </a:spcBef>
              <a:spcAft>
                <a:spcPts val="100"/>
              </a:spcAft>
            </a:pPr>
            <a:r>
              <a:rPr sz="900">
                <a:solidFill>
                  <a:srgbClr val="78808C"/>
                </a:solidFill>
                <a:latin typeface="Consolas"/>
              </a:rPr>
              <a:t>230–240 Min.</a:t>
            </a:r>
            <a:r>
              <a:rPr sz="1200" b="1">
                <a:solidFill>
                  <a:srgbClr val="3D5466"/>
                </a:solidFill>
                <a:latin typeface="Arial"/>
              </a:rPr>
              <a:t>  Evaluation &amp; Abschluss</a:t>
            </a:r>
            <a:r>
              <a:rPr sz="900">
                <a:solidFill>
                  <a:srgbClr val="78808C"/>
                </a:solidFill>
                <a:latin typeface="Arial"/>
              </a:rPr>
              <a:t>  ·  Feedbackbogen (Sec 6.1) ausfüllen (ca. 6 Min.). Wissenstest (Sec 6.2) als Hausaufgabe oder in verbleibender Zeit. Trainer schließt mit dem Greenleaf-Test als persönlichem Prüfstein: „Nach jedem Ziel- oder Steuerungsgespräch eine Frage: Hat der Berater das Gespräch mit mehr Klarheit und einem konkreten nächsten Schritt verlassen?"</a:t>
            </a:r>
          </a:p>
        </p:txBody>
      </p:sp>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I · Zwei Gesprächsformate</a:t>
            </a:r>
          </a:p>
        </p:txBody>
      </p:sp>
      <p:sp>
        <p:nvSpPr>
          <p:cNvPr id="5" name="TextBox 4"/>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Zielgespräch oder Steuerungsgespräch – das ist keine Formfrage</a:t>
            </a:r>
          </a:p>
        </p:txBody>
      </p:sp>
      <p:sp>
        <p:nvSpPr>
          <p:cNvPr id="6" name="TextBox 5"/>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TL05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TL05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TL04 gab die Diagnose. TL05 gibt das Gespräch.</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Cockpit zeigt das Muster – nicht die Lösung.</a:t>
            </a:r>
          </a:p>
          <a:p>
            <a:pPr marL="190500" indent="-190500">
              <a:spcBef>
                <a:spcPts val="400"/>
              </a:spcBef>
              <a:spcAft>
                <a:spcPts val="200"/>
              </a:spcAft>
            </a:pPr>
            <a:r>
              <a:rPr sz="1300">
                <a:solidFill>
                  <a:srgbClr val="3D5466"/>
                </a:solidFill>
                <a:latin typeface="Arial"/>
              </a:rPr>
              <a:t>▸  Aus Diagnose folgt: Welches Gespräch braucht es jetzt?</a:t>
            </a:r>
          </a:p>
          <a:p>
            <a:pPr marL="190500" indent="-190500">
              <a:spcBef>
                <a:spcPts val="400"/>
              </a:spcBef>
              <a:spcAft>
                <a:spcPts val="200"/>
              </a:spcAft>
            </a:pPr>
            <a:r>
              <a:rPr sz="1300">
                <a:solidFill>
                  <a:srgbClr val="3D5466"/>
                </a:solidFill>
                <a:latin typeface="Arial"/>
              </a:rPr>
              <a:t>▸  Zielgespräch ≠ Steuerungsgespräch – andere Logik, anderes Ziel.</a:t>
            </a:r>
          </a:p>
          <a:p>
            <a:pPr marL="190500" indent="-190500">
              <a:spcBef>
                <a:spcPts val="400"/>
              </a:spcBef>
              <a:spcAft>
                <a:spcPts val="200"/>
              </a:spcAft>
            </a:pPr>
            <a:r>
              <a:rPr sz="1300">
                <a:solidFill>
                  <a:srgbClr val="3D5466"/>
                </a:solidFill>
                <a:latin typeface="Arial"/>
              </a:rPr>
              <a:t>▸  Wer beides vermischt, steuert und entwickelt nicht.</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TL05  ·  ÜBERSICHT</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Zielgespräch vs. Steuerungsgespräch – zwei Logiken, ein Cockpit</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85800" y="1417320"/>
          <a:ext cx="10817352" cy="2304288"/>
        </p:xfrm>
        <a:graphic>
          <a:graphicData uri="http://schemas.openxmlformats.org/drawingml/2006/table">
            <a:tbl>
              <a:tblPr firstRow="1" bandRow="1">
                <a:tableStyleId>{5C22544A-7EE6-4342-B048-85BDC9FD1C3A}</a:tableStyleId>
              </a:tblPr>
              <a:tblGrid>
                <a:gridCol w="10817352"/>
              </a:tblGrid>
              <a:tr h="384048">
                <a:tc>
                  <a:txBody>
                    <a:bodyPr/>
                    <a:lstStyle/>
                    <a:p/>
                  </a:txBody>
                  <a:tcPr/>
                </a:tc>
              </a:tr>
              <a:tr h="384048">
                <a:tc>
                  <a:txBody>
                    <a:bodyPr/>
                    <a:lstStyle/>
                    <a:p>
                      <a:r>
                        <a:rPr sz="1050">
                          <a:solidFill>
                            <a:srgbClr val="3D5466"/>
                          </a:solidFill>
                          <a:latin typeface="Arial"/>
                        </a:rPr>
                        <a:t>Merkmal</a:t>
                      </a:r>
                    </a:p>
                  </a:txBody>
                  <a:tcPr/>
                </a:tc>
              </a:tr>
              <a:tr h="384048">
                <a:tc>
                  <a:txBody>
                    <a:bodyPr/>
                    <a:lstStyle/>
                    <a:p>
                      <a:r>
                        <a:rPr sz="1050">
                          <a:solidFill>
                            <a:srgbClr val="3D5466"/>
                          </a:solidFill>
                          <a:latin typeface="Arial"/>
                        </a:rPr>
                        <a:t>Zeitpunkt</a:t>
                      </a:r>
                    </a:p>
                  </a:txBody>
                  <a:tcPr/>
                </a:tc>
              </a:tr>
              <a:tr h="384048">
                <a:tc>
                  <a:txBody>
                    <a:bodyPr/>
                    <a:lstStyle/>
                    <a:p>
                      <a:r>
                        <a:rPr sz="1050">
                          <a:solidFill>
                            <a:srgbClr val="3D5466"/>
                          </a:solidFill>
                          <a:latin typeface="Arial"/>
                        </a:rPr>
                        <a:t>Hauptfrage</a:t>
                      </a:r>
                    </a:p>
                  </a:txBody>
                  <a:tcPr/>
                </a:tc>
              </a:tr>
              <a:tr h="384048">
                <a:tc>
                  <a:txBody>
                    <a:bodyPr/>
                    <a:lstStyle/>
                    <a:p>
                      <a:r>
                        <a:rPr sz="1050">
                          <a:solidFill>
                            <a:srgbClr val="3D5466"/>
                          </a:solidFill>
                          <a:latin typeface="Arial"/>
                        </a:rPr>
                        <a:t>Ergebnis</a:t>
                      </a:r>
                    </a:p>
                  </a:txBody>
                  <a:tcPr/>
                </a:tc>
              </a:tr>
              <a:tr h="384048">
                <a:tc>
                  <a:txBody>
                    <a:bodyPr/>
                    <a:lstStyle/>
                    <a:p>
                      <a:r>
                        <a:rPr sz="1050">
                          <a:solidFill>
                            <a:srgbClr val="3D5466"/>
                          </a:solidFill>
                          <a:latin typeface="Arial"/>
                        </a:rPr>
                        <a:t>Zeitaufwand</a:t>
                      </a:r>
                    </a:p>
                  </a:txBody>
                  <a:tcPr/>
                </a:tc>
              </a:tr>
            </a:tbl>
          </a:graphicData>
        </a:graphic>
      </p:graphicFrame>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Übersicht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TL05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Zielvereinbarung oder Zielvorgabe – kein Komfort-Angebot, sondern Wirkungsfrage</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Zielvorgabe: Ziel steht fest, Weg ist offen.</a:t>
            </a:r>
          </a:p>
          <a:p>
            <a:pPr marL="190500" indent="-190500">
              <a:spcBef>
                <a:spcPts val="400"/>
              </a:spcBef>
              <a:spcAft>
                <a:spcPts val="200"/>
              </a:spcAft>
            </a:pPr>
            <a:r>
              <a:rPr sz="1300">
                <a:solidFill>
                  <a:srgbClr val="3D5466"/>
                </a:solidFill>
                <a:latin typeface="Arial"/>
              </a:rPr>
              <a:t>▸  Zielvereinbarung: Ziel UND Weg werden gemeinsam entwickelt.</a:t>
            </a:r>
          </a:p>
          <a:p>
            <a:pPr marL="190500" indent="-190500">
              <a:spcBef>
                <a:spcPts val="400"/>
              </a:spcBef>
              <a:spcAft>
                <a:spcPts val="200"/>
              </a:spcAft>
            </a:pPr>
            <a:r>
              <a:rPr sz="1300">
                <a:solidFill>
                  <a:srgbClr val="3D5466"/>
                </a:solidFill>
                <a:latin typeface="Arial"/>
              </a:rPr>
              <a:t>▸  Partizipation erhöht Zielbindung und intrinsische Motivation.</a:t>
            </a:r>
          </a:p>
          <a:p>
            <a:pPr marL="190500" indent="-190500">
              <a:spcBef>
                <a:spcPts val="400"/>
              </a:spcBef>
              <a:spcAft>
                <a:spcPts val="200"/>
              </a:spcAft>
            </a:pPr>
            <a:r>
              <a:rPr sz="1300">
                <a:solidFill>
                  <a:srgbClr val="3D5466"/>
                </a:solidFill>
                <a:latin typeface="Arial"/>
              </a:rPr>
              <a:t>▸  Autonomieerleben = Grundbedingung (Deci &amp; Ryan, 2000).</a:t>
            </a:r>
          </a:p>
          <a:p>
            <a:pPr marL="190500" indent="-190500">
              <a:spcBef>
                <a:spcPts val="400"/>
              </a:spcBef>
              <a:spcAft>
                <a:spcPts val="200"/>
              </a:spcAft>
            </a:pPr>
            <a:r>
              <a:rPr sz="1300">
                <a:solidFill>
                  <a:srgbClr val="3D5466"/>
                </a:solidFill>
                <a:latin typeface="Arial"/>
              </a:rPr>
              <a:t>▸  Kein Komfort-Angebot – eine rationale Entscheidung für Wirksamkeit.</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17352" cy="365760"/>
          </a:xfrm>
          <a:prstGeom prst="rect">
            <a:avLst/>
          </a:prstGeom>
          <a:noFill/>
        </p:spPr>
        <p:txBody>
          <a:bodyPr wrap="none">
            <a:spAutoFit/>
          </a:bodyPr>
          <a:lstStyle/>
          <a:p>
            <a:pPr algn="l"/>
            <a:r>
              <a:rPr sz="1200">
                <a:solidFill>
                  <a:srgbClr val="D9C089"/>
                </a:solidFill>
                <a:latin typeface="Consolas"/>
              </a:rPr>
              <a:t>THEORIE-INPUT</a:t>
            </a:r>
          </a:p>
        </p:txBody>
      </p:sp>
      <p:sp>
        <p:nvSpPr>
          <p:cNvPr id="4" name="Rectangle 3"/>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Warum Ziele wirken – und wann sie scheitern</a:t>
            </a:r>
          </a:p>
        </p:txBody>
      </p:sp>
      <p:sp>
        <p:nvSpPr>
          <p:cNvPr id="6" name="TextBox 5"/>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Zielsetzungstheorie &amp; SMART-Kriterien</a:t>
            </a:r>
          </a:p>
        </p:txBody>
      </p:sp>
      <p:sp>
        <p:nvSpPr>
          <p:cNvPr id="7" name="TextBox 6"/>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TL05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TL05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Spezifisch und herausfordernd – oder wirkungslos</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Vier Wirkmechanismen: Richtung, Anstrengung, Persistenz, Strategie.</a:t>
            </a:r>
          </a:p>
          <a:p>
            <a:pPr marL="190500" indent="-190500">
              <a:spcBef>
                <a:spcPts val="400"/>
              </a:spcBef>
              <a:spcAft>
                <a:spcPts val="200"/>
              </a:spcAft>
            </a:pPr>
            <a:r>
              <a:rPr sz="1300">
                <a:solidFill>
                  <a:srgbClr val="3D5466"/>
                </a:solidFill>
                <a:latin typeface="Arial"/>
              </a:rPr>
              <a:t>▸  Entscheidend: Ziel muss als erreichbar akzeptiert sein.</a:t>
            </a:r>
          </a:p>
          <a:p>
            <a:pPr marL="190500" indent="-190500">
              <a:spcBef>
                <a:spcPts val="400"/>
              </a:spcBef>
              <a:spcAft>
                <a:spcPts val="200"/>
              </a:spcAft>
            </a:pPr>
            <a:r>
              <a:rPr sz="1300">
                <a:solidFill>
                  <a:srgbClr val="3D5466"/>
                </a:solidFill>
                <a:latin typeface="Arial"/>
              </a:rPr>
              <a:t>▸  Reaktanz = Abwehr gegen Autonomieverlust (Locke &amp; Latham, 2002).</a:t>
            </a:r>
          </a:p>
          <a:p>
            <a:pPr marL="190500" indent="-190500">
              <a:spcBef>
                <a:spcPts val="400"/>
              </a:spcBef>
              <a:spcAft>
                <a:spcPts val="200"/>
              </a:spcAft>
            </a:pPr>
            <a:r>
              <a:rPr sz="1300">
                <a:solidFill>
                  <a:srgbClr val="3D5466"/>
                </a:solidFill>
                <a:latin typeface="Arial"/>
              </a:rPr>
              <a:t>▸  Zu hoch + fremdbestimmt = kein Ansporn, sondern Abwehr.</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TL05  ·  ÜBERSICHT</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SMART – Handwerk, das jede Zielvereinbarung belastbar macht</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685800" y="1417320"/>
          <a:ext cx="10817352" cy="2688336"/>
        </p:xfrm>
        <a:graphic>
          <a:graphicData uri="http://schemas.openxmlformats.org/drawingml/2006/table">
            <a:tbl>
              <a:tblPr firstRow="1" bandRow="1">
                <a:tableStyleId>{5C22544A-7EE6-4342-B048-85BDC9FD1C3A}</a:tableStyleId>
              </a:tblPr>
              <a:tblGrid>
                <a:gridCol w="10817352"/>
              </a:tblGrid>
              <a:tr h="384048">
                <a:tc>
                  <a:txBody>
                    <a:bodyPr/>
                    <a:lstStyle/>
                    <a:p/>
                  </a:txBody>
                  <a:tcPr/>
                </a:tc>
              </a:tr>
              <a:tr h="384048">
                <a:tc>
                  <a:txBody>
                    <a:bodyPr/>
                    <a:lstStyle/>
                    <a:p>
                      <a:r>
                        <a:rPr sz="1050">
                          <a:solidFill>
                            <a:srgbClr val="3D5466"/>
                          </a:solidFill>
                          <a:latin typeface="Arial"/>
                        </a:rPr>
                        <a:t>Kriterium</a:t>
                      </a:r>
                    </a:p>
                  </a:txBody>
                  <a:tcPr/>
                </a:tc>
              </a:tr>
              <a:tr h="384048">
                <a:tc>
                  <a:txBody>
                    <a:bodyPr/>
                    <a:lstStyle/>
                    <a:p>
                      <a:r>
                        <a:rPr sz="1050">
                          <a:solidFill>
                            <a:srgbClr val="3D5466"/>
                          </a:solidFill>
                          <a:latin typeface="Arial"/>
                        </a:rPr>
                        <a:t>Spezifisch</a:t>
                      </a:r>
                    </a:p>
                  </a:txBody>
                  <a:tcPr/>
                </a:tc>
              </a:tr>
              <a:tr h="384048">
                <a:tc>
                  <a:txBody>
                    <a:bodyPr/>
                    <a:lstStyle/>
                    <a:p>
                      <a:r>
                        <a:rPr sz="1050">
                          <a:solidFill>
                            <a:srgbClr val="3D5466"/>
                          </a:solidFill>
                          <a:latin typeface="Arial"/>
                        </a:rPr>
                        <a:t>Messbar</a:t>
                      </a:r>
                    </a:p>
                  </a:txBody>
                  <a:tcPr/>
                </a:tc>
              </a:tr>
              <a:tr h="384048">
                <a:tc>
                  <a:txBody>
                    <a:bodyPr/>
                    <a:lstStyle/>
                    <a:p>
                      <a:r>
                        <a:rPr sz="1050">
                          <a:solidFill>
                            <a:srgbClr val="3D5466"/>
                          </a:solidFill>
                          <a:latin typeface="Arial"/>
                        </a:rPr>
                        <a:t>Erreichbar</a:t>
                      </a:r>
                    </a:p>
                  </a:txBody>
                  <a:tcPr/>
                </a:tc>
              </a:tr>
              <a:tr h="384048">
                <a:tc>
                  <a:txBody>
                    <a:bodyPr/>
                    <a:lstStyle/>
                    <a:p>
                      <a:r>
                        <a:rPr sz="1050">
                          <a:solidFill>
                            <a:srgbClr val="3D5466"/>
                          </a:solidFill>
                          <a:latin typeface="Arial"/>
                        </a:rPr>
                        <a:t>Relevant</a:t>
                      </a:r>
                    </a:p>
                  </a:txBody>
                  <a:tcPr/>
                </a:tc>
              </a:tr>
              <a:tr h="384048">
                <a:tc>
                  <a:txBody>
                    <a:bodyPr/>
                    <a:lstStyle/>
                    <a:p>
                      <a:r>
                        <a:rPr sz="1050">
                          <a:solidFill>
                            <a:srgbClr val="3D5466"/>
                          </a:solidFill>
                          <a:latin typeface="Arial"/>
                        </a:rPr>
                        <a:t>Terminiert</a:t>
                      </a:r>
                    </a:p>
                  </a:txBody>
                  <a:tcPr/>
                </a:tc>
              </a:tr>
            </a:tbl>
          </a:graphicData>
        </a:graphic>
      </p:graphicFrame>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Übersicht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TL05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You get what you measure – der blinde Fleck jedes Zielsystems</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Gemessenes wird optimiert – auch wenn es das Falsche ist.</a:t>
            </a:r>
          </a:p>
          <a:p>
            <a:pPr marL="190500" indent="-190500">
              <a:spcBef>
                <a:spcPts val="400"/>
              </a:spcBef>
              <a:spcAft>
                <a:spcPts val="200"/>
              </a:spcAft>
            </a:pPr>
            <a:r>
              <a:rPr sz="1300">
                <a:solidFill>
                  <a:srgbClr val="3D5466"/>
                </a:solidFill>
                <a:latin typeface="Arial"/>
              </a:rPr>
              <a:t>▸  Terminfrequenz-Ziel → mehr Termine, nicht mehr Qualität.</a:t>
            </a:r>
          </a:p>
          <a:p>
            <a:pPr marL="190500" indent="-190500">
              <a:spcBef>
                <a:spcPts val="400"/>
              </a:spcBef>
              <a:spcAft>
                <a:spcPts val="200"/>
              </a:spcAft>
            </a:pPr>
            <a:r>
              <a:rPr sz="1300">
                <a:solidFill>
                  <a:srgbClr val="3D5466"/>
                </a:solidFill>
                <a:latin typeface="Arial"/>
              </a:rPr>
              <a:t>▸  Steuerung ohne Entwicklung erzeugt Gaming, nicht Wachstum.</a:t>
            </a:r>
          </a:p>
          <a:p>
            <a:pPr marL="190500" indent="-190500">
              <a:spcBef>
                <a:spcPts val="400"/>
              </a:spcBef>
              <a:spcAft>
                <a:spcPts val="200"/>
              </a:spcAft>
            </a:pPr>
            <a:r>
              <a:rPr sz="1300">
                <a:solidFill>
                  <a:srgbClr val="3D5466"/>
                </a:solidFill>
                <a:latin typeface="Arial"/>
              </a:rPr>
              <a:t>▸  Leitprinzip: steuern UND entwickeln.</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17352" cy="365760"/>
          </a:xfrm>
          <a:prstGeom prst="rect">
            <a:avLst/>
          </a:prstGeom>
          <a:noFill/>
        </p:spPr>
        <p:txBody>
          <a:bodyPr wrap="none">
            <a:spAutoFit/>
          </a:bodyPr>
          <a:lstStyle/>
          <a:p>
            <a:pPr algn="l"/>
            <a:r>
              <a:rPr sz="1200">
                <a:solidFill>
                  <a:srgbClr val="D9C089"/>
                </a:solidFill>
                <a:latin typeface="Consolas"/>
              </a:rPr>
              <a:t>THEORIE-INPUT III</a:t>
            </a:r>
          </a:p>
        </p:txBody>
      </p:sp>
      <p:sp>
        <p:nvSpPr>
          <p:cNvPr id="4" name="Rectangle 3"/>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Die Gesprächsstruktur</a:t>
            </a:r>
          </a:p>
        </p:txBody>
      </p:sp>
      <p:sp>
        <p:nvSpPr>
          <p:cNvPr id="6" name="TextBox 5"/>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Vom Cockpit-Befund zum wirksamen Gespräch – in fünf Schritten</a:t>
            </a:r>
          </a:p>
        </p:txBody>
      </p:sp>
      <p:sp>
        <p:nvSpPr>
          <p:cNvPr id="7" name="TextBox 6"/>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TL05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TL05  ·  SCHAUBILD</a:t>
            </a:r>
          </a:p>
        </p:txBody>
      </p:sp>
      <p:sp>
        <p:nvSpPr>
          <p:cNvPr id="5" name="TextBox 4"/>
          <p:cNvSpPr txBox="1"/>
          <p:nvPr/>
        </p:nvSpPr>
        <p:spPr>
          <a:xfrm>
            <a:off x="685800" y="502920"/>
            <a:ext cx="10817352" cy="594360"/>
          </a:xfrm>
          <a:prstGeom prst="rect">
            <a:avLst/>
          </a:prstGeom>
          <a:noFill/>
        </p:spPr>
        <p:txBody>
          <a:bodyPr wrap="square">
            <a:spAutoFit/>
          </a:bodyPr>
          <a:lstStyle/>
          <a:p>
            <a:pPr algn="l"/>
            <a:r>
              <a:rPr sz="2000" b="1" i="0">
                <a:solidFill>
                  <a:srgbClr val="1F2C56"/>
                </a:solidFill>
                <a:latin typeface="Arial"/>
              </a:rPr>
              <a:t>Fünf Schritte</a:t>
            </a:r>
          </a:p>
        </p:txBody>
      </p:sp>
      <p:sp>
        <p:nvSpPr>
          <p:cNvPr id="6" name="Rectangle 5"/>
          <p:cNvSpPr/>
          <p:nvPr/>
        </p:nvSpPr>
        <p:spPr>
          <a:xfrm>
            <a:off x="685800" y="1143000"/>
            <a:ext cx="10817352" cy="254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2"/>
          <a:stretch>
            <a:fillRect/>
          </a:stretch>
        </p:blipFill>
        <p:spPr>
          <a:xfrm>
            <a:off x="2877694" y="1325880"/>
            <a:ext cx="6433563" cy="4937760"/>
          </a:xfrm>
          <a:prstGeom prst="rect">
            <a:avLst/>
          </a:prstGeom>
        </p:spPr>
      </p:pic>
      <p:sp>
        <p:nvSpPr>
          <p:cNvPr id="8" name="Rectangle 7"/>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
        <p:nvSpPr>
          <p:cNvPr id="10" name="TextBox 9"/>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Schaubild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17352" cy="365760"/>
          </a:xfrm>
          <a:prstGeom prst="rect">
            <a:avLst/>
          </a:prstGeom>
          <a:noFill/>
        </p:spPr>
        <p:txBody>
          <a:bodyPr wrap="none">
            <a:spAutoFit/>
          </a:bodyPr>
          <a:lstStyle/>
          <a:p>
            <a:pPr algn="l"/>
            <a:r>
              <a:rPr sz="1200">
                <a:solidFill>
                  <a:srgbClr val="D9C089"/>
                </a:solidFill>
                <a:latin typeface="Consolas"/>
              </a:rPr>
              <a:t>ANALYSE IM PLENUM</a:t>
            </a:r>
          </a:p>
        </p:txBody>
      </p:sp>
      <p:sp>
        <p:nvSpPr>
          <p:cNvPr id="4" name="Rectangle 3"/>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Praxisfall: Kathrin Bergmann</a:t>
            </a:r>
          </a:p>
        </p:txBody>
      </p:sp>
      <p:sp>
        <p:nvSpPr>
          <p:cNvPr id="6" name="TextBox 5"/>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Doppelte Loyalität – keine Musterlösung, sondern eine Führungsabwägung</a:t>
            </a:r>
          </a:p>
        </p:txBody>
      </p:sp>
      <p:sp>
        <p:nvSpPr>
          <p:cNvPr id="7" name="TextBox 6"/>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TL05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TL05  ·  PRAXISFALL</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Teamleiterin Kathrin Bergmann – VR-Bank Musterregion eG</a:t>
            </a:r>
          </a:p>
        </p:txBody>
      </p:sp>
      <p:sp>
        <p:nvSpPr>
          <p:cNvPr id="8" name="Rectangle 7"/>
          <p:cNvSpPr/>
          <p:nvPr/>
        </p:nvSpPr>
        <p:spPr>
          <a:xfrm>
            <a:off x="685800" y="1600200"/>
            <a:ext cx="10817352" cy="1828800"/>
          </a:xfrm>
          <a:prstGeom prst="rect">
            <a:avLst/>
          </a:prstGeom>
          <a:solidFill>
            <a:srgbClr val="FFFFFF"/>
          </a:solidFill>
          <a:ln w="9525">
            <a:solidFill>
              <a:srgbClr val="D8DF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1600200"/>
            <a:ext cx="36576" cy="18288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1783080"/>
            <a:ext cx="10268712" cy="228600"/>
          </a:xfrm>
          <a:prstGeom prst="rect">
            <a:avLst/>
          </a:prstGeom>
          <a:noFill/>
        </p:spPr>
        <p:txBody>
          <a:bodyPr wrap="none">
            <a:spAutoFit/>
          </a:bodyPr>
          <a:lstStyle/>
          <a:p>
            <a:pPr algn="l"/>
            <a:r>
              <a:rPr sz="750">
                <a:solidFill>
                  <a:srgbClr val="78808C"/>
                </a:solidFill>
                <a:latin typeface="Consolas"/>
              </a:rPr>
              <a:t>AUSGANGSSITUATION</a:t>
            </a:r>
          </a:p>
        </p:txBody>
      </p:sp>
      <p:sp>
        <p:nvSpPr>
          <p:cNvPr id="11" name="TextBox 10"/>
          <p:cNvSpPr txBox="1"/>
          <p:nvPr/>
        </p:nvSpPr>
        <p:spPr>
          <a:xfrm>
            <a:off x="941832" y="2084831"/>
            <a:ext cx="7680960" cy="1188720"/>
          </a:xfrm>
          <a:prstGeom prst="rect">
            <a:avLst/>
          </a:prstGeom>
          <a:noFill/>
        </p:spPr>
        <p:txBody>
          <a:bodyPr wrap="square">
            <a:spAutoFit/>
          </a:bodyPr>
          <a:lstStyle/>
          <a:p>
            <a:pPr>
              <a:spcAft>
                <a:spcPts val="600"/>
              </a:spcAft>
            </a:pPr>
            <a:r>
              <a:rPr sz="1500">
                <a:solidFill>
                  <a:srgbClr val="3D5466"/>
                </a:solidFill>
                <a:latin typeface="Arial"/>
              </a:rPr>
              <a:t>Die Marktbereichsleitung hat die Jahresziele für alle FK-Teams um 12 % angehoben. Berater Markus liegt zur Halbzeit mit Abschlüssen, Volumen und Aktivitäten unter dem angepassten Plan. Kathrin muss das Gespräch führen – mit einem Ziel, hinter dem sie nur bedingt steht. Schweigen kostet Glaubwürdigkeit. Relativieren kostet Verbindlichkeit.
</a:t>
            </a:r>
          </a:p>
        </p:txBody>
      </p:sp>
      <p:sp>
        <p:nvSpPr>
          <p:cNvPr id="12" name="Rectangle 11"/>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
        <p:nvSpPr>
          <p:cNvPr id="14" name="TextBox 13"/>
          <p:cNvSpPr txBox="1"/>
          <p:nvPr/>
        </p:nvSpPr>
        <p:spPr>
          <a:xfrm>
            <a:off x="7176211" y="6583680"/>
            <a:ext cx="4326940" cy="256032"/>
          </a:xfrm>
          <a:prstGeom prst="rect">
            <a:avLst/>
          </a:prstGeom>
          <a:noFill/>
        </p:spPr>
        <p:txBody>
          <a:bodyPr wrap="none">
            <a:spAutoFit/>
          </a:bodyPr>
          <a:lstStyle/>
          <a:p>
            <a:pPr algn="r"/>
            <a:r>
              <a:rPr sz="700">
                <a:solidFill>
                  <a:srgbClr val="A0B4D2"/>
                </a:solidFill>
                <a:latin typeface="Consolas"/>
              </a:rPr>
              <a:t>Fall zuerst lesen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TL05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Doppelte Loyalität – kein Dilemma, sondern eine Führungsaufgabe</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Schulden: Marktbereichsleitung → Ergebnisse.</a:t>
            </a:r>
          </a:p>
          <a:p>
            <a:pPr marL="190500" indent="-190500">
              <a:spcBef>
                <a:spcPts val="400"/>
              </a:spcBef>
              <a:spcAft>
                <a:spcPts val="200"/>
              </a:spcAft>
            </a:pPr>
            <a:r>
              <a:rPr sz="1300">
                <a:solidFill>
                  <a:srgbClr val="3D5466"/>
                </a:solidFill>
                <a:latin typeface="Arial"/>
              </a:rPr>
              <a:t>▸  Schulden: Berater Markus → Führung.</a:t>
            </a:r>
          </a:p>
          <a:p>
            <a:pPr marL="190500" indent="-190500">
              <a:spcBef>
                <a:spcPts val="400"/>
              </a:spcBef>
              <a:spcAft>
                <a:spcPts val="200"/>
              </a:spcAft>
            </a:pPr>
            <a:r>
              <a:rPr sz="1300">
                <a:solidFill>
                  <a:srgbClr val="3D5466"/>
                </a:solidFill>
                <a:latin typeface="Arial"/>
              </a:rPr>
              <a:t>▸  Schweigen: verliert Glaubwürdigkeit beim Berater.</a:t>
            </a:r>
          </a:p>
          <a:p>
            <a:pPr marL="190500" indent="-190500">
              <a:spcBef>
                <a:spcPts val="400"/>
              </a:spcBef>
              <a:spcAft>
                <a:spcPts val="200"/>
              </a:spcAft>
            </a:pPr>
            <a:r>
              <a:rPr sz="1300">
                <a:solidFill>
                  <a:srgbClr val="3D5466"/>
                </a:solidFill>
                <a:latin typeface="Arial"/>
              </a:rPr>
              <a:t>▸  Relativieren: verliert Vertrauen bei der Bereichsleitung.</a:t>
            </a:r>
          </a:p>
          <a:p>
            <a:pPr marL="190500" indent="-190500">
              <a:spcBef>
                <a:spcPts val="400"/>
              </a:spcBef>
              <a:spcAft>
                <a:spcPts val="200"/>
              </a:spcAft>
            </a:pPr>
            <a:r>
              <a:rPr sz="1300">
                <a:solidFill>
                  <a:srgbClr val="3D5466"/>
                </a:solidFill>
                <a:latin typeface="Arial"/>
              </a:rPr>
              <a:t>▸  Dritter Weg: Transparenz mit Kontext + gemeinsamer Weg.</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17352" cy="365760"/>
          </a:xfrm>
          <a:prstGeom prst="rect">
            <a:avLst/>
          </a:prstGeom>
          <a:noFill/>
        </p:spPr>
        <p:txBody>
          <a:bodyPr wrap="none">
            <a:spAutoFit/>
          </a:bodyPr>
          <a:lstStyle/>
          <a:p>
            <a:pPr algn="l"/>
            <a:r>
              <a:rPr sz="1200">
                <a:solidFill>
                  <a:srgbClr val="D9C089"/>
                </a:solidFill>
                <a:latin typeface="Consolas"/>
              </a:rPr>
              <a:t>EINZELARBEIT + KOLLEGIALE FALLBERATUNG (45 MIN.)</a:t>
            </a:r>
          </a:p>
        </p:txBody>
      </p:sp>
      <p:sp>
        <p:nvSpPr>
          <p:cNvPr id="4" name="Rectangle 3"/>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AB-1: Gesprächsvorbereitung</a:t>
            </a:r>
          </a:p>
        </p:txBody>
      </p:sp>
      <p:sp>
        <p:nvSpPr>
          <p:cNvPr id="6" name="TextBox 5"/>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Cockpit-Hypothese → Gesprächsziel → Einstieg → schwierige Konstellation</a:t>
            </a:r>
          </a:p>
        </p:txBody>
      </p:sp>
      <p:sp>
        <p:nvSpPr>
          <p:cNvPr id="7" name="TextBox 6"/>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TL05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TL05  ·  ARBEITSBLATT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AB-1: Ein Gespräch vorbereiten – Schritt für Schritt</a:t>
            </a:r>
          </a:p>
        </p:txBody>
      </p:sp>
      <p:sp>
        <p:nvSpPr>
          <p:cNvPr id="8" name="TextBox 7"/>
          <p:cNvSpPr txBox="1"/>
          <p:nvPr/>
        </p:nvSpPr>
        <p:spPr>
          <a:xfrm>
            <a:off x="685800" y="1554480"/>
            <a:ext cx="10817352" cy="3840480"/>
          </a:xfrm>
          <a:prstGeom prst="rect">
            <a:avLst/>
          </a:prstGeom>
          <a:noFill/>
        </p:spPr>
        <p:txBody>
          <a:bodyPr wrap="square">
            <a:spAutoFit/>
          </a:bodyPr>
          <a:lstStyle/>
          <a:p>
            <a:pPr marL="190500" indent="-190500">
              <a:spcBef>
                <a:spcPts val="400"/>
              </a:spcBef>
              <a:spcAft>
                <a:spcPts val="200"/>
              </a:spcAft>
            </a:pPr>
            <a:r>
              <a:rPr sz="1400">
                <a:solidFill>
                  <a:srgbClr val="3D5466"/>
                </a:solidFill>
                <a:latin typeface="Arial"/>
              </a:rPr>
              <a:t>▸  Schritt 1: Kennzahlenmuster bestimmen + min. 2 Hypothesen.</a:t>
            </a:r>
          </a:p>
          <a:p>
            <a:pPr marL="190500" indent="-190500">
              <a:spcBef>
                <a:spcPts val="400"/>
              </a:spcBef>
              <a:spcAft>
                <a:spcPts val="200"/>
              </a:spcAft>
            </a:pPr>
            <a:r>
              <a:rPr sz="1400">
                <a:solidFill>
                  <a:srgbClr val="3D5466"/>
                </a:solidFill>
                <a:latin typeface="Arial"/>
              </a:rPr>
              <a:t>▸  Schritt 2: Format klären – Steuerungs- oder Zielgespräch?</a:t>
            </a:r>
          </a:p>
          <a:p>
            <a:pPr marL="190500" indent="-190500">
              <a:spcBef>
                <a:spcPts val="400"/>
              </a:spcBef>
              <a:spcAft>
                <a:spcPts val="200"/>
              </a:spcAft>
            </a:pPr>
            <a:r>
              <a:rPr sz="1400">
                <a:solidFill>
                  <a:srgbClr val="3D5466"/>
                </a:solidFill>
                <a:latin typeface="Arial"/>
              </a:rPr>
              <a:t>▸  Schritt 3: Gesprächsziel steuerbar formulieren.</a:t>
            </a:r>
          </a:p>
          <a:p>
            <a:pPr marL="190500" indent="-190500">
              <a:spcBef>
                <a:spcPts val="400"/>
              </a:spcBef>
              <a:spcAft>
                <a:spcPts val="200"/>
              </a:spcAft>
            </a:pPr>
            <a:r>
              <a:rPr sz="1400">
                <a:solidFill>
                  <a:srgbClr val="3D5466"/>
                </a:solidFill>
                <a:latin typeface="Arial"/>
              </a:rPr>
              <a:t>▸  Schritt 4: Einstiegssatz + SMART-Teilziel für Q3.</a:t>
            </a:r>
          </a:p>
          <a:p>
            <a:pPr marL="190500" indent="-190500">
              <a:spcBef>
                <a:spcPts val="400"/>
              </a:spcBef>
              <a:spcAft>
                <a:spcPts val="200"/>
              </a:spcAft>
            </a:pPr>
            <a:r>
              <a:rPr sz="1400">
                <a:solidFill>
                  <a:srgbClr val="3D5466"/>
                </a:solidFill>
                <a:latin typeface="Arial"/>
              </a:rPr>
              <a:t>▸  Schritt 5: Zwei schwierige Berater-Reaktionen antizipieren.</a:t>
            </a:r>
          </a:p>
        </p:txBody>
      </p:sp>
      <p:sp>
        <p:nvSpPr>
          <p:cNvPr id="9" name="Rectangle 8"/>
          <p:cNvSpPr/>
          <p:nvPr/>
        </p:nvSpPr>
        <p:spPr>
          <a:xfrm>
            <a:off x="685800" y="5486400"/>
            <a:ext cx="10817352" cy="64008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596128"/>
            <a:ext cx="10451592" cy="457200"/>
          </a:xfrm>
          <a:prstGeom prst="rect">
            <a:avLst/>
          </a:prstGeom>
          <a:noFill/>
        </p:spPr>
        <p:txBody>
          <a:bodyPr wrap="square">
            <a:spAutoFit/>
          </a:bodyPr>
          <a:lstStyle/>
          <a:p>
            <a:pPr algn="l"/>
            <a:r>
              <a:rPr sz="1300" b="1" i="0">
                <a:solidFill>
                  <a:srgbClr val="FFFFFF"/>
                </a:solidFill>
                <a:latin typeface="Arial"/>
              </a:rPr>
              <a:t>→  Bearbeitung im Teilnehmer-Workbook (Arbeitsblatt mit Ausfüllfeldern)</a:t>
            </a:r>
          </a:p>
        </p:txBody>
      </p:sp>
      <p:sp>
        <p:nvSpPr>
          <p:cNvPr id="11" name="Rectangle 10"/>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17352" cy="365760"/>
          </a:xfrm>
          <a:prstGeom prst="rect">
            <a:avLst/>
          </a:prstGeom>
          <a:noFill/>
        </p:spPr>
        <p:txBody>
          <a:bodyPr wrap="none">
            <a:spAutoFit/>
          </a:bodyPr>
          <a:lstStyle/>
          <a:p>
            <a:pPr algn="l"/>
            <a:r>
              <a:rPr sz="1200">
                <a:solidFill>
                  <a:srgbClr val="D9C089"/>
                </a:solidFill>
                <a:latin typeface="Consolas"/>
              </a:rPr>
              <a:t>EINZELARBEIT + SPRACHCHECK (40 MIN.)</a:t>
            </a:r>
          </a:p>
        </p:txBody>
      </p:sp>
      <p:sp>
        <p:nvSpPr>
          <p:cNvPr id="4" name="Rectangle 3"/>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AB-2: SMART-Zielformulierung &amp; Gesprächseinstieg</a:t>
            </a:r>
          </a:p>
        </p:txBody>
      </p:sp>
      <p:sp>
        <p:nvSpPr>
          <p:cNvPr id="6" name="TextBox 5"/>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Partizipativen Gesprächseinstieg entwickeln und im Sprachcheck prüfen</a:t>
            </a:r>
          </a:p>
        </p:txBody>
      </p:sp>
      <p:sp>
        <p:nvSpPr>
          <p:cNvPr id="7" name="TextBox 6"/>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TL05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TL05  ·  ARBEITSBLATT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AB-2: Formulieren – nicht proben, sondern schreiben</a:t>
            </a:r>
          </a:p>
        </p:txBody>
      </p:sp>
      <p:sp>
        <p:nvSpPr>
          <p:cNvPr id="8" name="TextBox 7"/>
          <p:cNvSpPr txBox="1"/>
          <p:nvPr/>
        </p:nvSpPr>
        <p:spPr>
          <a:xfrm>
            <a:off x="685800" y="1554480"/>
            <a:ext cx="10817352" cy="3840480"/>
          </a:xfrm>
          <a:prstGeom prst="rect">
            <a:avLst/>
          </a:prstGeom>
          <a:noFill/>
        </p:spPr>
        <p:txBody>
          <a:bodyPr wrap="square">
            <a:spAutoFit/>
          </a:bodyPr>
          <a:lstStyle/>
          <a:p>
            <a:pPr marL="190500" indent="-190500">
              <a:spcBef>
                <a:spcPts val="400"/>
              </a:spcBef>
              <a:spcAft>
                <a:spcPts val="200"/>
              </a:spcAft>
            </a:pPr>
            <a:r>
              <a:rPr sz="1400">
                <a:solidFill>
                  <a:srgbClr val="3D5466"/>
                </a:solidFill>
                <a:latin typeface="Arial"/>
              </a:rPr>
              <a:t>▸  Schritt 1: Halbjahresziel für Sandra SMART formulieren.</a:t>
            </a:r>
          </a:p>
          <a:p>
            <a:pPr marL="190500" indent="-190500">
              <a:spcBef>
                <a:spcPts val="400"/>
              </a:spcBef>
              <a:spcAft>
                <a:spcPts val="200"/>
              </a:spcAft>
            </a:pPr>
            <a:r>
              <a:rPr sz="1400">
                <a:solidFill>
                  <a:srgbClr val="3D5466"/>
                </a:solidFill>
                <a:latin typeface="Arial"/>
              </a:rPr>
              <a:t>▸  Schritt 2: Zwei partizipative Fragen entwickeln.</a:t>
            </a:r>
          </a:p>
          <a:p>
            <a:pPr marL="190500" indent="-190500">
              <a:spcBef>
                <a:spcPts val="400"/>
              </a:spcBef>
              <a:spcAft>
                <a:spcPts val="200"/>
              </a:spcAft>
            </a:pPr>
            <a:r>
              <a:rPr sz="1400">
                <a:solidFill>
                  <a:srgbClr val="3D5466"/>
                </a:solidFill>
                <a:latin typeface="Arial"/>
              </a:rPr>
              <a:t>▸  Schritt 3: Einstiegssatz – Stärke, Entwicklungsfrage, Einladung.</a:t>
            </a:r>
          </a:p>
          <a:p>
            <a:pPr marL="190500" indent="-190500">
              <a:spcBef>
                <a:spcPts val="400"/>
              </a:spcBef>
              <a:spcAft>
                <a:spcPts val="200"/>
              </a:spcAft>
            </a:pPr>
            <a:r>
              <a:rPr sz="1400">
                <a:solidFill>
                  <a:srgbClr val="3D5466"/>
                </a:solidFill>
                <a:latin typeface="Arial"/>
              </a:rPr>
              <a:t>▸  Schritt 4: Sprachcheck in 2er-Gruppen – aus Mitarbeiterperspektive.</a:t>
            </a:r>
          </a:p>
          <a:p>
            <a:pPr marL="190500" indent="-190500">
              <a:spcBef>
                <a:spcPts val="400"/>
              </a:spcBef>
              <a:spcAft>
                <a:spcPts val="200"/>
              </a:spcAft>
            </a:pPr>
            <a:r>
              <a:rPr sz="1400">
                <a:solidFill>
                  <a:srgbClr val="3D5466"/>
                </a:solidFill>
                <a:latin typeface="Arial"/>
              </a:rPr>
              <a:t>▸  Schritt 5: Zweite Version des Einstiegssatzes schreiben.</a:t>
            </a:r>
          </a:p>
        </p:txBody>
      </p:sp>
      <p:sp>
        <p:nvSpPr>
          <p:cNvPr id="9" name="Rectangle 8"/>
          <p:cNvSpPr/>
          <p:nvPr/>
        </p:nvSpPr>
        <p:spPr>
          <a:xfrm>
            <a:off x="685800" y="5486400"/>
            <a:ext cx="10817352" cy="64008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5596128"/>
            <a:ext cx="10451592" cy="457200"/>
          </a:xfrm>
          <a:prstGeom prst="rect">
            <a:avLst/>
          </a:prstGeom>
          <a:noFill/>
        </p:spPr>
        <p:txBody>
          <a:bodyPr wrap="square">
            <a:spAutoFit/>
          </a:bodyPr>
          <a:lstStyle/>
          <a:p>
            <a:pPr algn="l"/>
            <a:r>
              <a:rPr sz="1300" b="1" i="0">
                <a:solidFill>
                  <a:srgbClr val="FFFFFF"/>
                </a:solidFill>
                <a:latin typeface="Arial"/>
              </a:rPr>
              <a:t>→  Bearbeitung im Teilnehmer-Workbook (Arbeitsblatt mit Ausfüllfeldern)</a:t>
            </a:r>
          </a:p>
        </p:txBody>
      </p:sp>
      <p:sp>
        <p:nvSpPr>
          <p:cNvPr id="11" name="Rectangle 10"/>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17352" cy="365760"/>
          </a:xfrm>
          <a:prstGeom prst="rect">
            <a:avLst/>
          </a:prstGeom>
          <a:noFill/>
        </p:spPr>
        <p:txBody>
          <a:bodyPr wrap="none">
            <a:spAutoFit/>
          </a:bodyPr>
          <a:lstStyle/>
          <a:p>
            <a:pPr algn="l"/>
            <a:r>
              <a:rPr sz="1200">
                <a:solidFill>
                  <a:srgbClr val="D9C089"/>
                </a:solidFill>
                <a:latin typeface="Consolas"/>
              </a:rPr>
              <a:t>ABSCHLUSS</a:t>
            </a:r>
          </a:p>
        </p:txBody>
      </p:sp>
      <p:sp>
        <p:nvSpPr>
          <p:cNvPr id="4" name="Rectangle 3"/>
          <p:cNvSpPr/>
          <p:nvPr/>
        </p:nvSpPr>
        <p:spPr>
          <a:xfrm>
            <a:off x="685800" y="2788920"/>
            <a:ext cx="548640" cy="38100"/>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017520"/>
            <a:ext cx="10817352" cy="1463040"/>
          </a:xfrm>
          <a:prstGeom prst="rect">
            <a:avLst/>
          </a:prstGeom>
          <a:noFill/>
        </p:spPr>
        <p:txBody>
          <a:bodyPr wrap="square">
            <a:spAutoFit/>
          </a:bodyPr>
          <a:lstStyle/>
          <a:p>
            <a:pPr algn="l"/>
            <a:r>
              <a:rPr sz="4000" b="1" i="0">
                <a:solidFill>
                  <a:srgbClr val="FFFFFF"/>
                </a:solidFill>
                <a:latin typeface="Arial"/>
              </a:rPr>
              <a:t>Transfer &amp; Haltung</a:t>
            </a:r>
          </a:p>
        </p:txBody>
      </p:sp>
      <p:sp>
        <p:nvSpPr>
          <p:cNvPr id="6" name="TextBox 5"/>
          <p:cNvSpPr txBox="1"/>
          <p:nvPr/>
        </p:nvSpPr>
        <p:spPr>
          <a:xfrm>
            <a:off x="685800" y="4480560"/>
            <a:ext cx="8653881" cy="1280160"/>
          </a:xfrm>
          <a:prstGeom prst="rect">
            <a:avLst/>
          </a:prstGeom>
          <a:noFill/>
        </p:spPr>
        <p:txBody>
          <a:bodyPr wrap="square">
            <a:spAutoFit/>
          </a:bodyPr>
          <a:lstStyle/>
          <a:p>
            <a:pPr algn="l"/>
            <a:r>
              <a:rPr sz="1600" b="0" i="0">
                <a:solidFill>
                  <a:srgbClr val="C8D2E6"/>
                </a:solidFill>
                <a:latin typeface="Arial"/>
              </a:rPr>
              <a:t>Drei Aufgaben für die Praxis – und ein persönlicher Prüfstein</a:t>
            </a:r>
          </a:p>
        </p:txBody>
      </p:sp>
      <p:sp>
        <p:nvSpPr>
          <p:cNvPr id="7" name="TextBox 6"/>
          <p:cNvSpPr txBox="1"/>
          <p:nvPr/>
        </p:nvSpPr>
        <p:spPr>
          <a:xfrm>
            <a:off x="685800" y="6355080"/>
            <a:ext cx="10817352" cy="274320"/>
          </a:xfrm>
          <a:prstGeom prst="rect">
            <a:avLst/>
          </a:prstGeom>
          <a:noFill/>
        </p:spPr>
        <p:txBody>
          <a:bodyPr wrap="none">
            <a:spAutoFit/>
          </a:bodyPr>
          <a:lstStyle/>
          <a:p>
            <a:pPr algn="l"/>
            <a:r>
              <a:rPr sz="700">
                <a:solidFill>
                  <a:srgbClr val="8CA0C3"/>
                </a:solidFill>
                <a:latin typeface="Consolas"/>
              </a:rPr>
              <a:t>FKB Campus  ·  TL05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TL05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Drei Transferaufgaben für die nächsten zwei Wochen</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1: Zielvereinbarungen der letzten Periode im SMART-Check überprüfen.</a:t>
            </a:r>
          </a:p>
          <a:p>
            <a:pPr marL="190500" indent="-190500">
              <a:spcBef>
                <a:spcPts val="400"/>
              </a:spcBef>
              <a:spcAft>
                <a:spcPts val="200"/>
              </a:spcAft>
            </a:pPr>
            <a:r>
              <a:rPr sz="1300">
                <a:solidFill>
                  <a:srgbClr val="3D5466"/>
                </a:solidFill>
                <a:latin typeface="Arial"/>
              </a:rPr>
              <a:t>▸  2: Ein Gespräch nach der Fünf-Schritte-Struktur führen und dokumentieren.</a:t>
            </a:r>
          </a:p>
          <a:p>
            <a:pPr marL="190500" indent="-190500">
              <a:spcBef>
                <a:spcPts val="400"/>
              </a:spcBef>
              <a:spcAft>
                <a:spcPts val="200"/>
              </a:spcAft>
            </a:pPr>
            <a:r>
              <a:rPr sz="1300">
                <a:solidFill>
                  <a:srgbClr val="3D5466"/>
                </a:solidFill>
                <a:latin typeface="Arial"/>
              </a:rPr>
              <a:t>▸  3: Schwierige Konstellation schriftlich vorbereiten – als kollegialen Fall einbringen.</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ED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50292"/>
          </a:xfrm>
          <a:prstGeom prst="rect">
            <a:avLst/>
          </a:prstGeom>
          <a:solidFill>
            <a:srgbClr val="1F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09728"/>
            <a:ext cx="10817352" cy="228600"/>
          </a:xfrm>
          <a:prstGeom prst="rect">
            <a:avLst/>
          </a:prstGeom>
          <a:noFill/>
        </p:spPr>
        <p:txBody>
          <a:bodyPr wrap="none">
            <a:spAutoFit/>
          </a:bodyPr>
          <a:lstStyle/>
          <a:p>
            <a:pPr algn="l"/>
            <a:r>
              <a:rPr sz="750">
                <a:solidFill>
                  <a:srgbClr val="78808C"/>
                </a:solidFill>
                <a:latin typeface="Consolas"/>
              </a:rPr>
              <a:t>TL05  ·  INHALT</a:t>
            </a:r>
          </a:p>
        </p:txBody>
      </p:sp>
      <p:sp>
        <p:nvSpPr>
          <p:cNvPr id="5" name="Rectangle 4"/>
          <p:cNvSpPr/>
          <p:nvPr/>
        </p:nvSpPr>
        <p:spPr>
          <a:xfrm>
            <a:off x="0" y="1234440"/>
            <a:ext cx="12188952" cy="12700"/>
          </a:xfrm>
          <a:prstGeom prst="rect">
            <a:avLst/>
          </a:prstGeom>
          <a:solidFill>
            <a:srgbClr val="D8DF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502920"/>
            <a:ext cx="36576" cy="658368"/>
          </a:xfrm>
          <a:prstGeom prst="rect">
            <a:avLst/>
          </a:prstGeom>
          <a:solidFill>
            <a:srgbClr val="D9C0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 y="502920"/>
            <a:ext cx="10634472" cy="685800"/>
          </a:xfrm>
          <a:prstGeom prst="rect">
            <a:avLst/>
          </a:prstGeom>
          <a:noFill/>
        </p:spPr>
        <p:txBody>
          <a:bodyPr wrap="square">
            <a:spAutoFit/>
          </a:bodyPr>
          <a:lstStyle/>
          <a:p>
            <a:pPr algn="l"/>
            <a:r>
              <a:rPr sz="2400" b="1" i="0">
                <a:solidFill>
                  <a:srgbClr val="1F2C56"/>
                </a:solidFill>
                <a:latin typeface="Arial"/>
              </a:rPr>
              <a:t>Steuern UND entwickeln – der Greenleaf-Test nach jedem Gespräch</a:t>
            </a:r>
          </a:p>
        </p:txBody>
      </p:sp>
      <p:sp>
        <p:nvSpPr>
          <p:cNvPr id="8" name="TextBox 7"/>
          <p:cNvSpPr txBox="1"/>
          <p:nvPr/>
        </p:nvSpPr>
        <p:spPr>
          <a:xfrm>
            <a:off x="685800" y="1417320"/>
            <a:ext cx="10817352" cy="4892040"/>
          </a:xfrm>
          <a:prstGeom prst="rect">
            <a:avLst/>
          </a:prstGeom>
          <a:noFill/>
        </p:spPr>
        <p:txBody>
          <a:bodyPr wrap="square" anchor="ctr">
            <a:spAutoFit/>
          </a:bodyPr>
          <a:lstStyle/>
          <a:p>
            <a:pPr marL="190500" indent="-190500">
              <a:spcBef>
                <a:spcPts val="400"/>
              </a:spcBef>
              <a:spcAft>
                <a:spcPts val="200"/>
              </a:spcAft>
            </a:pPr>
            <a:r>
              <a:rPr sz="1300">
                <a:solidFill>
                  <a:srgbClr val="3D5466"/>
                </a:solidFill>
                <a:latin typeface="Arial"/>
              </a:rPr>
              <a:t>▸  Ziel ist Entwicklungsinstrument – kein Kontrollinstrument.</a:t>
            </a:r>
          </a:p>
          <a:p>
            <a:pPr marL="190500" indent="-190500">
              <a:spcBef>
                <a:spcPts val="400"/>
              </a:spcBef>
              <a:spcAft>
                <a:spcPts val="200"/>
              </a:spcAft>
            </a:pPr>
            <a:r>
              <a:rPr sz="1300">
                <a:solidFill>
                  <a:srgbClr val="3D5466"/>
                </a:solidFill>
                <a:latin typeface="Arial"/>
              </a:rPr>
              <a:t>▸  'Hat der Berater das Gespräch mit mehr Klarheit verlassen?'</a:t>
            </a:r>
          </a:p>
          <a:p>
            <a:pPr marL="190500" indent="-190500">
              <a:spcBef>
                <a:spcPts val="400"/>
              </a:spcBef>
              <a:spcAft>
                <a:spcPts val="200"/>
              </a:spcAft>
            </a:pPr>
            <a:r>
              <a:rPr sz="1300">
                <a:solidFill>
                  <a:srgbClr val="3D5466"/>
                </a:solidFill>
                <a:latin typeface="Arial"/>
              </a:rPr>
              <a:t>▸  Ja → Führungsgespräch. Nein → Kontrollgespräch.</a:t>
            </a:r>
          </a:p>
          <a:p>
            <a:pPr marL="190500" indent="-190500">
              <a:spcBef>
                <a:spcPts val="400"/>
              </a:spcBef>
              <a:spcAft>
                <a:spcPts val="200"/>
              </a:spcAft>
            </a:pPr>
            <a:r>
              <a:rPr sz="1300">
                <a:solidFill>
                  <a:srgbClr val="3D5466"/>
                </a:solidFill>
                <a:latin typeface="Arial"/>
              </a:rPr>
              <a:t>▸  Kennzahlen geben den Anlass. Gespräche geben die Richtung.</a:t>
            </a:r>
          </a:p>
        </p:txBody>
      </p:sp>
      <p:sp>
        <p:nvSpPr>
          <p:cNvPr id="9" name="Rectangle 8"/>
          <p:cNvSpPr/>
          <p:nvPr/>
        </p:nvSpPr>
        <p:spPr>
          <a:xfrm>
            <a:off x="0" y="6510528"/>
            <a:ext cx="12188952" cy="347472"/>
          </a:xfrm>
          <a:prstGeom prst="rect">
            <a:avLst/>
          </a:prstGeom>
          <a:solidFill>
            <a:srgbClr val="0A1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583680"/>
            <a:ext cx="6490411" cy="256032"/>
          </a:xfrm>
          <a:prstGeom prst="rect">
            <a:avLst/>
          </a:prstGeom>
          <a:noFill/>
        </p:spPr>
        <p:txBody>
          <a:bodyPr wrap="none">
            <a:spAutoFit/>
          </a:bodyPr>
          <a:lstStyle/>
          <a:p>
            <a:pPr algn="l"/>
            <a:r>
              <a:rPr sz="700">
                <a:solidFill>
                  <a:srgbClr val="A0B4D2"/>
                </a:solidFill>
                <a:latin typeface="Consolas"/>
              </a:rPr>
              <a:t>FKB Campus  ·  TL05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