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AB-1 Musterlösung (Trainer-Version)</a:t>
            </a:r>
          </a:p>
          <a:p>
            <a:r>
              <a:t>Einzelkaufmann (e.K.): Unterlagen Unternehmen: Gewerbeanmeldung oder HR-Auszug (falls eingetragen). Unterlagen handelnde Person: gültiger Personalausweis oder Reisepass des Inhabers; bei Prokura zusätzlich HR-Auszug mit Prokuraeintrag und Personalausweis des Prokuristen.</a:t>
            </a:r>
          </a:p>
          <a:p>
            <a:r>
              <a:t>GbR: Unterlagen Unternehmen: Gesellschaftsvertrag (kein HR-Eintrag). Unterlagen handelnde Personen: Personalausweis aller Gesellschafter, die als Zeichnungsberechtigte auftreten. Achtung: Ohne Gesellschaftsvertrag ist die Vertretungsregelung unklar – im Zweifel alle Gesellschafter zeichnen lassen.</a:t>
            </a:r>
          </a:p>
          <a:p>
            <a:r>
              <a:t>GmbH: Unterlagen Unternehmen: aktueller HR-Auszug (enthält GF, Vertretungsregelung). Unterlagen handelnde Person: Personalausweis des/der Geschäftsführer, ggf. Prokuristen. Gesellschaftsvertrag im Regelfall nicht erforderlich (HR-Eintrag ist maßgeblich).</a:t>
            </a:r>
          </a:p>
          <a:p>
            <a:r>
              <a:t>GmbH &amp; Co. KG: Unterlagen Unternehmen: HR-Auszug der KG + HR-Auszug der Komplementär-GmbH + ggf. Gesellschaftsvertrag der KG. Unterlagen handelnde Person: Personalausweis des Geschäftsführers der Komplementär-GmbH; bei Kommanditisten-Identifizierung nach GwG ggf. weitere Ausweise. Höchster Prüfaufwand wegen der Doppelstruktur (zwei Register, zwei Gesellschaften).</a:t>
            </a:r>
          </a:p>
          <a:p>
            <a:r>
              <a:t>Trainer-Hinweis: Die Musterlösung zeigt das Regelfall-Mindestrepertoire. Hausindividuelle Anforderungen (z. B. intern vorgeschriebene Formulare, Erweiterungen durch GwG-Richtlinien) gehen vor. Den Teilnehmern klarmachen: Das Prinzip ist überall gleich – die Checkliste (AB-5) ist das Werkzeug, das hausindividuelle Ergänzungen verträgt.</a:t>
            </a:r>
          </a:p>
          <a:p>
            <a:r>
              <a:t>AB-2 Musterlösung (Trainer-Version)</a:t>
            </a:r>
          </a:p>
          <a:p>
            <a:r>
              <a:t>1. Herr Weber allein: Nein – Gesamtvertretung, er benötigt einen zweiten Gesamtvertreter oder einen Prokuristen.</a:t>
            </a:r>
          </a:p>
          <a:p>
            <a:r>
              <a:t>2. Herr Kern allein: Nein – Prokuristen können allein handeln (Einzelprokura laut HR), aber Grundstücksgeschäfte sind ausgenommen. Für Kreditverträge ohne Grundstücksbezug: Ja, wenn Einzelprokura eingetragen.</a:t>
            </a:r>
          </a:p>
          <a:p>
            <a:r>
              <a:t>3. Rechtswirksame Kombinationen: Weber + Bauer; Weber + Kern (ppa.); Bauer + Kern (ppa.); Kern allein (ppa., für Nichtgrundstücksgeschäfte).</a:t>
            </a:r>
          </a:p>
          <a:p>
            <a:r>
              <a:t>4. Abzugleichen: (a) Ist der Unterzeichner im aktuellen HR-Auszug eingetragen? (b) Ist die Vertretungsregelung (Einzel/Gesamt) eingehalten? (c) Ist bei Prokura „ppa." auf dem Dokument vermerkt?</a:t>
            </a:r>
          </a:p>
          <a:p>
            <a:r>
              <a:t>Trainer-Hinweis: Häufige Verwechslung: Prokuristen werden oft als „fast wie Geschäftsführer" wahrgenommen. Klarstellen: Ein Prokurist darf sehr viel – aber er darf Grundstücke nicht veräußern oder belasten, sofern ihm diese Befugnis nicht besonders erteilt wurde (§ 49 Abs. 2 HGB). Das ist für Grundschuldbestellungen der zentrale Prüfpunkt: Die erweiterte Befugnis (sog. Immobiliarprokura) muss im Handelsregister eingetragen sein, um gegenüber der Bank zu wirken – nicht notariell beurkundet. Steht sie nicht im HR-Auszug, muss der Geschäft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Consolas"/>
              </a:rPr>
              <a:t>FKB CAMPUS  ·  FIRMENKUNDENAKADEMIE  ·  VA10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Arial"/>
              </a:rPr>
              <a:t>Neukunden rechtssicher anlegen: Legitimation &amp; Vertretungsberechtigung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Arial"/>
              </a:rPr>
              <a:t>Legitimation, Kontoeröffnung und Vertretungsbefugnis im Firmenkundengeschäft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K-A06 Neugeschäft &amp; gesetzliche Sorgfaltspflichten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Sachbearbeitung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v0.1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Consolas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Consolas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ÜBERBLICK  ·  VA10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Beim Anlegen eines neuen Firmenkunden entscheiden die ersten Minuten: Welche Unterlagen brauchen Sie wirklich – und wer darf überhaupt für das Unternehmen handeln?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In diesem Modul erarbeiten Sie die gesetzlichen Anforderungen an die Legitimationsprüfung und die Vertretungsberechtigung für die wichtigsten Rechtsformen.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lesen einen Handelsregisterauszug sicher aus, erkennen typische Formfehler – und wissen, wann Sie eskalieren müssen.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LERNZIELE  ·  VA10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gesetzlichen Legitimationspflichten bei der Kontoeröffnung für natürliche Personen und juristische Personen bzw. Personengesellschaften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Grundsatz der Kontenwahrheit nach § 154 AO und die Identifizierungspflicht nach §§ 10–11 GwG in eigenen Worten erklären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Anhand eines Handelsregisterauszugs die Vertretungsregelung (Einzel-/Gesamtvertretung, Prokura ppa.) bestimmen und auf die Bankdokumente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Erforderliche Legitimationsunterlagen für verschiedene Rechtsformen (GmbH, GmbH &amp; Co. KG, GbR, Einzelkaufmann) zusammenstellen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Typische Formfehler bei der Vertretungsprüfung erkennen und das korrekte Eskalationsverhalten beschreiben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AGENDA  ·  VA10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Arial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00:00–00:05 </a:t>
            </a:r>
            <a:r>
              <a:rPr sz="1500" b="1">
                <a:solidFill>
                  <a:srgbClr val="3D5466"/>
                </a:solidFill>
                <a:latin typeface="Arial"/>
              </a:rPr>
              <a:t>  Begrüßung &amp; Einstieg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00:05–00:20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1: Legitimation &amp; Kontenwahrheit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aktivierendes Fragen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00:20–00:35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 2: Vertretungsberechtigung nach Rechtsform</a:t>
            </a:r>
            <a:r>
              <a:rPr sz="1200">
                <a:solidFill>
                  <a:srgbClr val="78808C"/>
                </a:solidFill>
                <a:latin typeface="Arial"/>
              </a:rPr>
              <a:t>  ·  Kurzvortrag + Tabelle Flipchart/Folie; Pflicht: Vertretungsketten-Skizze GmbH &amp; Co. KG am Flipchart (KG → Komplementär-GmbH → GF)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00:35–00:40 </a:t>
            </a:r>
            <a:r>
              <a:rPr sz="1500" b="1">
                <a:solidFill>
                  <a:srgbClr val="3D5466"/>
                </a:solidFill>
                <a:latin typeface="Arial"/>
              </a:rPr>
              <a:t>  Fallübergabe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00:40–00:55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AB-1 &amp; AB-2 in Einzel-/Partnerarbeit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00:55–01:10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Plenumsbesprechung AB-1/AB-2</a:t>
            </a:r>
            <a:r>
              <a:rPr sz="1200">
                <a:solidFill>
                  <a:srgbClr val="78808C"/>
                </a:solidFill>
                <a:latin typeface="Arial"/>
              </a:rPr>
              <a:t>  ·  Moderierte Diskussion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01:10–01:20 </a:t>
            </a:r>
            <a:r>
              <a:rPr sz="1500" b="1">
                <a:solidFill>
                  <a:srgbClr val="3D5466"/>
                </a:solidFill>
                <a:latin typeface="Arial"/>
              </a:rPr>
              <a:t>  AB-3 &amp; AB-4</a:t>
            </a:r>
            <a:r>
              <a:rPr sz="1200">
                <a:solidFill>
                  <a:srgbClr val="78808C"/>
                </a:solidFill>
                <a:latin typeface="Arial"/>
              </a:rPr>
              <a:t>  ·  Einzel-/Partnerarbeit +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01:20–01:25 </a:t>
            </a:r>
            <a:r>
              <a:rPr sz="1500" b="1">
                <a:solidFill>
                  <a:srgbClr val="3D5466"/>
                </a:solidFill>
                <a:latin typeface="Arial"/>
              </a:rPr>
              <a:t>  AB-5 &amp; 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01:25–01:30 </a:t>
            </a:r>
            <a:r>
              <a:rPr sz="1500" b="1">
                <a:solidFill>
                  <a:srgbClr val="3D5466"/>
                </a:solidFill>
                <a:latin typeface="Arial"/>
              </a:rPr>
              <a:t>  Abschluss &amp; Ausblick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Legitimation &amp; Kontenwahrheit – warum das Gesetz Klarheit verlangt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 – Wo wird legitimiert und dokumentiert?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bei einer Kontoeröffnung für eine juristische Person kein aktueller Registerauszug vorliegt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Dann Anlage im System stoppen und den zuständigen Berater informieren – kein Konto ohne vollständige Legitimationsunterlagen eröffnen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Theorie-Input: Vertretungsberechtigung – wer darf für das Unternehmen handeln?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Übersicht: Vertretungsregelungen nach Rechtsform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ein Handelsregisterauszug Gesamtvertretung ausweist und nur eine Unterschrift vorliegt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Dann Unterschrift sofort als unvollständig kennzeichnen, Berater informieren und Nachzeichnung veranlassen – das Dokument ist so nicht rechtswirksam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Handlungsempfehlung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Wenn der Handelsregisterauszug älter als 3 Monate ist</a:t>
            </a:r>
          </a:p>
          <a:p>
            <a:pPr marL="177800" indent="-177800"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Dann aktuellen Auszug über www.handelsregister.de abrufen oder den Kunden um Vorlage bitten – Vertretungsverhältnisse können sich geändert haben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VA10  ·  ARBEITSBLATT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Praxisfall: Neuanlage Tischler-Meistermarkt Musterregion GmbH &amp; Co. KG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554480"/>
            <a:ext cx="1081735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Unternehmensportrait (anonymisiert, branchentypisch)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Vorgelegte Unterlagen: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HR-Auszug KG (Auszug, vereinfacht):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HR-Auszug GmbH (Auszug, vereinfacht):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Analyse: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5486400"/>
            <a:ext cx="10817352" cy="64008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596128"/>
            <a:ext cx="1045159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Arial"/>
              </a:rPr>
              <a:t>→  Bearbeitung im Teilnehmer-Workbook (Arbeitsblatt mit Ausfüllfeldern)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Consolas"/>
              </a:rPr>
              <a:t>VA10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Arial"/>
              </a:rPr>
              <a:t>Reflexionsfragen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4892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Welche Rechtsform begegnet Ihnen in Ihrer täglichen Arbeit am häufigsten – und wie sicher fühlen Sie sich bislang bei der Prüfung der Vertretungsberechtigung?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Stellen Sie sich vor, ein freundlicher Stammkunde möchte schnell ein neues Konto eröffnen und sagt: „Den Papierkram haben wir doch schon alles erledigt, einfach anlegen." Was antworten Sie – und wie begründen Sie das?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Woran erkennen Sie, dass ein Handelsregisterauszug für Ihre Zwecke nicht mehr aktuell genug ist?</a:t>
            </a:r>
          </a:p>
          <a:p>
            <a:pPr marL="190500" indent="-190500"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Beschreiben Sie in zwei Sätzen, worin der Unterschied zwischen einer Prokura und einer BGB-Vollmacht liegt – und warum das für die Bankpraxis relevant ist.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Consolas"/>
              </a:rPr>
              <a:t>FKB Campus  ·  VA10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