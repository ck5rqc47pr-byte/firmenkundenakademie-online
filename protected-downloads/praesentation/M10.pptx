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aus dem Ablaufplan (Sektion 3.1). Timing und Pausen siehe Trainerhandbuch.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 eine Kundenaussage auf allen vier Ohren durchspielen – „Ihre Konditionen sind aber hoch."</a:t>
            </a:r>
          </a:p>
          <a:p>
            <a:r>
              <a:t>Moderation (HB Sec 3): Konkreten Satz aus dem Berufsalltag nehmen: z.B. Unternehmer sagt: „Wir brauchen eigentlich keine neue Finanzierung." Trainer fragt: Was hören Sie auf welchem Ohr? Häufig: TN hören nur auf dem Sachohr. Dann zeigen: Selbstoffenbarung = „Ich habe Angst vor Abhängigkeit"; Appell = „Zeigen Sie mir einen Mehrwert, der meinen Preis wert ist." Typische Teilnehmerreaktion: „Das ist doch Überinterpretation." → Gegenargument: Im Zweifel besser eine Ebene zu viel prüfen als eine zu wenig. Im Firmenkundengeschäft sind offene Gesprächspunkte teuer. Antizipierter Senior-Einwand „Das ist Psychologie, nicht Bankberatung": Dieser Einwand kommt vorhersehbar von erfahrenen TN. Konkrete Antwort (sofort einsetzbar, ohne auf die Übungsphase zu warten): „Das Modell soll keine Therapiesitzung einleiten. Es gibt Ihnen eine Antenne für den Moment, in dem der Kunde zögert, das Thema wechselt oder kürzer als gewohnt antwortet. Wann hatten Sie zuletzt ein Gespräch, in dem der Kunde ‚eigentlich läuft alles gut' gesagt hat – und am Ende war das Ergebnis trotzdem mager? Dann waren Sie auf dem falschen Ohr." Danach direkt in die Kurzübung einsteigen. Rückkopplung in der Kurzübung sichern: Die Kurzübung (Trainer spielt Satz, TN sortieren auf vier Ebenen) endet nicht mit dem Einsammeln der Zettel. Mindestens einen skeptischen TN direkt – einladend, nicht defensiv – ansprechen: „Sie haben schnell abgegeben. Was haben Sie auf dem Appell-Ohr gehört?" Die Antwort ist nicht falsch oder richtig; entscheidend ist, ob er überhaupt eine Ebene außer dem Sachinhalt bemerkt hat. Sonst bleibt die Lernlücke skeptischer TN ungeprüft.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Kernbotschaft: der Berater wählt das Ohr, auf dem er hört – und damit die Wirkung seiner Antwort.</a:t>
            </a:r>
          </a:p>
          <a:p>
            <a:r>
              <a:t>Moderation (HB Sec 3): Konkreten Satz aus dem Berufsalltag nehmen: z.B. Unternehmer sagt: „Wir brauchen eigentlich keine neue Finanzierung." Trainer fragt: Was hören Sie auf welchem Ohr? Häufig: TN hören nur auf dem Sachohr. Dann zeigen: Selbstoffenbarung = „Ich habe Angst vor Abhängigkeit"; Appell = „Zeigen Sie mir einen Mehrwert, der meinen Preis wert ist." Typische Teilnehmerreaktion: „Das ist doch Überinterpretation." → Gegenargument: Im Zweifel besser eine Ebene zu viel prüfen als eine zu wenig. Im Firmenkundengeschäft sind offene Gesprächspunkte teuer. Antizipierter Senior-Einwand „Das ist Psychologie, nicht Bankberatung": Dieser Einwand kommt vorhersehbar von erfahrenen TN. Konkrete Antwort (sofort einsetzbar, ohne auf die Übungsphase zu warten): „Das Modell soll keine Therapiesitzung einleiten. Es gibt Ihnen eine Antenne für den Moment, in dem der Kunde zögert, das Thema wechselt oder kürzer als gewohnt antwortet. Wann hatten Sie zuletzt ein Gespräch, in dem der Kunde ‚eigentlich läuft alles gut' gesagt hat – und am Ende war das Ergebnis trotzdem mager? Dann waren Sie auf dem falschen Ohr." Danach direkt in die Kurzübung einsteigen. Rückkopplung in der Kurzübung sichern: Die Kurzübung (Trainer spielt Satz, TN sortieren auf vier Ebenen) endet nicht mit dem Einsammeln der Zettel. Mindestens einen skeptischen TN direkt – einladend, nicht defensiv – ansprechen: „Sie haben schnell abgegeben. Was haben Sie auf dem Appell-Ohr gehört?" Die Antwort ist nicht falsch oder richtig; entscheidend ist, ob er überhaupt eine Ebene außer dem Sachinhalt bemerkt hat. Sonst bleibt die Lernlücke skeptischer TN ungeprüft.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SPIN deckt latente Bedarfe auf, die der Kunde selbst noch nicht benannt hat.</a:t>
            </a:r>
          </a:p>
          <a:p>
            <a:r>
              <a:t>Moderation (HB Sec 3): Bei der Demo: Trainer bricht nach 8–10 Min ab und fragt TN: „Was hat der Berater gut gemacht?" und „Wo hätte er vertiefen sollen?" – dies erhöht die Lernintensität durch Beobachterrolle. Moment-Aufgriff (höchster Lernwert): Falls ein TN während der Demo aus der Rolle tritt und eine Methode kommentiert (z. B. „Das ist eine gute I-Frage"), sofort aufgreifen statt überhören: „Sie sind gerade rausgegangen – was hat Sie bei dieser Frage überrascht?" Kurz pausieren, TN ausreden lassen, dann weiter im Demo-Gespräch. Dieser Moment ist wertvoller als die nächste SPIN-Frage des Trainers. Rollenspiel-Instruktion – Beobachter sind stille Zeugen: Beobachter beobachten schweigend. Kein Unterbrechen, kein Kommentieren während des Gesprächs. Ausnahme: Stopp-Signal ausschließlich durch den Trainer (Handzeichen). Feedback erst in der 5-minütigen Bogen-Besprechung. Instruktion für die TN-Karte: „Als Beobachter sind Sie der stille Zeuge. Ihr Feedback ist das wertvollste am Ende – nicht dazwischen." Hintergrund: Ein Feedback-Kommentar mitten im Gespräch destabilisiert gerade unsichere Berater in dem Moment, in dem sie eine neue Fragetechnik ausprobieren. Rollenkarten-Vorbereitung: Die Rollenkarte mit den latenten Bedarfen (Sec 4.3) nicht in die TN-Unterlagen drucken. Sie ist ein separates Handout nur für den Unternehmer-Spieler – sonst sieht jeder Berater die latenten Bedarfe vorab und das Überraschungsmoment des Rollenspiels geht verloren. Im Rollenspiel gibt die Unternehmerrolle Instruktionen auf dem Rollenkarten-Rücken, die nur der Unternehmer-Spieler kennt (z. B. „Nachfolge ist ein echtes Problem, aber Sie sprechen nicht darüber, bis Sie direkt gefragt werden"). Dies erzeugt realistische latente Bedarfe. Fokussierter Beobachtungsauftrag Runde 1: In Runde 1 nur drei Dinge beobachten lassen (der volle 10-Kriterien-Bogen überfordert in 10 Minuten): (1) Verhältnis Berater-Redezeit zu Unternehmer-Redezeit, (2) Wann stellt der Berater eine Frage, deren Antwort ihn überrascht?, (3) Wann geht er von P direkt zur Lösung, ohne eine I-Frage zu stellen? Erst in Runde 2 den vollständigen Bogen einsetzen.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Rollenkarte mit latenten Bedarfen nur an den Unternehmer-Spieler. Debriefing: Welche Frage hat den latenten Bedarf geöffnet? Wo wurde zu früh präsentiert?</a:t>
            </a:r>
          </a:p>
          <a:p>
            <a:r>
              <a:t>Moderation (HB Sec 3): Bei der Demo: Trainer bricht nach 8–10 Min ab und fragt TN: „Was hat der Berater gut gemacht?" und „Wo hätte er vertiefen sollen?" – dies erhöht die Lernintensität durch Beobachterrolle. Moment-Aufgriff (höchster Lernwert): Falls ein TN während der Demo aus der Rolle tritt und eine Methode kommentiert (z. B. „Das ist eine gute I-Frage"), sofort aufgreifen statt überhören: „Sie sind gerade rausgegangen – was hat Sie bei dieser Frage überrascht?" Kurz pausieren, TN ausreden lassen, dann weiter im Demo-Gespräch. Dieser Moment ist wertvoller als die nächste SPIN-Frage des Trainers. Rollenspiel-Instruktion – Beobachter sind stille Zeugen: Beobachter beobachten schweigend. Kein Unterbrechen, kein Kommentieren während des Gesprächs. Ausnahme: Stopp-Signal ausschließlich durch den Trainer (Handzeichen). Feedback erst in der 5-minütigen Bogen-Besprechung. Instruktion für die TN-Karte: „Als Beobachter sind Sie der stille Zeuge. Ihr Feedback ist das wertvollste am Ende – nicht dazwischen." Hintergrund: Ein Feedback-Kommentar mitten im Gespräch destabilisiert gerade unsichere Berater in dem Moment, in dem sie eine neue Fragetechnik ausprobieren. Rollenkarten-Vorbereitung: Die Rollenkarte mit den latenten Bedarfen (Sec 4.3) nicht in die TN-Unterlagen drucken. Sie ist ein separates Handout nur für den Unternehmer-Spieler – sonst sieht jeder Berater die latenten Bedarfe vorab und das Überraschungsmoment des Rollenspiels geht verloren. Im Rollenspiel gibt die Unternehmerrolle Instruktionen auf dem Rollenkarten-Rücken, die nur der Unternehmer-Spieler kennt (z. B. „Nachfolge ist ein echtes Problem, aber Sie sprechen nicht darüber, bis Sie direkt gefragt werden"). Dies erzeugt realistische latente Bedarfe. Fokussierter Beobachtungsauftrag Runde 1: In Runde 1 nur drei Dinge beobachten lassen (der volle 10-Kriterien-Bogen überfordert in 10 Minuten): (1) Verhältnis Berater-Redezeit zu Unternehmer-Redezeit, (2) Wann stellt der Berater eine Frage, deren Antwort ihn überrascht?, (3) Wann geht er von P direkt zur Lösung, ohne eine I-Frage zu stellen? Erst in Runde 2 den vollständigen Bogen einsetzen.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zum Selbstcheck und Transfer.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Selbstcheck nach 4 Wochen als Transferanker.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817352" cy="256032"/>
          </a:xfrm>
          <a:prstGeom prst="rect">
            <a:avLst/>
          </a:prstGeom>
          <a:noFill/>
        </p:spPr>
        <p:txBody>
          <a:bodyPr wrap="none">
            <a:spAutoFit/>
          </a:bodyPr>
          <a:lstStyle/>
          <a:p>
            <a:pPr algn="l"/>
            <a:r>
              <a:rPr sz="800">
                <a:solidFill>
                  <a:srgbClr val="C8D2E6"/>
                </a:solidFill>
                <a:latin typeface="Consolas"/>
              </a:rPr>
              <a:t>FKB CAMPUS  ·  FIRMENKUNDENAKADEMIE  ·  M10</a:t>
            </a:r>
          </a:p>
        </p:txBody>
      </p:sp>
      <p:sp>
        <p:nvSpPr>
          <p:cNvPr id="5" name="TextBox 4"/>
          <p:cNvSpPr txBox="1"/>
          <p:nvPr/>
        </p:nvSpPr>
        <p:spPr>
          <a:xfrm>
            <a:off x="685800" y="1828800"/>
            <a:ext cx="10817352" cy="2011680"/>
          </a:xfrm>
          <a:prstGeom prst="rect">
            <a:avLst/>
          </a:prstGeom>
          <a:noFill/>
        </p:spPr>
        <p:txBody>
          <a:bodyPr wrap="square">
            <a:spAutoFit/>
          </a:bodyPr>
          <a:lstStyle/>
          <a:p>
            <a:pPr algn="l"/>
            <a:r>
              <a:rPr sz="4600" b="1" i="0">
                <a:solidFill>
                  <a:srgbClr val="FFFFFF"/>
                </a:solidFill>
                <a:latin typeface="Arial"/>
              </a:rPr>
              <a:t>Strukturierte Bedarfsanalyse</a:t>
            </a:r>
          </a:p>
        </p:txBody>
      </p:sp>
      <p:sp>
        <p:nvSpPr>
          <p:cNvPr id="6" name="TextBox 5"/>
          <p:cNvSpPr txBox="1"/>
          <p:nvPr/>
        </p:nvSpPr>
        <p:spPr>
          <a:xfrm>
            <a:off x="685800" y="3977639"/>
            <a:ext cx="10817352" cy="731520"/>
          </a:xfrm>
          <a:prstGeom prst="rect">
            <a:avLst/>
          </a:prstGeom>
          <a:noFill/>
        </p:spPr>
        <p:txBody>
          <a:bodyPr wrap="square">
            <a:spAutoFit/>
          </a:bodyPr>
          <a:lstStyle/>
          <a:p>
            <a:pPr algn="l"/>
            <a:r>
              <a:rPr sz="1900" b="0" i="1">
                <a:solidFill>
                  <a:srgbClr val="BECDE6"/>
                </a:solidFill>
                <a:latin typeface="Arial"/>
              </a:rPr>
              <a:t>Vom Jahresgespräch zum echten Bedarf</a:t>
            </a:r>
          </a:p>
        </p:txBody>
      </p:sp>
      <p:sp>
        <p:nvSpPr>
          <p:cNvPr id="7" name="Rectangle 6"/>
          <p:cNvSpPr/>
          <p:nvPr/>
        </p:nvSpPr>
        <p:spPr>
          <a:xfrm>
            <a:off x="685800" y="5029200"/>
            <a:ext cx="10817352"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193792"/>
            <a:ext cx="3605784" cy="201168"/>
          </a:xfrm>
          <a:prstGeom prst="rect">
            <a:avLst/>
          </a:prstGeom>
          <a:noFill/>
        </p:spPr>
        <p:txBody>
          <a:bodyPr wrap="none">
            <a:spAutoFit/>
          </a:bodyPr>
          <a:lstStyle/>
          <a:p>
            <a:pPr algn="l"/>
            <a:r>
              <a:rPr sz="700">
                <a:solidFill>
                  <a:srgbClr val="A0B4D2"/>
                </a:solidFill>
                <a:latin typeface="Consolas"/>
              </a:rPr>
              <a:t>KOMPETENZFELD</a:t>
            </a:r>
          </a:p>
        </p:txBody>
      </p:sp>
      <p:sp>
        <p:nvSpPr>
          <p:cNvPr id="9" name="TextBox 8"/>
          <p:cNvSpPr txBox="1"/>
          <p:nvPr/>
        </p:nvSpPr>
        <p:spPr>
          <a:xfrm>
            <a:off x="685800" y="5394960"/>
            <a:ext cx="3605784" cy="320040"/>
          </a:xfrm>
          <a:prstGeom prst="rect">
            <a:avLst/>
          </a:prstGeom>
          <a:noFill/>
        </p:spPr>
        <p:txBody>
          <a:bodyPr wrap="square">
            <a:spAutoFit/>
          </a:bodyPr>
          <a:lstStyle/>
          <a:p>
            <a:pPr algn="l"/>
            <a:r>
              <a:rPr sz="1100" b="0" i="0">
                <a:solidFill>
                  <a:srgbClr val="FFFFFF"/>
                </a:solidFill>
                <a:latin typeface="Arial"/>
              </a:rPr>
              <a:t>K-03 Gesprächsführung &amp; Beratung</a:t>
            </a:r>
          </a:p>
        </p:txBody>
      </p:sp>
      <p:sp>
        <p:nvSpPr>
          <p:cNvPr id="10" name="TextBox 9"/>
          <p:cNvSpPr txBox="1"/>
          <p:nvPr/>
        </p:nvSpPr>
        <p:spPr>
          <a:xfrm>
            <a:off x="4291584" y="5193792"/>
            <a:ext cx="3605784" cy="201168"/>
          </a:xfrm>
          <a:prstGeom prst="rect">
            <a:avLst/>
          </a:prstGeom>
          <a:noFill/>
        </p:spPr>
        <p:txBody>
          <a:bodyPr wrap="none">
            <a:spAutoFit/>
          </a:bodyPr>
          <a:lstStyle/>
          <a:p>
            <a:pPr algn="l"/>
            <a:r>
              <a:rPr sz="700">
                <a:solidFill>
                  <a:srgbClr val="A0B4D2"/>
                </a:solidFill>
                <a:latin typeface="Consolas"/>
              </a:rPr>
              <a:t>KOMPETENZSTUFE</a:t>
            </a:r>
          </a:p>
        </p:txBody>
      </p:sp>
      <p:sp>
        <p:nvSpPr>
          <p:cNvPr id="11" name="TextBox 10"/>
          <p:cNvSpPr txBox="1"/>
          <p:nvPr/>
        </p:nvSpPr>
        <p:spPr>
          <a:xfrm>
            <a:off x="4291584" y="5394960"/>
            <a:ext cx="3605784" cy="320040"/>
          </a:xfrm>
          <a:prstGeom prst="rect">
            <a:avLst/>
          </a:prstGeom>
          <a:noFill/>
        </p:spPr>
        <p:txBody>
          <a:bodyPr wrap="square">
            <a:spAutoFit/>
          </a:bodyPr>
          <a:lstStyle/>
          <a:p>
            <a:pPr algn="l"/>
            <a:r>
              <a:rPr sz="1100" b="0" i="0">
                <a:solidFill>
                  <a:srgbClr val="FFFFFF"/>
                </a:solidFill>
                <a:latin typeface="Arial"/>
              </a:rPr>
              <a:t>Sparringspartner</a:t>
            </a:r>
          </a:p>
        </p:txBody>
      </p:sp>
      <p:sp>
        <p:nvSpPr>
          <p:cNvPr id="12" name="TextBox 11"/>
          <p:cNvSpPr txBox="1"/>
          <p:nvPr/>
        </p:nvSpPr>
        <p:spPr>
          <a:xfrm>
            <a:off x="7897368" y="5193792"/>
            <a:ext cx="3605784" cy="201168"/>
          </a:xfrm>
          <a:prstGeom prst="rect">
            <a:avLst/>
          </a:prstGeom>
          <a:noFill/>
        </p:spPr>
        <p:txBody>
          <a:bodyPr wrap="none">
            <a:spAutoFit/>
          </a:bodyPr>
          <a:lstStyle/>
          <a:p>
            <a:pPr algn="l"/>
            <a:r>
              <a:rPr sz="700">
                <a:solidFill>
                  <a:srgbClr val="A0B4D2"/>
                </a:solidFill>
                <a:latin typeface="Consolas"/>
              </a:rPr>
              <a:t>VERSION</a:t>
            </a:r>
          </a:p>
        </p:txBody>
      </p:sp>
      <p:sp>
        <p:nvSpPr>
          <p:cNvPr id="13" name="TextBox 12"/>
          <p:cNvSpPr txBox="1"/>
          <p:nvPr/>
        </p:nvSpPr>
        <p:spPr>
          <a:xfrm>
            <a:off x="7897368" y="5394960"/>
            <a:ext cx="3605784" cy="320040"/>
          </a:xfrm>
          <a:prstGeom prst="rect">
            <a:avLst/>
          </a:prstGeom>
          <a:noFill/>
        </p:spPr>
        <p:txBody>
          <a:bodyPr wrap="square">
            <a:spAutoFit/>
          </a:bodyPr>
          <a:lstStyle/>
          <a:p>
            <a:pPr algn="l"/>
            <a:r>
              <a:rPr sz="1100" b="0" i="0">
                <a:solidFill>
                  <a:srgbClr val="FFFFFF"/>
                </a:solidFill>
                <a:latin typeface="Arial"/>
              </a:rPr>
              <a:t>v1.0</a:t>
            </a:r>
          </a:p>
        </p:txBody>
      </p:sp>
      <p:sp>
        <p:nvSpPr>
          <p:cNvPr id="14" name="Rectangle 13"/>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583680"/>
            <a:ext cx="5408676" cy="256032"/>
          </a:xfrm>
          <a:prstGeom prst="rect">
            <a:avLst/>
          </a:prstGeom>
          <a:noFill/>
        </p:spPr>
        <p:txBody>
          <a:bodyPr wrap="none">
            <a:spAutoFit/>
          </a:bodyPr>
          <a:lstStyle/>
          <a:p>
            <a:pPr algn="l"/>
            <a:r>
              <a:rPr sz="700">
                <a:solidFill>
                  <a:srgbClr val="96A5BE"/>
                </a:solidFill>
                <a:latin typeface="Consolas"/>
              </a:rPr>
              <a:t>FKB Campus  ·  2026</a:t>
            </a:r>
          </a:p>
        </p:txBody>
      </p:sp>
      <p:sp>
        <p:nvSpPr>
          <p:cNvPr id="16" name="TextBox 15"/>
          <p:cNvSpPr txBox="1"/>
          <p:nvPr/>
        </p:nvSpPr>
        <p:spPr>
          <a:xfrm>
            <a:off x="6094476" y="6583680"/>
            <a:ext cx="5408676" cy="256032"/>
          </a:xfrm>
          <a:prstGeom prst="rect">
            <a:avLst/>
          </a:prstGeom>
          <a:noFill/>
        </p:spPr>
        <p:txBody>
          <a:bodyPr wrap="none">
            <a:spAutoFit/>
          </a:bodyPr>
          <a:lstStyle/>
          <a:p>
            <a:pPr algn="r"/>
            <a:r>
              <a:rPr sz="700">
                <a:solidFill>
                  <a:srgbClr val="96A5BE"/>
                </a:solidFill>
                <a:latin typeface="Consolas"/>
              </a:rPr>
              <a:t>Trainer-Präsentation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ÜBERBLICK  ·  M10</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Worum geht es heute</a:t>
            </a:r>
          </a:p>
        </p:txBody>
      </p:sp>
      <p:sp>
        <p:nvSpPr>
          <p:cNvPr id="7" name="TextBox 6"/>
          <p:cNvSpPr txBox="1"/>
          <p:nvPr/>
        </p:nvSpPr>
        <p:spPr>
          <a:xfrm>
            <a:off x="685800" y="1737360"/>
            <a:ext cx="9720072" cy="4206240"/>
          </a:xfrm>
          <a:prstGeom prst="rect">
            <a:avLst/>
          </a:prstGeom>
          <a:noFill/>
        </p:spPr>
        <p:txBody>
          <a:bodyPr wrap="square">
            <a:spAutoFit/>
          </a:bodyPr>
          <a:lstStyle/>
          <a:p>
            <a:pPr>
              <a:spcAft>
                <a:spcPts val="1200"/>
              </a:spcAft>
            </a:pPr>
            <a:r>
              <a:rPr sz="1700">
                <a:solidFill>
                  <a:srgbClr val="3D5466"/>
                </a:solidFill>
                <a:latin typeface="Arial"/>
              </a:rPr>
              <a:t>Wer nur die Produktliste abfragt, findet nur den Bedarf, den der Kunde schon kennt.</a:t>
            </a:r>
          </a:p>
          <a:p>
            <a:pPr>
              <a:spcAft>
                <a:spcPts val="1200"/>
              </a:spcAft>
            </a:pPr>
            <a:r>
              <a:rPr sz="1700">
                <a:solidFill>
                  <a:srgbClr val="3D5466"/>
                </a:solidFill>
                <a:latin typeface="Arial"/>
              </a:rPr>
              <a:t>Sie lernen eine strukturierte Gesprächsführung mit SPIN-Fragetechnik und üben sie im Rollenspiel.</a:t>
            </a:r>
          </a:p>
          <a:p>
            <a:pPr>
              <a:spcAft>
                <a:spcPts val="1200"/>
              </a:spcAft>
            </a:pPr>
            <a:r>
              <a:rPr sz="1700">
                <a:solidFill>
                  <a:srgbClr val="3D5466"/>
                </a:solidFill>
                <a:latin typeface="Arial"/>
              </a:rPr>
              <a:t>Danach decken Sie Bedarfe systematisch auf und führen Beratungsgespräche mit klarem roten Faden.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LERNZIELE  ·  M10</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Was Sie heute mitnehmen</a:t>
            </a:r>
          </a:p>
        </p:txBody>
      </p:sp>
      <p:sp>
        <p:nvSpPr>
          <p:cNvPr id="7" name="TextBox 6"/>
          <p:cNvSpPr txBox="1"/>
          <p:nvPr/>
        </p:nvSpPr>
        <p:spPr>
          <a:xfrm>
            <a:off x="685800" y="1371600"/>
            <a:ext cx="10817352" cy="5120640"/>
          </a:xfrm>
          <a:prstGeom prst="rect">
            <a:avLst/>
          </a:prstGeom>
          <a:noFill/>
        </p:spPr>
        <p:txBody>
          <a:bodyPr wrap="square">
            <a:spAutoFit/>
          </a:bodyPr>
          <a:lstStyle/>
          <a:p>
            <a:pPr>
              <a:spcBef>
                <a:spcPts val="800"/>
              </a:spcBef>
              <a:spcAft>
                <a:spcPts val="200"/>
              </a:spcAft>
            </a:pPr>
            <a:r>
              <a:rPr sz="1400">
                <a:solidFill>
                  <a:srgbClr val="3D5466"/>
                </a:solidFill>
                <a:latin typeface="Arial"/>
              </a:rPr>
              <a:t>▸  Den UnternehmerDialog als strukturiertes Gesprächsführungsinstrument situationsgerecht einsetzen und alle relevanten Bedarfsdimensionen systematisch erschließen</a:t>
            </a:r>
          </a:p>
          <a:p>
            <a:pPr>
              <a:spcBef>
                <a:spcPts val="800"/>
              </a:spcBef>
              <a:spcAft>
                <a:spcPts val="200"/>
              </a:spcAft>
            </a:pPr>
            <a:r>
              <a:rPr sz="1400">
                <a:solidFill>
                  <a:srgbClr val="3D5466"/>
                </a:solidFill>
                <a:latin typeface="Arial"/>
              </a:rPr>
              <a:t>▸  Kundensignale auf den vier Kommunikationsebenen nach Schulz von Thun differenziert analysieren und den Bedeutungsrahmen hinter sachlichen Aussagen entschlüsseln</a:t>
            </a:r>
          </a:p>
          <a:p>
            <a:pPr>
              <a:spcBef>
                <a:spcPts val="800"/>
              </a:spcBef>
              <a:spcAft>
                <a:spcPts val="200"/>
              </a:spcAft>
            </a:pPr>
            <a:r>
              <a:rPr sz="1400">
                <a:solidFill>
                  <a:srgbClr val="3D5466"/>
                </a:solidFill>
                <a:latin typeface="Arial"/>
              </a:rPr>
              <a:t>▸  Den Vollständigkeitsgrad einer Bedarfsanalyse bewerten, offene Dimensionen benennen und die nächsten Gesprächsschritte priorisieren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AGENDA  ·  M10</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So läuft das Modul</a:t>
            </a:r>
          </a:p>
        </p:txBody>
      </p:sp>
      <p:sp>
        <p:nvSpPr>
          <p:cNvPr id="7" name="TextBox 6"/>
          <p:cNvSpPr txBox="1"/>
          <p:nvPr/>
        </p:nvSpPr>
        <p:spPr>
          <a:xfrm>
            <a:off x="685800" y="1463040"/>
            <a:ext cx="10817352" cy="4937760"/>
          </a:xfrm>
          <a:prstGeom prst="rect">
            <a:avLst/>
          </a:prstGeom>
          <a:noFill/>
        </p:spPr>
        <p:txBody>
          <a:bodyPr wrap="square">
            <a:spAutoFit/>
          </a:bodyPr>
          <a:lstStyle/>
          <a:p>
            <a:pPr>
              <a:spcBef>
                <a:spcPts val="700"/>
              </a:spcBef>
              <a:spcAft>
                <a:spcPts val="100"/>
              </a:spcAft>
            </a:pPr>
            <a:r>
              <a:rPr sz="1200">
                <a:solidFill>
                  <a:srgbClr val="78808C"/>
                </a:solidFill>
                <a:latin typeface="Consolas"/>
              </a:rPr>
              <a:t>00–10'      </a:t>
            </a:r>
            <a:r>
              <a:rPr sz="1500" b="1">
                <a:solidFill>
                  <a:srgbClr val="3D5466"/>
                </a:solidFill>
                <a:latin typeface="Arial"/>
              </a:rPr>
              <a:t>  Einstieg</a:t>
            </a:r>
            <a:r>
              <a:rPr sz="1200">
                <a:solidFill>
                  <a:srgbClr val="78808C"/>
                </a:solidFill>
                <a:latin typeface="Arial"/>
              </a:rPr>
              <a:t>  ·  Kartenabfrage</a:t>
            </a:r>
          </a:p>
          <a:p>
            <a:pPr>
              <a:spcBef>
                <a:spcPts val="700"/>
              </a:spcBef>
              <a:spcAft>
                <a:spcPts val="100"/>
              </a:spcAft>
            </a:pPr>
            <a:r>
              <a:rPr sz="1200">
                <a:solidFill>
                  <a:srgbClr val="78808C"/>
                </a:solidFill>
                <a:latin typeface="Consolas"/>
              </a:rPr>
              <a:t>10–25'      </a:t>
            </a:r>
            <a:r>
              <a:rPr sz="1500" b="1">
                <a:solidFill>
                  <a:srgbClr val="3D5466"/>
                </a:solidFill>
                <a:latin typeface="Arial"/>
              </a:rPr>
              <a:t>  Input I: Vier-Ohren</a:t>
            </a:r>
            <a:r>
              <a:rPr sz="1200">
                <a:solidFill>
                  <a:srgbClr val="78808C"/>
                </a:solidFill>
                <a:latin typeface="Arial"/>
              </a:rPr>
              <a:t>  ·  Vortrag + Übung</a:t>
            </a:r>
          </a:p>
          <a:p>
            <a:pPr>
              <a:spcBef>
                <a:spcPts val="700"/>
              </a:spcBef>
              <a:spcAft>
                <a:spcPts val="100"/>
              </a:spcAft>
            </a:pPr>
            <a:r>
              <a:rPr sz="1200">
                <a:solidFill>
                  <a:srgbClr val="78808C"/>
                </a:solidFill>
                <a:latin typeface="Consolas"/>
              </a:rPr>
              <a:t>25–35'      </a:t>
            </a:r>
            <a:r>
              <a:rPr sz="1500" b="1">
                <a:solidFill>
                  <a:srgbClr val="3D5466"/>
                </a:solidFill>
                <a:latin typeface="Arial"/>
              </a:rPr>
              <a:t>  Input II: SPIN</a:t>
            </a:r>
            <a:r>
              <a:rPr sz="1200">
                <a:solidFill>
                  <a:srgbClr val="78808C"/>
                </a:solidFill>
                <a:latin typeface="Arial"/>
              </a:rPr>
              <a:t>  ·  Vortrag + Partnerarbeit</a:t>
            </a:r>
          </a:p>
          <a:p>
            <a:pPr>
              <a:spcBef>
                <a:spcPts val="700"/>
              </a:spcBef>
              <a:spcAft>
                <a:spcPts val="100"/>
              </a:spcAft>
            </a:pPr>
            <a:r>
              <a:rPr sz="1200">
                <a:solidFill>
                  <a:srgbClr val="78808C"/>
                </a:solidFill>
                <a:latin typeface="Consolas"/>
              </a:rPr>
              <a:t>35–50'      </a:t>
            </a:r>
            <a:r>
              <a:rPr sz="1500" b="1">
                <a:solidFill>
                  <a:srgbClr val="3D5466"/>
                </a:solidFill>
                <a:latin typeface="Arial"/>
              </a:rPr>
              <a:t>  Demo-Gespräch</a:t>
            </a:r>
            <a:r>
              <a:rPr sz="1200">
                <a:solidFill>
                  <a:srgbClr val="78808C"/>
                </a:solidFill>
                <a:latin typeface="Arial"/>
              </a:rPr>
              <a:t>  ·  Fishbowl-Demo</a:t>
            </a:r>
          </a:p>
          <a:p>
            <a:pPr>
              <a:spcBef>
                <a:spcPts val="700"/>
              </a:spcBef>
              <a:spcAft>
                <a:spcPts val="100"/>
              </a:spcAft>
            </a:pPr>
            <a:r>
              <a:rPr sz="1200">
                <a:solidFill>
                  <a:srgbClr val="78808C"/>
                </a:solidFill>
                <a:latin typeface="Consolas"/>
              </a:rPr>
              <a:t>50–80'      </a:t>
            </a:r>
            <a:r>
              <a:rPr sz="1500" b="1">
                <a:solidFill>
                  <a:srgbClr val="3D5466"/>
                </a:solidFill>
                <a:latin typeface="Arial"/>
              </a:rPr>
              <a:t>  Rollenspiel</a:t>
            </a:r>
            <a:r>
              <a:rPr sz="1200">
                <a:solidFill>
                  <a:srgbClr val="78808C"/>
                </a:solidFill>
                <a:latin typeface="Arial"/>
              </a:rPr>
              <a:t>  ·  Paralleles Tandem-Rollenspiel</a:t>
            </a:r>
          </a:p>
          <a:p>
            <a:pPr>
              <a:spcBef>
                <a:spcPts val="700"/>
              </a:spcBef>
              <a:spcAft>
                <a:spcPts val="100"/>
              </a:spcAft>
            </a:pPr>
            <a:r>
              <a:rPr sz="1200">
                <a:solidFill>
                  <a:srgbClr val="78808C"/>
                </a:solidFill>
                <a:latin typeface="Consolas"/>
              </a:rPr>
              <a:t>80–90'      </a:t>
            </a:r>
            <a:r>
              <a:rPr sz="1500" b="1">
                <a:solidFill>
                  <a:srgbClr val="3D5466"/>
                </a:solidFill>
                <a:latin typeface="Arial"/>
              </a:rPr>
              <a:t>  Debriefing</a:t>
            </a:r>
            <a:r>
              <a:rPr sz="1200">
                <a:solidFill>
                  <a:srgbClr val="78808C"/>
                </a:solidFill>
                <a:latin typeface="Arial"/>
              </a:rPr>
              <a:t>  ·  Moderation</a:t>
            </a:r>
          </a:p>
          <a:p>
            <a:pPr>
              <a:spcBef>
                <a:spcPts val="700"/>
              </a:spcBef>
              <a:spcAft>
                <a:spcPts val="100"/>
              </a:spcAft>
            </a:pPr>
            <a:r>
              <a:rPr sz="1200">
                <a:solidFill>
                  <a:srgbClr val="78808C"/>
                </a:solidFill>
                <a:latin typeface="Consolas"/>
              </a:rPr>
              <a:t>90–95'      </a:t>
            </a:r>
            <a:r>
              <a:rPr sz="1500" b="1">
                <a:solidFill>
                  <a:srgbClr val="3D5466"/>
                </a:solidFill>
                <a:latin typeface="Arial"/>
              </a:rPr>
              <a:t>  Transfer</a:t>
            </a:r>
            <a:r>
              <a:rPr sz="1200">
                <a:solidFill>
                  <a:srgbClr val="78808C"/>
                </a:solidFill>
                <a:latin typeface="Arial"/>
              </a:rPr>
              <a:t>  ·  Einzelarbeit</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M10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Hör auf allen vier Ohren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Hinter jeder Sachaussage steckt eine Botschaft – hör auf allen vier Ohren.</a:t>
            </a:r>
          </a:p>
          <a:p>
            <a:pPr marL="190500" indent="-190500">
              <a:spcBef>
                <a:spcPts val="400"/>
              </a:spcBef>
              <a:spcAft>
                <a:spcPts val="200"/>
              </a:spcAft>
            </a:pPr>
            <a:r>
              <a:rPr sz="1300">
                <a:solidFill>
                  <a:srgbClr val="3D5466"/>
                </a:solidFill>
                <a:latin typeface="Arial"/>
              </a:rPr>
              <a:t>▸  Der eigentliche Bedarf liegt selten in dem, was der Kunde sagt, sondern in dem, was er meint.</a:t>
            </a:r>
          </a:p>
          <a:p>
            <a:pPr marL="190500" indent="-190500">
              <a:spcBef>
                <a:spcPts val="400"/>
              </a:spcBef>
              <a:spcAft>
                <a:spcPts val="200"/>
              </a:spcAft>
            </a:pPr>
            <a:r>
              <a:rPr sz="1300">
                <a:solidFill>
                  <a:srgbClr val="3D5466"/>
                </a:solidFill>
                <a:latin typeface="Arial"/>
              </a:rPr>
              <a:t>▸  Wer nur das Sachohr nutzt, verpasst den Beziehungs-, Selbstoffenbarungs- und Appellgehalt.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M10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Das Vier-Ohren-Modell im Kundengespräch</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Jede Kundenaussage sendet auf vier Kanälen – der Berater entscheidet, auf welchem er antwortet.</a:t>
            </a:r>
          </a:p>
          <a:p>
            <a:pPr marL="190500" indent="-190500">
              <a:spcBef>
                <a:spcPts val="400"/>
              </a:spcBef>
              <a:spcAft>
                <a:spcPts val="200"/>
              </a:spcAft>
            </a:pPr>
            <a:r>
              <a:rPr sz="1300">
                <a:solidFill>
                  <a:srgbClr val="3D5466"/>
                </a:solidFill>
                <a:latin typeface="Arial"/>
              </a:rPr>
              <a:t>▸  Sachinhalt, Selbstoffenbarung, Beziehung, Appell (Schulz von Thun).</a:t>
            </a:r>
          </a:p>
          <a:p>
            <a:pPr marL="190500" indent="-190500">
              <a:spcBef>
                <a:spcPts val="400"/>
              </a:spcBef>
              <a:spcAft>
                <a:spcPts val="200"/>
              </a:spcAft>
            </a:pPr>
            <a:r>
              <a:rPr sz="1300">
                <a:solidFill>
                  <a:srgbClr val="3D5466"/>
                </a:solidFill>
                <a:latin typeface="Arial"/>
              </a:rPr>
              <a:t>▸  Reklamationen und Einwände sind fast immer Beziehungs- oder Appellbotschaften.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M10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Vom sichtbaren zum latenten Bedarf: SPIN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SPIN führt vom Ist-Stand über den Engpass zur Lösungsbereitschaft – Fragen statt Präsentieren.</a:t>
            </a:r>
          </a:p>
          <a:p>
            <a:pPr marL="190500" indent="-190500">
              <a:spcBef>
                <a:spcPts val="400"/>
              </a:spcBef>
              <a:spcAft>
                <a:spcPts val="200"/>
              </a:spcAft>
            </a:pPr>
            <a:r>
              <a:rPr sz="1300">
                <a:solidFill>
                  <a:srgbClr val="3D5466"/>
                </a:solidFill>
                <a:latin typeface="Arial"/>
              </a:rPr>
              <a:t>▸  Situation, Problem, Implikation, Nutzen.</a:t>
            </a:r>
          </a:p>
          <a:p>
            <a:pPr marL="190500" indent="-190500">
              <a:spcBef>
                <a:spcPts val="400"/>
              </a:spcBef>
              <a:spcAft>
                <a:spcPts val="200"/>
              </a:spcAft>
            </a:pPr>
            <a:r>
              <a:rPr sz="1300">
                <a:solidFill>
                  <a:srgbClr val="3D5466"/>
                </a:solidFill>
                <a:latin typeface="Arial"/>
              </a:rPr>
              <a:t>▸  Der Trichter verengt sich von offenen Situationsfragen zu nutzenorientierten Abschlussfragen.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M10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Der SPIN-Fragetrichter nach Rackham</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54863" y="1325880"/>
            <a:ext cx="7079225"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ROLLENSPIEL</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Praxiscase Florian Maurer</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Vier Ohren und SPIN in einem echten Kundengespräch anwenden.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M10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M10  ·  ARBEITSBLATT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Rollenspiel Maurer Metallbau bearbeiten</a:t>
            </a:r>
          </a:p>
        </p:txBody>
      </p:sp>
      <p:sp>
        <p:nvSpPr>
          <p:cNvPr id="8" name="TextBox 7"/>
          <p:cNvSpPr txBox="1"/>
          <p:nvPr/>
        </p:nvSpPr>
        <p:spPr>
          <a:xfrm>
            <a:off x="685800" y="1554480"/>
            <a:ext cx="10817352" cy="3840480"/>
          </a:xfrm>
          <a:prstGeom prst="rect">
            <a:avLst/>
          </a:prstGeom>
          <a:noFill/>
        </p:spPr>
        <p:txBody>
          <a:bodyPr wrap="square">
            <a:spAutoFit/>
          </a:bodyPr>
          <a:lstStyle/>
          <a:p>
            <a:pPr marL="190500" indent="-190500">
              <a:spcBef>
                <a:spcPts val="400"/>
              </a:spcBef>
              <a:spcAft>
                <a:spcPts val="200"/>
              </a:spcAft>
            </a:pPr>
            <a:r>
              <a:rPr sz="1400">
                <a:solidFill>
                  <a:srgbClr val="3D5466"/>
                </a:solidFill>
                <a:latin typeface="Arial"/>
              </a:rPr>
              <a:t>▸  Führen Sie das Kundengespräch mit Florian Maurer im Rollenspiel.</a:t>
            </a:r>
          </a:p>
          <a:p>
            <a:pPr marL="190500" indent="-190500">
              <a:spcBef>
                <a:spcPts val="400"/>
              </a:spcBef>
              <a:spcAft>
                <a:spcPts val="200"/>
              </a:spcAft>
            </a:pPr>
            <a:r>
              <a:rPr sz="1400">
                <a:solidFill>
                  <a:srgbClr val="3D5466"/>
                </a:solidFill>
                <a:latin typeface="Arial"/>
              </a:rPr>
              <a:t>▸  Hören Sie auf allen vier Ohren und decken Sie mit SPIN die latenten Bedarfe auf.</a:t>
            </a:r>
          </a:p>
          <a:p>
            <a:pPr marL="190500" indent="-190500">
              <a:spcBef>
                <a:spcPts val="400"/>
              </a:spcBef>
              <a:spcAft>
                <a:spcPts val="200"/>
              </a:spcAft>
            </a:pPr>
            <a:r>
              <a:rPr sz="1400">
                <a:solidFill>
                  <a:srgbClr val="3D5466"/>
                </a:solidFill>
                <a:latin typeface="Arial"/>
              </a:rPr>
              <a:t>▸  Nutzen Sie den Beobachtungsbogen als dritter Rollenspieler für strukturiertes Feedback (AB-1).</a:t>
            </a:r>
          </a:p>
        </p:txBody>
      </p:sp>
      <p:sp>
        <p:nvSpPr>
          <p:cNvPr id="9" name="Rectangle 8"/>
          <p:cNvSpPr/>
          <p:nvPr/>
        </p:nvSpPr>
        <p:spPr>
          <a:xfrm>
            <a:off x="685800" y="5486400"/>
            <a:ext cx="10817352" cy="64008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51592" cy="457200"/>
          </a:xfrm>
          <a:prstGeom prst="rect">
            <a:avLst/>
          </a:prstGeom>
          <a:noFill/>
        </p:spPr>
        <p:txBody>
          <a:bodyPr wrap="square">
            <a:spAutoFit/>
          </a:bodyPr>
          <a:lstStyle/>
          <a:p>
            <a:pPr algn="l"/>
            <a:r>
              <a:rPr sz="1300" b="1" i="0">
                <a:solidFill>
                  <a:srgbClr val="FFFFFF"/>
                </a:solidFill>
                <a:latin typeface="Arial"/>
              </a:rPr>
              <a:t>→  Bearbeitung im Teilnehmer-Workbook (Arbeitsblatt mit Ausfüllfeldern)</a:t>
            </a:r>
          </a:p>
        </p:txBody>
      </p:sp>
      <p:sp>
        <p:nvSpPr>
          <p:cNvPr id="11" name="Rectangle 10"/>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M10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Prinzip dieses Moduls</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77800" indent="-177800">
              <a:spcBef>
                <a:spcPts val="600"/>
              </a:spcBef>
              <a:spcAft>
                <a:spcPts val="200"/>
              </a:spcAft>
            </a:pPr>
            <a:r>
              <a:rPr sz="1200" i="1">
                <a:solidFill>
                  <a:srgbClr val="3D5466"/>
                </a:solidFill>
                <a:latin typeface="Arial"/>
              </a:rPr>
              <a:t>→  Hinter jeder Sachaussage steckt eine Botschaft – hör auf allen vier Ohren.</a:t>
            </a:r>
          </a:p>
          <a:p>
            <a:pPr marL="190500" indent="-190500">
              <a:spcBef>
                <a:spcPts val="400"/>
              </a:spcBef>
              <a:spcAft>
                <a:spcPts val="200"/>
              </a:spcAft>
            </a:pPr>
            <a:r>
              <a:rPr sz="1300">
                <a:solidFill>
                  <a:srgbClr val="3D5466"/>
                </a:solidFill>
                <a:latin typeface="Arial"/>
              </a:rPr>
              <a:t>▸  Der eigentliche Bedarf liegt selten in dem, was der Kunde sagt, sondern in dem, was er meint (Schulz von Thun).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M10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Reflexion und Selbstcheck</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Auf welchem Ohr hören Sie im Alltag am häufigsten – und welches vernachlässigen Sie?</a:t>
            </a:r>
          </a:p>
          <a:p>
            <a:pPr marL="190500" indent="-190500">
              <a:spcBef>
                <a:spcPts val="400"/>
              </a:spcBef>
              <a:spcAft>
                <a:spcPts val="200"/>
              </a:spcAft>
            </a:pPr>
            <a:r>
              <a:rPr sz="1300">
                <a:solidFill>
                  <a:srgbClr val="3D5466"/>
                </a:solidFill>
                <a:latin typeface="Arial"/>
              </a:rPr>
              <a:t>▸  Welchen latenten Bedarf haben Sie zuletzt übersehen, weil Sie zu früh präsentiert haben?</a:t>
            </a:r>
          </a:p>
          <a:p>
            <a:pPr marL="190500" indent="-190500">
              <a:spcBef>
                <a:spcPts val="400"/>
              </a:spcBef>
              <a:spcAft>
                <a:spcPts val="200"/>
              </a:spcAft>
            </a:pPr>
            <a:r>
              <a:rPr sz="1300">
                <a:solidFill>
                  <a:srgbClr val="3D5466"/>
                </a:solidFill>
                <a:latin typeface="Arial"/>
              </a:rPr>
              <a:t>▸  Welche SPIN-Frage nehmen Sie fest in Ihr nächstes Gespräch mit?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M10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