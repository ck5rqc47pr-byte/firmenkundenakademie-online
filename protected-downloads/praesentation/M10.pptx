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Konkreten Satz aus dem Berufsalltag nehmen: z.B. Unternehmer sagt: „Wir brauchen eigentlich keine neue Finanzierung." Trainer fragt: Was hören Sie auf welchem Ohr? Häufig: TN hören nur auf dem Sachohr. Dann zeigen: Selbstoffenbarung = „Ich habe Angst vor Abhängigkeit"; Appell = „Zeigen Sie mir einen Mehrwert, der meinen Preis wert ist." Typische Teilnehmerreaktion: „Das ist doch Überinterpretation." → Gegenargument: Im Zweifel besser eine Ebene zu viel prüfen als eine zu wenig. Im Firmenkundengeschäft sind offene Gesprächspunkte teuer. Antizipierter Senior-Einwand „Das ist Psychologie, nicht Bankberatung": Dieser Einwand kommt vorhersehbar von erfahrenen TN. Konkrete Antwort (sofort einsetzbar, ohne auf die Übungsphase zu warten): „Das Modell soll keine Therapiesitzung einleiten. Es gibt Ihnen eine Antenne für den Moment, in dem der Kunde zögert, das Thema wechselt oder kürzer als gewohnt antwortet. Wann hatten Sie zuletzt ein Gespräch, in dem der Kunde ‚eigentlich läuft alles gut' gesagt hat – und am Ende war das Ergebnis trotzdem mager? Dann waren Sie auf dem falschen Ohr." Danach direkt in die Kurzübung einsteigen. Rückkopplung in der Kurzübung sichern: Die Kurzübung (Trainer spielt Satz, TN sortieren auf vier Ebenen) endet nicht mit dem Einsammeln der Zettel. Mindestens einen skeptischen TN direkt – einladend, nicht defensiv – ansprechen: „Sie haben schnell abgegeben. Was haben Sie auf dem Appell-Ohr gehört?" Die Antwort ist nicht falsch oder richtig; entscheidend ist, ob er überhaupt eine Ebene außer dem Sachinhalt bemerkt hat. Sonst bleibt die Lernlücke skeptischer TN ungeprüft.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Bei der Demo: Trainer bricht nach 8–10 Min ab und fragt TN: „Was hat der Berater gut gemacht?" und „Wo hätte er vertiefen sollen?" – dies erhöht die Lernintensität durch Beobachterrolle. Moment-Aufgriff (höchster Lernwert): Falls ein TN während der Demo aus der Rolle tritt und eine Methode kommentiert (z. B. „Das ist eine gute I-Frage"), sofort aufgreifen statt überhören: „Sie sind gerade rausgegangen – was hat Sie bei dieser Frage überrascht?" Kurz pausieren, TN ausreden lassen, dann weiter im Demo-Gespräch. Dieser Moment ist wertvoller als die nächste SPIN-Frage des Trainers. Rollenspiel-Instruktion – Beobachter sind stille Zeugen: Beobachter beobachten schweigend. Kein Unterbrechen, kein Kommentieren während des Gesprächs. Ausnahme: Stopp-Signal ausschließlich durch den Trainer (Handzeichen). Feedback erst in der 5-minütigen Bogen-Besprechung. Instruktion für die TN-Karte: „Als Beobachter sind Sie der stille Zeuge. Ihr Feedback ist das wertvollste am Ende – nicht dazwischen." Hintergrund: Ein Feedback-Kommentar mitten im Gespräch destabilisiert gerade unsichere Berater in dem Moment, in dem sie eine neue Fragetechnik ausprobieren. Rollenkarten-Vorbereitung: Die Rollenkarte mit den latenten Bedarfen (Sec 4.3) nicht in die TN-Unterlagen drucken. Sie ist ein separates Handout nur für den Unternehmer-Spieler – sonst sieht jeder Berater die latenten Bedarfe vorab und das Überraschungsmoment des Rollenspiels geht verloren. Im Rollenspiel gibt die Unternehmerrolle Instruktionen auf dem Rollenkarten-Rücken, die nur der Unternehmer-Spieler kennt (z. B. „Nachfolge ist ein echtes Problem, aber Sie sprechen nicht darüber, bis Sie direkt gefragt werden"). Dies erzeugt realistische latente Bedarfe. Fokussierter Beobachtungsauftrag Runde 1: In Runde 1 nur drei Dinge beobachten lassen (der volle 10-Kriterien-Bogen überfordert in 10 Minuten): (1) Verhältnis Berater-Redezeit zu Unternehmer-Redezeit, (2) Wann stellt der Berater eine Frage, deren Antwort ihn überrascht?, (3) Wann geht er von P direkt zur Lösung, ohne eine I-Frage zu stellen? Erst in Runde 2 den vollständigen Bogen einsetzen.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Moderation (HB Sec 3): Bei der Demo: Trainer bricht nach 8–10 Min ab und fragt TN: „Was hat der Berater gut gemacht?" und „Wo hätte er vertiefen sollen?" – dies erhöht die Lernintensität durch Beobachterrolle. Moment-Aufgriff (höchster Lernwert): Falls ein TN während der Demo aus der Rolle tritt und eine Methode kommentiert (z. B. „Das ist eine gute I-Frage"), sofort aufgreifen statt überhören: „Sie sind gerade rausgegangen – was hat Sie bei dieser Frage überrascht?" Kurz pausieren, TN ausreden lassen, dann weiter im Demo-Gespräch. Dieser Moment ist wertvoller als die nächste SPIN-Frage des Trainers. Rollenspiel-Instruktion – Beobachter sind stille Zeugen: Beobachter beobachten schweigend. Kein Unterbrechen, kein Kommentieren während des Gesprächs. Ausnahme: Stopp-Signal ausschließlich durch den Trainer (Handzeichen). Feedback erst in der 5-minütigen Bogen-Besprechung. Instruktion für die TN-Karte: „Als Beobachter sind Sie der stille Zeuge. Ihr Feedback ist das wertvollste am Ende – nicht dazwischen." Hintergrund: Ein Feedback-Kommentar mitten im Gespräch destabilisiert gerade unsichere Berater in dem Moment, in dem sie eine neue Fragetechnik ausprobieren. Rollenkarten-Vorbereitung: Die Rollenkarte mit den latenten Bedarfen (Sec 4.3) nicht in die TN-Unterlagen drucken. Sie ist ein separates Handout nur für den Unternehmer-Spieler – sonst sieht jeder Berater die latenten Bedarfe vorab und das Überraschungsmoment des Rollenspiels geht verloren. Im Rollenspiel gibt die Unternehmerrolle Instruktionen auf dem Rollenkarten-Rücken, die nur der Unternehmer-Spieler kennt (z. B. „Nachfolge ist ein echtes Problem, aber Sie sprechen nicht darüber, bis Sie direkt gefragt werden"). Dies erzeugt realistische latente Bedarfe. Fokussierter Beobachtungsauftrag Runde 1: In Runde 1 nur drei Dinge beobachten lassen (der volle 10-Kriterien-Bogen überfordert in 10 Minuten): (1) Verhältnis Berater-Redezeit zu Unternehmer-Redezeit, (2) Wann stellt der Berater eine Frage, deren Antwort ihn überrascht?, (3) Wann geht er von P direkt zur Lösung, ohne eine I-Frage zu stellen? Erst in Runde 2 den vollständigen Bogen einsetzen.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M10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Strukturierte Bedarfsanalyse</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Vom Jahresgespräch zum echten Bedarf</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K-03 Gesprächsführung &amp; Beratung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Sparringspartner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v1.0</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Wer nur die Produktliste abfragt, findet nur den Bedarf, den der Kunde schon kennt.</a:t>
            </a:r>
          </a:p>
          <a:p>
            <a:pPr>
              <a:spcAft>
                <a:spcPts val="1200"/>
              </a:spcAft>
            </a:pPr>
            <a:r>
              <a:rPr sz="1700">
                <a:solidFill>
                  <a:srgbClr val="3D5466"/>
                </a:solidFill>
                <a:latin typeface="Arial"/>
              </a:rPr>
              <a:t>Sie lernen eine strukturierte Gesprächsführung mit SPIN-Fragetechnik und üben sie im Rollenspiel.</a:t>
            </a:r>
          </a:p>
          <a:p>
            <a:pPr>
              <a:spcAft>
                <a:spcPts val="1200"/>
              </a:spcAft>
            </a:pPr>
            <a:r>
              <a:rPr sz="1700">
                <a:solidFill>
                  <a:srgbClr val="3D5466"/>
                </a:solidFill>
                <a:latin typeface="Arial"/>
              </a:rPr>
              <a:t>Danach decken Sie Bedarfe systematisch auf und führen Beratungsgespräche mit klarem roten Faden.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Den UnternehmerDialog als strukturiertes Gesprächsführungsinstrument situationsgerecht einsetzen und alle relevanten Bedarfsdimensionen systematisch erschließen</a:t>
            </a:r>
          </a:p>
          <a:p>
            <a:pPr>
              <a:spcBef>
                <a:spcPts val="800"/>
              </a:spcBef>
              <a:spcAft>
                <a:spcPts val="200"/>
              </a:spcAft>
            </a:pPr>
            <a:r>
              <a:rPr sz="1400">
                <a:solidFill>
                  <a:srgbClr val="3D5466"/>
                </a:solidFill>
                <a:latin typeface="Arial"/>
              </a:rPr>
              <a:t>▸  Kundensignale auf den vier Kommunikationsebenen nach Schulz von Thun differenziert analysieren und den Bedeutungsrahmen hinter sachlichen Aussagen entschlüsseln</a:t>
            </a:r>
          </a:p>
          <a:p>
            <a:pPr>
              <a:spcBef>
                <a:spcPts val="800"/>
              </a:spcBef>
              <a:spcAft>
                <a:spcPts val="200"/>
              </a:spcAft>
            </a:pPr>
            <a:r>
              <a:rPr sz="1400">
                <a:solidFill>
                  <a:srgbClr val="3D5466"/>
                </a:solidFill>
                <a:latin typeface="Arial"/>
              </a:rPr>
              <a:t>▸  Den Vollständigkeitsgrad einer Bedarfsanalyse bewerten, offene Dimensionen benennen und die nächsten Gesprächsschritte priorisieren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M10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700"/>
              </a:spcBef>
              <a:spcAft>
                <a:spcPts val="100"/>
              </a:spcAft>
            </a:pPr>
            <a:r>
              <a:rPr sz="1200">
                <a:solidFill>
                  <a:srgbClr val="78808C"/>
                </a:solidFill>
                <a:latin typeface="Consolas"/>
              </a:rPr>
              <a:t>00–10'      </a:t>
            </a:r>
            <a:r>
              <a:rPr sz="1500" b="1">
                <a:solidFill>
                  <a:srgbClr val="3D5466"/>
                </a:solidFill>
                <a:latin typeface="Arial"/>
              </a:rPr>
              <a:t>  Einstieg</a:t>
            </a:r>
            <a:r>
              <a:rPr sz="1200">
                <a:solidFill>
                  <a:srgbClr val="78808C"/>
                </a:solidFill>
                <a:latin typeface="Arial"/>
              </a:rPr>
              <a:t>  ·  Kartenabfrage</a:t>
            </a:r>
          </a:p>
          <a:p>
            <a:pPr>
              <a:spcBef>
                <a:spcPts val="700"/>
              </a:spcBef>
              <a:spcAft>
                <a:spcPts val="100"/>
              </a:spcAft>
            </a:pPr>
            <a:r>
              <a:rPr sz="1200">
                <a:solidFill>
                  <a:srgbClr val="78808C"/>
                </a:solidFill>
                <a:latin typeface="Consolas"/>
              </a:rPr>
              <a:t>10–25'      </a:t>
            </a:r>
            <a:r>
              <a:rPr sz="1500" b="1">
                <a:solidFill>
                  <a:srgbClr val="3D5466"/>
                </a:solidFill>
                <a:latin typeface="Arial"/>
              </a:rPr>
              <a:t>  Input I: Vier-Ohren</a:t>
            </a:r>
            <a:r>
              <a:rPr sz="1200">
                <a:solidFill>
                  <a:srgbClr val="78808C"/>
                </a:solidFill>
                <a:latin typeface="Arial"/>
              </a:rPr>
              <a:t>  ·  Vortrag + Übung</a:t>
            </a:r>
          </a:p>
          <a:p>
            <a:pPr>
              <a:spcBef>
                <a:spcPts val="700"/>
              </a:spcBef>
              <a:spcAft>
                <a:spcPts val="100"/>
              </a:spcAft>
            </a:pPr>
            <a:r>
              <a:rPr sz="1200">
                <a:solidFill>
                  <a:srgbClr val="78808C"/>
                </a:solidFill>
                <a:latin typeface="Consolas"/>
              </a:rPr>
              <a:t>25–35'      </a:t>
            </a:r>
            <a:r>
              <a:rPr sz="1500" b="1">
                <a:solidFill>
                  <a:srgbClr val="3D5466"/>
                </a:solidFill>
                <a:latin typeface="Arial"/>
              </a:rPr>
              <a:t>  Input II: SPIN</a:t>
            </a:r>
            <a:r>
              <a:rPr sz="1200">
                <a:solidFill>
                  <a:srgbClr val="78808C"/>
                </a:solidFill>
                <a:latin typeface="Arial"/>
              </a:rPr>
              <a:t>  ·  Vortrag + Partnerarbeit</a:t>
            </a:r>
          </a:p>
          <a:p>
            <a:pPr>
              <a:spcBef>
                <a:spcPts val="700"/>
              </a:spcBef>
              <a:spcAft>
                <a:spcPts val="100"/>
              </a:spcAft>
            </a:pPr>
            <a:r>
              <a:rPr sz="1200">
                <a:solidFill>
                  <a:srgbClr val="78808C"/>
                </a:solidFill>
                <a:latin typeface="Consolas"/>
              </a:rPr>
              <a:t>35–50'      </a:t>
            </a:r>
            <a:r>
              <a:rPr sz="1500" b="1">
                <a:solidFill>
                  <a:srgbClr val="3D5466"/>
                </a:solidFill>
                <a:latin typeface="Arial"/>
              </a:rPr>
              <a:t>  Demo-Gespräch</a:t>
            </a:r>
            <a:r>
              <a:rPr sz="1200">
                <a:solidFill>
                  <a:srgbClr val="78808C"/>
                </a:solidFill>
                <a:latin typeface="Arial"/>
              </a:rPr>
              <a:t>  ·  Fishbowl-Demo</a:t>
            </a:r>
          </a:p>
          <a:p>
            <a:pPr>
              <a:spcBef>
                <a:spcPts val="700"/>
              </a:spcBef>
              <a:spcAft>
                <a:spcPts val="100"/>
              </a:spcAft>
            </a:pPr>
            <a:r>
              <a:rPr sz="1200">
                <a:solidFill>
                  <a:srgbClr val="78808C"/>
                </a:solidFill>
                <a:latin typeface="Consolas"/>
              </a:rPr>
              <a:t>50–80'      </a:t>
            </a:r>
            <a:r>
              <a:rPr sz="1500" b="1">
                <a:solidFill>
                  <a:srgbClr val="3D5466"/>
                </a:solidFill>
                <a:latin typeface="Arial"/>
              </a:rPr>
              <a:t>  Rollenspiel</a:t>
            </a:r>
            <a:r>
              <a:rPr sz="1200">
                <a:solidFill>
                  <a:srgbClr val="78808C"/>
                </a:solidFill>
                <a:latin typeface="Arial"/>
              </a:rPr>
              <a:t>  ·  Paralleles Tandem-Rollenspiel</a:t>
            </a:r>
          </a:p>
          <a:p>
            <a:pPr>
              <a:spcBef>
                <a:spcPts val="700"/>
              </a:spcBef>
              <a:spcAft>
                <a:spcPts val="100"/>
              </a:spcAft>
            </a:pPr>
            <a:r>
              <a:rPr sz="1200">
                <a:solidFill>
                  <a:srgbClr val="78808C"/>
                </a:solidFill>
                <a:latin typeface="Consolas"/>
              </a:rPr>
              <a:t>80–90'      </a:t>
            </a:r>
            <a:r>
              <a:rPr sz="1500" b="1">
                <a:solidFill>
                  <a:srgbClr val="3D5466"/>
                </a:solidFill>
                <a:latin typeface="Arial"/>
              </a:rPr>
              <a:t>  Debriefing</a:t>
            </a:r>
            <a:r>
              <a:rPr sz="1200">
                <a:solidFill>
                  <a:srgbClr val="78808C"/>
                </a:solidFill>
                <a:latin typeface="Arial"/>
              </a:rPr>
              <a:t>  ·  Moderation</a:t>
            </a:r>
          </a:p>
          <a:p>
            <a:pPr>
              <a:spcBef>
                <a:spcPts val="700"/>
              </a:spcBef>
              <a:spcAft>
                <a:spcPts val="100"/>
              </a:spcAft>
            </a:pPr>
            <a:r>
              <a:rPr sz="1200">
                <a:solidFill>
                  <a:srgbClr val="78808C"/>
                </a:solidFill>
                <a:latin typeface="Consolas"/>
              </a:rPr>
              <a:t>90–95'      </a:t>
            </a:r>
            <a:r>
              <a:rPr sz="1500" b="1">
                <a:solidFill>
                  <a:srgbClr val="3D5466"/>
                </a:solidFill>
                <a:latin typeface="Arial"/>
              </a:rPr>
              <a:t>  Transfer</a:t>
            </a:r>
            <a:r>
              <a:rPr sz="1200">
                <a:solidFill>
                  <a:srgbClr val="78808C"/>
                </a:solidFill>
                <a:latin typeface="Arial"/>
              </a:rPr>
              <a:t>  ·  Einzelarbeit</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Das Vier-Ohren-Modell</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Jede Aussage Ihres Unternehmerkunden enthält gleichzeitig vier Botschaften: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Theorie-Input: Das SPIN-Fragenmodell</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Rackham  hat nachgewiesen, dass der Unterschied zwischen durchschnittlichen und herausragenden Beratern primär in der Qualität der Fragen liegt – nicht in der Qualität der Produktpräsentation.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SPIN-Fragetrichter nach Rackham</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554863" y="1325880"/>
            <a:ext cx="7079225"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Praxiscase: Florian Maurer, Metallbau GmbH &amp; Co. KG</a:t>
            </a:r>
          </a:p>
        </p:txBody>
      </p:sp>
      <p:sp>
        <p:nvSpPr>
          <p:cNvPr id="8" name="TextBox 7"/>
          <p:cNvSpPr txBox="1"/>
          <p:nvPr/>
        </p:nvSpPr>
        <p:spPr>
          <a:xfrm>
            <a:off x="685800" y="1417320"/>
            <a:ext cx="10817352" cy="4892040"/>
          </a:xfrm>
          <a:prstGeom prst="rect">
            <a:avLst/>
          </a:prstGeom>
          <a:noFill/>
        </p:spPr>
        <p:txBody>
          <a:bodyPr wrap="square">
            <a:spAutoFit/>
          </a:bodyPr>
          <a:lstStyle/>
          <a:p>
            <a:pPr>
              <a:spcBef>
                <a:spcPts val="1000"/>
              </a:spcBef>
              <a:spcAft>
                <a:spcPts val="200"/>
              </a:spcAft>
            </a:pPr>
            <a:r>
              <a:rPr sz="800" b="1">
                <a:solidFill>
                  <a:srgbClr val="78808C"/>
                </a:solidFill>
                <a:latin typeface="Consolas"/>
              </a:rPr>
              <a:t>BEKANNTE BEDARFE (SICHTBAR)</a:t>
            </a:r>
          </a:p>
          <a:p>
            <a:pPr marL="190500" indent="-190500">
              <a:spcBef>
                <a:spcPts val="400"/>
              </a:spcBef>
              <a:spcAft>
                <a:spcPts val="200"/>
              </a:spcAft>
            </a:pPr>
            <a:r>
              <a:rPr sz="1300">
                <a:solidFill>
                  <a:srgbClr val="3D5466"/>
                </a:solidFill>
                <a:latin typeface="Arial"/>
              </a:rPr>
              <a:t>▸  Maschinenerneuerung: Zwei Drehmaschinen (Investitionsvolumen ca. 180 TEUR) geplant</a:t>
            </a:r>
          </a:p>
          <a:p>
            <a:pPr marL="190500" indent="-190500">
              <a:spcBef>
                <a:spcPts val="400"/>
              </a:spcBef>
              <a:spcAft>
                <a:spcPts val="200"/>
              </a:spcAft>
            </a:pPr>
            <a:r>
              <a:rPr sz="1300">
                <a:solidFill>
                  <a:srgbClr val="3D5466"/>
                </a:solidFill>
                <a:latin typeface="Arial"/>
              </a:rPr>
              <a:t>▸  Erweiterung der Kontokorrentlinie auf 400 TEUR für Auftragsvorfinanzierung</a:t>
            </a:r>
          </a:p>
          <a:p>
            <a:pPr>
              <a:spcBef>
                <a:spcPts val="1000"/>
              </a:spcBef>
              <a:spcAft>
                <a:spcPts val="200"/>
              </a:spcAft>
            </a:pPr>
            <a:r>
              <a:rPr sz="800" b="1">
                <a:solidFill>
                  <a:srgbClr val="78808C"/>
                </a:solidFill>
                <a:latin typeface="Consolas"/>
              </a:rPr>
              <a:t>LATENTE BEDARFE (NUR DEM UNTERNEHMER BEKANNT – FÜR ROLLENSPIELER)</a:t>
            </a:r>
          </a:p>
          <a:p>
            <a:pPr marL="190500" indent="-190500">
              <a:spcBef>
                <a:spcPts val="400"/>
              </a:spcBef>
              <a:spcAft>
                <a:spcPts val="200"/>
              </a:spcAft>
            </a:pPr>
            <a:r>
              <a:rPr sz="1300">
                <a:solidFill>
                  <a:srgbClr val="3D5466"/>
                </a:solidFill>
                <a:latin typeface="Arial"/>
              </a:rPr>
              <a:t>▸  Nachfolge ungeklärt (echter latenter Bedarf): Sohn (26) zeigt kein Interesse; Maurer hat kein Testament, keinen Gesellschaftervertrag für den Todesfall. Maurer spricht nicht darüber, weil er das Thema mit sich selbst noch nicht geklärt hat – er hofft, der Sohn ändert noch seine Meinung.</a:t>
            </a:r>
          </a:p>
          <a:p>
            <a:pPr marL="190500" indent="-190500">
              <a:spcBef>
                <a:spcPts val="400"/>
              </a:spcBef>
              <a:spcAft>
                <a:spcPts val="200"/>
              </a:spcAft>
            </a:pPr>
            <a:r>
              <a:rPr sz="1300">
                <a:solidFill>
                  <a:srgbClr val="3D5466"/>
                </a:solidFill>
                <a:latin typeface="Arial"/>
              </a:rPr>
              <a:t>▸  Stille Beteiligung läuft aus (echter latenter Bedarf): Ein Schwager ist seit 2012 stiller Gesellschafter (80 TEUR). Die Beteiligung hat eine Kündigungsfrist bis Ende 2025; Maurer hat noch keine Anschlussfinanzierung. Er spricht nicht darüber, weil er befürchtet, die Bank könnte das als Risiko werten.</a:t>
            </a:r>
          </a:p>
          <a:p>
            <a:pPr marL="190500" indent="-190500">
              <a:spcBef>
                <a:spcPts val="400"/>
              </a:spcBef>
              <a:spcAft>
                <a:spcPts val="200"/>
              </a:spcAft>
            </a:pPr>
            <a:r>
              <a:rPr sz="1300">
                <a:solidFill>
                  <a:srgbClr val="3D5466"/>
                </a:solidFill>
                <a:latin typeface="Arial"/>
              </a:rPr>
              <a:t>▸  Liquiditätsengpass (bekannt, aber nicht priorisiert): Der neue Großkunde zahlt mit 60 Tagen Ziel; bei Großaufträgen (&gt; 80 TEUR) entsteht Vorlauffinanzierungsbedarf. Maurer hält das für ein temporäres Problem und hat KK bisher ausreichend gefunden.</a:t>
            </a:r>
          </a:p>
          <a:p>
            <a:pPr marL="190500" indent="-190500">
              <a:spcBef>
                <a:spcPts val="400"/>
              </a:spcBef>
              <a:spcAft>
                <a:spcPts val="200"/>
              </a:spcAft>
            </a:pPr>
            <a:r>
              <a:rPr sz="1300">
                <a:solidFill>
                  <a:srgbClr val="3D5466"/>
                </a:solidFill>
                <a:latin typeface="Arial"/>
              </a:rPr>
              <a:t>▸  Private Absicherung (latent): Florian Maurer hat seit Jahren keine BU-Versicherung mehr; private Krankenversicherung läuft als Einzelvertrag ohne Unternehmensbezug.</a:t>
            </a:r>
          </a:p>
          <a:p>
            <a:pPr>
              <a:spcBef>
                <a:spcPts val="1000"/>
              </a:spcBef>
              <a:spcAft>
                <a:spcPts val="200"/>
              </a:spcAft>
            </a:pPr>
            <a:r>
              <a:rPr sz="800" b="1">
                <a:solidFill>
                  <a:srgbClr val="78808C"/>
                </a:solidFill>
                <a:latin typeface="Consolas"/>
              </a:rPr>
              <a:t>OPTIONALE ROLLENSPIELVARIANTEN (FÜR ERFAHRENE GRUPPEN ODER ZWEITE RUNDE)</a:t>
            </a:r>
          </a:p>
          <a:p>
            <a:pPr marL="190500" indent="-190500">
              <a:spcBef>
                <a:spcPts val="400"/>
              </a:spcBef>
              <a:spcAft>
                <a:spcPts val="200"/>
              </a:spcAft>
            </a:pPr>
            <a:r>
              <a:rPr sz="1300">
                <a:solidFill>
                  <a:srgbClr val="3D5466"/>
                </a:solidFill>
                <a:latin typeface="Arial"/>
              </a:rPr>
              <a:t>▸  Variante A – Der wortkarger Unternehmer</a:t>
            </a:r>
          </a:p>
          <a:p>
            <a:pPr marL="190500" indent="-190500">
              <a:spcBef>
                <a:spcPts val="400"/>
              </a:spcBef>
              <a:spcAft>
                <a:spcPts val="200"/>
              </a:spcAft>
            </a:pPr>
            <a:r>
              <a:rPr sz="1300">
                <a:solidFill>
                  <a:srgbClr val="3D5466"/>
                </a:solidFill>
                <a:latin typeface="Arial"/>
              </a:rPr>
              <a:t>▸  Variante B – Zwei Gesellschafter am Tisch (GbR-Situation)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M10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Beobachtungsbogen Rollenspiel (dritter Rollenspieler)</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Stärken (2–3 konkrete Beobachtungen):</a:t>
            </a:r>
          </a:p>
          <a:p>
            <a:pPr marL="190500" indent="-190500">
              <a:spcBef>
                <a:spcPts val="400"/>
              </a:spcBef>
              <a:spcAft>
                <a:spcPts val="200"/>
              </a:spcAft>
            </a:pPr>
            <a:r>
              <a:rPr sz="1300">
                <a:solidFill>
                  <a:srgbClr val="3D5466"/>
                </a:solidFill>
                <a:latin typeface="Arial"/>
              </a:rPr>
              <a:t>▸  Entwicklungsfeld (1 konkreter, umsetzbarer Hinweis):</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M10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