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 an Plenum (09:10–09:30): Denken Sie an eine Veränderung, die nicht so gelaufen ist wie geplant – was war der entscheidende Fehler? Antworten auf Flipchart clustern: Kommunikation / Beteiligung / innere Transition.</a:t>
            </a:r>
          </a:p>
          <a:p>
            <a:r>
              <a:t>Überleitung: Diese drei Kategorien adressieren genau die drei Modelle des 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Stufen 5 und 7 bewusst weggelassen – die sechs dargestellten haben den größten Praxisbezug für FK-Teams.</a:t>
            </a:r>
          </a:p>
          <a:p>
            <a:r>
              <a:t>Frage nach AB-1 Schritt 2: Wenn Sie eine Rangliste machen müssten – welche Stufe hat die höchsten Kosten, wenn sie fehlt? Prioritätssetzung statt Vollständigkeit üben.</a:t>
            </a:r>
          </a:p>
          <a:p>
            <a:r>
              <a:t>Überleitung zu Bridges: Kotter erklärt, was fehlt – Bridges erklärt, warum es fehlt.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 Frage an TN: Wer ist in Ihrem Team aktuell noch in der Endungs-Phase – und haben Sie das schon ausgesprochen?</a:t>
            </a:r>
          </a:p>
          <a:p>
            <a:r>
              <a:t>TN sollen im Kopf konkrete Namen aus ihrem Team nennen – abstraktes Modelldenken verhindert die Dreyfus-Stufe-4-Leistung.</a:t>
            </a:r>
          </a:p>
          <a:p>
            <a:r>
              <a:t>Grenze von Bridges benennen: erklärt individuelle Transition, wenig Orientierung für Teamdynamik.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Moderationskarten-Übung (anonym): gelb = legitimer Einwand, rot = verdeckte Angst. Trainer gibt zuerst ein Beispiel, bevor TN schreiben.</a:t>
            </a:r>
          </a:p>
          <a:p>
            <a:r>
              <a:t>Wenn überwiegend rote Karten: explizit benennen – das ist eine Information über die Führungskultur, nicht über die Veränderung.</a:t>
            </a:r>
          </a:p>
          <a:p>
            <a:r>
              <a:t>Widerstand im Seminarraum selbst (Change-Müdigkeit, Zynismus) direkt als Lehrstoff nutzen.</a:t>
            </a:r>
          </a:p>
          <a:p>
            <a:r>
              <a:t>Moderation (HB Sec 3): Regieanweisung: Die Moderationskarten-Übung funktioniert nur, wenn der Trainer Anonymität garantiert. Karten nicht vorlesen, wenn TN zögern – zunächst selbst ein Beispiel geben (z. B.: „Gelbe Karte – legitimer Einwand: ‚Das Konzept passt nicht zu unserem Kundenstamm, wir haben 70 % Handwerker, keine Maschinenbauunternehmen.'"). Das entspannt die Gruppe. Moderationshinweis – Karten überwiegend rot (verdeckte Angst): Wenn die große Mehrheit der Karten der roten Kategorie zugeordnet wird, ist das selbst eine Information über die Führungskultur der Teilnehmer. Explizit benennen: „Das ist ein interessantes Muster – die meisten Beispiele beschreiben Angst, nicht sachliche Information. Das kann heißen, dass in Ihren Teams Einwände systemisch als Schwäche erlebt werden – und das ist selbst eine Führungsaufgabe." Anschließende Frage: „Was müsste sich in Ihrem Team ändern, damit ein Berater seinen Einwand als gelbe Karte formulieren kann?" So wird die Übung zum Spiegel der eigenen Führungskultur. Moderationshinweis – erkennbarer Personenbezug: Wenn eine anonyme Karte so konkret ist, dass die Gruppe (die sich kennt) eine bestimmte Person oder Situation erkennt: Karte nicht vorlesen, kommentarlos zur Seite legen und die Sache danach kurz mit dem betreffenden TN klären. Vertraulichkeit ist auch bei anonymen Karten nicht verhandelbar. Moderationshinweis: Widerstand, der im Seminarraum selbst auftritt (TN äußern Skepsis gegenüber den Modellen), ist didaktisch nutzbar: „Was Sie gerade sagen, ist genau das, was Widerstand im Team bedeutet. Was würde ich tun, wenn ich Ihr Teamleiter wäre?" – nicht als Konfrontation, sondern als Einladung zur Reflexion.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Watzlawick: Man kann nicht nicht kommunizieren. Schweigen kommuniziert immer – meist das Falsche.</a:t>
            </a:r>
          </a:p>
          <a:p>
            <a:r>
              <a:t>Häufigster Führungsfehler: das Was wird erklärt, das Warum als selbstverständlich vorausgesetzt.</a:t>
            </a:r>
          </a:p>
          <a:p>
            <a:r>
              <a:t>Mezirow: Veränderung erfordert neue Deutungsrahmen – die entstehen durch Dialog, nicht durch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für Veränderung: Verlässt der Berater das Gespräch mit mehr Orientierung – oder mit weniger?</a:t>
            </a:r>
          </a:p>
          <a:p>
            <a:r>
              <a:t>Bass &amp; Avolio: Inspirational Motivation + Individualized Consideration sind strukturelle Voraussetzungen für gelingende Veränderung.</a:t>
            </a:r>
          </a:p>
          <a:p>
            <a:r>
              <a:t>Spannungsverhältnis benennen: Servant Leadership im Verbund – wenn die Veränderung nicht von mir gewählt wurde, sondern von Vorstand oder Atruvia. Wie bleibe ich glaubwürdig?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Mindesttiefe klar machen: Kein Datum in Teil C = kein substanzielle Fallberatung. TN nach 15 Min. prüfen: Steht da ein Datum oder nur eine Phase?</a:t>
            </a:r>
          </a:p>
          <a:p>
            <a:r>
              <a:t>Gruppen vorab einteilen – keine Selbstwahl (Grüppchenbildung vermeiden).</a:t>
            </a:r>
          </a:p>
          <a:p>
            <a:r>
              <a:t>Fallberatungs-Takt: 4 Min. Präsentation, je 2 Min. Rückmeldung (Was überzeugt? Welche Frage fehlt? Was fehlt im Plan?).</a:t>
            </a:r>
          </a:p>
          <a:p>
            <a:r>
              <a:t>Falls TN Situation zu vertraulich empfindet: Thomas/Team-Mitte als Projektionsfläche anbieten, Erkenntnisse mental übertragen.</a:t>
            </a:r>
          </a:p>
          <a:p>
            <a:r>
              <a:t>Plenumssicherung (5 Min.): Welcher Fallberatungshinweis war am wertvollsten – und warum?</a:t>
            </a:r>
          </a:p>
          <a:p>
            <a:r>
              <a:t>Moderation (HB Sec 3): Regieanweisung: Die drei Modelle nicht als gleichwertig behandeln. Lewin ist die kürzeste Einheit (Grundstruktur), Kotter die operativste (Checkliste), Bridges die emotional tiefste und für FK-Teamleiter in der Regel am stärksten überraschend. Den meisten Raum auf Bridges legen – Endings ist das, was in der Praxis am häufigsten übersprungen wird. Moderationshinweis Kotter-Analyse: Wenn TN AB-1 Schritt 2 bearbeiten und alle acht Stufen als defizitär markieren, ist das ein Signal, dass sie das Modell noch nicht als diagnostisches Werkzeug nutzen, sondern als Schulaufgabe. Nachfragen: „Wenn Sie eine Rangliste der Defizite machen müssten – welche Stufe hat die höchsten Kosten, wenn sie fehlt?" Ziel: Prioritätensetzung statt Vollständigkeitssicherung. Moderationshinweis Bridges: TN sollen konkrete Namen aus dem Praxisfall Thomas / Team Mitte nennen, wenn sie Bridges anwenden: „Wer ist in der Endungs-Phase – Maria oder Klaus?" Abstraktes Modelldenken verhindert die Dreyfus-Stufe-4-Leistung; konkrete Personendiagnose erzwingt 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auf Moderationskarte schreiben – TN nehmen sie mit.</a:t>
            </a:r>
          </a:p>
          <a:p>
            <a:r>
              <a:t>Jeden TN einen konkreten ersten Schritt mit Datum benennen lassen.</a:t>
            </a:r>
          </a:p>
          <a:p>
            <a:r>
              <a:t>Selbstcheck (Sec 5): in Stille ausfüllen, ca. 3 Min.</a:t>
            </a:r>
          </a:p>
          <a:p>
            <a:r>
              <a:t>Brücke TL10: Wer Veränderung auf Teamebene gestalten kann, ist bereit für Führen in Unsicherheit auf Organisationsebene.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Abschlussrunde (1 Satz pro TN): Was nehme ich mit?</a:t>
            </a:r>
          </a:p>
          <a:p>
            <a:r>
              <a:t>Reflexionsfrage: Welche Change-Situation in Ihrem Team haben Sie heute noch nicht vollständig verstanden – und was ist Ihr erster Schritt morgen früh?</a:t>
            </a:r>
          </a:p>
          <a:p>
            <a:r>
              <a:t>Feedbackbogen L1: 3 Minuten, nicht als Add-on behandeln.</a:t>
            </a:r>
          </a:p>
          <a:p>
            <a:r>
              <a:t>Moderation (HB Sec 3): Regieanweisung: Die drei Modelle nicht als gleichwertig behandeln. Lewin ist die kürzeste Einheit (Grundstruktur), Kotter die operativste (Checkliste), Bridges die emotional tiefste und für FK-Teamleiter in der Regel am stärksten überraschend. Den meisten Raum auf Bridges legen – Endings ist das, was in der Praxis am häufigsten übersprungen wird. Moderationshinweis Kotter-Analyse: Wenn TN AB-1 Schritt 2 bearbeiten und alle acht Stufen als defizitär markieren, ist das ein Signal, dass sie das Modell noch nicht als diagnostisches Werkzeug nutzen, sondern als Schulaufgabe. Nachfragen: „Wenn Sie eine Rangliste der Defizite machen müssten – welche Stufe hat die höchsten Kosten, wenn sie fehlt?" Ziel: Prioritätensetzung statt Vollständigkeitssicherung. Moderationshinweis Bridges: TN sollen konkrete Namen aus dem Praxisfall Thomas / Team Mitte nennen, wenn sie Bridges anwenden: „Wer ist in der Endungs-Phase – Maria oder Klaus?" Abstraktes Modelldenken verhindert die Dreyfus-Stufe-4-Leistung; konkrete Personendiagnose erzwingt 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Veränderung im Team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Change-Situationen analysieren, Widerstand verstehen, ein eigenes Veränderungsvorgehen entwerfen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Veränderung gehört zum Alltag im Firmenkundengeschäft: neue Zielsystematiken, agree-Umstellungen, Reorganisationen, veränderte Beratungskonzepte.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TL08 hat die Gesprächsführung bei schwierigen Einzelsituationen entwickelt; TL09 adressiert die übergeordnete Ebene: Wie gestaltet eine strategische Führungskraft einen Veränderungsprozess im Team so, dass er gelingt – fachlich, kommunikativ und menschlich?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analysieren Teilnehmer Change-Situationen anhand etablierter Modelle (Lewin, Kotter, Bridges), bewerten deren Reichweite und Grenzen kritisch und entwerfen ein eigenes Veränderungsvorgehen für eine reale Situation in ihrem FK-Team.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Im Mittelpunkt steht die Führungsrolle in Veränderung: Halt geben, Sinn vermitteln, ehrlich kommunizieren – und Widerstand als Information lesen, nicht als Störung.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Change-Situation im eigenen FK-Team anhand der Modelle von Lewin, Kotter und Bridges differenziert analysieren und die Stärken sowie strukturellen Grenzen linearer Change-Modelle für den konkreten Kontext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Widerstand im Team als Informationsquelle – nicht als Störfaktor – bewerten und auf dieser Grundlage eine kommunikative Reaktionsstrategie ableiten, die das Warum vor dem Was stellt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Führungsrolle in einem Veränderungsprozess (Halt geben, Sinn vermitteln, ehrlich kommunizieren) kritisch gegen transformationale Führungsforschung und Servant-Leadership-Prinzipien prüfen und daraus persönliche Handlungsmaximen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Veränderungsvorgehen (Change-Story, Beteiligungsformat, Meilensteinplan, Umgang mit Betroffenen) für eine reale Veränderungssituation im eigenen FK-Team entwerfen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und Einstieg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Impuls: Warum scheitern Veränderungen?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Lewin, Kotter, Bridges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Fallarbeit I: Praxisfall Thomas / Team Mitte (AB-1, Schritte 1–3)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Widerstand als Information und Kommunikation in Veränderung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Fallarbeit II: Praxisfall Thomas – Kritische Bewertung (AB-1 Schritt 4 + Fragen 3–5)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Eigener Change-Fall (AB-2)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und Praxistransfer-Aufgaben (Sec 5)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und Abschluss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Warum Veränderungen scheitern – und was das mit uns zu tun 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Bevor wir Modelle anschauen: unsere eigene Erfahrung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Veränderungen scheitern nicht am Plan – sondern am Übergang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Kommunikationsfehler: das Warum bleibt offen.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Beteiligungsfehler: Gestaltung erst nach Verkündung.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Transition unterschätzt: äußere Compliance ≠ inneres Commitment.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 als Störung behandelt – statt als Information gelesen.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Modell löst das – aber jedes hilft, es zu erkennen.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Lewin, Kotter, Bridges – drei Linsen für denselben Prozess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Modelle kritisch einordnen – Stärken und strukturelle Grenzen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Kein Modell passt vollständig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770" y="1325880"/>
            <a:ext cx="573741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Kotters Fehlerdiagnose: Welche Stufe fehlt – und was kostet 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Stufe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Bridges trennt, was wir immer vermischen: Veränderung und Übergang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Veränderung: das äußere Ereignis – schnell verordnet.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Transition: der innere Prozess – nicht verordnbar.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Endings: Verlust anerkennen, bevor Neues beginnt.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Neutral Zone: Desorientierung ist normal – Halt geben.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New Beginnings: Commitment, nicht nur Compliance.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Widerstand – Information statt Störung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Widerstandsdiagnose + Kommunikationsstrategie Warum vor Was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Widerstand wegdrückt, verliert das Systemgedächtnis seines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Information: das Warum nicht gehört oder nicht überzeugend.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Legitime Einwände: Praktiker sehen Hindernisse, die die TL nicht sieht.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Verlustangst: Routine, Status, Identität – real, nicht irrational.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Vertrauensmangel: Skepsis auf Basis früherer Erfahrung – berechtigt.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Compliance ohne Commitment entsteht aus überwundenem Widerstand.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vor Was – immer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Warum jetzt? – Sinn, nicht nur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ändert sich? – Die drei Dinge, die jeden täglich betreffen.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gestalten wir es? – Was ist verhandelbar?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bedeutet das für jeden Einzelnen? – Der meist ausgelassene Schritt.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Informationsvakuum füllt der Flurfunk – nicht Schweigen.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Führungshaltung in Veränderung: Halt, Sinn, Ehrlichkeit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Servant-Leadership-Haltungen für Change-Situationen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Führen in Veränderung heißt: präsent sein, bevor man Antworten 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Halt geben: verlässlich und präsent – keine Pseudosicherheit.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Sinn vermitteln: persönliche Überzeugung, nicht Weitergabe.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Ehrlich kommunizieren: auch unbequeme Wahrheiten – auch über Unsicherheit.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Transformational: individuelle Situation jedes Beraters verstehen.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Sender-Fokus: „Ich habe erklärt.“ Empfänger-Fokus: „Was brauchen sie?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AB-1: FALLANALYSE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Thomas und das neue Beratungskonzept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Modelle scharf anwenden – Widerstand von Maria und Klaus einordnen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(30 MIN.) + KOLLEGIALE FALLBERATUNG (25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Eigenes Veränderungsvorgehen entwerfen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Change-Story, Beteiligungsformat, Meilensteinplan, individuelle Begleitung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Eine Change-Story, die ein skeptischer Berater abnimmt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Change-Story – vier Fragen, kein Corporate-Vokabular.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Beteiligung – verhandelbar vs. nicht-verhandelbar klar trennen.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C: Meilensteinplan – mindestens ein Datum, ein Kommunikationspunkt.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D: Individuelle Begleitung – mindestens eine namentlich benannte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Kollegiale Fallberatung: Was überzeugt – welche Frage würde ein Skeptiker stellen?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Transfer: Drei Aufgaben, eine Verpflichtung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Selbstverpflichtung – Brücke TL10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Change-Diagnose – aktuelle Veränderung mit drei Modellen analysieren.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Change-Story entwickeln und mit dem stärksten Widerstand testen.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Meilensteinplan dem Meinungsführer als Work-in-Progress vorstellen.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Modelle sind Linsen – das Urteil liegt bei Ihnen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Lewin: Unfreeze-Phase ist Führungsarbeit, kein Vorlauf.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Kotter: Fehlerdiagnose – welche Stufe hat den höchsten Kostenfaktor?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Bridges: Endings brauchen Zeit – Transition ist nicht verordnbar.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Information vor Überwältigung.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Dreyfus-Stufe 4: Modell als Werkzeug, nicht als Schablone.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