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Datengetriebener Vertrieb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Trigger-Signale aus agree erkennen und proaktiv nutzen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K-05 Digital &amp; Daten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M18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den Bestandsdaten Ihrer Bank stecken Vertriebsanlässe, die nie jemand hebt.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Trigger-Typen kennen und bauen mit Excel/Power BI eigene Auswertungen für die systematische Anlasserkennung.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generieren Sie Vertriebsimpulse aus Daten – statt auf den Zufall zu warten.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Mindestens fünf Trigger-Ereignisse aus agree-Daten identifizieren und priorisieren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Datenqualität des CRM-Bestands analysieren und Lücken benennen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Reaktiven und trigger-basierten Vertrieb unterscheiden und erläutern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Drei Trigger-Typen hinsichtlich Vorlaufzeit und Wirksamkeit bewerten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Grundsätze der DSGVO-konformen Datennutzung im Vertriebskontext anwenden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M18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00:00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Einstieg</a:t>
            </a:r>
            <a:r>
              <a:rPr sz="900">
                <a:solidFill>
                  <a:srgbClr val="78808C"/>
                </a:solidFill>
                <a:latin typeface="Arial"/>
              </a:rPr>
              <a:t>  ·  Blitzlicht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00:08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Theorie-Block I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Folie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00:23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Live-Demo</a:t>
            </a:r>
            <a:r>
              <a:rPr sz="900">
                <a:solidFill>
                  <a:srgbClr val="78808C"/>
                </a:solidFill>
                <a:latin typeface="Arial"/>
              </a:rPr>
              <a:t>  ·  Beamer-Demo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00:38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Einzelübung I</a:t>
            </a:r>
            <a:r>
              <a:rPr sz="900">
                <a:solidFill>
                  <a:srgbClr val="78808C"/>
                </a:solidFill>
                <a:latin typeface="Arial"/>
              </a:rPr>
              <a:t>  ·  agree-Einzelarbeit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01:08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Partnercheck</a:t>
            </a:r>
            <a:r>
              <a:rPr sz="900">
                <a:solidFill>
                  <a:srgbClr val="78808C"/>
                </a:solidFill>
                <a:latin typeface="Arial"/>
              </a:rPr>
              <a:t>  ·  Partnerarbeit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01:13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Transfer-Abschluss</a:t>
            </a:r>
            <a:r>
              <a:rPr sz="900">
                <a:solidFill>
                  <a:srgbClr val="78808C"/>
                </a:solidFill>
                <a:latin typeface="Arial"/>
              </a:rPr>
              <a:t>  ·  Kartenabfrage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01:18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Hinweis Datenqualität</a:t>
            </a:r>
            <a:r>
              <a:rPr sz="900">
                <a:solidFill>
                  <a:srgbClr val="78808C"/>
                </a:solidFill>
                <a:latin typeface="Arial"/>
              </a:rPr>
              <a:t>  ·  Kurzerklärung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01:23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Kurz-Wrap-up</a:t>
            </a:r>
            <a:r>
              <a:rPr sz="900">
                <a:solidFill>
                  <a:srgbClr val="78808C"/>
                </a:solidFill>
                <a:latin typeface="Arial"/>
              </a:rPr>
              <a:t>  ·  Frontal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01:28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Feedbackbogen</a:t>
            </a:r>
            <a:r>
              <a:rPr sz="900">
                <a:solidFill>
                  <a:srgbClr val="78808C"/>
                </a:solidFill>
                <a:latin typeface="Arial"/>
              </a:rPr>
              <a:t>  ·  Einzeln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01:30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Ende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Vom Zufallskontakt zum Signal-gesteuerten Gespräch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Datengetriebener Vertrieb bedeutet nicht, Kunden zu überwachen. Es bedeutet, die Signale zu lesen, die der Kunde ohnehin sendet – und im richtigen Moment präsent zu sein.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Die drei Grundprinzipien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Timing schlägt Häufigkeit: Ein Anruf zum richtigen Moment ist wertvoller als zehn Anrufe zum falschen Zeitpunkt.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Relevanz schlägt Breite: Ein auf den aktuellen Bedarf zugeschnittenes Gespräch überzeugt mehr als eine generische Produktpräsentation.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Daten sind kein Ersatz für Beziehung: Trigger öffnen die Tür – das Gespräch selbst bleibt menschlich.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4.2 Trigger-Ereignisse: Drei Typen mit unterschiedlicher Logik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 Trigger ist ein Datenpunkt oder ein Ereignis, das mit hoher Wahrscheinlichkeit auf einen aktuellen oder bevorstehenden Beratungsbedarf hinweist. Es gibt drei Typen: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Typ 3: Lebensereignisbasierte Trigger (aus CRM-Notizen, externen Quellen)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4.3 Datenqualität: Die Voraussetzung für alles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Datengetriebener Vertrieb funktioniert nur, wenn die Datenbasis stimmt. Die häufigsten Qualitätsmängel: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Faustregel: Daten, die älter als 18 Monate sind, ohne Update, sind für trigger-basierten Vertrieb unzuverlässig.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Drei Trigger-Typen im datengetriebenen Vertrieb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Datenqualitäts-Audit im eigenen Bestand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Führen Sie einmalig pro Jahr einen strukturierten Datencheck durch: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In agree eine Bestandsliste Ihrer Firmenkunden aufrufen (Weg je nach Bankinstallation: Bestandsbetreuer-Cockpit oder Listenabfrage über agree-Auswertungskomponente – lassen Sie sich das einmalig von Ihrem IT-Koordinator zeigen, da ein standardisierter „Lückenanalyse"-Menüpunkt nicht in jeder Installation verfügbar ist). Alternativ: Export als Excel aus dem Bestandscockpit und manuelle Filterung.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Für alle Kunden mit &gt; 500k Kreditvolumen prüfen: Geburtsdatum, Branche, Gesellschafterstruktur, Jahresabschluss-Datum (Arbeitsblatt B als Checkliste nutzen)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Fehler in den nächsten drei Kundengesprächen schließen (gezielt im Gespräch erfragen)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4.4 DSGVO-konforme Datennutzung im Vertrieb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Was ist erlaubt – was nicht?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Kundendaten dürfen für Vertriebszwecke genutzt werden, wenn: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Eine Rechtsgrundlage besteht (Art. 6 DSGVO): Bei Bankbeziehungen gilt üblicherweise das berechtigte Interesse (Art. 6 Abs. 1 lit. f DSGVO) für Bestandskundenpflege und -beratung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Nutzung dem Kunden gegenüber transparent gemacht wird (Datenschutzerklärung)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Keine sensiblen Daten (Art. 9 DSGVO) ohne explizite Einwilligung verarbeitet werden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Transparenz als Vertrauensmoment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4.5 Praxiscase: Drei Trigger, drei Gespräche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Beraterin Anna Schreiber hat 38 Firmenkunden. Sie etabliert eine neue Montagsroutine: 20 Minuten agree-Triggerliste durcharbeiten. Was findet sie in der ersten Woche?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Trigger 1: Transaktional – Auslandszahlung erstmals aufgetaucht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Trigger 2: Ratingbasiert – Prolongation in 5 Monaten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Trigger 3: Lebensereignis – Gesellschafterin 58 Jahre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Ergebnis in 4 Wochen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Anna hat mit drei Triggern drei Gespräche initiiert – alle mit konkretem Ergebnis. Kein Gespräch war ein „Kaltanruf". Alle hatten eine evidenzbasierte Gesprächseröffnung.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Reflexionsfragen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der drei Trigger-Typen ist in Ihrem Bestand am häufigsten verfügbar?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 in agree würden Sie morgen früh mit der Triggersuche anfangen?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 würden Sie dem Kunden Becker erklären, warum Sie angerufen haben – ohne dass er sich überwacht fühlt?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Meine Trigger-Bibliothek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(Nutzen Sie die Priorisierungstabelle aus Sec 4.6, um Ihren wirkungsvollsten Trigger zu bestimmen)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Ergänzen Sie für Ihren Bestand die relevantesten Trigger je Typ: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Mein wirkungsvollster Trigger für die nächsten 4 Wochen: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Arbeitsblatt A: Meine Trigger-Bibliothek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338"/>
                <a:gridCol w="2704338"/>
                <a:gridCol w="2704338"/>
                <a:gridCol w="2704338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Trigger-Typ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Datensignal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agree-Quelle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Möglicher Bedarf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Transaktional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Transaktional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Ratingbasiert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Ratingbasiert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Lebensereignis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Lebensereignis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Arbeitsblatt B: Datenqualitäts-Audit (Top-10-Kunden)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3470"/>
                <a:gridCol w="2163470"/>
                <a:gridCol w="2163470"/>
                <a:gridCol w="2163470"/>
                <a:gridCol w="2163472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Kunde (anonymisiert)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Geburtsdatum ✓/✗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Branche korrekt ✓/✗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JA aktuell ✓/✗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Verbund aktuell ✓/✗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