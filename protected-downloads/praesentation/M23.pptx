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AB-4 Musterlösung (Trainer-Version)</a:t>
            </a:r>
          </a:p>
          <a:p>
            <a:r>
              <a:t>Für das erste Planjahr (Base Case, gerundet, TEUR): EBITDA ≈ 690, freier Cashflow nach Capex ≈ 250, Kapitaldienst (Zins 100 + Tilgung 110) = 210 → DSCR ≈ 1,19 – knapp unter dem Mindeststandard. Net Debt/EBITDA ≈ 2,8 → tragbar. Kernbefund: Die Ertragskraft ist gut, aber die hauchdünne EK-Quote (2 %) und der grenzwertige DSCR machen die zusätzliche Fremdfinanzierung ohne Eigenkapital-/Nachrangkomponente riskant. Empfehlung: Investition in zwei Tranchen, Tilgungsbeginn nach Hochlauf, Gesellschafter-Nachrangdarlehen als EK-Ersatz, DSCR- und EK-Quote-Covenant.</a:t>
            </a:r>
          </a:p>
          <a:p>
            <a:r>
              <a:t>Trainer-Hinweis: Die Musterlösung dient als Korridor, nicht als einzig richtige Lösung. Entscheidend ist, dass die Teilnehmer den Zusammenhang EK-Schwäche ↔ Kapitaldienstgrenze erkennen und die Empfehlung an den Cashflow knüpfen.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Financial Modelling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Mit dem Kunden gemeinsam integrierte Planungsrechnungen erstellen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ein Wachstums- oder Investitionsvorhaben finanzierbar ist und der Kapitaldienst getragen wird, zeigt erst die Planung.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Premium-Modul bauen Sie aus einem agree-Export über eine Mapping-Tabelle ein integriertes Planungsmodell (GuV, Bilanz, Cashflow) auf, beurteilen Kapitaldienstfähigkeit und Szenarien und übersetzen das Ergebnis in eine Finanzierungsempfehlung.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erstellen Sie Planungsrechnungen gemeinsam mit dem Unternehmer – auf Augenhöhe mit dessen Steuerberater.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Werttreiber eines Unternehmensplans identifizieren und nach Relevanz für die Kapitaldienstfähigkeit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Konsistenz eines integrierten Modells (GuV, Bilanz, Cashflow) prüfen und Widersprüche im Bilanzausgleich aufdecken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Kapitaldienstfähigkeit anhand von DSCR und Drei-Szenarien-Analyse beurteilen und ein Finanzierungsvotum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Planungsannahmen des Unternehmers auf Plausibilität und Risiko hinterfragen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integriertes Fünf-Jahres-Planungsmodell aus einem agree-Export gemeinsam mit dem Unternehmer aufbauen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Covenant-Struktur und Monitoring-Kennzahlen für ein Kreditengagement entwerfen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09:00–09:20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Impuls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09:20–10:00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Vortrag am Modell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1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 am Laptop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11:15–12:30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2 + Übung 2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13:30–14:30 </a:t>
            </a:r>
            <a:r>
              <a:rPr sz="1200" b="1">
                <a:solidFill>
                  <a:srgbClr val="3D5466"/>
                </a:solidFill>
                <a:latin typeface="Arial"/>
              </a:rPr>
              <a:t>  Input 3 + Übung 3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14:30–15:30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4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15:30–15:45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Übung 5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16:30–16:40 </a:t>
            </a:r>
            <a:r>
              <a:rPr sz="1200" b="1">
                <a:solidFill>
                  <a:srgbClr val="3D5466"/>
                </a:solidFill>
                <a:latin typeface="Arial"/>
              </a:rPr>
              <a:t>  Soll-Ist-Abgleich</a:t>
            </a:r>
            <a:r>
              <a:rPr sz="900">
                <a:solidFill>
                  <a:srgbClr val="78808C"/>
                </a:solidFill>
                <a:latin typeface="Arial"/>
              </a:rPr>
              <a:t>  ·  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16:40–17:00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+ Covenants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17:00–17:15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 +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integrierte Planungsmodell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ÜBERHAUPT PLANEN?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RECHENWERKE UND IHRE VERKNÜPFUNG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integriertes Modell verbindet GuV, Bilanz und Cashflow so, dass sie sich nicht widersprechen können: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Periodenergebnis (GuV) erhöht oder mindert das Eigenkapital (Bilanz).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und Finanzierung (Bilanz/Debt Schedule) erzeugen den Investitions- und Finanzierungs-Cashflow.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Veränderung des Working Capital (Vorräte, Forderungen, Verbindlichkeiten) ist das Bindeglied zwischen Ergebnis und operativem Cashflow.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WERTTREIBERBAUM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AGREE-EXPORT ZUM MODELL: DIE MAPPING-TABELLE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Garten- und Landschaftsbau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Ist-Zahlen aus der agree-Auswertung (TEUR):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Planungsbefunde mit der passenden Finanzierungsreaktion – nutzen Sie sie bei der Auswertung des Falls.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agree-Export sichten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Öffnen Sie im Planungsmodell das Blatt Input (agree Daten). Beantworten Sie: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Architektur des integrierten Planungsmodells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hat Sie das Modell zu einer Annahme gezwungen, die Sie vorher nie explizit gemacht hätten?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Werttreiber hat im GaLaBau-Fall den größten Einfluss auf den DSCR?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Ihrer realen Kunden hat ein Vorhaben, bei dem ein gemeinsames Planungsmodell den Unterschied machen würde?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erklären Sie einem Unternehmer mit 2 % EK-Quote, dass sein gut laufender Betrieb trotzdem ein Finanzierungsrisiko trägt?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