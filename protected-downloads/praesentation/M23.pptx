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aus dem Ablaufplan (Sektion 3.1). Timing und Pausen siehe Trainerhandbuch.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AB-4 Musterlösung (Trainer-Version)</a:t>
            </a:r>
          </a:p>
          <a:p>
            <a:r>
              <a:t>Für das erste Planjahr (Base Case, gerundet, TEUR): EBITDA ≈ 690, freier Cashflow nach Capex ≈ 250, Kapitaldienst (Zins 100 + Tilgung 110) = 210 → DSCR ≈ 1,19 – knapp unter dem Mindeststandard. Net Debt/EBITDA ≈ 2,8 → tragbar. Kernbefund: Die Ertragskraft ist gut, aber die hauchdünne EK-Quote (2 %) und der grenzwertige DSCR machen die zusätzliche Fremdfinanzierung ohne Eigenkapital-/Nachrangkomponente riskant. Empfehlung: Investition in zwei Tranchen, Tilgungsbeginn nach Hochlauf, Gesellschafter-Nachrangdarlehen als EK-Ersatz, DSCR- und EK-Quote-Covenant.</a:t>
            </a:r>
          </a:p>
          <a:p>
            <a:r>
              <a:t>Trainer-Hinweis: Die Musterlösung dient als Korridor, nicht als einzig richtige Lösung. Entscheidend ist, dass die Teilnehmer den Zusammenhang EK-Schwäche ↔ Kapitaldienstgrenze erkennen und die Empfehlung an den Cashflow knüpfen.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Siehe Trainerhandbuch (Sektion 3) für Moderationshinweise, Timing und erwartete Teilnehmerreaktionen.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"/>
            <a:ext cx="1081735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C8D2E6"/>
                </a:solidFill>
                <a:latin typeface="Consolas"/>
              </a:rPr>
              <a:t>FKB CAMPUS  ·  FIRMENKUNDENAKADEMIE  ·  M23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108173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Arial"/>
              </a:rPr>
              <a:t>Financial Modelling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977639"/>
            <a:ext cx="108173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ECDE6"/>
                </a:solidFill>
                <a:latin typeface="Arial"/>
              </a:rPr>
              <a:t>Mit dem Kunden gemeinsam integrierte Planungsrechnungen erstellen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29200"/>
            <a:ext cx="10817352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KOMPETENZFELD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K-01 Finanzanalyse &amp; Kreditexpertise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1584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KOMPETENZSTUFE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1584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Strategischer Partner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97368" y="5193792"/>
            <a:ext cx="3605784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VERSION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7368" y="5394960"/>
            <a:ext cx="3605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v1.0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96A5BE"/>
                </a:solidFill>
                <a:latin typeface="Consolas"/>
              </a:rPr>
              <a:t>FKB Campus  · 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4476" y="6583680"/>
            <a:ext cx="540867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96A5BE"/>
                </a:solidFill>
                <a:latin typeface="Consolas"/>
              </a:rPr>
              <a:t>Trainer-Präsentation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ÜBERBLICK  ·  M23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Worum geht es heute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9720072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Die Bilanz erklärt die Vergangenheit – ob ein Wachstums- oder Investitionsvorhaben finanzierbar ist und der Kapitaldienst getragen wird, zeigt erst die Planung.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In diesem Premium-Modul bauen Sie aus einem agree-Export über eine Mapping-Tabelle ein integriertes Planungsmodell (GuV, Bilanz, Cashflow) auf, beurteilen Kapitaldienstfähigkeit und Szenarien und übersetzen das Ergebnis in eine Finanzierungsempfehlung.</a:t>
            </a:r>
          </a:p>
          <a:p>
            <a:pPr>
              <a:spcAft>
                <a:spcPts val="1200"/>
              </a:spcAft>
            </a:pPr>
            <a:r>
              <a:rPr sz="1700">
                <a:solidFill>
                  <a:srgbClr val="3D5466"/>
                </a:solidFill>
                <a:latin typeface="Arial"/>
              </a:rPr>
              <a:t>Danach erstellen Sie Planungsrechnungen gemeinsam mit dem Unternehmer – auf Augenhöhe mit dessen Steuerberater.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LERNZIELE  ·  M23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Was Sie heute mitnehmen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10817352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Werttreiber eines Unternehmensplans identifizieren und nach Relevanz für die Kapitaldienstfähigkeit gewichten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Konsistenz eines integrierten Modells (GuV, Bilanz, Cashflow) prüfen und Widersprüche im Bilanzausgleich aufdecken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Kapitaldienstfähigkeit anhand von DSCR und Drei-Szenarien-Analyse beurteilen und ein Finanzierungsvotum ableiten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Planungsannahmen des Unternehmers auf Plausibilität und Risiko hinterfragen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 integriertes Fünf-Jahres-Planungsmodell aus einem agree-Export gemeinsam mit dem Unternehmer aufbauen</a:t>
            </a:r>
          </a:p>
          <a:p>
            <a:pPr>
              <a:spcBef>
                <a:spcPts val="8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Eine Covenant-Struktur und Monitoring-Kennzahlen für ein Kreditengagement entwerfen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AGENDA  ·  M23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502920"/>
            <a:ext cx="108173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F2C56"/>
                </a:solidFill>
                <a:latin typeface="Arial"/>
              </a:rPr>
              <a:t>So läuft das Modul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10817352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09:00–09:20 </a:t>
            </a:r>
            <a:r>
              <a:rPr sz="1200" b="1">
                <a:solidFill>
                  <a:srgbClr val="3D5466"/>
                </a:solidFill>
                <a:latin typeface="Arial"/>
              </a:rPr>
              <a:t>  Einstieg</a:t>
            </a:r>
            <a:r>
              <a:rPr sz="900">
                <a:solidFill>
                  <a:srgbClr val="78808C"/>
                </a:solidFill>
                <a:latin typeface="Arial"/>
              </a:rPr>
              <a:t>  ·  Impuls + Diskussion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09:20–10:00 </a:t>
            </a:r>
            <a:r>
              <a:rPr sz="1200" b="1">
                <a:solidFill>
                  <a:srgbClr val="3D5466"/>
                </a:solidFill>
                <a:latin typeface="Arial"/>
              </a:rPr>
              <a:t>  Input 1</a:t>
            </a:r>
            <a:r>
              <a:rPr sz="900">
                <a:solidFill>
                  <a:srgbClr val="78808C"/>
                </a:solidFill>
                <a:latin typeface="Arial"/>
              </a:rPr>
              <a:t>  ·  Interaktiver Vortrag am Modell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10:00–11:00 </a:t>
            </a:r>
            <a:r>
              <a:rPr sz="1200" b="1">
                <a:solidFill>
                  <a:srgbClr val="3D5466"/>
                </a:solidFill>
                <a:latin typeface="Arial"/>
              </a:rPr>
              <a:t>  Übung 1</a:t>
            </a:r>
            <a:r>
              <a:rPr sz="900">
                <a:solidFill>
                  <a:srgbClr val="78808C"/>
                </a:solidFill>
                <a:latin typeface="Arial"/>
              </a:rPr>
              <a:t>  ·  Partnerarbeit am Laptop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11:00–11:15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11:15–12:30 </a:t>
            </a:r>
            <a:r>
              <a:rPr sz="1200" b="1">
                <a:solidFill>
                  <a:srgbClr val="3D5466"/>
                </a:solidFill>
                <a:latin typeface="Arial"/>
              </a:rPr>
              <a:t>  Input 2 + Übung 2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Einzelarbeit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12:30–13:30 </a:t>
            </a:r>
            <a:r>
              <a:rPr sz="1200" b="1">
                <a:solidFill>
                  <a:srgbClr val="3D5466"/>
                </a:solidFill>
                <a:latin typeface="Arial"/>
              </a:rPr>
              <a:t>  Mittag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13:30–14:30 </a:t>
            </a:r>
            <a:r>
              <a:rPr sz="1200" b="1">
                <a:solidFill>
                  <a:srgbClr val="3D5466"/>
                </a:solidFill>
                <a:latin typeface="Arial"/>
              </a:rPr>
              <a:t>  Input 3 + Übung 3</a:t>
            </a:r>
            <a:r>
              <a:rPr sz="900">
                <a:solidFill>
                  <a:srgbClr val="78808C"/>
                </a:solidFill>
                <a:latin typeface="Arial"/>
              </a:rPr>
              <a:t>  ·  Vortrag + Partnerarbeit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14:30–15:30 </a:t>
            </a:r>
            <a:r>
              <a:rPr sz="1200" b="1">
                <a:solidFill>
                  <a:srgbClr val="3D5466"/>
                </a:solidFill>
                <a:latin typeface="Arial"/>
              </a:rPr>
              <a:t>  Übung 4</a:t>
            </a:r>
            <a:r>
              <a:rPr sz="900">
                <a:solidFill>
                  <a:srgbClr val="78808C"/>
                </a:solidFill>
                <a:latin typeface="Arial"/>
              </a:rPr>
              <a:t>  ·  Gruppenarbeit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15:30–15:45 </a:t>
            </a:r>
            <a:r>
              <a:rPr sz="1200" b="1">
                <a:solidFill>
                  <a:srgbClr val="3D5466"/>
                </a:solidFill>
                <a:latin typeface="Arial"/>
              </a:rPr>
              <a:t>  Pause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15:45–16:30 </a:t>
            </a:r>
            <a:r>
              <a:rPr sz="1200" b="1">
                <a:solidFill>
                  <a:srgbClr val="3D5466"/>
                </a:solidFill>
                <a:latin typeface="Arial"/>
              </a:rPr>
              <a:t>  Übung 5</a:t>
            </a:r>
            <a:r>
              <a:rPr sz="900">
                <a:solidFill>
                  <a:srgbClr val="78808C"/>
                </a:solidFill>
                <a:latin typeface="Arial"/>
              </a:rPr>
              <a:t>  ·  Rollenspiel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16:30–16:40 </a:t>
            </a:r>
            <a:r>
              <a:rPr sz="1200" b="1">
                <a:solidFill>
                  <a:srgbClr val="3D5466"/>
                </a:solidFill>
                <a:latin typeface="Arial"/>
              </a:rPr>
              <a:t>  Soll-Ist-Abgleich</a:t>
            </a:r>
            <a:r>
              <a:rPr sz="900">
                <a:solidFill>
                  <a:srgbClr val="78808C"/>
                </a:solidFill>
                <a:latin typeface="Arial"/>
              </a:rPr>
              <a:t>  ·  Demo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16:40–17:00 </a:t>
            </a:r>
            <a:r>
              <a:rPr sz="1200" b="1">
                <a:solidFill>
                  <a:srgbClr val="3D5466"/>
                </a:solidFill>
                <a:latin typeface="Arial"/>
              </a:rPr>
              <a:t>  Transfer + Covenants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  <a:p>
            <a:pPr>
              <a:spcBef>
                <a:spcPts val="400"/>
              </a:spcBef>
              <a:spcAft>
                <a:spcPts val="100"/>
              </a:spcAft>
            </a:pPr>
            <a:r>
              <a:rPr sz="900">
                <a:solidFill>
                  <a:srgbClr val="78808C"/>
                </a:solidFill>
                <a:latin typeface="Consolas"/>
              </a:rPr>
              <a:t>17:00–17:15 </a:t>
            </a:r>
            <a:r>
              <a:rPr sz="1200" b="1">
                <a:solidFill>
                  <a:srgbClr val="3D5466"/>
                </a:solidFill>
                <a:latin typeface="Arial"/>
              </a:rPr>
              <a:t>  Reflexion + Abschluss</a:t>
            </a:r>
            <a:r>
              <a:rPr sz="900">
                <a:solidFill>
                  <a:srgbClr val="78808C"/>
                </a:solidFill>
                <a:latin typeface="Arial"/>
              </a:rPr>
              <a:t>  ·  Plenum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Theorie-Input: Das integrierte Planungsmodell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1000"/>
              </a:spcBef>
              <a:spcAft>
                <a:spcPts val="200"/>
              </a:spcAft>
            </a:pPr>
            <a:r>
              <a:rPr sz="800" b="1">
                <a:solidFill>
                  <a:srgbClr val="78808C"/>
                </a:solidFill>
                <a:latin typeface="Consolas"/>
              </a:rPr>
              <a:t>DIE DREI RECHENWERKE UND IHRE VERKNÜPFUNG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Ein integriertes Modell verbindet GuV, Bilanz und Cashflow so, dass sie sich nicht widersprechen können: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Das Periodenergebnis (GuV) erhöht oder mindert das Eigenkapital (Bilanz).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Investitionen und Finanzierung (Bilanz/Debt Schedule) erzeugen den Investitions- und Finanzierungs-Cashflow.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Die Veränderung des Working Capital (Vorräte, Forderungen, Verbindlichkeiten) ist das Bindeglied zwischen Ergebnis und operativem Cashflow.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M23  ·  ARBEITSBLATT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Praxisfall: Garten- und Landschaftsbau Musterregion GmbH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54480"/>
            <a:ext cx="1081735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Unternehmensportrait (anonymisiert, branchentypisch)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Ist-Zahlen aus der agree-Auswertung (TEUR):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Die folgende Handlungsempfehlung verknüpft typische Planungsbefunde mit der passenden Finanzierungsreaktion – nutzen Sie sie bei der Auswertung des Falls.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agree-Export sichten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400">
                <a:solidFill>
                  <a:srgbClr val="3D5466"/>
                </a:solidFill>
                <a:latin typeface="Arial"/>
              </a:rPr>
              <a:t>▸  Anleitung: Öffnen Sie im Planungsmodell das Blatt Input (agree Daten). Beantworten Sie: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5486400"/>
            <a:ext cx="10817352" cy="640080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5596128"/>
            <a:ext cx="10451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rial"/>
              </a:rPr>
              <a:t>→  Bearbeitung im Teilnehmer-Workbook (Arbeitsblatt mit Ausfüllfeldern)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M23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Architektur des integrierten Planungsmodells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463" y="1325880"/>
            <a:ext cx="8170026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M23  ·  SCHAUBILD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02920"/>
            <a:ext cx="108173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F2C56"/>
                </a:solidFill>
                <a:latin typeface="Arial"/>
              </a:rPr>
              <a:t>Handlungsempfehlung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10817352" cy="25400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489" y="1325880"/>
            <a:ext cx="7581973" cy="493776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6211" y="6583680"/>
            <a:ext cx="43269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>
                <a:solidFill>
                  <a:srgbClr val="A0B4D2"/>
                </a:solidFill>
                <a:latin typeface="Consolas"/>
              </a:rPr>
              <a:t>Schaubild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DED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F2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9728"/>
            <a:ext cx="10817352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50">
                <a:solidFill>
                  <a:srgbClr val="78808C"/>
                </a:solidFill>
                <a:latin typeface="Consolas"/>
              </a:rPr>
              <a:t>M23  ·  INHALT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34440"/>
            <a:ext cx="12188952" cy="12700"/>
          </a:xfrm>
          <a:prstGeom prst="rect">
            <a:avLst/>
          </a:prstGeom>
          <a:solidFill>
            <a:srgbClr val="D8D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502920"/>
            <a:ext cx="36576" cy="658368"/>
          </a:xfrm>
          <a:prstGeom prst="rect">
            <a:avLst/>
          </a:prstGeom>
          <a:solidFill>
            <a:srgbClr val="D9C0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3816" y="502920"/>
            <a:ext cx="1063447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F2C56"/>
                </a:solidFill>
                <a:latin typeface="Arial"/>
              </a:rPr>
              <a:t>Reflexionsfragen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817352" cy="4892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An welcher Stelle hat Sie das Modell zu einer Annahme gezwungen, die Sie vorher nie explizit gemacht hätten?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Welcher Werttreiber hat im GaLaBau-Fall den größten Einfluss auf den DSCR?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Welcher Ihrer realen Kunden hat ein Vorhaben, bei dem ein gemeinsames Planungsmodell den Unterschied machen würde?</a:t>
            </a:r>
          </a:p>
          <a:p>
            <a:pPr marL="190500" indent="-190500">
              <a:spcBef>
                <a:spcPts val="400"/>
              </a:spcBef>
              <a:spcAft>
                <a:spcPts val="200"/>
              </a:spcAft>
            </a:pPr>
            <a:r>
              <a:rPr sz="1300">
                <a:solidFill>
                  <a:srgbClr val="3D5466"/>
                </a:solidFill>
                <a:latin typeface="Arial"/>
              </a:rPr>
              <a:t>▸  Wie erklären Sie einem Unternehmer mit 2 % EK-Quote, dass sein gut laufender Betrieb trotzdem ein Finanzierungsrisiko trägt?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6583680"/>
            <a:ext cx="6490411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>
                <a:solidFill>
                  <a:srgbClr val="A0B4D2"/>
                </a:solidFill>
                <a:latin typeface="Consolas"/>
              </a:rPr>
              <a:t>FKB Campus  ·  M23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