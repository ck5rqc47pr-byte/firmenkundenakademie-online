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Impuls + Diskussion: Der Jahresabschluss erklärt die Vergangenheit – ob eine Investition tragbar ist, beantwortet erst die Planung.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zentrale Frage: Kann der Betrieb Investition und Kapitaldienst tragen, ohne dass die Liquidität kippt?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Interaktiver Vortrag am Modell (Planungsmodell XLSX, Beamer). Die Architektur ist die Landkarte des ganzen 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Auffälligkeit: Umsatz und Marge wachsen, Zinsdeckung steigt – aber die EK-Quote ist mit ~2 % strukturell sehr dünn. Trägt der Betrieb die Investition?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Partnerarbeit am Laptop mit dem XLSX-Planungsmodell. Mapping-Tabelle als Brücke von agree ins Modell.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 + Einzelarbeit (AB-3). Jede Annahme sichtbar dokumentieren – Nachvollziehbarkeit vor Präzision.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Einzelarbeit am XLSX. Der Bilanzausgleich ist der Moment, in dem sich zeigt, ob der Plan konsistent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Vortrag + Partnerarbeit (AB-4). Formelkarte als Werkzeug. Kennzahlen im Kontext des GaLaBau-Falls lesen.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Formelkarte nutzen. Bei DSCR &lt; 1,20 ist Tilgungsstreckung oder Laufzeitverlängerung zu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Gruppenarbeit (AB-5). Der Downside ist der eigentliche Prüfstein der Finanzierung.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 negativer Cashreserve die Betriebsmittellinie dimensionieren und als kurzfristige Linie im Modell abbilden.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Rollenspiel (AB-6): Ergebnis erklären. Danach Soll-Ist-Abgleich als Monitoring (AB-7, Plan vs. BWA).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Handlungsempfehlungen: bei EK-Quote &lt; 10 % vor Investitionssprung Eigenkapital-/Nachrangkapital thematisieren; bei DSCR &lt; 1,20 Tilgung strecken.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Transfer und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(AB-8)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Financial 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Mit dem Kunden gemeinsam integrierte Planungsrechnungen erstellen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ein Wachstums- oder Investitionsvorhaben finanzierbar ist und der Kapitaldienst getragen wird, zeigt erst die Planung.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bauen Sie aus einem agree-Export über eine Mapping-Tabelle ein integriertes Planungsmodell (GuV, Bilanz, Cashflow) auf, beurteilen Kapitaldienstfähigkeit und Szenarien und übersetzen das Ergebnis in eine Finanzierungsempfehlung.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erstellen Sie Planungsrechnungen gemeinsam mit dem Unternehmer – auf Augenhöhe mit dessen Steuerberater.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Werttreiber eines Unternehmensplans identifizieren und nach Relevanz für die Kapitaldienstfähigkeit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Konsistenz eines integrierten Modells (GuV, Bilanz, Cashflow) prüfen und Widersprüche im Bilanzausgleich aufdecken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Kapitaldienstfähigkeit anhand von DSCR und Drei-Szenarien-Analyse beurteilen und ein Finanzierungsvotum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Planungsannahmen des Unternehmers auf Plausibilität und Risiko hinterfragen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integriertes Fünf-Jahres-Planungsmodell aus einem agree-Export gemeinsam mit dem Unternehmer aufbauen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Covenant-Struktur und Monitoring-Kennzahlen für ein Kreditengagement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Impuls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 am Modell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 am Laptop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2 + Übung 2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3 + Übung 3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4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15:30–15:45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5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16:30–16:40 </a:t>
            </a:r>
            <a:r>
              <a:rPr sz="1200" b="1">
                <a:solidFill>
                  <a:srgbClr val="3D5466"/>
                </a:solidFill>
                <a:latin typeface="Arial"/>
              </a:rPr>
              <a:t>  Soll-Ist-Abgleich</a:t>
            </a:r>
            <a:r>
              <a:rPr sz="900">
                <a:solidFill>
                  <a:srgbClr val="78808C"/>
                </a:solidFill>
                <a:latin typeface="Arial"/>
              </a:rPr>
              <a:t>  ·  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16:40–17:00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+ Covenants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17:00–17:15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 +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09:00–09:20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Einstieg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Vom Bilanzanalysten zum Planungspartner werden.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Planung? Der Blick nach vorn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Plan, der sich nicht schließt, ist kein Plan – prüfe GuV, Bilanz und Cashflow gegeneinander.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erklärt die Vergangenheit; die Kreditentscheidung fragt nach der Zukunft.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Financial Modelling überführt die Analyse aus M01/M04 in eine integrierte, zukunftsgerichtete Planung.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09:20–11:00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Input 1 &amp; Übung 1: Modellarchitektur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Architektur des integrierten Modells verstehen und agree-Daten überführen.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integrierte Planungsmodell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GuV, Bilanz und Cashflow sind kein Nebeneinander, sondern ein geschlossenes System – jede Annahme wirkt in alle drei.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agree-Export wird über eine Mapping-Tabelle ins Modell überführt.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Rechenwerke schließen sich gegenseitig – der Bilanzausgleich ist der Härtetest.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Architektur des integrierten Planungsmodells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Praxisfall GaLaBau Musterregion: Ausgangslage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Umsatzerlöse (TEUR)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3.574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4.301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2,47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EK-Quote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~2 %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~2 %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agree-Daten ins Modell überführen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Sichten Sie den agree-Export der GaLaBau Musterregion GmbH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Vollziehen Sie das Mapping in die Modellstruktur nach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Prüfen Sie die Vollständigkeit der überführten Positionen.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11:15–12:30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Input 2 &amp; Übung 2: Annahmen &amp; 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Werttreiber setzen und GuV, Bilanz, Cashflow bis zum Bilanzausgleich planen.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Annahmen und Werttreiber setzen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Hinterfrage die Annahme, nicht nur das Ergebnis – ein Modell ist immer nur so gut wie seine Prämissen.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Werttreiber: Umsatzwachstum, Marge, Investitionen, Working Capital.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Bilanzausgleich: das Modell schließt nur, wenn Finanzierung und Cashflow zusammenpassen.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GuV, Bilanz und Cashflow planen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Setzen Sie die Annahmen und Werttreiber im Modell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Planen Sie GuV, Bilanz und Cashflow integriert.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Stellen Sie den Bilanzausgleich her – der Plan muss sich schließen.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13:30–14:30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Input 3 &amp; Übung 3: Kapitaldienst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Kapitaldienstfähigkeit, DSCR und Debt Schedule berechnen und lesen.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Kapitaldienstfähigkeit und DSCR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Der DSCR sagt, ob der Cashflow den Kapitaldienst trägt – unter 1,0 zahlt das Unternehmen aus der Substanz.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Debt Schedule: Darlehensplan mit Zins und Tilgung über die Laufzeit.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= operativer Cashflow / Kapitaldienst; Zielwert deutlich über 1,0.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Debt Schedule und DSCR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Bauen Sie den Debt Schedule für die geplante Investition (AB-4).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den DSCR im Base Case und lesen Sie ihn im Kontext.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Bewerten Sie die Kapitaldienstfähigkeit über den Planungshorizont.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14:30–15:30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Übung 4: Stresstest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Modell unter Druck setzen – Base, Upside, Downside und der Covenant-Bruchpunkt.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Drei-Szenarien-Stresstest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Plan überzeugt erst, wenn er den Downside überlebt – der Stresstest zeigt, wo es kippt.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Base, Upside, Downside als drei Szenarien im Modell durchrechnen.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Den Covenant-Bruchpunkt bestimmen: ab welcher Verschlechterung reißt eine Auflage?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Stresstest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Rechnen Sie Base, Upside und Downside im Modell durch (AB-5).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Bestimmen Sie den Covenant-Bruchpunkt im Downside.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Leiten Sie ab, welche Puffer die Finanzierung braucht.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15:45–17:00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Übung 5: Ergebnis erklären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Modell dem Unternehmer erklären und eine Finanzierungsempfehlung formulieren.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Vom Modell zur Finanzierungsempfehlung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beste Modell nützt nichts, wenn der Unternehmer es nicht versteht – die Empfehlung übersetzt Zahlen in Entscheidungen.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Ergebnis in der Sprache des Unternehmers erklären, nicht in Modellsprache.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klare Finanzierungsempfehlung ableiten – inklusive Struktur und Puffer.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vom Kennwert zur Kreditmaßnahme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Ergebnis erklären und Monitoring aufsetzen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 Sie dem Unternehmer das Modellergebnis im Rollenspiel (AB-6).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Formulieren Sie eine begründete Finanzierungsempfehlung.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Richten Sie den Soll-Ist-Abgleich (Plan vs. BWA) als Monitoring ein und besprechen Sie die Covenants (AB-7).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Plan, der sich nicht schließt, ist kein Plan.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Prüfe GuV, Bilanz und Cashflow gegeneinander; hinterfrage die Annahme, nicht nur das Ergebnis.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reale Kunde in Ihrem Portfolio käme für ein Planungsmodell in Frage?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Annahme würde Ihr Modell am ehesten scheitern – und wie testen Sie das?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Unternehmer den DSCR in einem Satz?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