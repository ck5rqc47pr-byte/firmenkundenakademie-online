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Trainer-Hinweis: Musterlösung im AB-2 Trainer-Abschnitt unten. Hinweis für Teilnehmer: Es kann mehr als eine richtige Antwort geben – das ist im Verbund normal.</a:t>
            </a:r>
          </a:p>
          <a:p>
            <a:r>
              <a:t>AB-2 Musterlösung (Trainer-Version)</a:t>
            </a:r>
          </a:p>
          <a:p>
            <a:r>
              <a:t>Trainer-Hinweis: Musterlösung im AB-3 Trainer-Abschnitt unten. Diskussionshinweis: Bei einigen Schritten gibt es Überschneidungen – das ist gewollt und soll zeigen, dass Teamarbeit wichtig ist.</a:t>
            </a:r>
          </a:p>
          <a:p>
            <a:r>
              <a:t>AB-3 Musterlösung (Trainer-Version)</a:t>
            </a:r>
          </a:p>
          <a:p>
            <a:r>
              <a:t>Lesart: X = federführend · (X) = beteiligt, aber nicht federführend.</a:t>
            </a:r>
          </a:p>
          <a:p>
            <a:r>
              <a:t>Trainer-Hinweis: Die Praxis der Kreditantragserstellung variiert zwischen den Häusern. In einigen VR-Banken nimmt die Assistenz die Ersterfassung im agree-Kreditantragsmodul vor, der Berater prüft und votiert. Klären Sie im Onboarding-Gespräch, welcher Standard im eigenen Haus gilt – die Musterlösung zeigt die typische, nicht die einzig mögliche Aufteilung.</a:t>
            </a:r>
          </a:p>
          <a:p>
            <a:r>
              <a:t>Trainer-Hinweis: Musterlösung im AB-4 Trainer-Abschnitt unten.</a:t>
            </a:r>
          </a:p>
          <a:p>
            <a:r>
              <a:t>AB-4 Musterlösung (Trainer-Version)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Consolas"/>
              </a:rPr>
              <a:t>FKB CAMPUS  ·  FIRMENKUNDENAKADEMIE  ·  VA00</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Arial"/>
              </a:rPr>
              <a:t>Das eigene Haus kennen: Produkte, Prozesse, Partner</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Arial"/>
              </a:rPr>
              <a:t>Orientierung im Firmenkundengeschäft – die Landkarte für den Einstieg</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Consolas"/>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K-A00 Orientierung &amp; Grundlagen</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Consolas"/>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Sachbearbeitung</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Consolas"/>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v0.1</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Consolas"/>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Consolas"/>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ÜBERBLICK  ·  VA00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Neue Assistenzkräfte im Firmenkunden-Innendienst stehen am ersten Tag vor einer Fülle von Produktnamen, Systemkürzeln und Abteilungsbezeichnungen.</a:t>
            </a:r>
          </a:p>
          <a:p>
            <a:pPr>
              <a:spcAft>
                <a:spcPts val="1200"/>
              </a:spcAft>
            </a:pPr>
            <a:r>
              <a:rPr sz="1700">
                <a:solidFill>
                  <a:srgbClr val="3D5466"/>
                </a:solidFill>
                <a:latin typeface="Arial"/>
              </a:rPr>
              <a:t>Dieses Orientierungsmodul gibt Ihnen die Landkarte: Sie lernen, welche FK-Produkte es gibt und wer beim Verbund wofür zuständig ist, wie der Kreditprozess end-to-end abläuft und was die Funktionstrennung Markt/Marktfolge für Ihre Rolle bedeutet, welches System Sie wofür einsetzen, und wie die Erwartungen Ihrer zugeordneten Berater aussehen.</a:t>
            </a:r>
          </a:p>
          <a:p>
            <a:pPr>
              <a:spcAft>
                <a:spcPts val="1200"/>
              </a:spcAft>
            </a:pPr>
            <a:r>
              <a:rPr sz="1700">
                <a:solidFill>
                  <a:srgbClr val="3D5466"/>
                </a:solidFill>
                <a:latin typeface="Arial"/>
              </a:rPr>
              <a:t>Am Ende des Workshops haben Sie Ihren persönlichen Orientierungskompass für die ersten Wochen im Innendienst.</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VA00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LERNZIELE  ·  VA00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Zentrale Produkte des Firmenkundengeschäfts (Kredit, Leasing, Bürgschaft, Einlagen) und die wichtigsten Verbundpartner (R+V, Union Investment, Schwäbisch Hall, MünchenerHyp, DZ Bank) benennen</a:t>
            </a:r>
          </a:p>
          <a:p>
            <a:pPr>
              <a:spcBef>
                <a:spcPts val="800"/>
              </a:spcBef>
              <a:spcAft>
                <a:spcPts val="200"/>
              </a:spcAft>
            </a:pPr>
            <a:r>
              <a:rPr sz="1400">
                <a:solidFill>
                  <a:srgbClr val="3D5466"/>
                </a:solidFill>
                <a:latin typeface="Arial"/>
              </a:rPr>
              <a:t>▸  Den Kreditprozess end-to-end im Überblick beschreiben und die Funktionstrennung zwischen Markt und Marktfolge erklären</a:t>
            </a:r>
          </a:p>
          <a:p>
            <a:pPr>
              <a:spcBef>
                <a:spcPts val="800"/>
              </a:spcBef>
              <a:spcAft>
                <a:spcPts val="200"/>
              </a:spcAft>
            </a:pPr>
            <a:r>
              <a:rPr sz="1400">
                <a:solidFill>
                  <a:srgbClr val="3D5466"/>
                </a:solidFill>
                <a:latin typeface="Arial"/>
              </a:rPr>
              <a:t>▸  Typische Innendienst-Aufgaben dem zuständigen System (agree, DMS, Microsoft 365, VR-NetWorld) und der richtigen Stelle zuordnen</a:t>
            </a:r>
          </a:p>
          <a:p>
            <a:pPr>
              <a:spcBef>
                <a:spcPts val="800"/>
              </a:spcBef>
              <a:spcAft>
                <a:spcPts val="200"/>
              </a:spcAft>
            </a:pPr>
            <a:r>
              <a:rPr sz="1400">
                <a:solidFill>
                  <a:srgbClr val="3D5466"/>
                </a:solidFill>
                <a:latin typeface="Arial"/>
              </a:rPr>
              <a:t>▸  Die eigene Rolle im Innendienst beschreiben und von der Rolle der Marktfolge sowie den Erwartungen der zugeordneten Berater abgrenzen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VA00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AGENDA  ·  VA00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400"/>
              </a:spcBef>
              <a:spcAft>
                <a:spcPts val="100"/>
              </a:spcAft>
            </a:pPr>
            <a:r>
              <a:rPr sz="900">
                <a:solidFill>
                  <a:srgbClr val="78808C"/>
                </a:solidFill>
                <a:latin typeface="Consolas"/>
              </a:rPr>
              <a:t>00:00–00:05 </a:t>
            </a:r>
            <a:r>
              <a:rPr sz="1200" b="1">
                <a:solidFill>
                  <a:srgbClr val="3D5466"/>
                </a:solidFill>
                <a:latin typeface="Arial"/>
              </a:rPr>
              <a:t>  Begrüßung &amp; Einstieg</a:t>
            </a:r>
            <a:r>
              <a:rPr sz="900">
                <a:solidFill>
                  <a:srgbClr val="78808C"/>
                </a:solidFill>
                <a:latin typeface="Arial"/>
              </a:rPr>
              <a:t>  ·  Plenum</a:t>
            </a:r>
          </a:p>
          <a:p>
            <a:pPr>
              <a:spcBef>
                <a:spcPts val="400"/>
              </a:spcBef>
              <a:spcAft>
                <a:spcPts val="100"/>
              </a:spcAft>
            </a:pPr>
            <a:r>
              <a:rPr sz="900">
                <a:solidFill>
                  <a:srgbClr val="78808C"/>
                </a:solidFill>
                <a:latin typeface="Consolas"/>
              </a:rPr>
              <a:t>00:05–00:15 </a:t>
            </a:r>
            <a:r>
              <a:rPr sz="1200" b="1">
                <a:solidFill>
                  <a:srgbClr val="3D5466"/>
                </a:solidFill>
                <a:latin typeface="Arial"/>
              </a:rPr>
              <a:t>  Aktivierung: Was weiß ich schon?</a:t>
            </a:r>
            <a:r>
              <a:rPr sz="900">
                <a:solidFill>
                  <a:srgbClr val="78808C"/>
                </a:solidFill>
                <a:latin typeface="Arial"/>
              </a:rPr>
              <a:t>  ·  Aktivierendes Brainstorming im Plenum</a:t>
            </a:r>
          </a:p>
          <a:p>
            <a:pPr>
              <a:spcBef>
                <a:spcPts val="400"/>
              </a:spcBef>
              <a:spcAft>
                <a:spcPts val="100"/>
              </a:spcAft>
            </a:pPr>
            <a:r>
              <a:rPr sz="900">
                <a:solidFill>
                  <a:srgbClr val="78808C"/>
                </a:solidFill>
                <a:latin typeface="Consolas"/>
              </a:rPr>
              <a:t>00:15–00:30 </a:t>
            </a:r>
            <a:r>
              <a:rPr sz="1200" b="1">
                <a:solidFill>
                  <a:srgbClr val="3D5466"/>
                </a:solidFill>
                <a:latin typeface="Arial"/>
              </a:rPr>
              <a:t>  Theorie-Input: Feld 1 &amp; 2 (Produkte/Verbund + Prozesse/Rollen)</a:t>
            </a:r>
            <a:r>
              <a:rPr sz="900">
                <a:solidFill>
                  <a:srgbClr val="78808C"/>
                </a:solidFill>
                <a:latin typeface="Arial"/>
              </a:rPr>
              <a:t>  ·  Kurzvortrag + Flipchart-Skizze</a:t>
            </a:r>
          </a:p>
          <a:p>
            <a:pPr>
              <a:spcBef>
                <a:spcPts val="400"/>
              </a:spcBef>
              <a:spcAft>
                <a:spcPts val="100"/>
              </a:spcAft>
            </a:pPr>
            <a:r>
              <a:rPr sz="900">
                <a:solidFill>
                  <a:srgbClr val="78808C"/>
                </a:solidFill>
                <a:latin typeface="Consolas"/>
              </a:rPr>
              <a:t>00:30–00:40 </a:t>
            </a:r>
            <a:r>
              <a:rPr sz="1200" b="1">
                <a:solidFill>
                  <a:srgbClr val="3D5466"/>
                </a:solidFill>
                <a:latin typeface="Arial"/>
              </a:rPr>
              <a:t>  AB-1 &amp; AB-2 (Einzelarbeit)</a:t>
            </a:r>
            <a:r>
              <a:rPr sz="900">
                <a:solidFill>
                  <a:srgbClr val="78808C"/>
                </a:solidFill>
                <a:latin typeface="Arial"/>
              </a:rPr>
              <a:t>  ·  Einzelarbeit</a:t>
            </a:r>
          </a:p>
          <a:p>
            <a:pPr>
              <a:spcBef>
                <a:spcPts val="400"/>
              </a:spcBef>
              <a:spcAft>
                <a:spcPts val="100"/>
              </a:spcAft>
            </a:pPr>
            <a:r>
              <a:rPr sz="900">
                <a:solidFill>
                  <a:srgbClr val="78808C"/>
                </a:solidFill>
                <a:latin typeface="Consolas"/>
              </a:rPr>
              <a:t>00:40–00:50 </a:t>
            </a:r>
            <a:r>
              <a:rPr sz="1200" b="1">
                <a:solidFill>
                  <a:srgbClr val="3D5466"/>
                </a:solidFill>
                <a:latin typeface="Arial"/>
              </a:rPr>
              <a:t>  Theorie-Input: Feld 3 &amp; 4 (Systeme + Erwartungen)</a:t>
            </a:r>
            <a:r>
              <a:rPr sz="900">
                <a:solidFill>
                  <a:srgbClr val="78808C"/>
                </a:solidFill>
                <a:latin typeface="Arial"/>
              </a:rPr>
              <a:t>  ·  Kurzvortrag + Rückfragen</a:t>
            </a:r>
          </a:p>
          <a:p>
            <a:pPr>
              <a:spcBef>
                <a:spcPts val="400"/>
              </a:spcBef>
              <a:spcAft>
                <a:spcPts val="100"/>
              </a:spcAft>
            </a:pPr>
            <a:r>
              <a:rPr sz="900">
                <a:solidFill>
                  <a:srgbClr val="78808C"/>
                </a:solidFill>
                <a:latin typeface="Consolas"/>
              </a:rPr>
              <a:t>00:50–01:00 </a:t>
            </a:r>
            <a:r>
              <a:rPr sz="1200" b="1">
                <a:solidFill>
                  <a:srgbClr val="3D5466"/>
                </a:solidFill>
                <a:latin typeface="Arial"/>
              </a:rPr>
              <a:t>  AB-3 (Kreditprozess-Rollen) + AB-4 (Systemzuordnung)</a:t>
            </a:r>
            <a:r>
              <a:rPr sz="900">
                <a:solidFill>
                  <a:srgbClr val="78808C"/>
                </a:solidFill>
                <a:latin typeface="Arial"/>
              </a:rPr>
              <a:t>  ·  Einzel-/Partnerarbeit</a:t>
            </a:r>
          </a:p>
          <a:p>
            <a:pPr>
              <a:spcBef>
                <a:spcPts val="400"/>
              </a:spcBef>
              <a:spcAft>
                <a:spcPts val="100"/>
              </a:spcAft>
            </a:pPr>
            <a:r>
              <a:rPr sz="900">
                <a:solidFill>
                  <a:srgbClr val="78808C"/>
                </a:solidFill>
                <a:latin typeface="Consolas"/>
              </a:rPr>
              <a:t>01:00–01:10 </a:t>
            </a:r>
            <a:r>
              <a:rPr sz="1200" b="1">
                <a:solidFill>
                  <a:srgbClr val="3D5466"/>
                </a:solidFill>
                <a:latin typeface="Arial"/>
              </a:rPr>
              <a:t>  Plenumsbesprechung AB-2, AB-3, AB-4</a:t>
            </a:r>
            <a:r>
              <a:rPr sz="900">
                <a:solidFill>
                  <a:srgbClr val="78808C"/>
                </a:solidFill>
                <a:latin typeface="Arial"/>
              </a:rPr>
              <a:t>  ·  Moderierte Diskussion</a:t>
            </a:r>
          </a:p>
          <a:p>
            <a:pPr>
              <a:spcBef>
                <a:spcPts val="400"/>
              </a:spcBef>
              <a:spcAft>
                <a:spcPts val="100"/>
              </a:spcAft>
            </a:pPr>
            <a:r>
              <a:rPr sz="900">
                <a:solidFill>
                  <a:srgbClr val="78808C"/>
                </a:solidFill>
                <a:latin typeface="Consolas"/>
              </a:rPr>
              <a:t>01:10–01:20 </a:t>
            </a:r>
            <a:r>
              <a:rPr sz="1200" b="1">
                <a:solidFill>
                  <a:srgbClr val="3D5466"/>
                </a:solidFill>
                <a:latin typeface="Arial"/>
              </a:rPr>
              <a:t>  AB-5: Orientierungskarte befüllen</a:t>
            </a:r>
            <a:r>
              <a:rPr sz="900">
                <a:solidFill>
                  <a:srgbClr val="78808C"/>
                </a:solidFill>
                <a:latin typeface="Arial"/>
              </a:rPr>
              <a:t>  ·  Einzelarbeit mit Austausch</a:t>
            </a:r>
          </a:p>
          <a:p>
            <a:pPr>
              <a:spcBef>
                <a:spcPts val="400"/>
              </a:spcBef>
              <a:spcAft>
                <a:spcPts val="100"/>
              </a:spcAft>
            </a:pPr>
            <a:r>
              <a:rPr sz="900">
                <a:solidFill>
                  <a:srgbClr val="78808C"/>
                </a:solidFill>
                <a:latin typeface="Consolas"/>
              </a:rPr>
              <a:t>01:20–01:25 </a:t>
            </a:r>
            <a:r>
              <a:rPr sz="1200" b="1">
                <a:solidFill>
                  <a:srgbClr val="3D5466"/>
                </a:solidFill>
                <a:latin typeface="Arial"/>
              </a:rPr>
              <a:t>  Reflexionsfragen (Auswahl)</a:t>
            </a:r>
            <a:r>
              <a:rPr sz="900">
                <a:solidFill>
                  <a:srgbClr val="78808C"/>
                </a:solidFill>
                <a:latin typeface="Arial"/>
              </a:rPr>
              <a:t>  ·  Kurzes Plenumsgespräch</a:t>
            </a:r>
          </a:p>
          <a:p>
            <a:pPr>
              <a:spcBef>
                <a:spcPts val="400"/>
              </a:spcBef>
              <a:spcAft>
                <a:spcPts val="100"/>
              </a:spcAft>
            </a:pPr>
            <a:r>
              <a:rPr sz="900">
                <a:solidFill>
                  <a:srgbClr val="78808C"/>
                </a:solidFill>
                <a:latin typeface="Consolas"/>
              </a:rPr>
              <a:t>01:25–01:30 </a:t>
            </a:r>
            <a:r>
              <a:rPr sz="1200" b="1">
                <a:solidFill>
                  <a:srgbClr val="3D5466"/>
                </a:solidFill>
                <a:latin typeface="Arial"/>
              </a:rPr>
              <a:t>  Abschluss &amp; Ausblick</a:t>
            </a:r>
            <a:r>
              <a:rPr sz="900">
                <a:solidFill>
                  <a:srgbClr val="78808C"/>
                </a:solidFill>
                <a:latin typeface="Arial"/>
              </a:rPr>
              <a:t>  ·  Plenum</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VA00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VA00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Theorie-Input: Orientierung als professionelle Grundkompetenz</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Vier Orientierungsfelder im Überblick</a:t>
            </a:r>
          </a:p>
          <a:p>
            <a:pPr marL="190500" indent="-190500">
              <a:spcBef>
                <a:spcPts val="400"/>
              </a:spcBef>
              <a:spcAft>
                <a:spcPts val="200"/>
              </a:spcAft>
            </a:pPr>
            <a:r>
              <a:rPr sz="1300">
                <a:solidFill>
                  <a:srgbClr val="3D5466"/>
                </a:solidFill>
                <a:latin typeface="Arial"/>
              </a:rPr>
              <a:t>▸  Dieses Modul gliedert die Hausorientierung in vier Felder:</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VA00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VA00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Theorie-Input: Die vier Orientierungsfelder im Detail</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1000"/>
              </a:spcBef>
              <a:spcAft>
                <a:spcPts val="200"/>
              </a:spcAft>
            </a:pPr>
            <a:r>
              <a:rPr sz="800" b="1">
                <a:solidFill>
                  <a:srgbClr val="78808C"/>
                </a:solidFill>
                <a:latin typeface="Consolas"/>
              </a:rPr>
              <a:t>FELD 1 – PRODUKTE &amp; VERBUND: WAS GIBT ES, WER IST ZUSTÄNDIG</a:t>
            </a:r>
          </a:p>
          <a:p>
            <a:pPr marL="190500" indent="-190500">
              <a:spcBef>
                <a:spcPts val="400"/>
              </a:spcBef>
              <a:spcAft>
                <a:spcPts val="200"/>
              </a:spcAft>
            </a:pPr>
            <a:r>
              <a:rPr sz="1300">
                <a:solidFill>
                  <a:srgbClr val="3D5466"/>
                </a:solidFill>
                <a:latin typeface="Arial"/>
              </a:rPr>
              <a:t>▸  Produktgruppen im Überblick:</a:t>
            </a:r>
          </a:p>
          <a:p>
            <a:pPr marL="190500" indent="-190500">
              <a:spcBef>
                <a:spcPts val="400"/>
              </a:spcBef>
              <a:spcAft>
                <a:spcPts val="200"/>
              </a:spcAft>
            </a:pPr>
            <a:r>
              <a:rPr sz="1300">
                <a:solidFill>
                  <a:srgbClr val="3D5466"/>
                </a:solidFill>
                <a:latin typeface="Arial"/>
              </a:rPr>
              <a:t>▸  Verbundpartner und -dienstleister der genossenschaftlichen FinanzGruppe:</a:t>
            </a:r>
          </a:p>
          <a:p>
            <a:pPr>
              <a:spcBef>
                <a:spcPts val="1000"/>
              </a:spcBef>
              <a:spcAft>
                <a:spcPts val="200"/>
              </a:spcAft>
            </a:pPr>
            <a:r>
              <a:rPr sz="800" b="1">
                <a:solidFill>
                  <a:srgbClr val="78808C"/>
                </a:solidFill>
                <a:latin typeface="Consolas"/>
              </a:rPr>
              <a:t>FELD 2 – PROZESSE &amp; ROLLEN: DER KREDITPROZESS END-TO-END</a:t>
            </a:r>
          </a:p>
          <a:p>
            <a:pPr marL="190500" indent="-190500">
              <a:spcBef>
                <a:spcPts val="400"/>
              </a:spcBef>
              <a:spcAft>
                <a:spcPts val="200"/>
              </a:spcAft>
            </a:pPr>
            <a:r>
              <a:rPr sz="1300">
                <a:solidFill>
                  <a:srgbClr val="3D5466"/>
                </a:solidFill>
                <a:latin typeface="Arial"/>
              </a:rPr>
              <a:t>▸  Kreditprozess im Überblick (vereinfacht):</a:t>
            </a:r>
          </a:p>
          <a:p>
            <a:pPr marL="177800" indent="-177800">
              <a:spcBef>
                <a:spcPts val="600"/>
              </a:spcBef>
              <a:spcAft>
                <a:spcPts val="200"/>
              </a:spcAft>
            </a:pPr>
            <a:r>
              <a:rPr sz="1200" i="1">
                <a:solidFill>
                  <a:srgbClr val="3D5466"/>
                </a:solidFill>
                <a:latin typeface="Arial"/>
              </a:rPr>
              <a:t>→  Handlungsempfehlung</a:t>
            </a:r>
          </a:p>
          <a:p>
            <a:pPr marL="177800" indent="-177800">
              <a:spcBef>
                <a:spcPts val="600"/>
              </a:spcBef>
              <a:spcAft>
                <a:spcPts val="200"/>
              </a:spcAft>
            </a:pPr>
            <a:r>
              <a:rPr sz="1200" i="1">
                <a:solidFill>
                  <a:srgbClr val="3D5466"/>
                </a:solidFill>
                <a:latin typeface="Arial"/>
              </a:rPr>
              <a:t>→  Wenn Sie unsicher sind, ob eine Aufgabe (z. B. das Votum zu einem Kreditbeschluss) dem Markt oder der Marktfolge zufällt</a:t>
            </a:r>
          </a:p>
          <a:p>
            <a:pPr>
              <a:spcBef>
                <a:spcPts val="1000"/>
              </a:spcBef>
              <a:spcAft>
                <a:spcPts val="200"/>
              </a:spcAft>
            </a:pPr>
            <a:r>
              <a:rPr sz="800" b="1">
                <a:solidFill>
                  <a:srgbClr val="78808C"/>
                </a:solidFill>
                <a:latin typeface="Consolas"/>
              </a:rPr>
              <a:t>FELD 3 – TECHNISCHE SYSTEME: WELCHES SYSTEM WOFÜR</a:t>
            </a:r>
          </a:p>
          <a:p>
            <a:pPr marL="190500" indent="-190500">
              <a:spcBef>
                <a:spcPts val="400"/>
              </a:spcBef>
              <a:spcAft>
                <a:spcPts val="200"/>
              </a:spcAft>
            </a:pPr>
            <a:r>
              <a:rPr sz="1300">
                <a:solidFill>
                  <a:srgbClr val="3D5466"/>
                </a:solidFill>
                <a:latin typeface="Arial"/>
              </a:rPr>
              <a:t>▸  Im Innendienst arbeiten Sie täglich mit mehreren digitalen Werkzeugen. Eine klare mentale Zuordnung (welches System wofür) vermeidet Doppelarbeit und Fehler.</a:t>
            </a:r>
          </a:p>
          <a:p>
            <a:pPr marL="190500" indent="-190500">
              <a:spcBef>
                <a:spcPts val="400"/>
              </a:spcBef>
              <a:spcAft>
                <a:spcPts val="200"/>
              </a:spcAft>
            </a:pPr>
            <a:r>
              <a:rPr sz="1300">
                <a:solidFill>
                  <a:srgbClr val="3D5466"/>
                </a:solidFill>
                <a:latin typeface="Arial"/>
              </a:rPr>
              <a:t>▸  Systemlandschaft im Überblick:</a:t>
            </a:r>
          </a:p>
          <a:p>
            <a:pPr>
              <a:spcBef>
                <a:spcPts val="1000"/>
              </a:spcBef>
              <a:spcAft>
                <a:spcPts val="200"/>
              </a:spcAft>
            </a:pPr>
            <a:r>
              <a:rPr sz="800" b="1">
                <a:solidFill>
                  <a:srgbClr val="78808C"/>
                </a:solidFill>
                <a:latin typeface="Consolas"/>
              </a:rPr>
              <a:t>FELD 4 – ERWARTUNGEN &amp; SCHNITTSTELLEN: WER ERWARTET WAS</a:t>
            </a:r>
          </a:p>
          <a:p>
            <a:pPr marL="190500" indent="-190500">
              <a:spcBef>
                <a:spcPts val="400"/>
              </a:spcBef>
              <a:spcAft>
                <a:spcPts val="200"/>
              </a:spcAft>
            </a:pPr>
            <a:r>
              <a:rPr sz="1300">
                <a:solidFill>
                  <a:srgbClr val="3D5466"/>
                </a:solidFill>
                <a:latin typeface="Arial"/>
              </a:rPr>
              <a:t>▸  Typische Erwartungen der Berater an die Assistenz:</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VA00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VA00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Theorie-Input: Die vier Orientierungsfelder im Detail</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2304288"/>
        </p:xfrm>
        <a:graphic>
          <a:graphicData uri="http://schemas.openxmlformats.org/drawingml/2006/table">
            <a:tbl>
              <a:tblPr firstRow="1" bandRow="1">
                <a:tableStyleId>{5C22544A-7EE6-4342-B048-85BDC9FD1C3A}</a:tableStyleId>
              </a:tblPr>
              <a:tblGrid>
                <a:gridCol w="3605784"/>
                <a:gridCol w="3605784"/>
                <a:gridCol w="3605784"/>
              </a:tblGrid>
              <a:tr h="384048">
                <a:tc>
                  <a:txBody>
                    <a:bodyPr/>
                    <a:lstStyle/>
                    <a:p>
                      <a:r>
                        <a:rPr sz="1100" b="1">
                          <a:solidFill>
                            <a:srgbClr val="FFFFFF"/>
                          </a:solidFill>
                          <a:latin typeface="Arial"/>
                        </a:rPr>
                        <a:t>Stelle</a:t>
                      </a:r>
                    </a:p>
                  </a:txBody>
                  <a:tcPr>
                    <a:solidFill>
                      <a:srgbClr val="1F2C56"/>
                    </a:solidFill>
                  </a:tcPr>
                </a:tc>
                <a:tc>
                  <a:txBody>
                    <a:bodyPr/>
                    <a:lstStyle/>
                    <a:p>
                      <a:r>
                        <a:rPr sz="1100" b="1">
                          <a:solidFill>
                            <a:srgbClr val="FFFFFF"/>
                          </a:solidFill>
                          <a:latin typeface="Arial"/>
                        </a:rPr>
                        <a:t>Funktion</a:t>
                      </a:r>
                    </a:p>
                  </a:txBody>
                  <a:tcPr>
                    <a:solidFill>
                      <a:srgbClr val="1F2C56"/>
                    </a:solidFill>
                  </a:tcPr>
                </a:tc>
                <a:tc>
                  <a:txBody>
                    <a:bodyPr/>
                    <a:lstStyle/>
                    <a:p>
                      <a:r>
                        <a:rPr sz="1100" b="1">
                          <a:solidFill>
                            <a:srgbClr val="FFFFFF"/>
                          </a:solidFill>
                          <a:latin typeface="Arial"/>
                        </a:rPr>
                        <a:t>Typischer Kontaktanlass</a:t>
                      </a:r>
                    </a:p>
                  </a:txBody>
                  <a:tcPr>
                    <a:solidFill>
                      <a:srgbClr val="1F2C56"/>
                    </a:solidFill>
                  </a:tcPr>
                </a:tc>
              </a:tr>
              <a:tr h="384048">
                <a:tc>
                  <a:txBody>
                    <a:bodyPr/>
                    <a:lstStyle/>
                    <a:p>
                      <a:r>
                        <a:rPr sz="1050">
                          <a:solidFill>
                            <a:srgbClr val="3D5466"/>
                          </a:solidFill>
                          <a:latin typeface="Arial"/>
                        </a:rPr>
                        <a:t>Marktfolge</a:t>
                      </a:r>
                    </a:p>
                  </a:txBody>
                  <a:tcPr/>
                </a:tc>
                <a:tc>
                  <a:txBody>
                    <a:bodyPr/>
                    <a:lstStyle/>
                    <a:p>
                      <a:r>
                        <a:rPr sz="1050">
                          <a:solidFill>
                            <a:srgbClr val="3D5466"/>
                          </a:solidFill>
                          <a:latin typeface="Arial"/>
                        </a:rPr>
                        <a:t>Kreditanalyse, Votum, Bestandsbearbeitung</a:t>
                      </a:r>
                    </a:p>
                  </a:txBody>
                  <a:tcPr/>
                </a:tc>
                <a:tc>
                  <a:txBody>
                    <a:bodyPr/>
                    <a:lstStyle/>
                    <a:p>
                      <a:r>
                        <a:rPr sz="1050">
                          <a:solidFill>
                            <a:srgbClr val="3D5466"/>
                          </a:solidFill>
                          <a:latin typeface="Arial"/>
                        </a:rPr>
                        <a:t>Vollständigkeit der Akte, Offenlegungsfristen</a:t>
                      </a:r>
                    </a:p>
                  </a:txBody>
                  <a:tcPr/>
                </a:tc>
              </a:tr>
              <a:tr h="384048">
                <a:tc>
                  <a:txBody>
                    <a:bodyPr/>
                    <a:lstStyle/>
                    <a:p>
                      <a:r>
                        <a:rPr sz="1050">
                          <a:solidFill>
                            <a:srgbClr val="3D5466"/>
                          </a:solidFill>
                          <a:latin typeface="Arial"/>
                        </a:rPr>
                        <a:t>Rechtsabteilung</a:t>
                      </a:r>
                    </a:p>
                  </a:txBody>
                  <a:tcPr/>
                </a:tc>
                <a:tc>
                  <a:txBody>
                    <a:bodyPr/>
                    <a:lstStyle/>
                    <a:p>
                      <a:r>
                        <a:rPr sz="1050">
                          <a:solidFill>
                            <a:srgbClr val="3D5466"/>
                          </a:solidFill>
                          <a:latin typeface="Arial"/>
                        </a:rPr>
                        <a:t>Vertragsrecht, Sicherheitenrecht</a:t>
                      </a:r>
                    </a:p>
                  </a:txBody>
                  <a:tcPr/>
                </a:tc>
                <a:tc>
                  <a:txBody>
                    <a:bodyPr/>
                    <a:lstStyle/>
                    <a:p>
                      <a:r>
                        <a:rPr sz="1050">
                          <a:solidFill>
                            <a:srgbClr val="3D5466"/>
                          </a:solidFill>
                          <a:latin typeface="Arial"/>
                        </a:rPr>
                        <a:t>Fragen zu Sicherheitenverträgen, Vollmachten</a:t>
                      </a:r>
                    </a:p>
                  </a:txBody>
                  <a:tcPr/>
                </a:tc>
              </a:tr>
              <a:tr h="384048">
                <a:tc>
                  <a:txBody>
                    <a:bodyPr/>
                    <a:lstStyle/>
                    <a:p>
                      <a:r>
                        <a:rPr sz="1050">
                          <a:solidFill>
                            <a:srgbClr val="3D5466"/>
                          </a:solidFill>
                          <a:latin typeface="Arial"/>
                        </a:rPr>
                        <a:t>IT-Koordinator</a:t>
                      </a:r>
                    </a:p>
                  </a:txBody>
                  <a:tcPr/>
                </a:tc>
                <a:tc>
                  <a:txBody>
                    <a:bodyPr/>
                    <a:lstStyle/>
                    <a:p>
                      <a:r>
                        <a:rPr sz="1050">
                          <a:solidFill>
                            <a:srgbClr val="3D5466"/>
                          </a:solidFill>
                          <a:latin typeface="Arial"/>
                        </a:rPr>
                        <a:t>Systemzugang, agree-Berechtigungen</a:t>
                      </a:r>
                    </a:p>
                  </a:txBody>
                  <a:tcPr/>
                </a:tc>
                <a:tc>
                  <a:txBody>
                    <a:bodyPr/>
                    <a:lstStyle/>
                    <a:p>
                      <a:r>
                        <a:rPr sz="1050">
                          <a:solidFill>
                            <a:srgbClr val="3D5466"/>
                          </a:solidFill>
                          <a:latin typeface="Arial"/>
                        </a:rPr>
                        <a:t>Neue Zugänge, Systemfehler</a:t>
                      </a:r>
                    </a:p>
                  </a:txBody>
                  <a:tcPr/>
                </a:tc>
              </a:tr>
              <a:tr h="384048">
                <a:tc>
                  <a:txBody>
                    <a:bodyPr/>
                    <a:lstStyle/>
                    <a:p>
                      <a:r>
                        <a:rPr sz="1050">
                          <a:solidFill>
                            <a:srgbClr val="3D5466"/>
                          </a:solidFill>
                          <a:latin typeface="Arial"/>
                        </a:rPr>
                        <a:t>Verbundspezialisten</a:t>
                      </a:r>
                    </a:p>
                  </a:txBody>
                  <a:tcPr/>
                </a:tc>
                <a:tc>
                  <a:txBody>
                    <a:bodyPr/>
                    <a:lstStyle/>
                    <a:p>
                      <a:r>
                        <a:rPr sz="1050">
                          <a:solidFill>
                            <a:srgbClr val="3D5466"/>
                          </a:solidFill>
                          <a:latin typeface="Arial"/>
                        </a:rPr>
                        <a:t>R+V, Union, Schwäbisch Hall etc.</a:t>
                      </a:r>
                    </a:p>
                  </a:txBody>
                  <a:tcPr/>
                </a:tc>
                <a:tc>
                  <a:txBody>
                    <a:bodyPr/>
                    <a:lstStyle/>
                    <a:p>
                      <a:r>
                        <a:rPr sz="1050">
                          <a:solidFill>
                            <a:srgbClr val="3D5466"/>
                          </a:solidFill>
                          <a:latin typeface="Arial"/>
                        </a:rPr>
                        <a:t>Weiterleitung von Kundenanfragen</a:t>
                      </a:r>
                    </a:p>
                  </a:txBody>
                  <a:tcPr/>
                </a:tc>
              </a:tr>
              <a:tr h="384048">
                <a:tc>
                  <a:txBody>
                    <a:bodyPr/>
                    <a:lstStyle/>
                    <a:p>
                      <a:r>
                        <a:rPr sz="1050">
                          <a:solidFill>
                            <a:srgbClr val="3D5466"/>
                          </a:solidFill>
                          <a:latin typeface="Arial"/>
                        </a:rPr>
                        <a:t>Innendienst-Kolleg:innen</a:t>
                      </a:r>
                    </a:p>
                  </a:txBody>
                  <a:tcPr/>
                </a:tc>
                <a:tc>
                  <a:txBody>
                    <a:bodyPr/>
                    <a:lstStyle/>
                    <a:p>
                      <a:r>
                        <a:rPr sz="1050">
                          <a:solidFill>
                            <a:srgbClr val="3D5466"/>
                          </a:solidFill>
                          <a:latin typeface="Arial"/>
                        </a:rPr>
                        <a:t>Kollegen im selben Bereich</a:t>
                      </a:r>
                    </a:p>
                  </a:txBody>
                  <a:tcPr/>
                </a:tc>
                <a:tc>
                  <a:txBody>
                    <a:bodyPr/>
                    <a:lstStyle/>
                    <a:p>
                      <a:r>
                        <a:rPr sz="1050">
                          <a:solidFill>
                            <a:srgbClr val="3D5466"/>
                          </a:solidFill>
                          <a:latin typeface="Arial"/>
                        </a:rPr>
                        <a:t>Urlaubsvertretung, Fachfragen</a:t>
                      </a:r>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VA00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Übersicht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VA00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Praxisfall: Erste Wochen im Firmenkunden-Innendienst</a:t>
            </a:r>
          </a:p>
        </p:txBody>
      </p:sp>
      <p:sp>
        <p:nvSpPr>
          <p:cNvPr id="8" name="TextBox 7"/>
          <p:cNvSpPr txBox="1"/>
          <p:nvPr/>
        </p:nvSpPr>
        <p:spPr>
          <a:xfrm>
            <a:off x="685800" y="1554480"/>
            <a:ext cx="10817352" cy="3840480"/>
          </a:xfrm>
          <a:prstGeom prst="rect">
            <a:avLst/>
          </a:prstGeom>
          <a:noFill/>
        </p:spPr>
        <p:txBody>
          <a:bodyPr wrap="square">
            <a:spAutoFit/>
          </a:bodyPr>
          <a:lstStyle/>
          <a:p>
            <a:pPr marL="190500" indent="-190500">
              <a:spcBef>
                <a:spcPts val="400"/>
              </a:spcBef>
              <a:spcAft>
                <a:spcPts val="200"/>
              </a:spcAft>
            </a:pPr>
            <a:r>
              <a:rPr sz="1400">
                <a:solidFill>
                  <a:srgbClr val="3D5466"/>
                </a:solidFill>
                <a:latin typeface="Arial"/>
              </a:rPr>
              <a:t>▸  Ausgangslage (anonymisiert, branchentypisch)</a:t>
            </a:r>
          </a:p>
          <a:p>
            <a:pPr marL="190500" indent="-190500">
              <a:spcBef>
                <a:spcPts val="400"/>
              </a:spcBef>
              <a:spcAft>
                <a:spcPts val="200"/>
              </a:spcAft>
            </a:pPr>
            <a:r>
              <a:rPr sz="1400">
                <a:solidFill>
                  <a:srgbClr val="3D5466"/>
                </a:solidFill>
                <a:latin typeface="Arial"/>
              </a:rPr>
              <a:t>▸  Am ersten Arbeitstag landet in ihrer Aufgabenliste in agree:</a:t>
            </a:r>
          </a:p>
          <a:p>
            <a:pPr marL="190500" indent="-190500">
              <a:spcBef>
                <a:spcPts val="400"/>
              </a:spcBef>
              <a:spcAft>
                <a:spcPts val="200"/>
              </a:spcAft>
            </a:pPr>
            <a:r>
              <a:rPr sz="1400">
                <a:solidFill>
                  <a:srgbClr val="3D5466"/>
                </a:solidFill>
                <a:latin typeface="Arial"/>
              </a:rPr>
              <a:t>▸  Unterlagen für die laufende Offenlegung bei der Maschinen Musterregion GmbH (Umsatz 4,2 Mio. EUR, 22 Mitarbeiter) anfordern – Jahresabschluss 2024 noch nicht eingegangen.</a:t>
            </a:r>
          </a:p>
          <a:p>
            <a:pPr marL="190500" indent="-190500">
              <a:spcBef>
                <a:spcPts val="400"/>
              </a:spcBef>
              <a:spcAft>
                <a:spcPts val="200"/>
              </a:spcAft>
            </a:pPr>
            <a:r>
              <a:rPr sz="1400">
                <a:solidFill>
                  <a:srgbClr val="3D5466"/>
                </a:solidFill>
                <a:latin typeface="Arial"/>
              </a:rPr>
              <a:t>▸  Eine neue Geschäftsadresse für Bau Musterregion KG dokumentieren.</a:t>
            </a:r>
          </a:p>
          <a:p>
            <a:pPr marL="190500" indent="-190500">
              <a:spcBef>
                <a:spcPts val="400"/>
              </a:spcBef>
              <a:spcAft>
                <a:spcPts val="200"/>
              </a:spcAft>
            </a:pPr>
            <a:r>
              <a:rPr sz="1400">
                <a:solidFill>
                  <a:srgbClr val="3D5466"/>
                </a:solidFill>
                <a:latin typeface="Arial"/>
              </a:rPr>
              <a:t>▸  Ein Beratungsgespräch für den nächsten Dienstag vorbereiten – Einladung an den Kunden versenden.</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VA00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VA00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Reflexionsfragen</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Nehmen Sie sich fünf Minuten Zeit und beantworten Sie die folgenden Fragen schriftlich. Es gibt keine richtigen oder falschen Antworten – die Reflexion dient Ihrer eigenen Orientierung.</a:t>
            </a:r>
          </a:p>
          <a:p>
            <a:pPr marL="190500" indent="-190500">
              <a:spcBef>
                <a:spcPts val="400"/>
              </a:spcBef>
              <a:spcAft>
                <a:spcPts val="200"/>
              </a:spcAft>
            </a:pPr>
            <a:r>
              <a:rPr sz="1300">
                <a:solidFill>
                  <a:srgbClr val="3D5466"/>
                </a:solidFill>
                <a:latin typeface="Arial"/>
              </a:rPr>
              <a:t>▸  Welches der vier Orientierungsfelder (Produkte &amp; Verbund, Prozesse &amp; Rollen, Systeme, Erwartungen &amp; Schnittstellen) erscheint Ihnen im Moment am unklarsten? Was wäre Ihr nächster Schritt, um dort Sicherheit zu gewinnen?</a:t>
            </a:r>
          </a:p>
          <a:p>
            <a:pPr marL="190500" indent="-190500">
              <a:spcBef>
                <a:spcPts val="400"/>
              </a:spcBef>
              <a:spcAft>
                <a:spcPts val="200"/>
              </a:spcAft>
            </a:pPr>
            <a:r>
              <a:rPr sz="1300">
                <a:solidFill>
                  <a:srgbClr val="3D5466"/>
                </a:solidFill>
                <a:latin typeface="Arial"/>
              </a:rPr>
              <a:t>▸  Stellen Sie sich vor, ein Firmenkunde ruft an und möchte wissen, ob sein Antrag schon bearbeitet wurde. In welchem System schauen Sie nach? Wen fragen Sie, wenn Sie die Antwort dort nicht finden?</a:t>
            </a:r>
          </a:p>
          <a:p>
            <a:pPr marL="190500" indent="-190500">
              <a:spcBef>
                <a:spcPts val="400"/>
              </a:spcBef>
              <a:spcAft>
                <a:spcPts val="200"/>
              </a:spcAft>
            </a:pPr>
            <a:r>
              <a:rPr sz="1300">
                <a:solidFill>
                  <a:srgbClr val="3D5466"/>
                </a:solidFill>
                <a:latin typeface="Arial"/>
              </a:rPr>
              <a:t>▸  Worin unterscheidet sich die Aufgabe der Assistenz von der Aufgabe des Beraters? Was gehört zu Ihrer Verantwortung – und was nicht?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VA00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