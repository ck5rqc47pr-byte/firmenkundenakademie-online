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Einstiegsfrage: „Welche Produktnamen, Systemkürzel oder Abteilungen kennen Sie schon?" Antworten an der Flipchart sammeln – am Ende bekommt jeder Begriff einen Platz auf der Landkarte.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mentale Landkarte des eigenen Hauses ist die Voraussetzung, um schnell handlungsfähig zu werden (Lave &amp; Wenger, 1991). Auf gesammelte Flipchart-Begriffe zurückverweisen.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„Sie müssen wissen, was es gibt und wo Sie sich einordnen." Bei Unsicherheit, ob eine Aufgabe Markt oder Marktfolge zufällt, die Regel nutzen: das Votum ist immer Marktfolge.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Zuordnungslogik: agree = Kernsystem für Kundendaten, BankingManager = Kunde bedient selbst. Bankgeheimnis/DSGVO als Grundregel ab Tag 1 verankern.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Landkarte ist kein Prüfstoff, sondern ein Orientierungswerkzeug. Aus Nachfragen wird mit der Zeit eigenständiges 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AB-3/AB-4 Musterlösung (Trainer-Version)</a:t>
            </a:r>
          </a:p>
          <a:p>
            <a:r>
              <a:t>Kernpunkte: Votum = immer Marktfolge; agree = Kernsystem für Kundendaten; BankingManager = Banking-Software (Kunde bedient selbst), kein Innendienst-Zugang.</a:t>
            </a:r>
          </a:p>
          <a:p>
            <a:r>
              <a:t>Trainer-Hinweis: erfahrene TN AB-5 als Multiplikator-Instrument rahmen („Was gäben Sie einer neuen Kollegin als Erstes in die Hand?").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Transferaufgabe (Sec 5): drei Fragen mit dem Berater klären, um AB-5 abzuschließen. Ausblick: VA03 (agree), VA01 (Kreditakte), VA08 (Selbstorganisation).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Moderationskarten grün/orange als Abschluss-Sammelrunde. Zwei Reflexionsfragen im Plenum (Empfehlung 1 und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Das eigene Haus kennen: Produkte, Prozesse,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Orientierung im Firmenkundengeschäft – die Landkarte für den Einstieg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K-A00 Orientierung &amp; Grundlagen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Sachbearbeitung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Neue Assistenzkräfte im Firmenkunden-Innendienst stehen am ersten Tag vor einer Fülle von Produktnamen, Systemkürzeln und Abteilungsbezeichnungen.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Dieses Orientierungsmodul gibt Ihnen die Landkarte: Sie lernen, welche FK-Produkte es gibt und wer beim Verbund wofür zuständig ist, wie der Kreditprozess end-to-end abläuft und was die Funktionstrennung Markt/Marktfolge für Ihre Rolle bedeutet, welches System Sie wofür einsetzen, und wie die Erwartungen Ihrer zugeordneten Berater aussehen.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Am Ende des Workshops haben Sie Ihren persönlichen Orientierungskompass für die ersten Wochen im Innendienst.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Zentrale Produkte des Firmenkundengeschäfts (Kredit, Leasing, Bürgschaft, Einlagen) und die wichtigsten Verbundpartner (R+V, Union Investment, Schwäbisch Hall, MünchenerHyp, DZ Bank)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Kreditprozess end-to-end im Überblick beschreiben und die Funktionstrennung zwischen Markt und Marktfolge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Innendienst-Aufgaben dem zuständigen System (agree, DMS, Microsoft 365, BankingManager) und der richtigen Stelle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Rolle im Innendienst beschreiben und von der Rolle der Marktfolge sowie den Erwartungen der zugeordneten Berater abgrenzen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2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00:05–00:15 </a:t>
            </a:r>
            <a:r>
              <a:rPr sz="1200" b="1">
                <a:solidFill>
                  <a:srgbClr val="3D5466"/>
                </a:solidFill>
                <a:latin typeface="Arial"/>
              </a:rPr>
              <a:t>  Aktivierung: Was weiß ich schon?</a:t>
            </a:r>
            <a:r>
              <a:rPr sz="900">
                <a:solidFill>
                  <a:srgbClr val="78808C"/>
                </a:solidFill>
                <a:latin typeface="Arial"/>
              </a:rPr>
              <a:t>  ·  Aktivierendes Brainstorming im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00:15–00:30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Feld 1 &amp; 2 (Produkte/Verbund + Prozesse/Rollen)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Flipchart-Skizze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00:30–00:40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 &amp; AB-2 (Einzelarbeit)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00:40–00:50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Feld 3 &amp; 4 (Systeme + Erwartungen)</a:t>
            </a:r>
            <a:r>
              <a:rPr sz="900">
                <a:solidFill>
                  <a:srgbClr val="78808C"/>
                </a:solidFill>
                <a:latin typeface="Arial"/>
              </a:rPr>
              <a:t>  ·  Kurzvortrag + Rückfragen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00:50–01:00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AB-3 (Kreditprozess-Rollen) + AB-4 (Systemzuordnung)</a:t>
            </a:r>
            <a:r>
              <a:rPr sz="900">
                <a:solidFill>
                  <a:srgbClr val="78808C"/>
                </a:solidFill>
                <a:latin typeface="Arial"/>
              </a:rPr>
              <a:t>  ·  Einzel-/Partnerarbeit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01:00–01:10 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Plenumsbesprechung AB-2, AB-3, AB-4</a:t>
            </a:r>
            <a:r>
              <a:rPr sz="9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01:10–01:20 </a:t>
            </a:r>
            <a:r>
              <a:rPr sz="1200" b="1">
                <a:solidFill>
                  <a:srgbClr val="3D5466"/>
                </a:solidFill>
                <a:latin typeface="Arial"/>
              </a:rPr>
              <a:t>  AB-5: Orientierungskarte befüllen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 mit Austausch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01:20–01:25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Reflexionsfragen (Auswahl)</a:t>
            </a:r>
            <a:r>
              <a:rPr sz="900">
                <a:solidFill>
                  <a:srgbClr val="78808C"/>
                </a:solidFill>
                <a:latin typeface="Arial"/>
              </a:rPr>
              <a:t>  ·  Kurzes Plenumsgespräch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2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Aktivierung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Was weiß ich schon? Die eigene Landkarte beginnt mit dem, was Sie kennen.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vier Orientierungsfelder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Sie müssen das noch nicht beherrschen – Sie müssen wissen, was es gibt und wo Sie sich einordnen.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Produkte &amp; Verbund: Was bieten wir an, und wer im Verbund hilft dabei?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Prozesse &amp; Rollen: Wer entscheidet was – und wo stehe ich darin?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Technische Systeme: Welches System nutze ich wofür?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Erwartungen &amp; Schnittstellen: Was braucht mein Berater von mir – und wen frage ich bei was?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Landkarte des eigenen Hauses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00:15–00:30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Feld 1 &amp;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Produkte und Verbund kennen – und den Kreditprozess mit seinen Rollen.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Produkte, Verbund und der Kreditprozess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Das Votum liegt immer bei der Marktfolge – nie beim Markt oder der Assistenz. Wer den Prozess kennt, findet für jeden Fall die richtige Stelle.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PRODUKTE &amp; VERBUND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Kredit, Zahlungsverkehr und Verbundpartner (R+V, Union Investment, DZ Bank, KfW/L-Bank).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KREDITPROZESS IN SIEBEN PHASEN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Von der Anbahnung bis zur Bestandsbearbeitung; die Assistenz trägt die Phasen 2, 5 und 7.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Funktionstrennung Markt/Marktfolge (MaRisk BTO 1.2): getrennte, unabhängige Risikobeurteilung.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Der Kreditprozess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00:40–00:50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Feld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Die Systemlandschaft und die Erwartungen der Berater kennen.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Systeme und Erwartungen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Kundendaten gehören ins System, nicht auf einen Zettel – Bankgeheimnis und DSGVO gelten ab Tag 1.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SYSTEMLANDSCHAFT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agree = Kernbankverfahren (Kundenstamm, Engagements, Wiedervorlagen); DMS = digitale Ablage.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M365 für Office/Kommunikation; BankingManager ist die Banking-Software, die der Firmenkunde selbst bedient – kein Innendienst-Zugang.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ERWARTUNGEN &amp; SCHNITTSTELLEN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Berater erwarten vollständige, aktuelle Zuarbeit; die richtige Stelle für jede Frage kennen.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im Zweifel die richtige Stelle finden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Sie unsicher sind, ob eine Aufgabe dem Markt oder der Marktfolge zufällt — dann die Regel nutzen: das Votum und die Kreditentscheidung liegen immer bei der Marktfolge.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Sie eine Information erhalten — dann prüfen, in welches der vier Felder sie gehört, und sie dort (im System) verorten.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Sie etwas noch nicht wissen — dann es in der ersten Woche gezielt mit Berater oder Teamleitung klären und in die Orientierungskarte eintragen.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Praxisaufgabe: die eigene Landkarte befüllen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Füllen Sie die Haus-Landkarte für die Felder Produkte/Verbund und Prozesse/Rollen aus (AB-1, 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Kreditprozess-Rollen zu: Wer macht was?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Systeme ihrem Einsatzzweck zu (AB-4).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Beginnen Sie Ihre Orientierungskarte mit realen Namen und Kontakten (AB-5) – Rest in der ersten Woche.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Wer das eigene Haus kennt, findet für jeden Fall die richtige Stelle.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Produkte, Kreditprozess, Verbundpartner und Systeme im Überblick zu kennen macht aus Nachfragen eigenständiges Handeln.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Welches der vier Felder ist Ihnen heute noch am unklarsten – und wen fragen Sie dazu zuerst?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 welcher Stelle im Kreditprozess sehen Sie Ihren wichtigsten Beitrag?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nehmen Sie aus heute mit – und was ist noch offen (grün / orange)?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