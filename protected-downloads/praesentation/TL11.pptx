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(08:30–08:45): Was hat Sie bei Ihrer letzten Auswahlentscheidung im Rückblick überrascht? TN notieren 2 Min. – dann kurzer Austausch. Nicht bewerten, nur sammeln.</a:t>
            </a:r>
          </a:p>
          <a:p>
            <a:r>
              <a:t>Kosten-Cluster an Flipchart: direkt (Recruiting, Einarbeitung), indirekt (Teamproduktivität), relational (Kundenbeziehungen). TN nennen Beispiele.</a:t>
            </a:r>
          </a:p>
          <a:p>
            <a:r>
              <a:t>Überleitung: Wie viele Entwicklungsgespräche investieren Sie in bestehende Mitarbeitende – und wie viele Stunden in die Vorbereitung eines Einstellungsgesprächs? Meistens ist das Verhältnis umgekehrt zur Hebelwirkung.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Kristof-Brown et al. (2005): Person-Organisation-Fit ist kaum durch Entwicklungsmaßnahmen veränderbar – Person-Job-Fit schon. Das ist die empirische Grundlage der asymmetrischen Einstellungslogik.</a:t>
            </a:r>
          </a:p>
          <a:p>
            <a:r>
              <a:t>Genossenschaftlicher Kontext: Beziehungsorientierung und Verlässlichkeit sind nicht nur Erfolgsfaktoren – sie sind Selbstverständnis. Ein Berater, der Beziehungen als Mittel behandelt, ändert das nicht durch Training.</a:t>
            </a:r>
          </a:p>
          <a:p>
            <a:r>
              <a:t>Fachkompetenz-Liste vorlesen und verankern: Das ist das Programm der Einarbeitung – nicht der Auswahl.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Quelle: Schmidt &amp; Hunter (1998) – Meta-Analyse aus 85 Jahren Selektionsforschung, über 19.000 Validitätsstudien. Die Tabelle braucht kein langes Theoriereden – die Zahlen sprechen.</a:t>
            </a:r>
          </a:p>
          <a:p>
            <a:r>
              <a:t>Reflexionsfragen im Plenum: 'Wie haben Sie Ihr letztes Gespräch geführt – eher strukturiert oder eher nach Gespür?' Und: 'Was passiert, wenn nach einem sehr schwachen Kandidaten ein mittelmäßiger folgt?' (Kontrasteffekt einführen.)</a:t>
            </a:r>
          </a:p>
          <a:p>
            <a:r>
              <a:t>Häufige TN-Reaktion auf r = 0,38 unstrukturiert: 'Das ist doch auch gut!' Reaktion des Trainers: 'Das bedeutet, dass diese Methode in ca. 62 % der Fälle nicht richtig liegt. Als einzige Grundlage für eine Entscheidung, die das 1–2-fache eines Jahresgehalts kostet?'</a:t>
            </a:r>
          </a:p>
          <a:p>
            <a:r>
              <a:t>Vier kognitive Verzerrungen benennen: Halo-Effekt, Ähnlichkeitsverzerrung (similar-to-me), Kontrasteffekt, Bestätigungsfehler. Campion et al. (1997): entstehen systematisch in wenig strukturierten Situationen – unabhängig von Erfahrung.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STAR-Formulierungswerkstatt (10:00–10:35): Einzelarbeit 15 Min. – TN füllen AB-1 Schritte 1 und 2 aus: eigenes Anforderungsprofil für ihre Stelle, zwei Haltungskriterien + zwei STAR-Fragen + Bewertungsanker.</a:t>
            </a:r>
          </a:p>
          <a:p>
            <a:r>
              <a:t>Peer-Feedback in 2er-Paaren (15 Min.): Partner prüft STAR-Fragen anhand drei Selbstcheck-Kriterien (AGG-frei, gleicher Maßstab, Verhaltensbasis). Kein allgemeines 'ich würde das anders machen' – nur die drei Kriterien.</a:t>
            </a:r>
          </a:p>
          <a:p>
            <a:r>
              <a:t>Häufigstes Problem: hypothetische Fragen statt verhaltensbasierter. Trainer-Umformulierungssatz: 'Erzählen Sie mir von einem Moment, in dem das tatsächlich so war – nicht was Sie generell tun würden.'</a:t>
            </a:r>
          </a:p>
          <a:p>
            <a:r>
              <a:t>Kurze Plenumsrunde (5 Min.): Welche Frage hat den Peer-Check am stärksten herausgefordert – und warum?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Beispiel-STAR-Fragen aus Sec 4 zeigen – nicht als Muster zum Kopieren, sondern als Struktur-Demonstration.</a:t>
            </a:r>
          </a:p>
          <a:p>
            <a:r>
              <a:t>Nachfrage-Regel: Wenn nach zweitem Nachfragen kein konkretes Beispiel kommt, ist das ein diagnostisches Signal: Verhalten liegt entweder nicht vor oder geringe Reflexionsfähigkeit. Beides ist relevant für Haltungsbewertung.</a:t>
            </a:r>
          </a:p>
          <a:p>
            <a:r>
              <a:t>Moderation (HB Sec 3): Ziel der Phase: TN haben am Ende mindestens zwei einsatzreife STAR-Fragen mit Bewertungsankern in der Hand – keine Muster aus dem Modul, sondern eigene Fragen für die eigene Stelle. Peer-Feedback moderieren: Trainer gibt dem Peer-Feedbackformat eine klare Struktur: Der Prüfer nutzt ausschließlich die drei Selbstcheck-Kriterien aus AB-1. Keine allgemeine Kritik, kein „ich würde das anders formulieren". Die Frage lautet: Erfüllt diese STAR-Frage das Kriterium – ja oder nein, und warum? Häufiges Problem: TN formulieren hypothetische Fragen statt verhaltensbasierter. Beispiel: „Was würden Sie tun, wenn ein Kunde unzufrieden ist?" – keine STAR-Frage. Trainer interveniert mit dem Umformulierungssatz: „Erzählen Sie mir von einem Moment, in dem ein Kunde tatsächlich unzufrieden war – was war die Situation?"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§ 22 AGG: Beweislastumkehr. Eine einzige unzulässige Frage genügt – dann muss die Bank nachweisen, dass das Merkmal nicht ausschlaggebend war. In der Praxis kaum zu führen.</a:t>
            </a:r>
          </a:p>
          <a:p>
            <a:r>
              <a:t>Interaktive Übung (5 Min.): Trainer liest 5 Fragen vor – TN zeigen Handzeichen zulässig / unzulässig / Grenzfall. Grenzfall-Frage: 'Haben Sie einen Führerschein?' – nur zulässig wenn Stelle nachweislich Fahrtätigkeit erfordert.</a:t>
            </a:r>
          </a:p>
          <a:p>
            <a:r>
              <a:t>§ 99 BetrVG: Betriebsrat vor Einstellungszusage einschalten, nicht danach. Häufigste Falle: mündliche Zusage an Bewerber, bevor BR zugestimmt hat. Lösung: 'Wir haben eine klare Tendenz und melden uns verbindlich bis [Datum]; formal steht noch ein interner Schritt aus.'</a:t>
            </a:r>
          </a:p>
          <a:p>
            <a:r>
              <a:t>DSGVO: Unterlagen nur an direkt Beteiligte, 6-Monats-Aufbewahrungsfrist, keine privaten Geräte, keine Sympathie-Notizen außerhalb Eignungsbewertung.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Transferaufgaben kurz einführen (5 Min.): 1) Anforderungsprofil schriftlich anlegen und mit HR-Kollegin spiegeln; 2) STAR-Fragen-Bank mit fünf Fragen aufbauen; 3) nach nächstem Gespräch Selbstreflexion (15 Min., schriftlich) + Bericht beim nächsten Führungsworkshop.</a:t>
            </a:r>
          </a:p>
          <a:p>
            <a:r>
              <a:t>Transferkarten A6: TN notieren 'Was tue ich konkret in den nächsten 14 Tagen?' und 'Was berichte ich beim nächsten Workshop?' – TN nehmen Karte mit.</a:t>
            </a:r>
          </a:p>
          <a:p>
            <a:r>
              <a:t>Abschlussrunde: jede/r einen Satz. Frage des Trainers offenlassen: 'Was verändert sich in Ihrer nächsten Auswahlentscheidung – konkret?'</a:t>
            </a:r>
          </a:p>
          <a:p>
            <a:r>
              <a:t>Selbstcheck (Sec 5): in Stille ausfüllen, ca. 3 Min., bevor Feedbackbogen.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Team zusammenstellen: Einstellen für die Haltung, entwickeln für die Rolle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Wie eine kriteriengeleitete, rechtssichere Personalauswahl die folgenreichste Führungsentscheidung zur Stärke macht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Fehlbesetzung kostet mehr als jedes spätere Entwicklungsgespräch.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TL11 beginnt mit diesem Befund und arbeitet sich von ihm aus zu einer konkreten Auswahlkompetenz vor: Führungscoachs erarbeiten ein Anforderungsprofil, das Haltung und Fachkompetenz klar trennt, lernen mit der STAR-Methode verhaltensbasiert zu interviewen und analysieren an zwei realistischen Bewerberprofilen, wie sich das Prinzip 'Einstellen für die Haltung, entwickeln für die Rolle' in einer echten Entscheidungssituation bewährt.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Ergänzt durch den unerlässlichen rechtlichen Rahmen: AGG, Betriebsratsbeteiligung und DSGVO-Datenschutz.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Ergebnis ist kein Bewerbungsgespräch nach Gefühl, sondern eine begründete, kriteriengeleitete Auswahlentscheidung.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anforderungsbasiertes Auswahlprofil für eine Firmenkundenberater-Stelle erarbeiten, das Haltungs- und Werte-Kriterien explizit von fachlichen Anforderungen trennt, und dieses Profil als Bewertungsgrundlage für das strukturierte Interview einsetzen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Validität gängiger Auswahlmethoden – strukturiertes vs. unstrukturiertes Interview, Referenzen, Bauchgefühl – anhand empirischer Befunde analysieren und daraus ableiten, warum strukturierte Interviews und verhaltensbasierte Fragen (STAR-Methode) in der Personalauswahl systematisch überlegen sind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Verhaltensbasierte STAR-Interviewfragen für die Dimensionen Beziehungsorientierung, Lernbereitschaft und Verlässlichkeit formulieren und an zwei Bewerberprofilen anwenden, um haltungsstarke Kandidaten von fachlich starken, aber haltungsfernen Kandidaten zu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rechtlichen Rahmen einer Auswahlentscheidung (AGG-konforme Frageführung, Betriebsrats-Mitbestimmung gem. § 99 BetrVG, DSGVO-konformer Umgang mit Bewerberdaten) auf eine konkrete Auswahlsituation anwenden und unzulässige Interviewfragen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1: Warum die Auswahlentscheidung die folgenreichste ist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2: Haltung vs. Fähigkeit – was ist entwicklungsschwer?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3: Validität von Auswahlmethoden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STAR-Formulierungswerkstatt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Fallanalyse: Katharina F. vs. Maximilian 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4: Rechtssicherheit (AGG, § 99 BetrVG, DSGVO)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 Auswahlentscheidung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Die Auswahlentscheidung ist die folgenreichste Führungsentscheidung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Nicht das zehnte Entwicklungsgespräch – sondern das erste Einstellungsgespräch entscheidet.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Eine Fehlbesetzung kostet mehr als jedes spätere Entwicklungsgespräch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Direkte Kosten: 0,5–2-faches Jahresgehalt (Berthel &amp; Becker, 2022).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Indirekte Kosten: Teamdynamik, Kundenvertrauen, Führungszeit.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Hebelwirkung: Gute Auswahl spart Dutzende Entwicklungsgespräche.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Schlechte Auswahl macht Entwicklungsgespräche strukturell überfordert.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entwickelbar ist – und was nicht – entscheidet sich bei der Einstellung.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1: HALTUNG UND FACHKOMPETENZ TRENNEN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Hire for the Soul, Train for the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Verstehen, warum Haltung bei der Einstellung da sein muss – und Fachkompetenz danach entwickelbar 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Nicht beides ist gleichwertig entwickelbar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Haltungskriterien, die sich nicht trainieren lassen – wohl aber prüfen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Beziehungsorientierung: Interesse an Menschen, nicht an Abschlüssen.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Integrität: Transparenz auch dann, wenn sie kurzfristig Geschäft kostet.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Lernbereitschaft: Offenheit, dass die eigene Einschätzung falsch liegt.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Verlässlichkeit: Zusagen gelten – nicht unter Vorbehalt.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danach trainierbar ist: Bilanzanalyse, Produktwissen, agree-Nutzung.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2: VALIDITÄT VON AUSWAHLMETHODEN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Was wirklich vorhersagt – und was nicht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Empirische Grundlage für die Überlegenheit strukturierter Interviews verstehen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Bauchgefühl ist ein Prädiktor – aber der schwächste in dieser Tabelle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Auswahlmethode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Strukturiertes Interview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Kognitive Fähigkeitstests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Arbeitsproben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Unstrukturiertes Interview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Referenzen / Empfehlungsschreiben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 Berufserfahrung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3 + STAR-FORMULIERUNGSWERKSTATT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Die STAR-Methode: Haltung an vergangenem Verhalten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STAR-Prinzip verstehen und eigene Fragen mit Bewertungsankern formulieren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Vergangenes Verhalten ist der beste Prädiktor für zukünftiges Verhalten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 – Situation: Wann, wo, mit wem konkret?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 – Task: Welche Aufgabe / Herausforderung stand im Mittelpunkt?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 – Action: Was haben Sie getan – Sie persönlich, nicht 'wir'?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 – Result: Was war das Ergebnis? Was haben Sie gelernt?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Warnsignal: Keine konkrete Situation, Wir-Formulierungen, stets perfektes Ergebnis.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STAR-Fragen für drei Haltungsdimensionen im FK-Kontext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Beziehungsorientierung: Schwieriger Kunde – was haben Sie konkret getan?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Verlässlichkeit: Zusage nicht eingehalten – was ist passiert?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Lernbereitschaft: Feedback, das Sie zuerst abgelehnt haben – was hat sich verändert?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Nachfragen: maximal zweimal – bleibt Kandidat abstrakt, ist das selbst Information.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Bewertungsanker vorab definieren – nicht nach dem Gespräch rekonstruieren.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FALLANALYSE (10:35–11:05)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Katharina F. vs. Maximilian S. – und die institutionelle Spannung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Kriteriengeleitete Bewertung anwenden – und gegen Halo-Effekt und Erwartungsdruck standhalten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4: AGG / § 99 BETRVG / DSGVO (11:05–11:20)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Rechtssicherheit: Was der Teamleiter wissen muss – nicht was der Jurist weiß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Handlungsanker kennen – und wissen, wann HR einzuschalten 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AGG: Diese Fragen kosten die Beweislastumkehr – und die gibt es schon bei einer Frage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Fragethema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„Haben Sie Kinder / planen Sie welche?“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„Welcher Religion gehören Sie an?“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„Wie alt sind Sie genau?“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„Haben Sie eine Behinderung?“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„Wo sind Ihre Eltern geboren?“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TRANSFER &amp; ABSCHLUSS (12:10–12:25)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Train for the Role – Onboarding als Gegenleistung für die Einstellungsentscheidung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verankern – und das Modul-Prinzip vollständig 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für die Haltung einstellt, schuldet der Person den Fach-Aufbau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Einarbeitungsplan: Fachkompetenz-Meilensteine nach 4 / 12 / 26 Wochen.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Lücken aus dem Anforderungsprofil sind das Programm – kein Zufall.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Pate/Mentor benennen; erste Feedbackgespräche terminieren (Brücke zu TL06).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Haltungsstarker Kandidat hat einen Anspruch auf fachliche Entwicklung.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Einarbeitungsplan ist die Gegenleistung für 'Hire for the Soul.'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