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M06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KMU-Kompetenz Grundlagen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Branchenwissen für den Firmenkundenberater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90–120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Schwellenwerte der IfM-Bonn- und EU-KMU-Definition korrekt nennen und aufzählen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Volkswirtschaftliche Bedeutung von KMU in Deutschland erläutern und Hausbank-Beziehung erklären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Typische Finanzierungsmuster, EK-Strukturen und Risikofelder von KMU beschreiben und abgrenzen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Einen KMU-Kunden anhand des strukturierten 5-Fragen-Schemas einordnen und Branchencharakteristika zuordnen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4.1 Theorie-Input 1: Was ist ein KMU? Definitionen, Typologien und volkswirtschaftliche Bedeutung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4.1 Theorie-Input 1: Was ist ein KMU? Definitionen, Typologien und volkswirtschaftliche Bedeutung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Die zwei zentralen KMU-Definitionen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27214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Kategorie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Beschäftigte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Jahresumsatz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Kleine 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10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2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Mittlere Unternehmen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10–499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2–49,9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KMU gesamt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500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50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Kategorie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Beschäftigte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Jahresumsatz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Bilanzsumme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Kleinstunternehmen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10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≤ 2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≤ 2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Kleinunternehmen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50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≤ 10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≤ 10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Mittleres 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250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≤ 50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≤ 43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Typ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Beispiele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Besonderheiten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Handwerk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Schreiner, Maler, Sanitär, Bäcker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Saisonale Schwankungen, Fachkräftemangel, geringe EK-Quoten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Produzierendes Gewerbe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Maschinenbau, Metallverarbeitung, Kunststoff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Hohe Anlageintensität, Export, Lieferkettenrisiken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Handel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Einzelhandel, Großhandel, Fachhandel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Lagerbindung, Working-Capital-intensiv, E-Commerce-Druck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7214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Dienstleistungen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IT, Logistik, Gebäudeservice, Tourismus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Humankapital-abhängig, skalierbar, wenig Sachsicherheiten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7215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Freie Berufe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Ärzte, Zahnärzte, Steuerberater, Rechtsanwälte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Zulassungsgebunden, Schlüsselperson = Inhaber, Nachfolge komplex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Die zwei zentralen KMU-Definitionen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In der deutschen Bankpraxis begegnen Berater zwei unterschiedlichen KMU-Definitionen, die für unterschiedliche Zwecke relevant sind.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Die IfM-Bonn-Definition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Das Institut für Mittelstandsforschung Bonn (IfM Bonn) definiert KMU quantitativ und qualitativ (IfM Bonn, 2024). Die Definition unterscheidet zwei Unternehmensgrößen: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(Es müssen Mitarbeiterzahl UND Umsatz die Schwellenwerte erfüllen; IfM Bonn, 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Entscheidend ist das qualitative Kriterium, das viele andere Definitionen nicht berücksichtigen: die Einheit von Eigentum und Leitung. Der Inhaber oder die Inhaberfamilie führt das Unternehmen selbst…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Die Europäische Kommission (2020) unterscheidet drei Unternehmensgrößen, die für EU-Förderprogramme und KfW-Finanzierungsprodukte unmittelbar relevant sind: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Volkswirtschaftliche Bedeutung von KMU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99,4 % aller deutschen Unternehmen sind KMU (IfM Bonn,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KMU erwirtschaften rund 55 % der Nettowertschöpfung (IfM Bonn,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Sie stellen ca. 60 % der sozialversicherungspflichtigen Arbeitsplätze (IfM Bonn, 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Sie bilden über 80 % aller Auszubildenden aus (IfM Bonn, 2024)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KMU-Typologien: Die fünf Grundkategorien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Nicht alle KMU sind gleich. Die Branchenzugehörigkeit prägt Finanzierungsstruktur, Risikoprofil und Gesprächsthemen so stark, dass Berater ohne Branchenwissen im Dialog schnell ihre Glaubwürdigkeit…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Fünf Grundtypen sind im VR-Kundenbestand dominant: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Das Hausbank-Prinzip: Vertrauen als Geschäftsmodell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KMU unterscheiden sich von Großunternehmen fundamental in ihrer Bankbeziehung. Während ein DAX-Konzern mit 20+ Banken in einem Konsortium arbeitet, hat ein typisches KMU 1–2 Bankverbindungen – und…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Das Hausbank-Prinzip basiert auf: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1. Informationsvorsprung: Die Hausbank kennt den Kunden über Jahre, oft über Generationen. Sie hat Zugang zu Umsatzdaten, Zahlungsverhalten und Businesszyklen, die externe Banken nicht sehen. 2.…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Roland Berger (2024) zeigt, dass 78 % der KMU ihre Hauptbank als "strategischen Partner" bezeichnen – das schafft eine Kundenbindung, die allein über den Preis nicht zu erreichen ist. Gleichzeitig…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4.2 Theorie-Input 2: Finanzierungsmuster und typische Risikofelder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Finanzierungsstruktur: KMU vs. Großunternehmen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177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Programm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Zweck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Typische Konditionen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KfW-Unternehmerkredit (ERP 037/047)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Investitionen und Betriebsmittel ab 25 TEUR; für alle KMU und Mittelstand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Zinsgünstig, bis 25 Mio. EUR, variabel oder fest, Haftungsfreistellung möglich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KfW-Unternehmerkapital / ERP-Kapital für Gründung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Neugründung, Unternehmensnachfolge, Beteiligungsfinanzierung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Nachrangdarlehen mit Eigenkapitalwirkung; Laufzeit bis 15 Jahre; tilgungsfreie Anlaufjahre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L-Bank (Baden-Württemberg) / LfA (Bayern)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Länderspezifische Investitions- und Innovationsförderung; Energieeffizienz; Digitalisierung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Kombinierbar mit KfW-Programmen; oft günstigere Konditionen als Hausbank-Markt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Finanzierungsstruktur: KMU vs. Großunternehmen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Steuerliche Optimierung: KMU-Inhaber entnehmen Gewinne für den privaten Lebensunterhalt, statt sie im Betrieb zu thesaurieren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Verflechtung Privat/Betrieb: Privatliegenschaften des Inhabers erscheinen nicht in der Bilanz, sind aber reale Sicherheiten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Vorsichtige Bilanzpolitik: Viele KMU nutzen steuerliche Abschreibungsmöglichkeiten maximal – die Bilanz ist dadurch "schlechter" als die wirtschaftliche Realität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Die vier zentralen Risikofelder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Die Vertriebskompetenz (Kundenbeziehungen, die am Inhaber hängen)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Das operative Know-how (Spezialwissen, das nirgendwo dokumentiert ist)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Die Entscheidungsfähigkeit (wer unterschreibt Verträge, Kreditanträge?)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4.3 Theorie-Input 3: Einstieg in die Branchenanalyse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Das Grundprinzip: Zahlen brauchen Kontext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Nr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Ziel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"Wie würden Sie Ihr Kerngeschäft in einem Satz beschreiben?"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Geschäftsmodell, Positionierung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"Wer sind Ihre drei wichtigsten Kunden – wie viel Umsatz machen diese aus?"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Klumpenrisiko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"Was ist Ihre größte unternehmerische Herausforderung in den nächsten 12 Monaten?"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Forward-looking, Zukunftsplanung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"Wie finanzieren Sie Wachstum oder Investitionen typischerweise?"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Finanzierungskultur, Offenheit für Bankprodukte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"Was würde passieren, wenn Sie 6 Monate durch Krankheit oder Unfall ausfallen würden?"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Schlüsselpersonenrisiko, Absicherungsbedarf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Das Grundprinzip: Zahlen brauchen Kontext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Eine Eigenkapitalquote von 20 % sagt nichts, solange man nicht weiß, was in der jeweiligen Branche üblich ist. Der Handwerksbetrieb mit 20 % EK-Quote liegt damit möglicherweise über dem…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Das wichtigste kostenfreie Instrument für Branchenvergleiche ist die Unternehmensabschlussstatistik der Deutschen Bundesbank (Bundesbank, laufend). Sie liefert für nahezu alle Wirtschaftszweige (nach…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Praxistipp: Die WZ-Klassifikation (Wirtschaftszweigklassifikation des Statistischen Bundesamts) ist das Navigationssystem. Ein Schreiner mit Möbelschwerpunkt ist WZ 31.09 (Herstellung sonstiger…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Vier Branchenprofile für den Beratungsalltag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Eigenkapitalquote: Ø 18–24 % (niedriger als Industrie, weil arbeitsintensiv und wenig Anlageintensität)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Finanzierungsbedarf: Kontokorrentlinie für saisonale Spitzen und Materialvorfinanzierung, Investitionskredite für Fahrzeuge, Maschinen und Werkzeuge, gelegentlich Betriebsgebäude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Typische Risiken: Fachkräftemangel, Materialkostenvolatilität (Holz, Stahl, Kupfer), Auftragsschwankungen durch Baukonjunktur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Was frage ich als Berater: "Wie gut sind Sie mit Aufträgen ausgelastet – haben Sie eine Warteliste?" / "Haben Sie genug qualifiziertes Personal, um Ihre Aufträge abzuarbeiten?"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Eigenkapitalquote: Ø 28–35 % (höher, weil hoher Anlagevermögensanteil)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Finanzierungsbedarf: Investitionskredite für Maschinen und Anlagen (oft langfristig, 7–15 Jahre), Exportfinanzierung, Anzahlungsfinanzierung bei Großaufträgen, Betriebsmittelkredite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Das 5-Fragen-Schema: Strukturierter Analyseeinstieg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Für das Erstgespräch mit einem KMU-Kunden – oder für die Vorbereitung eines Bestandskundentermins – hat sich ein schlankes 5-Fragen-Schema bewährt. Es deckt die wichtigsten Informationsdimensionen…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&gt; Gesprächshilfe für Frage 3 bei Bestandskunden: Bei Kunden, die seit Jahren in der Bank sind, kommt auf Frage 3 oft eine reflexartige Antwort – „Ach, läuft ganz gut." Bewährte…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Diese fünf Fragen sind keine Checkliste zum Abarbeiten, sondern ein Gesprächseinstieg, der dem Kunden signalisiert: Dieser Berater denkt mit, statt nur Formulare auszufüllen. Die Fragearchitektur…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4.4 Praxiscase: Bergmann Holzmanufaktur GmbH &amp; Co. 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Unternehmensporträt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Wert 2025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Branchenwert*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21 %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Ø 18–24 %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Jahresumsatz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1,8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–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Beschäftigte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8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–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Umsatzrendite (vor Steuern)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5,2 %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Ø 4–7 %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Fremdkapitalquote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79 %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Ø 76–82 %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Unternehmensporträt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Die Bergmann Holzmanufaktur GmbH &amp; Co. KG, Ravensburg, ist seit 5 Jahren Kundin der VR-Bank Bodensee-Oberschwaben eG. Das Unternehmen wurde vor 28 Jahren von Josef Bergmann gegründet; seit 2020 führt…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Die Kundin kommt für ein Beratungsgespräch, weil sie eine neue CNC-Fräsmaschine anschaffen möchte (Investitionsvolumen: ca. 120.000 EUR). Sie fragt nach einem Investitionskredit. Aus der Kreditakte:…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Finanzdaten (fiktiv, plausibel für Holzhandwerk)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*Branchenwerte Holzgewerbe / Tischlerhandwerk, Quelle: Deutsche Bundesbank, Unternehmensabschlussstatistik (Bundesbank, laufend)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Aufgaben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Aufgabe 1 – Klassifizierung (LZ-1): Prüfen Sie: Handelt es sich bei Bergmann Holzmanufaktur um ein KMU nach IfM-Bonn-Definition? Um welche Kategorie handelt es sich nach EU-Definition…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Aufgabe 2 – Typologisierung und Risikofelder (LZ-2/LZ-3): Welchem der fünf Branchenprofile (A–E) entspricht Bergmann Holzmanufaktur am ehesten? Welche typischen Risikofelder sind für diesen Betrieb…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Aufgabe 3 – 5-Fragen-Schema anwenden (LZ-4): Formulieren Sie die 5 Einstiegsfragen für das Gespräch mit Sabine Bergmann konkret auf diesen Betrieb zugeschnitten (nicht die generischen Musterfragen,…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Aufgabe 4 – Kreditvorbereitung: KK-Analyse (LZ-3): Die Kontokorrentlinie von Bergmann Holzmanufaktur ist aktuell zu 71 % ausgeschöpft (56.800 EUR von 80.000 EUR). Die Kundin beantragt zusätzlich…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4.5 Reflexionsfragen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1. Verstehen (Bloom 2): Warum ist die Inhaberabhängigkeit bei einem Handwerksbetrieb mit 8 Mitarbeitern ein strukturell höheres Risiko als bei einem Produktionsbetrieb mit 80 Mitarbeitern – was…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2. Anwenden (Bloom 3): Ein Kunde sagt Ihnen: "Wir sind kein KMU, wir sind ein mittelständisches Unternehmen." Wie reagieren Sie – was ist der begriffliche Unterschied, und was sagt das über die…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3. Anwenden (Bloom 3): Bergmann Holzmanufaktur hat eine EK-Quote von 21 % – genau im Branchenmittel. Ein Kollege sagt: "Das ist unauffällig, kein Handlungsbedarf." Welche Informationen fehlen für…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5.1 Transferaufgabe (4 Wochen)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5.1 Transferaufgabe (4 Wochen)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Auftrag: Erstellen Sie in den nächsten 4 Wochen für 2 Ihrer bestehenden Firmenkunden ein strukturiertes KMU-Profil nach folgendem Schema. Ziel: Blinde Flecken aufdecken und Beratungsansätze ableiten.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29307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Kunde A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Kunde B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agree/VR-NetWorld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Name / Branche (anonymisiert)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Adressstamm – Branche (WZ-Code)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Klassifizierung: IfM / EU-Kategorie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Adressbemerkung Kreditrisiko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Branchentyp (A/B/C/D/E oder andere)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Adressbemerkung Kreditrisiko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Bundesbank-WZ-Klassifikation (z.B. 16.29, 43.32)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Adressstamm – Branche (WZ-Code)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 (aus letztem Abschluss)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Wirtschaftliche Unterlagen (§ 18 KWG)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Vergleich mit Branchenwert (Bundesbank)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Kreditanalyse / Ratingbegründung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Anteil der 3 größten Kunden am Umsatz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Adressbemerkung Kreditrisiko (Klumpen)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Schlüsselpersonenrisiko: Vertreter?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Verbundkontakt R+V (Wiedervorlage)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Nachfolgeplanung bekannt / thematisiert?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Wiedervorlage 12 Monate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KfW-Förderprodukte bisher genutzt?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Jahresgespräch-Funktion „Fördermittelcheck"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Lieferantenkonzentrationsrisiko?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Adressbemerkung Kreditrisiko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Offene Beratungsfrage für nächstes Gespräch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Gesprächsnotiz / Wiedervorlage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Bewerten Sie sich selbst auf einer Skala von 1 (trifft nicht zu) bis 5 (trifft voll zu):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8914"/>
                <a:gridCol w="928914"/>
                <a:gridCol w="928914"/>
                <a:gridCol w="928914"/>
                <a:gridCol w="928914"/>
                <a:gridCol w="928914"/>
                <a:gridCol w="928916"/>
              </a:tblGrid>
              <a:tr h="346363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5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Notiz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kann KMU nach IfM und EU-Definition sofort korrekt einordnen.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kenne die Branchenprofile Handwerk, Industrie, Handel und Freie Berufe und ihre typischen Finanzierungsmuster.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nutze die Bundesbank-Unternehmensabschlussstatistik aktiv für Branchenvergleiche.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frage bei Kunden systematisch nach dem Klumpenrisiko (Abhängigkeit von wenigen Kunden).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das Schlüsselpersonenrisiko mit mindestens einem Kunden thematisiert.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einen R+V-Beratungsansatz aus dem Schlüsselpersonenthema entwickelt.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das 5-Fragen-Schema in einem echten Kundengespräch angewendet.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fühle mich sicher dabei, einen unbekannten Betrieb einem Branchentyp zuzuordnen.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4636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erkenne, welche meiner Kunden ein erhöhtes Nachfolgerisiko haben.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4637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die Ergebnisse meines KMU-Profils in agree/VR-NetWorld dokumentiert.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5.3 Empfohlene Vertiefungsliteratur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Roland Berger (2024): KMU-Banking – Firmenkundenberater im Wandel; aktuelle Marktperspektive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Krecek (2019): Kreditwürdigkeitsprüfung mittelständischer Unternehmen, Kap. 1–2 (Grundlagen KMU-Analyse)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IfM Bonn: Aktuelle KMU-Zahlen, Definitionen und Studien – kostenfrei unter www.ifm-bonn.org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Deutsche Bundesbank: Unternehmensabschlussstatistik mit Branchenkennwerten – kostenfrei unter bundesbank.de/statistiken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KfW-Mittelstandspanel: Jährliche Befragung, aktuelle Finanzierungsthemen – kostenfrei unter kfw.de/research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Anderson, L.W. &amp; Krathwohl, D.R. (Hrsg.). (2001). A Taxonomy for Learning, Teaching, and Assessing: A Revision of Bloom's Taxonomy of Educational Objectives. Addison Wesley Longman.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Dreyfus, H.L. &amp; Dreyfus, S.E. (1986). Mind over Machine: The Power of Human Intuition and Expertise in the Era of the Computer. Free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Krecek, T. (2019). Kreditwürdigkeitsprüfung mittelständischer Unternehmen: Bilanzanalyse und Rating durch Kreditinstitute (5. Aufl.). Erich Schmidt Verlag.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Naujoks, W. &amp; Kaminsky, K.-H. (2014). Bonitätsanalyse im Firmenkundengeschäft: Rating – Jahresabschlussanalyse – Kapitalbedarfsermittlung. Schäffer-Poeschel.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Roland Berger. (2024). KMU-Banking: Firmenkundenberater 2.0. Roland Berger GmbH.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Berger, A.N. &amp; Udell, G.F. (1995). Relationship lending and lines of credit in small firm finance. Journal of Business, 68(3), 351–381.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46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Petersen, M.A. &amp; Rajan, R.G. (1994). The benefits of lending relationships: Evidence from small business data. Journal of Finance, 49(1), 3–37.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Deutsche Bundesbank. (laufend). Unternehmensabschlussstatistik: Kennzahlen und Branchendurchschnitte. Abgerufen von https://www.bundesbank.de/de/statistiken/unternehmen-und-private-haushalte/unternehmensabschluesse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Europäische Kommission. (2020). User guide to the SME Definition (Revised edition). Publications Office of the European Union. https://doi.org/10.2873/363204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IfM Bonn. (2024). KMU-Definition des IfM Bonn. Institut für Mittelstandsforschung Bonn. Abgerufen von https://www.ifm-bonn.org/definitionen/kmu-definition-des-ifm-bonn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KfW Research. (laufend). KfW-Mittelstandspanel: Unternehmensbefragung mittelständischer Unternehmen. KfW Bankengruppe. Abgerufen von https://www.kfw.de/KfW-Konzern/KfW-Research/KfW-Mittelstandspanel.html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KERN-Phase abgeschlossen. Fehlende Sektionen für Folgesession: Sec 2 (Wissenschaftliche Einordnung), Sec 3 (Trainerhandbuch), Sec 6 (Evaluation).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«KMU-Kompetenz Grundlagen» ist auf FKB Campus verfügbar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M06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