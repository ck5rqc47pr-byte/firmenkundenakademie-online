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Branchenwissen für den Firmenkundenberater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Schwellenwerte der IfM-Bonn- und EU-KMU-Definition korrekt nennen und aufzählen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Volkswirtschaftliche Bedeutung von KMU in Deutschland erläutern und Hausbank-Beziehung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Finanzierungsmuster, EK-Strukturen und Risikofelder von KMU beschreiben und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KMU-Kunden anhand des strukturierten 5-Fragen-Schemas einordnen und Branchencharakteristika zuordnen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Was ist ein KMU? Definitionen, Typologien und volkswirtschaftliche Bedeutung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ZENTRALEN KMU-DEFINITIONEN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deutschen Bankpraxis begegnen Berater zwei unterschiedlichen KMU-Definitionen, die für unterschiedliche Zwecke relevant sind.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IfM-Bonn-Definition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Institut für Mittelstandsforschung Bonn (IfM Bonn) definiert KMU quantitativ und qualitativ (IfM Bonn, 2024 ). Die Definition unterscheidet zwei Unternehmensgrößen: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(Es müssen Mitarbeiterzahl UND Umsatz die Schwellenwerte erfüllen; IfM Bonn, 2024 )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EU-Definition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Europäische Kommission (2020 ) unterscheidet drei Unternehmensgrößen, die für EU-Förderprogramme und KfW-Finanzierungsprodukte unmittelbar relevant sind: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müssen Mitarbeiterzahl UND (Umsatz ODER Bilanzsumme) die jeweiligen Schwellenwerte erfüllen (Europäische Kommission, 2020 ).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Praktische Relevanz der Unterscheidung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Unternehmensgruppen und verbundene Unternehmen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VOLKSWIRTSCHAFTLICHE BEDEUTUNG VON KMU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sind kein Randphänomen, sondern das Fundament der deutschen Wirtschaftsstruktur: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KMU-Definitionen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Finanzierungsmuster und typische Risikofelder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FINANZIERUNGSSTRUKTUR: KMU VS. GROSSUNTERNEHMEN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Finanzierungsstruktur von KMU unterscheidet sich strukturell von der großer Unternehmen. Diese Unterschiede zu kennen, ist die Grundlage jeder fundierten Kreditanalyse.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Eigenkapitalquoten: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Vorsichtige Bilanzpolitik: Viele KMU nutzen steuerliche Abschreibungsmöglichkeiten maximal – die Bilanz ist dadurch "schlechter" als die wirtschaftliche Realität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Finanzierungsquellen: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KMU finanzieren sich typischerweise durch drei Hauptquellen: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Innenfinanzierung (Thesaurierung): Gewinne verbleiben im Unternehmen – bei inhabergeführten Betrieben stark limitiert durch private Entnahmen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Bankkredite (Außenfinanzierung): Investitionskredite, Kontokorrentlinien, Avale – dominante Finanzierungsform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Öffentliche Förderprogramme: KfW-Unternehmenskredit, ERP-Kapital für Gründung, Landesförderprogramme – häufig günstiger als Hausbankkonditionen, oft nicht ausgeschöpft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drei meistgenutzten Förderprogramme in der süddeutschen VR-Praxis: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Einstieg in die Branchenanalyse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GRUNDPRINZIP: ZAHLEN BRAUCHEN KONTEXT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VIER BRANCHENPROFILE FÜR DEN BERATUNGSALLTAG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A – Handwerk (z.B. Schreiner, Maler, Sanitär, Bäcker)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Handwerk ist der typischste KMU-Sektor im süddeutschen VR-Kundenbestand. Charakteristisch: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Branchenprofil B – Produzierendes Gewerbe / Maschinenbau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Ø 28–35 % (höher, weil hoher Anlagevermögensanteil)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Finanzierungsbedarf: Investitionskredite für Maschinen und Anlagen (oft langfristig, 7–15 Jahre), Exportfinanzierung, Anzahlungsfinanzierung bei Großaufträgen, Betriebsmittelkredite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Exportabhängigkeit (Wechselkurs, geopolitische Risiken), Energiekostenentwicklung, Lieferkettenstörungen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Fünf-Fragen-Schema für den KMU-Beratungseinstieg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Bergmann Holzmanufaktur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FINANZDATEN (FIKTIV, PLAUSIBEL FÜR HOLZHANDWERK)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*Branchenwerte Holzgewerbe / Tischlerhandwerk, Quelle: Deutsche Bundesbank, Unternehmensabschlussstatistik (Bundesbank, laufend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1 – Klassifizierung (LZ-1):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2 – Typologisierung und Risikofelder (LZ-2/LZ-3):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3 – 5-Fragen-Schema anwenden (LZ-4):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Aufgabe 4 – Kreditvorbereitung: KK-Analyse (LZ-3):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Verstehen (Bloom 2): Warum ist die Inhaberabhängigkeit bei einem Handwerksbetrieb mit 8 Mitarbeitern ein strukturell höheres Risiko als bei einem Produktionsbetrieb mit 80 Mitarbeitern – was verändert sich mit zunehmender Betriebsgröße strukturell?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Ein Kunde sagt Ihnen: "Wir sind kein KMU, wir sind ein mittelständisches Unternehmen." Wie reagieren Sie – was ist der begriffliche Unterschied, und was sagt das über die Selbstwahrnehmung des Inhabers?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Anwenden (Bloom 3): Bergmann Holzmanufaktur hat eine EK-Quote von 21 % – genau im Branchenmittel. Ein Kollege sagt: "Das ist unauffällig, kein Handlungsbedarf." Welche Informationen fehlen für eine vollständige Einschätzung? Was würden Sie als nächstes klären?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