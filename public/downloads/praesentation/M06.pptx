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M06  ·  K-02 Branchenwissen  ·  Berater  ·  90–120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KMU-Kompetenz Grundlagen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6F0"/>
                </a:solidFill>
                <a:latin typeface="Arial"/>
              </a:rPr>
              <a:t>Branchenwissen für den Firmenkundenberater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AACC"/>
                </a:solidFill>
                <a:latin typeface="Arial"/>
              </a:rPr>
              <a:t>Trainer-Präsentation  ·  v0.4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Schwellenwerte der IfM-Bonn- und EU-KMU-Definition korrekt nennen und aufzählen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Volkswirtschaftliche Bedeutung von KMU in Deutschland erläutern und Hausbank-Beziehung erklären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Typische Finanzierungsmuster, EK-Strukturen und Risikofelder von KMU beschreiben und abgrenzen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Einen KMU-Kunden anhand des strukturierten 5-Fragen-Schemas einordnen und Branchencharakteristika zuordnen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Die zwei zentralen KMU-Definitionen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In der deutschen Bankpraxis begegnen Berater zwei unterschiedlichen KMU-Definitionen, die für unterschiedliche Zwecke…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IfM-Bonn-Definition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Das Institut für Mittelstandsforschung Bonn (IfM Bonn) definiert KMU quantitativ und qualitativ (IfM Bonn, 2024). Die…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(Es müssen Mitarbeiterzahl UND Umsatz die Schwellenwerte erfüllen; IfM Bonn, 2024)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Entscheidend ist das qualitative Kriterium, das viele andere Definitionen nicht berücksichtigen: die Einheit von…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EU-Definition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Volkswirtschaftliche Bedeutung von KMU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99,4 % aller deutschen Unternehmen sind KMU (IfM Bonn, 2024)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KMU erwirtschaften rund 55 % der Nettowertschöpfung (IfM Bonn, 2024)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Sie stellen ca. 60 % der sozialversicherungspflichtigen Arbeitsplätze (IfM Bonn, 2024)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Sie bilden über 80 % aller Auszubildenden aus (IfM Bonn, 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KMU-Typologien: Die fünf Grundkategorien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Nicht alle KMU sind gleich. Die Branchenzugehörigkeit prägt Finanzierungsstruktur, Risikoprofil und Gesprächsthemen so…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Fünf Grundtypen sind im VR-Kundenbestand dominant: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Das Hausbank-Prinzip: Vertrauen als Geschäftsmodell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KMU unterscheiden sich von Großunternehmen fundamental in ihrer Bankbeziehung. Während ein DAX-Konzern mit 20+ Banken…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Das Hausbank-Prinzip basiert auf: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1. Informationsvorsprung: Die Hausbank kennt den Kunden über Jahre, oft über Generationen. Sie hat Zugang zu…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Roland Berger (2024) zeigt, dass 78 % der KMU ihre Hauptbank als "strategischen Partner" bezeichnen – das schafft eine…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Finanzierungsstruktur: KMU vs. Großunternehmen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Steuerliche Optimierung: KMU-Inhaber entnehmen Gewinne für den privaten Lebensunterhalt, statt sie im Betrieb zu thesaurieren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Verflechtung Privat/Betrieb: Privatliegenschaften des Inhabers erscheinen nicht in der Bilanz, sind aber reale Sicherheiten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Vorsichtige Bilanzpolitik: Viele KMU nutzen steuerliche Abschreibungsmöglichkeiten maximal – die Bilanz ist dadurch "schlechter" als die wirtschaftliche Realität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Die vier zentralen Risikofelder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Vertriebskompetenz (Kundenbeziehungen, die am Inhaber hängen)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Das operative Know-how (Spezialwissen, das nirgendwo dokumentiert ist)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Entscheidungsfähigkeit (wer unterschreibt Verträge, Kreditanträge?)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Das Grundprinzip: Zahlen brauchen Kontext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Eine Eigenkapitalquote von 20 % sagt nichts, solange man nicht weiß, was in der jeweiligen Branche üblich ist. Der…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Das wichtigste kostenfreie Instrument für Branchenvergleiche ist die Unternehmensabschlussstatistik der Deutschen…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Praxistipp: Die WZ-Klassifikation (Wirtschaftszweigklassifikation des Statistischen Bundesamts) ist das…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Vier Branchenprofile für den Beratungsalltag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Eigenkapitalquote: Ø 18–24 % (niedriger als Industrie, weil arbeitsintensiv und wenig Anlageintensität)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Finanzierungsbedarf: Kontokorrentlinie für saisonale Spitzen und Materialvorfinanzierung, Investitionskredite für Fahrzeuge, Maschinen und Werkzeuge, gelegentlich Betriebsgebäude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Typische Risiken: Fachkräftemangel, Materialkostenvolatilität (Holz, Stahl, Kupfer), Auftragsschwankungen durch Baukonjunktur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Was frage ich als Berater: "Wie gut sind Sie mit Aufträgen ausgelastet – haben Sie eine Warteliste?" / "Haben Sie genug qualifiziertes Personal, um Ihre Aufträge abzuarbeiten?"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Eigenkapitalquote: Ø 28–35 % (höher, weil hoher Anlagevermögensanteil)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Finanzierungsbedarf: Investitionskredite für Maschinen und Anlagen (oft langfristig, 7–15 Jahre), Exportfinanzierung, Anzahlungsfinanzierung bei Großaufträgen, Betriebsmittelkredite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Das 5-Fragen-Schema: Strukturierter Analyseeinstieg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Für das Erstgespräch mit einem KMU-Kunden – oder für die Vorbereitung eines Bestandskundentermins – hat sich ein…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Gesprächshilfe für Frage 3 bei Bestandskunden: Bei Kunden, die seit Jahren in der Bank sind, kommt auf Frage 3 oft eine…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Diese fünf Fragen sind keine Checkliste zum Abarbeiten, sondern ein Gesprächseinstieg, der dem Kunden signalisiert:…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Unternehmensporträt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Bergmann Holzmanufaktur GmbH &amp; Co. KG, Ravensburg, ist seit 5 Jahren Kundin der VR-Bank Bodensee-Oberschwaben eG.…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Die Kundin kommt für ein Beratungsgespräch, weil sie eine neue CNC-Fräsmaschine anschaffen möchte (Investitionsvolumen:…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Finanzdaten (fiktiv, plausibel für Holzhandwerk)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*Branchenwerte Holzgewerbe / Tischlerhandwerk, Quelle: Deutsche Bundesbank, Unternehmensabschlussstatistik (Bundesbank,…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3DA5"/>
                </a:solidFill>
                <a:latin typeface="Arial"/>
              </a:rPr>
              <a:t>Aufgaben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Aufgabe 1 – Klassifizierung (LZ-1): Prüfen Sie: Handelt es sich bei Bergmann Holzmanufaktur um ein KMU nach IfM-Bonn-…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Aufgabe 2 – Typologisierung und Risikofelder (LZ-2/LZ-3): Welchem der fünf Branchenprofile (A–E) entspricht Bergmann…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Aufgabe 3 – 5-Fragen-Schema anwenden (LZ-4): Formulieren Sie die 5 Einstiegsfragen für das Gespräch mit Sabine Bergmann…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Aufgabe 4 – Kreditvorbereitung: KK-Analyse (LZ-3): Die Kontokorrentlinie von Bergmann Holzmanufaktur ist aktuell zu 71…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4.5 Reflexionsfragen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5.1 Transferaufgabe (4 Wochen)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Bankfachliche Quellen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Regulatorische und amtliche Quellen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D6F0"/>
                </a:solidFill>
                <a:latin typeface="Arial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00" cy="27432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Was hat sich verändert?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AACC"/>
                </a:solidFill>
                <a:latin typeface="Arial"/>
              </a:rPr>
              <a:t>M06 · KMU-Kompetenz Grundlagen  ·  v0.4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