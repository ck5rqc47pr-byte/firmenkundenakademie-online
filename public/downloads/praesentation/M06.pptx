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  <a:latin typeface="Arial"/>
              </a:rPr>
              <a:t>M06  ·  K-02 Branchenwissen  ·  Zielstufe: Berater  ·  90–120 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KMU-Kompetenz Grundlagen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83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CD6F0"/>
                </a:solidFill>
                <a:latin typeface="Arial"/>
              </a:rPr>
              <a:t>Branchenwissen für den Firmenkundenberater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Trainer-Präsentation  ·  v0.4  ·  Benedikt Zoller Coaching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804672"/>
            <a:ext cx="11612880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3DA5"/>
                </a:solidFill>
                <a:latin typeface="Arial"/>
              </a:rPr>
              <a:t>LERNZIELE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Arial"/>
              </a:rPr>
              <a:t>Was Sie nach diesem Modul können.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Schwellenwerte der IfM-Bonn- und EU-KMU-Definition korrekt nennen und aufzählen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Volkswirtschaftliche Bedeutung von KMU in Deutschland erläutern und Hausbank-Beziehung erklären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Typische Finanzierungsmuster, EK-Strukturen und Risikofelder von KMU beschreiben und abgrenzen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Einen KMU-Kunden anhand des strukturierten 5-Fragen-Schemas einordnen und Branchencharakteristika zuordnen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4.1 Theorie-Input 1: Was ist ein KMU? Definitionen, Typologien und volkswirtschaftliche Bedeutung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Die zwei zentralen KMU-Definitionen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Kategorie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Beschäftigte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Jahresumsatz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Kleine Unternehmen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2 Mio.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Mittlere Unternehmen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10–499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2–49,9 Mio.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KMU gesamt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50 Mio.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Kategorie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Beschäftigte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Jahresumsatz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Bilanzsumme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Kleinstunternehmen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≤ 2 Mio.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≤ 2 Mio.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Kleinunternehmen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50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≤ 10 Mio.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≤ 10 Mio.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Mittleres Unternehmen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&lt; 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≤ 50 Mio.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≤ 43 Mio. EUR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Volkswirtschaftliche Bedeutung von KMU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99,4 %: </a:t>
            </a:r>
            <a:r>
              <a:rPr sz="1700">
                <a:solidFill>
                  <a:srgbClr val="1A1A1A"/>
                </a:solidFill>
                <a:latin typeface="Arial"/>
              </a:rPr>
              <a:t>aller deutschen Unternehmen sind KMU (IfM Bonn, 2024) - KMU erwirtschaften rund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55 %: </a:t>
            </a:r>
            <a:r>
              <a:rPr sz="1700">
                <a:solidFill>
                  <a:srgbClr val="1A1A1A"/>
                </a:solidFill>
                <a:latin typeface="Arial"/>
              </a:rPr>
              <a:t>der Nettowertschöpfung (IfM Bonn, 2024) - Sie stellen ca.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60 %: </a:t>
            </a:r>
            <a:r>
              <a:rPr sz="1700">
                <a:solidFill>
                  <a:srgbClr val="1A1A1A"/>
                </a:solidFill>
                <a:latin typeface="Arial"/>
              </a:rPr>
              <a:t>der sozialversicherungspflichtigen Arbeitsplätze (IfM Bonn, 2024) - Sie bilden über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80 %: </a:t>
            </a:r>
            <a:r>
              <a:rPr sz="1700">
                <a:solidFill>
                  <a:srgbClr val="1A1A1A"/>
                </a:solidFill>
                <a:latin typeface="Arial"/>
              </a:rPr>
              <a:t>aller Auszubildenden aus (IfM Bonn, 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KMU-Typologien: Die fünf Grundkategorien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Beispiele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Besonderheiten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Handwerk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Schreiner, Maler, Sanitär, Bäcker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Saisonale Schwankungen, Fachkräftemangel, geringe EK-Quoten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Produzierendes Gewerbe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Maschinenbau, Metallverarbeitung, Kunststoff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Hohe Anlageintensität, Export, Lieferkettenrisiken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Handel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Einzelhandel, Großhandel, Fachhandel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Lagerbindung, Working-Capital-intensiv, E-Commerce-Druck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Dienstleistungen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IT, Logistik, Gebäudeservice, Tourismus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Humankapital-abhängig, skalierbar, wenig Sachsicherheiten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Freie Berufe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Ärzte, Zahnärzte, Steuerberater, Rechtsanwälte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Zulassungsgebunden, Schlüsselperson = Inhaber, Nachfolge komplex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Das Hausbank-Prinzip: Vertrauen als Geschäftsmodell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1–2 Bankverbindungen: </a:t>
            </a:r>
            <a:r>
              <a:rPr sz="1700">
                <a:solidFill>
                  <a:srgbClr val="1A1A1A"/>
                </a:solidFill>
                <a:latin typeface="Arial"/>
              </a:rPr>
              <a:t>– und die Hauptbank ist die Hausbank.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Informationsvorsprung: </a:t>
            </a:r>
            <a:r>
              <a:rPr sz="1700">
                <a:solidFill>
                  <a:srgbClr val="1A1A1A"/>
                </a:solidFill>
                <a:latin typeface="Arial"/>
              </a:rPr>
              <a:t>Die Hausbank kennt den Kunden über Jahre, oft über Generationen. Sie hat Zugang zu Umsatzdaten, Zahlungsverhalten und Businesszyklen, die externe Banken nicht sehen. 2.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Vertrauen auf Gegenseitigkeit: </a:t>
            </a:r>
            <a:r>
              <a:rPr sz="1700">
                <a:solidFill>
                  <a:srgbClr val="1A1A1A"/>
                </a:solidFill>
                <a:latin typeface="Arial"/>
              </a:rPr>
              <a:t>Gerade in Krisenmomenten (Liquiditätsengpass, Investitionsentscheidung) wenden sich KMU-Inhaber an ihre Hausbank – weil sie wissen, dass dort jemand ihr Geschäft kennt. 3.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Gesamtbeziehung: </a:t>
            </a:r>
            <a:r>
              <a:rPr sz="1700">
                <a:solidFill>
                  <a:srgbClr val="1A1A1A"/>
                </a:solidFill>
                <a:latin typeface="Arial"/>
              </a:rPr>
              <a:t>Kontokorrent, Darlehen, Zahlungsverkehr, Mitarbeiterkonten, oft auch Privatkundengeschäft der Familie – alles aus einer Hand.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4.2 Theorie-Input 2: Finanzierungsmuster und typische Risikofelder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Finanzierungsstruktur: KMU vs. Großunternehmen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Programm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Zweck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Typische Konditionen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KfW-Unternehmerkredit (ERP 037/047)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Investitionen und Betriebsmittel ab 25 TEUR; für alle KMU und Mittelstand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Zinsgünstig, bis 25 Mio. EUR, variabel oder fest, Haftungsfreistellung möglich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KfW-Unternehmerkapital / ERP-Kapital für Gründung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Neugründung, Unternehmensnachfolge, Beteiligungsfinanzierung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Nachrangdarlehen mit Eigenkapitalwirkung; Laufzeit bis 15 Jahre; tilgungsfreie Anlaufjahre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L-Bank (Baden-Württemberg) / LfA (Bayern)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Länderspezifische Investitions- und Innovationsförderung; Energieeffizienz; Digitalisierung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Kombinierbar mit KfW-Programmen; oft günstigere Konditionen als Hausbank-Markt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Die vier zentralen Risikofelder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Risiko 1: Inhaberabhängigkeit / Schlüsselpersonenrisiko: </a:t>
            </a:r>
            <a:r>
              <a:rPr sz="1700">
                <a:solidFill>
                  <a:srgbClr val="1A1A1A"/>
                </a:solidFill>
                <a:latin typeface="Arial"/>
              </a:rPr>
              <a:t>Bei inhabergeführten KMU ist die Unternehmerperson oft das wichtigste Asset – und gleichzeitig das größte Risiko. Wenn der Inhaber durch Krankheit, Unfall oder Tod ausfällt, steht…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Risiko 2: Klumpenrisiko: </a:t>
            </a:r>
            <a:r>
              <a:rPr sz="1700">
                <a:solidFill>
                  <a:srgbClr val="1A1A1A"/>
                </a:solidFill>
                <a:latin typeface="Arial"/>
              </a:rPr>
              <a:t>Es ist in KMU-Bilanzen nicht ungewöhnlich, dass 1–3 Großkunden 60–80 % des Umsatzes ausmachen. Fällt einer dieser Kunden weg – durch Insolvenz, Lieferantenwechsel,…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Risiko 3: Nachfolgerisiko: </a:t>
            </a:r>
            <a:r>
              <a:rPr sz="1700">
                <a:solidFill>
                  <a:srgbClr val="1A1A1A"/>
                </a:solidFill>
                <a:latin typeface="Arial"/>
              </a:rPr>
              <a:t>IfM Bonn (2024) schätzt, dass bis 2027 über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600.000 KMU: </a:t>
            </a:r>
            <a:r>
              <a:rPr sz="1700">
                <a:solidFill>
                  <a:srgbClr val="1A1A1A"/>
                </a:solidFill>
                <a:latin typeface="Arial"/>
              </a:rPr>
              <a:t>in Deutschland einen Nachfolger suchen. Viele Inhaber bereiten die Nachfolge zu spät und zu wenig professionell vor. Für die Hausbank bedeutet ein ungeplanter Inhaberwechsel: Neue…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Risiko 4: Working-Capital-Risiko: </a:t>
            </a:r>
            <a:r>
              <a:rPr sz="1700">
                <a:solidFill>
                  <a:srgbClr val="1A1A1A"/>
                </a:solidFill>
                <a:latin typeface="Arial"/>
              </a:rPr>
              <a:t>KMU – insbesondere im Handel und Handwerk – haben häufig ausgeprägte saisonale und auftragsbezogene Liquiditätszyklen. Lange Zahlungsziele (30–90 Tage), hohe Vorfinanzierung bei…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Die vier zentralen Risikofelder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Risiko 5: Lieferantenkonzentrationsrisiko: </a:t>
            </a:r>
            <a:r>
              <a:rPr sz="1700">
                <a:solidFill>
                  <a:srgbClr val="1A1A1A"/>
                </a:solidFill>
                <a:latin typeface="Arial"/>
              </a:rPr>
              <a:t>Analog zum Klumpenrisiko auf der Kundenseite existiert ein spiegelbildliches Risiko auf der Beschaffungsseite: Viele KMU beziehen kritische Rohstoffe, Vorprodukte oder…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4.3 Theorie-Input 3: Einstieg in die Branchenanalyse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Das Grundprinzip: Zahlen brauchen Kontext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Eine Eigenkapitalquote von 20 % sagt nichts, solange man nicht weiß, was in der jeweiligen Branche üblich ist. Der Handwerksbetrieb mit 20 % EK-Quote liegt…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Das wichtigste kostenfreie Instrument für Branchenvergleiche ist die Unternehmensabschlussstatistik der Deutschen Bundesbank (Bundesbank, laufend). Sie liefert…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Praxistipp: Die WZ-Klassifikation (Wirtschaftszweigklassifikation des Statistischen Bundesamts) ist das Navigationssystem. Ein Schreiner mit Möbelschwerpunkt…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Vier Branchenprofile für den Beratungsalltag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Branchenprofil A – Handwerk (z.B. Schreiner, Maler, Sanitär, Bäcker): </a:t>
            </a:r>
            <a:r>
              <a:rPr sz="1700">
                <a:solidFill>
                  <a:srgbClr val="1A1A1A"/>
                </a:solidFill>
                <a:latin typeface="Arial"/>
              </a:rPr>
              <a:t>Das Handwerk ist der typischste KMU-Sektor im süddeutschen VR-Kundenbestand. Charakteristisch: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Eigenkapitalquote: </a:t>
            </a:r>
            <a:r>
              <a:rPr sz="1700">
                <a:solidFill>
                  <a:srgbClr val="1A1A1A"/>
                </a:solidFill>
                <a:latin typeface="Arial"/>
              </a:rPr>
              <a:t>Ø 18–24 % (niedriger als Industrie, weil arbeitsintensiv und wenig Anlageintensität)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Finanzierungsbedarf: </a:t>
            </a:r>
            <a:r>
              <a:rPr sz="1700">
                <a:solidFill>
                  <a:srgbClr val="1A1A1A"/>
                </a:solidFill>
                <a:latin typeface="Arial"/>
              </a:rPr>
              <a:t>Kontokorrentlinie für saisonale Spitzen und Materialvorfinanzierung, Investitionskredite für Fahrzeuge, Maschinen und Werkzeuge, gelegentlich Betriebsgebäude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Typische Risiken: </a:t>
            </a:r>
            <a:r>
              <a:rPr sz="1700">
                <a:solidFill>
                  <a:srgbClr val="1A1A1A"/>
                </a:solidFill>
                <a:latin typeface="Arial"/>
              </a:rPr>
              <a:t>Fachkräftemangel, Materialkostenvolatilität (Holz, Stahl, Kupfer), Auftragsschwankungen durch Baukonjunktur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Was frage ich als Berater: </a:t>
            </a:r>
            <a:r>
              <a:rPr sz="1700">
                <a:solidFill>
                  <a:srgbClr val="1A1A1A"/>
                </a:solidFill>
                <a:latin typeface="Arial"/>
              </a:rPr>
              <a:t>"Wie gut sind Sie mit Aufträgen ausgelastet – haben Sie eine Warteliste?" / "Haben Sie genug qualifiziertes Personal, um Ihre Aufträge abzuarbeiten?"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Vier Branchenprofile für den Beratungsalltag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Eigenkapitalquote: </a:t>
            </a:r>
            <a:r>
              <a:rPr sz="1700">
                <a:solidFill>
                  <a:srgbClr val="1A1A1A"/>
                </a:solidFill>
                <a:latin typeface="Arial"/>
              </a:rPr>
              <a:t>Ø 28–35 % (höher, weil hoher Anlagevermögensanteil)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Finanzierungsbedarf: </a:t>
            </a:r>
            <a:r>
              <a:rPr sz="1700">
                <a:solidFill>
                  <a:srgbClr val="1A1A1A"/>
                </a:solidFill>
                <a:latin typeface="Arial"/>
              </a:rPr>
              <a:t>Investitionskredite für Maschinen und Anlagen (oft langfristig, 7–15 Jahre), Exportfinanzierung, Anzahlungsfinanzierung bei Großaufträgen, Betriebsmittelkredite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Typische Risiken: </a:t>
            </a:r>
            <a:r>
              <a:rPr sz="1700">
                <a:solidFill>
                  <a:srgbClr val="1A1A1A"/>
                </a:solidFill>
                <a:latin typeface="Arial"/>
              </a:rPr>
              <a:t>Exportabhängigkeit (Wechselkurs, geopolitische Risiken), Energiekostenentwicklung, Lieferkettenstörungen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Was frage ich als Berater: </a:t>
            </a:r>
            <a:r>
              <a:rPr sz="1700">
                <a:solidFill>
                  <a:srgbClr val="1A1A1A"/>
                </a:solidFill>
                <a:latin typeface="Arial"/>
              </a:rPr>
              <a:t>"Welchen Anteil macht Ihr Exportgeschäft aus?" / "Haben Sie Festpreisverträge über mehr als 12 Monate – und wie gehen Sie mit dem Kostensteigerungsrisiko um?"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Eigenkapitalquote: </a:t>
            </a:r>
            <a:r>
              <a:rPr sz="1700">
                <a:solidFill>
                  <a:srgbClr val="1A1A1A"/>
                </a:solidFill>
                <a:latin typeface="Arial"/>
              </a:rPr>
              <a:t>Ø 15–22 % (niedrig, weil Lagerbindung und Working Capital dominant) 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Vier Branchenprofile für den Beratungsalltag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Finanzierungsbedarf: </a:t>
            </a:r>
            <a:r>
              <a:rPr sz="1700">
                <a:solidFill>
                  <a:srgbClr val="1A1A1A"/>
                </a:solidFill>
                <a:latin typeface="Arial"/>
              </a:rPr>
              <a:t>Betriebsmittelkredit und Kontokorrentlinie für saisonale Spitzen (Weihnachten, Sommer), Investitionen in Ladenausstattung oder Lagerlogistik, Factoring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Typische Risiken: </a:t>
            </a:r>
            <a:r>
              <a:rPr sz="1700">
                <a:solidFill>
                  <a:srgbClr val="1A1A1A"/>
                </a:solidFill>
                <a:latin typeface="Arial"/>
              </a:rPr>
              <a:t>Strukturwandel durch E-Commerce, Mietpreisbelastung (innerstädtischer Fachhandel), Konsumstimmung und Kaufkraftentwicklung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Was frage ich als Berater: </a:t>
            </a:r>
            <a:r>
              <a:rPr sz="1700">
                <a:solidFill>
                  <a:srgbClr val="1A1A1A"/>
                </a:solidFill>
                <a:latin typeface="Arial"/>
              </a:rPr>
              <a:t>"Haben Sie bereits einen Online-Kanal – und wie entwickelt er sich?" / "Welche Produktkategorien wachsen bei Ihnen noch, welche schrumpfen?"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Eigenkapitalquote: </a:t>
            </a:r>
            <a:r>
              <a:rPr sz="1700">
                <a:solidFill>
                  <a:srgbClr val="1A1A1A"/>
                </a:solidFill>
                <a:latin typeface="Arial"/>
              </a:rPr>
              <a:t>Ø 30–45 % (hoch, weil wenig Anlagevermögen und meist solide Ertragslage) -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Finanzierungsbedarf: </a:t>
            </a:r>
            <a:r>
              <a:rPr sz="1700">
                <a:solidFill>
                  <a:srgbClr val="1A1A1A"/>
                </a:solidFill>
                <a:latin typeface="Arial"/>
              </a:rPr>
              <a:t>Praxisgründungs- oder -übernahmefinanzierung (oft 300 TEUR–1,5 Mio. EUR), Modernisierungsinvestitionen (med. Geräte, digitale Infrastruktur), Nachfolgefinanzierung für…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Vier Branchenprofile für den Beratungsalltag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Typische Risiken: </a:t>
            </a:r>
            <a:r>
              <a:rPr sz="1700">
                <a:solidFill>
                  <a:srgbClr val="1A1A1A"/>
                </a:solidFill>
                <a:latin typeface="Arial"/>
              </a:rPr>
              <a:t>Zulassungsrechtliche Abhängigkeit (Kassenzulassung, Zulassungsausschuss), Schlüsselperson ist der Inhaber selbst (kein Vertretungskonzept), Nachfolge aufwendig und oft…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Was frage ich als Berater: </a:t>
            </a:r>
            <a:r>
              <a:rPr sz="1700">
                <a:solidFill>
                  <a:srgbClr val="1A1A1A"/>
                </a:solidFill>
                <a:latin typeface="Arial"/>
              </a:rPr>
              <a:t>"Haben Sie eine Nachfolgeregelung – und wann wäre Ihr idealer Übergabezeitpunkt?" / "Wie ist Ihre Praxis gegen einen längeren Ausfall Ihrer Person abgesichert?"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Hinweis: </a:t>
            </a:r>
            <a:r>
              <a:rPr sz="1700">
                <a:solidFill>
                  <a:srgbClr val="1A1A1A"/>
                </a:solidFill>
                <a:latin typeface="Arial"/>
              </a:rPr>
              <a:t>Profil E ist ein bewusstes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Auffangprofil: </a:t>
            </a:r>
            <a:r>
              <a:rPr sz="1700">
                <a:solidFill>
                  <a:srgbClr val="1A1A1A"/>
                </a:solidFill>
                <a:latin typeface="Arial"/>
              </a:rPr>
              <a:t>für den ersten Überblick. IT-Dienstleister und Gebäudereiniger haben fundamental unterschiedliche Eigenkapitalstrukturen, Finanzierungsbedarfe und Risikoprofile. Für…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Eigenkapitalquote: </a:t>
            </a:r>
            <a:r>
              <a:rPr sz="1700">
                <a:solidFill>
                  <a:srgbClr val="1A1A1A"/>
                </a:solidFill>
                <a:latin typeface="Arial"/>
              </a:rPr>
              <a:t>Ø 20–35 % (breite Spanne je nach Kapitalintensität; IT-Betriebe oft höher, Logistik oft niedriger wegen Fahrzeugfinanzierung) 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Vier Branchenprofile für den Beratungsalltag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Finanzierungsbedarf: </a:t>
            </a:r>
            <a:r>
              <a:rPr sz="1700">
                <a:solidFill>
                  <a:srgbClr val="1A1A1A"/>
                </a:solidFill>
                <a:latin typeface="Arial"/>
              </a:rPr>
              <a:t>Betriebsmittelkredite für Personalkosten (Humankapital = Hauptkostentreiber), Fahrzeug- und Geräteflotten (Logistik, Gebäudeservice), Wachstumsfinanzierung bei skalierbaren…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Typische Risiken: </a:t>
            </a:r>
            <a:r>
              <a:rPr sz="1700">
                <a:solidFill>
                  <a:srgbClr val="1A1A1A"/>
                </a:solidFill>
                <a:latin typeface="Arial"/>
              </a:rPr>
              <a:t>Mitarbeiterabhängigkeit (wenige Sachsicherheiten, Wissen sitzt in den Köpfen), kaum verwertbare Sicherheiten (kein Lager, oft keine Immobilien), hohe Skalierbarkeit aber…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Was frage ich als Berater: </a:t>
            </a:r>
            <a:r>
              <a:rPr sz="1700">
                <a:solidFill>
                  <a:srgbClr val="1A1A1A"/>
                </a:solidFill>
                <a:latin typeface="Arial"/>
              </a:rPr>
              <a:t>"Was würde passieren, wenn Ihre drei besten Mitarbeiter morgen zur Konkurrenz wechseln würden?" / "Haben Sie Rahmenverträge mit Ihren Hauptkunden – oder laufen die Aufträge…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Das 5-Fragen-Schema: Strukturierter Analyseeinstieg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Nr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Frage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Ziel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"Wie würden Sie Ihr Kerngeschäft in einem Satz beschreiben?"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Geschäftsmodell, Positionierung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"Wer sind Ihre drei wichtigsten Kunden – wie viel Umsatz machen diese aus?"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Klumpenrisiko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"Was ist Ihre größte unternehmerische Herausforderung in den nächsten 12 Monaten?"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Forward-looking, Zukunftsplanung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"Wie finanzieren Sie Wachstum oder Investitionen typischerweise?"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Finanzierungskultur, Offenheit für Bankprodukte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"Was würde passieren, wenn Sie 6 Monate durch Krankheit oder Unfall ausfallen würden?"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Schlüsselpersonenrisiko, Absicherungsbedarf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4.4 Praxiscase: Bergmann Holzmanufaktur GmbH &amp; Co. KG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Unternehmensporträt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Bergmann Holzmanufaktur GmbH &amp; Co. KG, Ravensburg, ist seit 5 Jahren Kundin der VR-Bank Bodensee-Oberschwaben eG. Das Unternehmen wurde vor 28 Jahren von…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>
                <a:solidFill>
                  <a:srgbClr val="1A1A1A"/>
                </a:solidFill>
                <a:latin typeface="Arial"/>
              </a:rPr>
              <a:t>Die Kundin kommt für ein Beratungsgespräch, weil sie eine neue CNC-Fräsmaschine anschaffen möchte (Investitionsvolumen: ca. 120.000 EUR). Sie fragt nach einem…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Finanzdaten (fiktiv, plausibel für Holzhandwerk)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43000"/>
          <a:ext cx="114300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Kennzahl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Wert 2025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Branchenwert*</a:t>
                      </a:r>
                    </a:p>
                  </a:txBody>
                  <a:tcPr>
                    <a:solidFill>
                      <a:srgbClr val="003DA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Eigenkapitalquote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21 %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Ø 18–24 %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Jahresumsatz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1,8 Mio. EUR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Beschäftigte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Umsatzrendite (vor Steuern)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5,2 %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Ø 4–7 %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Fremdkapitalquote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79 %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A1A1A"/>
                          </a:solidFill>
                          <a:latin typeface="Arial"/>
                        </a:rPr>
                        <a:t>Ø 76–82 %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Aufgaben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4300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Aufgabe 1 – Klassifizierung (LZ-1): </a:t>
            </a:r>
            <a:r>
              <a:rPr sz="1700">
                <a:solidFill>
                  <a:srgbClr val="1A1A1A"/>
                </a:solidFill>
                <a:latin typeface="Arial"/>
              </a:rPr>
              <a:t>Prüfen Sie: Handelt es sich bei Bergmann Holzmanufaktur um ein KMU nach IfM-Bonn-Definition? Um welche Kategorie handelt es sich nach EU-Definition (Kleinstunternehmen /…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Aufgabe 2 – Typologisierung und Risikofelder (LZ-2/LZ-3): </a:t>
            </a:r>
            <a:r>
              <a:rPr sz="1700">
                <a:solidFill>
                  <a:srgbClr val="1A1A1A"/>
                </a:solidFill>
                <a:latin typeface="Arial"/>
              </a:rPr>
              <a:t>Welchem der fünf Branchenprofile (A–E) entspricht Bergmann Holzmanufaktur am ehesten? Welche typischen Risikofelder sind für diesen Betrieb zu erwarten? Nennen Sie mindestens 3…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Aufgabe 3 – 5-Fragen-Schema anwenden (LZ-4): </a:t>
            </a:r>
            <a:r>
              <a:rPr sz="1700">
                <a:solidFill>
                  <a:srgbClr val="1A1A1A"/>
                </a:solidFill>
                <a:latin typeface="Arial"/>
              </a:rPr>
              <a:t>Formulieren Sie die 5 Einstiegsfragen für das Gespräch mit Sabine Bergmann konkret auf diesen Betrieb zugeschnitten (nicht die generischen Musterfragen, sondern angepasste…</a:t>
            </a:r>
          </a:p>
          <a:p>
            <a:pPr>
              <a:spcBef>
                <a:spcPts val="500"/>
              </a:spcBef>
            </a:pPr>
            <a:r>
              <a:rPr sz="1500">
                <a:solidFill>
                  <a:srgbClr val="003DA5"/>
                </a:solidFill>
                <a:latin typeface="Arial"/>
              </a:rPr>
              <a:t>▪  </a:t>
            </a:r>
            <a:r>
              <a:rPr sz="1700" b="1">
                <a:solidFill>
                  <a:srgbClr val="003DA5"/>
                </a:solidFill>
                <a:latin typeface="Arial"/>
              </a:rPr>
              <a:t>Aufgabe 4 – Kreditvorbereitung: KK-Analyse (LZ-3): </a:t>
            </a:r>
            <a:r>
              <a:rPr sz="1700">
                <a:solidFill>
                  <a:srgbClr val="1A1A1A"/>
                </a:solidFill>
                <a:latin typeface="Arial"/>
              </a:rPr>
              <a:t>Die Kontokorrentlinie von Bergmann Holzmanufaktur ist aktuell zu 71 % ausgeschöpft (56.800 EUR von 80.000 EUR). Die Kundin beantragt zusätzlich einen Investitionskredit über…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4.5 Reflexionsfragen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1828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75"/>
                </a:solidFill>
                <a:latin typeface="Arial"/>
              </a:rPr>
              <a:t>M06 · Modulinhalte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3DA5"/>
                </a:solidFill>
                <a:latin typeface="Arial"/>
              </a:rPr>
              <a:t>4.5 Reflexionsfragen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30000" cy="27432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457200" cy="41148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**Verstehen (Bloom 2)**: Warum ist die Inhaberabhängigkeit bei einem Handwerksbetrieb mit 8 Mitarbeitern ein strukturell höheres Risiko als bei einem Produktionsbetrieb mit 80 Mitarbeitern – was verändert sich mit zunehmender Betriebsgröße strukturell?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457200" cy="41148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**Anwenden (Bloom 3)**: Ein Kunde sagt Ihnen: "Wir sind kein KMU, wir sind ein mittelständisches Unternehmen." Wie reagieren Sie – was ist der begriffliche Unterschied, und was sagt das über die Selbstwahrnehmung des Inhabers?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457200" cy="41148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65176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Arial"/>
              </a:rPr>
              <a:t>**Anwenden (Bloom 3)**: Bergmann Holzmanufaktur hat eine EK-Quote von 21 % – genau im Branchenmittel. Ein Kollege sagt: "Das ist unauffällig, kein Handlungsbedarf." Welche Informationen fehlen für eine vollständige Einschätzung? Was würden Sie als nächstes klären?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A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05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474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CD6F0"/>
                </a:solidFill>
                <a:latin typeface="Arial"/>
              </a:rPr>
              <a:t>PRAXISTRANSFER &amp; NÄCHSTE SCHRITTE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0" cy="22860"/>
          </a:xfrm>
          <a:prstGeom prst="rect">
            <a:avLst/>
          </a:prstGeom>
          <a:solidFill>
            <a:srgbClr val="335C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Was nehmen Sie mit?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11430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Transferaufgabe: Wenden Sie das Gelernte in den nächsten 14 Tagen bei einem konkreten Kunden an.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Selbstcheck nach 4 Wochen: Bewerten Sie Ihre Fortschritte ehrlich.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05B00"/>
                </a:solidFill>
                <a:latin typeface="Arial"/>
              </a:rPr>
              <a:t>▪  </a:t>
            </a:r>
            <a:r>
              <a:rPr sz="1800">
                <a:solidFill>
                  <a:srgbClr val="FFFFFF"/>
                </a:solidFill>
                <a:latin typeface="Arial"/>
              </a:rPr>
              <a:t>Nächste Module: M07, M08, M21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ACC"/>
                </a:solidFill>
                <a:latin typeface="Arial"/>
              </a:rPr>
              <a:t>M06 · KMU-Kompetenz Grundlagen  ·  v0.4  ·  Benedikt Zoller Coaching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