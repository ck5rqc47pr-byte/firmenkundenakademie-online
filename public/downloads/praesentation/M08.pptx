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DA5"/>
        </a:solidFill>
        <a:effectLst/>
      </p:bgPr>
    </p:bg>
    <p:spTree>
      <p:nvGrpSpPr>
        <p:cNvPr id="1" name=""/>
        <p:cNvGrpSpPr/>
        <p:nvPr/>
      </p:nvGrpSpPr>
      <p:grpSpPr/>
      <p:sp>
        <p:nvSpPr>
          <p:cNvPr id="2" name="Rectangle 1"/>
          <p:cNvSpPr/>
          <p:nvPr/>
        </p:nvSpPr>
        <p:spPr>
          <a:xfrm>
            <a:off x="0" y="0"/>
            <a:ext cx="73152" cy="6858000"/>
          </a:xfrm>
          <a:prstGeom prst="rect">
            <a:avLst/>
          </a:prstGeom>
          <a:solidFill>
            <a:srgbClr val="E05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11430000" cy="411480"/>
          </a:xfrm>
          <a:prstGeom prst="rect">
            <a:avLst/>
          </a:prstGeom>
          <a:noFill/>
        </p:spPr>
        <p:txBody>
          <a:bodyPr wrap="square">
            <a:spAutoFit/>
          </a:bodyPr>
          <a:lstStyle/>
          <a:p>
            <a:pPr algn="l"/>
            <a:r>
              <a:rPr sz="1100" b="0" i="0">
                <a:solidFill>
                  <a:srgbClr val="BBCCEE"/>
                </a:solidFill>
                <a:latin typeface="Arial"/>
              </a:rPr>
              <a:t>M08  ·  K-02 Branchenwissen  ·  Zielstufe: Sparringspartner  ·  1 Tag (ca. 360 Min.)</a:t>
            </a:r>
          </a:p>
        </p:txBody>
      </p:sp>
      <p:sp>
        <p:nvSpPr>
          <p:cNvPr id="4" name="Rectangle 3"/>
          <p:cNvSpPr/>
          <p:nvPr/>
        </p:nvSpPr>
        <p:spPr>
          <a:xfrm>
            <a:off x="365760" y="804672"/>
            <a:ext cx="8229600" cy="22860"/>
          </a:xfrm>
          <a:prstGeom prst="rect">
            <a:avLst/>
          </a:prstGeom>
          <a:solidFill>
            <a:srgbClr val="335C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05840"/>
            <a:ext cx="11430000" cy="2560320"/>
          </a:xfrm>
          <a:prstGeom prst="rect">
            <a:avLst/>
          </a:prstGeom>
          <a:noFill/>
        </p:spPr>
        <p:txBody>
          <a:bodyPr wrap="square">
            <a:spAutoFit/>
          </a:bodyPr>
          <a:lstStyle/>
          <a:p>
            <a:pPr algn="l"/>
            <a:r>
              <a:rPr sz="4200" b="1" i="0">
                <a:solidFill>
                  <a:srgbClr val="FFFFFF"/>
                </a:solidFill>
                <a:latin typeface="Arial"/>
              </a:rPr>
              <a:t>Immobilien &amp; Projektfinanzierung</a:t>
            </a:r>
          </a:p>
        </p:txBody>
      </p:sp>
      <p:sp>
        <p:nvSpPr>
          <p:cNvPr id="6" name="TextBox 5"/>
          <p:cNvSpPr txBox="1"/>
          <p:nvPr/>
        </p:nvSpPr>
        <p:spPr>
          <a:xfrm>
            <a:off x="365760" y="3383280"/>
            <a:ext cx="10058400" cy="822960"/>
          </a:xfrm>
          <a:prstGeom prst="rect">
            <a:avLst/>
          </a:prstGeom>
          <a:noFill/>
        </p:spPr>
        <p:txBody>
          <a:bodyPr wrap="square">
            <a:spAutoFit/>
          </a:bodyPr>
          <a:lstStyle/>
          <a:p>
            <a:pPr algn="l"/>
            <a:r>
              <a:rPr sz="2000" b="0" i="1">
                <a:solidFill>
                  <a:srgbClr val="CCD6F0"/>
                </a:solidFill>
                <a:latin typeface="Arial"/>
              </a:rPr>
              <a:t>Bauträger, Bestandshalter und Projektentwickler professionell begleiten</a:t>
            </a:r>
          </a:p>
        </p:txBody>
      </p:sp>
      <p:sp>
        <p:nvSpPr>
          <p:cNvPr id="7" name="TextBox 6"/>
          <p:cNvSpPr txBox="1"/>
          <p:nvPr/>
        </p:nvSpPr>
        <p:spPr>
          <a:xfrm>
            <a:off x="365760" y="6309360"/>
            <a:ext cx="11430000" cy="365760"/>
          </a:xfrm>
          <a:prstGeom prst="rect">
            <a:avLst/>
          </a:prstGeom>
          <a:noFill/>
        </p:spPr>
        <p:txBody>
          <a:bodyPr wrap="square">
            <a:spAutoFit/>
          </a:bodyPr>
          <a:lstStyle/>
          <a:p>
            <a:pPr algn="l"/>
            <a:r>
              <a:rPr sz="900" b="0" i="0">
                <a:solidFill>
                  <a:srgbClr val="889ACC"/>
                </a:solidFill>
                <a:latin typeface="Arial"/>
              </a:rPr>
              <a:t>Trainer-Präsentation  ·  v0.3  ·  Benedikt Zoller Coaching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804672"/>
            <a:ext cx="11612880"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320040"/>
            <a:ext cx="4572000" cy="347472"/>
          </a:xfrm>
          <a:prstGeom prst="rect">
            <a:avLst/>
          </a:prstGeom>
          <a:noFill/>
        </p:spPr>
        <p:txBody>
          <a:bodyPr wrap="square">
            <a:spAutoFit/>
          </a:bodyPr>
          <a:lstStyle/>
          <a:p>
            <a:pPr algn="l"/>
            <a:r>
              <a:rPr sz="900" b="1" i="0">
                <a:solidFill>
                  <a:srgbClr val="003DA5"/>
                </a:solidFill>
                <a:latin typeface="Arial"/>
              </a:rPr>
              <a:t>LERNZIELE</a:t>
            </a:r>
          </a:p>
        </p:txBody>
      </p:sp>
      <p:sp>
        <p:nvSpPr>
          <p:cNvPr id="5" name="TextBox 4"/>
          <p:cNvSpPr txBox="1"/>
          <p:nvPr/>
        </p:nvSpPr>
        <p:spPr>
          <a:xfrm>
            <a:off x="365760" y="502920"/>
            <a:ext cx="10058400" cy="640080"/>
          </a:xfrm>
          <a:prstGeom prst="rect">
            <a:avLst/>
          </a:prstGeom>
          <a:noFill/>
        </p:spPr>
        <p:txBody>
          <a:bodyPr wrap="square">
            <a:spAutoFit/>
          </a:bodyPr>
          <a:lstStyle/>
          <a:p>
            <a:pPr algn="l"/>
            <a:r>
              <a:rPr sz="2400" b="1" i="0">
                <a:solidFill>
                  <a:srgbClr val="1A1A1A"/>
                </a:solidFill>
                <a:latin typeface="Arial"/>
              </a:rPr>
              <a:t>Was Sie nach diesem Modul können.</a:t>
            </a:r>
          </a:p>
        </p:txBody>
      </p:sp>
      <p:sp>
        <p:nvSpPr>
          <p:cNvPr id="6" name="TextBox 5"/>
          <p:cNvSpPr txBox="1"/>
          <p:nvPr/>
        </p:nvSpPr>
        <p:spPr>
          <a:xfrm>
            <a:off x="365760" y="1234440"/>
            <a:ext cx="11430000" cy="5303520"/>
          </a:xfrm>
          <a:prstGeom prst="rect">
            <a:avLst/>
          </a:prstGeom>
          <a:noFill/>
        </p:spPr>
        <p:txBody>
          <a:bodyPr wrap="square">
            <a:spAutoFit/>
          </a:bodyPr>
          <a:lstStyle/>
          <a:p>
            <a:pPr>
              <a:spcBef>
                <a:spcPts val="500"/>
              </a:spcBef>
            </a:pPr>
            <a:r>
              <a:rPr sz="1500">
                <a:solidFill>
                  <a:srgbClr val="003DA5"/>
                </a:solidFill>
                <a:latin typeface="Arial"/>
              </a:rPr>
              <a:t>▪  </a:t>
            </a:r>
            <a:r>
              <a:rPr sz="1700">
                <a:solidFill>
                  <a:srgbClr val="1A1A1A"/>
                </a:solidFill>
                <a:latin typeface="Arial"/>
              </a:rPr>
              <a:t>Drei Kundentypologien (Bestandshalter, Bauträger, Projektentwickler) anhand Geschäftsmodell und Risikoprofil unterscheiden</a:t>
            </a:r>
          </a:p>
          <a:p>
            <a:pPr>
              <a:spcBef>
                <a:spcPts val="500"/>
              </a:spcBef>
            </a:pPr>
            <a:r>
              <a:rPr sz="1500">
                <a:solidFill>
                  <a:srgbClr val="003DA5"/>
                </a:solidFill>
                <a:latin typeface="Arial"/>
              </a:rPr>
              <a:t>▪  </a:t>
            </a:r>
            <a:r>
              <a:rPr sz="1700">
                <a:solidFill>
                  <a:srgbClr val="1A1A1A"/>
                </a:solidFill>
                <a:latin typeface="Arial"/>
              </a:rPr>
              <a:t>Beleihungswert nach BelWertV (Ertragswert- und Sachwertverfahren) berechnen und kreditpraktisch einordnen</a:t>
            </a:r>
          </a:p>
          <a:p>
            <a:pPr>
              <a:spcBef>
                <a:spcPts val="500"/>
              </a:spcBef>
            </a:pPr>
            <a:r>
              <a:rPr sz="1500">
                <a:solidFill>
                  <a:srgbClr val="003DA5"/>
                </a:solidFill>
                <a:latin typeface="Arial"/>
              </a:rPr>
              <a:t>▪  </a:t>
            </a:r>
            <a:r>
              <a:rPr sz="1700">
                <a:solidFill>
                  <a:srgbClr val="1A1A1A"/>
                </a:solidFill>
                <a:latin typeface="Arial"/>
              </a:rPr>
              <a:t>Kennzahlen LTV, DSCR, ICR und Nettoanfangsrendite berechnen und interpretieren</a:t>
            </a:r>
          </a:p>
          <a:p>
            <a:pPr>
              <a:spcBef>
                <a:spcPts val="500"/>
              </a:spcBef>
            </a:pPr>
            <a:r>
              <a:rPr sz="1500">
                <a:solidFill>
                  <a:srgbClr val="003DA5"/>
                </a:solidFill>
                <a:latin typeface="Arial"/>
              </a:rPr>
              <a:t>▪  </a:t>
            </a:r>
            <a:r>
              <a:rPr sz="1700">
                <a:solidFill>
                  <a:srgbClr val="1A1A1A"/>
                </a:solidFill>
                <a:latin typeface="Arial"/>
              </a:rPr>
              <a:t>Risikofelder einer Bauträgerfinanzierung analysieren, gewichten und Risikominderungsmaßnahmen benennen</a:t>
            </a:r>
          </a:p>
          <a:p>
            <a:pPr>
              <a:spcBef>
                <a:spcPts val="500"/>
              </a:spcBef>
            </a:pPr>
            <a:r>
              <a:rPr sz="1500">
                <a:solidFill>
                  <a:srgbClr val="003DA5"/>
                </a:solidFill>
                <a:latin typeface="Arial"/>
              </a:rPr>
              <a:t>▪  </a:t>
            </a:r>
            <a:r>
              <a:rPr sz="1700">
                <a:solidFill>
                  <a:srgbClr val="1A1A1A"/>
                </a:solidFill>
                <a:latin typeface="Arial"/>
              </a:rPr>
              <a:t>Auf Basis einer vollständigen Projektanalyse eine strukturierte Kreditempfehlung erstellen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E05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0"/>
            <a:ext cx="11430000" cy="2011680"/>
          </a:xfrm>
          <a:prstGeom prst="rect">
            <a:avLst/>
          </a:prstGeom>
          <a:noFill/>
        </p:spPr>
        <p:txBody>
          <a:bodyPr wrap="square">
            <a:spAutoFit/>
          </a:bodyPr>
          <a:lstStyle/>
          <a:p>
            <a:pPr algn="l"/>
            <a:r>
              <a:rPr sz="3600" b="1" i="0">
                <a:solidFill>
                  <a:srgbClr val="FFFFFF"/>
                </a:solidFill>
                <a:latin typeface="Arial"/>
              </a:rPr>
              <a:t>4.1 Theorie-Input 1: Kundentypologie der Immobilienfinanzierung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Drei Grundtypen – drei Risikolandschaften</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43000"/>
            <a:ext cx="11430000" cy="5212080"/>
          </a:xfrm>
          <a:prstGeom prst="rect">
            <a:avLst/>
          </a:prstGeom>
          <a:noFill/>
        </p:spPr>
        <p:txBody>
          <a:bodyPr wrap="square">
            <a:spAutoFit/>
          </a:bodyPr>
          <a:lstStyle/>
          <a:p>
            <a:pPr>
              <a:spcBef>
                <a:spcPts val="500"/>
              </a:spcBef>
            </a:pPr>
            <a:r>
              <a:rPr sz="1500">
                <a:solidFill>
                  <a:srgbClr val="003DA5"/>
                </a:solidFill>
                <a:latin typeface="Arial"/>
              </a:rPr>
              <a:t>▪  </a:t>
            </a:r>
            <a:r>
              <a:rPr sz="1700" b="1">
                <a:solidFill>
                  <a:srgbClr val="003DA5"/>
                </a:solidFill>
                <a:latin typeface="Arial"/>
              </a:rPr>
              <a:t>Typ 1: Bestandshalter: </a:t>
            </a:r>
            <a:r>
              <a:rPr sz="1700">
                <a:solidFill>
                  <a:srgbClr val="1A1A1A"/>
                </a:solidFill>
                <a:latin typeface="Arial"/>
              </a:rPr>
              <a:t>Der Bestandshalter kauft Immobilien, hält sie dauerhaft im Eigentum und finanziert sich aus laufenden Mieteinnahmen. Typische Kunden: Wohnungsgesellschaften,…</a:t>
            </a:r>
          </a:p>
          <a:p>
            <a:pPr>
              <a:spcBef>
                <a:spcPts val="500"/>
              </a:spcBef>
            </a:pPr>
            <a:r>
              <a:rPr sz="1500">
                <a:solidFill>
                  <a:srgbClr val="003DA5"/>
                </a:solidFill>
                <a:latin typeface="Arial"/>
              </a:rPr>
              <a:t>▪  </a:t>
            </a:r>
            <a:r>
              <a:rPr sz="1700" b="1">
                <a:solidFill>
                  <a:srgbClr val="003DA5"/>
                </a:solidFill>
                <a:latin typeface="Arial"/>
              </a:rPr>
              <a:t>Cashflow-Struktur: </a:t>
            </a:r>
            <a:r>
              <a:rPr sz="1700">
                <a:solidFill>
                  <a:srgbClr val="1A1A1A"/>
                </a:solidFill>
                <a:latin typeface="Arial"/>
              </a:rPr>
              <a:t>Stabile, planbare Mieteinnahmen – Finanzierungsrisiko hängt primär an Vermietungsstand und Mietzahlungsfähigkeit der Mieter -</a:t>
            </a:r>
          </a:p>
          <a:p>
            <a:pPr>
              <a:spcBef>
                <a:spcPts val="500"/>
              </a:spcBef>
            </a:pPr>
            <a:r>
              <a:rPr sz="1500">
                <a:solidFill>
                  <a:srgbClr val="003DA5"/>
                </a:solidFill>
                <a:latin typeface="Arial"/>
              </a:rPr>
              <a:t>▪  </a:t>
            </a:r>
            <a:r>
              <a:rPr sz="1700" b="1">
                <a:solidFill>
                  <a:srgbClr val="003DA5"/>
                </a:solidFill>
                <a:latin typeface="Arial"/>
              </a:rPr>
              <a:t>Typischer Finanzierungsbedarf: </a:t>
            </a:r>
            <a:r>
              <a:rPr sz="1700">
                <a:solidFill>
                  <a:srgbClr val="1A1A1A"/>
                </a:solidFill>
                <a:latin typeface="Arial"/>
              </a:rPr>
              <a:t>Ankaufsfinanzierung, Refinanzierung, Modernisierungskredite -</a:t>
            </a:r>
          </a:p>
          <a:p>
            <a:pPr>
              <a:spcBef>
                <a:spcPts val="500"/>
              </a:spcBef>
            </a:pPr>
            <a:r>
              <a:rPr sz="1500">
                <a:solidFill>
                  <a:srgbClr val="003DA5"/>
                </a:solidFill>
                <a:latin typeface="Arial"/>
              </a:rPr>
              <a:t>▪  </a:t>
            </a:r>
            <a:r>
              <a:rPr sz="1700" b="1">
                <a:solidFill>
                  <a:srgbClr val="003DA5"/>
                </a:solidFill>
                <a:latin typeface="Arial"/>
              </a:rPr>
              <a:t>Kernkennzahl: </a:t>
            </a:r>
            <a:r>
              <a:rPr sz="1700">
                <a:solidFill>
                  <a:srgbClr val="1A1A1A"/>
                </a:solidFill>
                <a:latin typeface="Arial"/>
              </a:rPr>
              <a:t>DSCR (Debt Service Coverage Ratio) – können die Mieteinnahmen den Kapitaldienst dauerhaft abdecken? -</a:t>
            </a:r>
          </a:p>
          <a:p>
            <a:pPr>
              <a:spcBef>
                <a:spcPts val="500"/>
              </a:spcBef>
            </a:pPr>
            <a:r>
              <a:rPr sz="1500">
                <a:solidFill>
                  <a:srgbClr val="003DA5"/>
                </a:solidFill>
                <a:latin typeface="Arial"/>
              </a:rPr>
              <a:t>▪  </a:t>
            </a:r>
            <a:r>
              <a:rPr sz="1700" b="1">
                <a:solidFill>
                  <a:srgbClr val="003DA5"/>
                </a:solidFill>
                <a:latin typeface="Arial"/>
              </a:rPr>
              <a:t>Hauptrisiko: </a:t>
            </a:r>
            <a:r>
              <a:rPr sz="1700">
                <a:solidFill>
                  <a:srgbClr val="1A1A1A"/>
                </a:solidFill>
                <a:latin typeface="Arial"/>
              </a:rPr>
              <a:t>Leerstandsrisiko, Mieterbonitätsrisiko, Instandhaltungsstau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Drei Grundtypen – drei Risikolandschaften</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43000"/>
            <a:ext cx="11430000" cy="5212080"/>
          </a:xfrm>
          <a:prstGeom prst="rect">
            <a:avLst/>
          </a:prstGeom>
          <a:noFill/>
        </p:spPr>
        <p:txBody>
          <a:bodyPr wrap="square">
            <a:spAutoFit/>
          </a:bodyPr>
          <a:lstStyle/>
          <a:p>
            <a:pPr>
              <a:spcBef>
                <a:spcPts val="500"/>
              </a:spcBef>
            </a:pPr>
            <a:r>
              <a:rPr sz="1500">
                <a:solidFill>
                  <a:srgbClr val="003DA5"/>
                </a:solidFill>
                <a:latin typeface="Arial"/>
              </a:rPr>
              <a:t>▪  </a:t>
            </a:r>
            <a:r>
              <a:rPr sz="1700" b="1">
                <a:solidFill>
                  <a:srgbClr val="003DA5"/>
                </a:solidFill>
                <a:latin typeface="Arial"/>
              </a:rPr>
              <a:t>Typ 2: Bauträger: </a:t>
            </a:r>
            <a:r>
              <a:rPr sz="1700">
                <a:solidFill>
                  <a:srgbClr val="1A1A1A"/>
                </a:solidFill>
                <a:latin typeface="Arial"/>
              </a:rPr>
              <a:t>Der Bauträger errichtet Immobilien (typisch: Eigentumswohnungen) zur sofortigen Veräußerung. Er kauft Grundstück, baut und verkauft – die fertige Immobilie verbleibt nicht im…</a:t>
            </a:r>
          </a:p>
          <a:p>
            <a:pPr>
              <a:spcBef>
                <a:spcPts val="500"/>
              </a:spcBef>
            </a:pPr>
            <a:r>
              <a:rPr sz="1500">
                <a:solidFill>
                  <a:srgbClr val="003DA5"/>
                </a:solidFill>
                <a:latin typeface="Arial"/>
              </a:rPr>
              <a:t>▪  </a:t>
            </a:r>
            <a:r>
              <a:rPr sz="1700" b="1">
                <a:solidFill>
                  <a:srgbClr val="003DA5"/>
                </a:solidFill>
                <a:latin typeface="Arial"/>
              </a:rPr>
              <a:t>Cashflow-Struktur: </a:t>
            </a:r>
            <a:r>
              <a:rPr sz="1700">
                <a:solidFill>
                  <a:srgbClr val="1A1A1A"/>
                </a:solidFill>
                <a:latin typeface="Arial"/>
              </a:rPr>
              <a:t>Kein laufender Miet-Cashflow – Rückfluss ausschließlich aus Verkaufserlösen nach Fertigstellung. Das Kapital ist bis zum Verkauf vollständig gebunden. -</a:t>
            </a:r>
          </a:p>
          <a:p>
            <a:pPr>
              <a:spcBef>
                <a:spcPts val="500"/>
              </a:spcBef>
            </a:pPr>
            <a:r>
              <a:rPr sz="1500">
                <a:solidFill>
                  <a:srgbClr val="003DA5"/>
                </a:solidFill>
                <a:latin typeface="Arial"/>
              </a:rPr>
              <a:t>▪  </a:t>
            </a:r>
            <a:r>
              <a:rPr sz="1700" b="1">
                <a:solidFill>
                  <a:srgbClr val="003DA5"/>
                </a:solidFill>
                <a:latin typeface="Arial"/>
              </a:rPr>
              <a:t>Typischer Finanzierungsbedarf: </a:t>
            </a:r>
            <a:r>
              <a:rPr sz="1700">
                <a:solidFill>
                  <a:srgbClr val="1A1A1A"/>
                </a:solidFill>
                <a:latin typeface="Arial"/>
              </a:rPr>
              <a:t>Kurzfristige Bauträgerfinanzierung (Laufzeit 18–36 Monate), strukturiert nach Baufortschritt -</a:t>
            </a:r>
          </a:p>
          <a:p>
            <a:pPr>
              <a:spcBef>
                <a:spcPts val="500"/>
              </a:spcBef>
            </a:pPr>
            <a:r>
              <a:rPr sz="1500">
                <a:solidFill>
                  <a:srgbClr val="003DA5"/>
                </a:solidFill>
                <a:latin typeface="Arial"/>
              </a:rPr>
              <a:t>▪  </a:t>
            </a:r>
            <a:r>
              <a:rPr sz="1700" b="1">
                <a:solidFill>
                  <a:srgbClr val="003DA5"/>
                </a:solidFill>
                <a:latin typeface="Arial"/>
              </a:rPr>
              <a:t>Kernkennzahl: </a:t>
            </a:r>
            <a:r>
              <a:rPr sz="1700">
                <a:solidFill>
                  <a:srgbClr val="1A1A1A"/>
                </a:solidFill>
                <a:latin typeface="Arial"/>
              </a:rPr>
              <a:t>LTV (Loan-to-Value) bezogen auf prognostizierte Verkaufserlöse; Vorverkaufsquote -</a:t>
            </a:r>
          </a:p>
          <a:p>
            <a:pPr>
              <a:spcBef>
                <a:spcPts val="500"/>
              </a:spcBef>
            </a:pPr>
            <a:r>
              <a:rPr sz="1500">
                <a:solidFill>
                  <a:srgbClr val="003DA5"/>
                </a:solidFill>
                <a:latin typeface="Arial"/>
              </a:rPr>
              <a:t>▪  </a:t>
            </a:r>
            <a:r>
              <a:rPr sz="1700" b="1">
                <a:solidFill>
                  <a:srgbClr val="003DA5"/>
                </a:solidFill>
                <a:latin typeface="Arial"/>
              </a:rPr>
              <a:t>Hauptrisiko: </a:t>
            </a:r>
            <a:r>
              <a:rPr sz="1700">
                <a:solidFill>
                  <a:srgbClr val="1A1A1A"/>
                </a:solidFill>
                <a:latin typeface="Arial"/>
              </a:rPr>
              <a:t>Fertigstellungsrisiko, Absatzrisiko, Kostenüberschreitungen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Drei Grundtypen – drei Risikolandschaften</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43000"/>
            <a:ext cx="11430000" cy="5212080"/>
          </a:xfrm>
          <a:prstGeom prst="rect">
            <a:avLst/>
          </a:prstGeom>
          <a:noFill/>
        </p:spPr>
        <p:txBody>
          <a:bodyPr wrap="square">
            <a:spAutoFit/>
          </a:bodyPr>
          <a:lstStyle/>
          <a:p>
            <a:pPr>
              <a:spcBef>
                <a:spcPts val="500"/>
              </a:spcBef>
            </a:pPr>
            <a:r>
              <a:rPr sz="1500">
                <a:solidFill>
                  <a:srgbClr val="003DA5"/>
                </a:solidFill>
                <a:latin typeface="Arial"/>
              </a:rPr>
              <a:t>▪  </a:t>
            </a:r>
            <a:r>
              <a:rPr sz="1700" b="1">
                <a:solidFill>
                  <a:srgbClr val="003DA5"/>
                </a:solidFill>
                <a:latin typeface="Arial"/>
              </a:rPr>
              <a:t>Typ 3: Projektentwickler: </a:t>
            </a:r>
            <a:r>
              <a:rPr sz="1700">
                <a:solidFill>
                  <a:srgbClr val="1A1A1A"/>
                </a:solidFill>
                <a:latin typeface="Arial"/>
              </a:rPr>
              <a:t>Der Projektentwickler entwickelt komplexere Projekte – Bürogebäude, Einzelhandelsflächen, gemischt genutzte Quartiere – oft für institutionelle Endinvestoren. Die…</a:t>
            </a:r>
          </a:p>
          <a:p>
            <a:pPr>
              <a:spcBef>
                <a:spcPts val="500"/>
              </a:spcBef>
            </a:pPr>
            <a:r>
              <a:rPr sz="1500">
                <a:solidFill>
                  <a:srgbClr val="003DA5"/>
                </a:solidFill>
                <a:latin typeface="Arial"/>
              </a:rPr>
              <a:t>▪  </a:t>
            </a:r>
            <a:r>
              <a:rPr sz="1700" b="1">
                <a:solidFill>
                  <a:srgbClr val="003DA5"/>
                </a:solidFill>
                <a:latin typeface="Arial"/>
              </a:rPr>
              <a:t>Cashflow-Struktur: </a:t>
            </a:r>
            <a:r>
              <a:rPr sz="1700">
                <a:solidFill>
                  <a:srgbClr val="1A1A1A"/>
                </a:solidFill>
                <a:latin typeface="Arial"/>
              </a:rPr>
              <a:t>Erst Entwicklungsphase (kein Cashflow), dann Veräußerung oder Übergang in Bestand -</a:t>
            </a:r>
          </a:p>
          <a:p>
            <a:pPr>
              <a:spcBef>
                <a:spcPts val="500"/>
              </a:spcBef>
            </a:pPr>
            <a:r>
              <a:rPr sz="1500">
                <a:solidFill>
                  <a:srgbClr val="003DA5"/>
                </a:solidFill>
                <a:latin typeface="Arial"/>
              </a:rPr>
              <a:t>▪  </a:t>
            </a:r>
            <a:r>
              <a:rPr sz="1700" b="1">
                <a:solidFill>
                  <a:srgbClr val="003DA5"/>
                </a:solidFill>
                <a:latin typeface="Arial"/>
              </a:rPr>
              <a:t>Typischer Finanzierungsbedarf: </a:t>
            </a:r>
            <a:r>
              <a:rPr sz="1700">
                <a:solidFill>
                  <a:srgbClr val="1A1A1A"/>
                </a:solidFill>
                <a:latin typeface="Arial"/>
              </a:rPr>
              <a:t>Projektentwicklungsfinanzierung oft 3–5 Jahre, ggf. Konsortialfinanzierungen mit DZ BANK -</a:t>
            </a:r>
          </a:p>
          <a:p>
            <a:pPr>
              <a:spcBef>
                <a:spcPts val="500"/>
              </a:spcBef>
            </a:pPr>
            <a:r>
              <a:rPr sz="1500">
                <a:solidFill>
                  <a:srgbClr val="003DA5"/>
                </a:solidFill>
                <a:latin typeface="Arial"/>
              </a:rPr>
              <a:t>▪  </a:t>
            </a:r>
            <a:r>
              <a:rPr sz="1700" b="1">
                <a:solidFill>
                  <a:srgbClr val="003DA5"/>
                </a:solidFill>
                <a:latin typeface="Arial"/>
              </a:rPr>
              <a:t>Kernkennzahl: </a:t>
            </a:r>
            <a:r>
              <a:rPr sz="1700">
                <a:solidFill>
                  <a:srgbClr val="1A1A1A"/>
                </a:solidFill>
                <a:latin typeface="Arial"/>
              </a:rPr>
              <a:t>Projektrendite (Entwicklergewinn / Gesamtinvestitionskosten), Vorvermietungsquote -</a:t>
            </a:r>
          </a:p>
          <a:p>
            <a:pPr>
              <a:spcBef>
                <a:spcPts val="500"/>
              </a:spcBef>
            </a:pPr>
            <a:r>
              <a:rPr sz="1500">
                <a:solidFill>
                  <a:srgbClr val="003DA5"/>
                </a:solidFill>
                <a:latin typeface="Arial"/>
              </a:rPr>
              <a:t>▪  </a:t>
            </a:r>
            <a:r>
              <a:rPr sz="1700" b="1">
                <a:solidFill>
                  <a:srgbClr val="003DA5"/>
                </a:solidFill>
                <a:latin typeface="Arial"/>
              </a:rPr>
              <a:t>Hauptrisiko: </a:t>
            </a:r>
            <a:r>
              <a:rPr sz="1700">
                <a:solidFill>
                  <a:srgbClr val="1A1A1A"/>
                </a:solidFill>
                <a:latin typeface="Arial"/>
              </a:rPr>
              <a:t>Langer Projekthorizont, Marktveränderungen, Genehmigungsrisiken, Zinsänderungsrisiken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Die Bedeutung der Typologisierung für den Berater</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43000"/>
            <a:ext cx="11430000" cy="5212080"/>
          </a:xfrm>
          <a:prstGeom prst="rect">
            <a:avLst/>
          </a:prstGeom>
          <a:noFill/>
        </p:spPr>
        <p:txBody>
          <a:bodyPr wrap="square">
            <a:spAutoFit/>
          </a:bodyPr>
          <a:lstStyle/>
          <a:p>
            <a:pPr>
              <a:spcBef>
                <a:spcPts val="500"/>
              </a:spcBef>
            </a:pPr>
            <a:r>
              <a:rPr sz="1500">
                <a:solidFill>
                  <a:srgbClr val="003DA5"/>
                </a:solidFill>
                <a:latin typeface="Arial"/>
              </a:rPr>
              <a:t>▪  </a:t>
            </a:r>
            <a:r>
              <a:rPr sz="1700">
                <a:solidFill>
                  <a:srgbClr val="1A1A1A"/>
                </a:solidFill>
                <a:latin typeface="Arial"/>
              </a:rPr>
              <a:t>Ein Bestandshalter mit 92 % Vermietungsstand und langjährigen Mietern ist ein substanziell anderes Kreditrisiko als ein Bauträger, der sein erstes Projekt…</a:t>
            </a:r>
          </a:p>
          <a:p>
            <a:pPr>
              <a:spcBef>
                <a:spcPts val="500"/>
              </a:spcBef>
            </a:pPr>
            <a:r>
              <a:rPr sz="1500">
                <a:solidFill>
                  <a:srgbClr val="003DA5"/>
                </a:solidFill>
                <a:latin typeface="Arial"/>
              </a:rPr>
              <a:t>▪  </a:t>
            </a:r>
            <a:r>
              <a:rPr sz="1700">
                <a:solidFill>
                  <a:srgbClr val="1A1A1A"/>
                </a:solidFill>
                <a:latin typeface="Arial"/>
              </a:rPr>
              <a:t>Schulte, Bone-Winkel &amp; Focke (2016, S. 312) betonen, dass die Risikostruktur in der Projektentwicklung fundamental anders ist als in der Bestandsfinanzierung:…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E05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0"/>
            <a:ext cx="11430000" cy="2011680"/>
          </a:xfrm>
          <a:prstGeom prst="rect">
            <a:avLst/>
          </a:prstGeom>
          <a:noFill/>
        </p:spPr>
        <p:txBody>
          <a:bodyPr wrap="square">
            <a:spAutoFit/>
          </a:bodyPr>
          <a:lstStyle/>
          <a:p>
            <a:pPr algn="l"/>
            <a:r>
              <a:rPr sz="3600" b="1" i="0">
                <a:solidFill>
                  <a:srgbClr val="FFFFFF"/>
                </a:solidFill>
                <a:latin typeface="Arial"/>
              </a:rPr>
              <a:t>4.2 Theorie-Input 2: Beleihungswertermittlung nach BelWertV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Warum der Beleihungswert kein Marktwert ist</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43000"/>
            <a:ext cx="11430000" cy="5212080"/>
          </a:xfrm>
          <a:prstGeom prst="rect">
            <a:avLst/>
          </a:prstGeom>
          <a:noFill/>
        </p:spPr>
        <p:txBody>
          <a:bodyPr wrap="square">
            <a:spAutoFit/>
          </a:bodyPr>
          <a:lstStyle/>
          <a:p>
            <a:pPr>
              <a:spcBef>
                <a:spcPts val="500"/>
              </a:spcBef>
            </a:pPr>
            <a:r>
              <a:rPr sz="1500">
                <a:solidFill>
                  <a:srgbClr val="003DA5"/>
                </a:solidFill>
                <a:latin typeface="Arial"/>
              </a:rPr>
              <a:t>▪  </a:t>
            </a:r>
            <a:r>
              <a:rPr sz="1700">
                <a:solidFill>
                  <a:srgbClr val="1A1A1A"/>
                </a:solidFill>
                <a:latin typeface="Arial"/>
              </a:rPr>
              <a:t>Im Kreditgeschäft ist der Beleihungswert (BW) die entscheidende Wertgröße – nicht der Marktwert. Der Beleihungswert ist nach § 16 PfandBG definiert als der…</a:t>
            </a:r>
          </a:p>
          <a:p>
            <a:pPr>
              <a:spcBef>
                <a:spcPts val="500"/>
              </a:spcBef>
            </a:pPr>
            <a:r>
              <a:rPr sz="1500">
                <a:solidFill>
                  <a:srgbClr val="003DA5"/>
                </a:solidFill>
                <a:latin typeface="Arial"/>
              </a:rPr>
              <a:t>▪  </a:t>
            </a:r>
            <a:r>
              <a:rPr sz="1700">
                <a:solidFill>
                  <a:srgbClr val="1A1A1A"/>
                </a:solidFill>
                <a:latin typeface="Arial"/>
              </a:rPr>
              <a:t>Der Beleihungswert liegt typischerweise 10–20 % unter dem Marktwert, weil er Marktüberhitzungen, spekulative Preissteigerungen und kurzfristige…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Die zwei Hauptmethoden (§§ 8–17 BelWertV)</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365760" y="1143000"/>
          <a:ext cx="11430000" cy="2852928"/>
        </p:xfrm>
        <a:graphic>
          <a:graphicData uri="http://schemas.openxmlformats.org/drawingml/2006/table">
            <a:tbl>
              <a:tblPr firstRow="1" bandRow="1">
                <a:tableStyleId>{5C22544A-7EE6-4342-B048-85BDC9FD1C3A}</a:tableStyleId>
              </a:tblPr>
              <a:tblGrid>
                <a:gridCol w="3810000"/>
                <a:gridCol w="3810000"/>
                <a:gridCol w="3810000"/>
              </a:tblGrid>
              <a:tr h="475488">
                <a:tc>
                  <a:txBody>
                    <a:bodyPr wrap="square"/>
                    <a:lstStyle/>
                    <a:p>
                      <a:r>
                        <a:rPr sz="1100" b="1">
                          <a:solidFill>
                            <a:srgbClr val="FFFFFF"/>
                          </a:solidFill>
                          <a:latin typeface="Arial"/>
                        </a:rPr>
                        <a:t>Nutzungsart</a:t>
                      </a:r>
                    </a:p>
                  </a:txBody>
                  <a:tcPr>
                    <a:solidFill>
                      <a:srgbClr val="003DA5"/>
                    </a:solidFill>
                  </a:tcPr>
                </a:tc>
                <a:tc>
                  <a:txBody>
                    <a:bodyPr wrap="square"/>
                    <a:lstStyle/>
                    <a:p>
                      <a:r>
                        <a:rPr sz="1100" b="1">
                          <a:solidFill>
                            <a:srgbClr val="FFFFFF"/>
                          </a:solidFill>
                          <a:latin typeface="Arial"/>
                        </a:rPr>
                        <a:t>Liegenschaftszins-Bandbreite</a:t>
                      </a:r>
                    </a:p>
                  </a:txBody>
                  <a:tcPr>
                    <a:solidFill>
                      <a:srgbClr val="003DA5"/>
                    </a:solidFill>
                  </a:tcPr>
                </a:tc>
                <a:tc>
                  <a:txBody>
                    <a:bodyPr wrap="square"/>
                    <a:lstStyle/>
                    <a:p>
                      <a:r>
                        <a:rPr sz="1100" b="1">
                          <a:solidFill>
                            <a:srgbClr val="FFFFFF"/>
                          </a:solidFill>
                          <a:latin typeface="Arial"/>
                        </a:rPr>
                        <a:t>Hinweis</a:t>
                      </a:r>
                    </a:p>
                  </a:txBody>
                  <a:tcPr>
                    <a:solidFill>
                      <a:srgbClr val="003DA5"/>
                    </a:solidFill>
                  </a:tcPr>
                </a:tc>
              </a:tr>
              <a:tr h="475488">
                <a:tc>
                  <a:txBody>
                    <a:bodyPr wrap="square"/>
                    <a:lstStyle/>
                    <a:p>
                      <a:r>
                        <a:rPr sz="1100" b="0">
                          <a:solidFill>
                            <a:srgbClr val="1A1A1A"/>
                          </a:solidFill>
                          <a:latin typeface="Arial"/>
                        </a:rPr>
                        <a:t>Wohnimmobilien (MFH, gute bis mittlere Lage)</a:t>
                      </a:r>
                    </a:p>
                  </a:txBody>
                  <a:tcPr>
                    <a:solidFill>
                      <a:srgbClr val="FFFFFF"/>
                    </a:solidFill>
                  </a:tcPr>
                </a:tc>
                <a:tc>
                  <a:txBody>
                    <a:bodyPr wrap="square"/>
                    <a:lstStyle/>
                    <a:p>
                      <a:r>
                        <a:rPr sz="1100" b="0">
                          <a:solidFill>
                            <a:srgbClr val="1A1A1A"/>
                          </a:solidFill>
                          <a:latin typeface="Arial"/>
                        </a:rPr>
                        <a:t>2,5–4,0 %</a:t>
                      </a:r>
                    </a:p>
                  </a:txBody>
                  <a:tcPr>
                    <a:solidFill>
                      <a:srgbClr val="FFFFFF"/>
                    </a:solidFill>
                  </a:tcPr>
                </a:tc>
                <a:tc>
                  <a:txBody>
                    <a:bodyPr wrap="square"/>
                    <a:lstStyle/>
                    <a:p>
                      <a:r>
                        <a:rPr sz="1100" b="0">
                          <a:solidFill>
                            <a:srgbClr val="1A1A1A"/>
                          </a:solidFill>
                          <a:latin typeface="Arial"/>
                        </a:rPr>
                        <a:t>Niedrigere Sätze in Metropolen, höhere in ländlichen Lagen</a:t>
                      </a:r>
                    </a:p>
                  </a:txBody>
                  <a:tcPr>
                    <a:solidFill>
                      <a:srgbClr val="FFFFFF"/>
                    </a:solidFill>
                  </a:tcPr>
                </a:tc>
              </a:tr>
              <a:tr h="475488">
                <a:tc>
                  <a:txBody>
                    <a:bodyPr wrap="square"/>
                    <a:lstStyle/>
                    <a:p>
                      <a:r>
                        <a:rPr sz="1100" b="0">
                          <a:solidFill>
                            <a:srgbClr val="1A1A1A"/>
                          </a:solidFill>
                          <a:latin typeface="Arial"/>
                        </a:rPr>
                        <a:t>Wohnimmobilien (ländliche Kleinstädte)</a:t>
                      </a:r>
                    </a:p>
                  </a:txBody>
                  <a:tcPr>
                    <a:solidFill>
                      <a:srgbClr val="F4F6FA"/>
                    </a:solidFill>
                  </a:tcPr>
                </a:tc>
                <a:tc>
                  <a:txBody>
                    <a:bodyPr wrap="square"/>
                    <a:lstStyle/>
                    <a:p>
                      <a:r>
                        <a:rPr sz="1100" b="0">
                          <a:solidFill>
                            <a:srgbClr val="1A1A1A"/>
                          </a:solidFill>
                          <a:latin typeface="Arial"/>
                        </a:rPr>
                        <a:t>3,5–5,0 %</a:t>
                      </a:r>
                    </a:p>
                  </a:txBody>
                  <a:tcPr>
                    <a:solidFill>
                      <a:srgbClr val="F4F6FA"/>
                    </a:solidFill>
                  </a:tcPr>
                </a:tc>
                <a:tc>
                  <a:txBody>
                    <a:bodyPr wrap="square"/>
                    <a:lstStyle/>
                    <a:p>
                      <a:r>
                        <a:rPr sz="1100" b="0">
                          <a:solidFill>
                            <a:srgbClr val="1A1A1A"/>
                          </a:solidFill>
                          <a:latin typeface="Arial"/>
                        </a:rPr>
                        <a:t>Eingeschränkte Marktliquidität erhöht den Satz</a:t>
                      </a:r>
                    </a:p>
                  </a:txBody>
                  <a:tcPr>
                    <a:solidFill>
                      <a:srgbClr val="F4F6FA"/>
                    </a:solidFill>
                  </a:tcPr>
                </a:tc>
              </a:tr>
              <a:tr h="475488">
                <a:tc>
                  <a:txBody>
                    <a:bodyPr wrap="square"/>
                    <a:lstStyle/>
                    <a:p>
                      <a:r>
                        <a:rPr sz="1100" b="0">
                          <a:solidFill>
                            <a:srgbClr val="1A1A1A"/>
                          </a:solidFill>
                          <a:latin typeface="Arial"/>
                        </a:rPr>
                        <a:t>Büroimmobilien</a:t>
                      </a:r>
                    </a:p>
                  </a:txBody>
                  <a:tcPr>
                    <a:solidFill>
                      <a:srgbClr val="FFFFFF"/>
                    </a:solidFill>
                  </a:tcPr>
                </a:tc>
                <a:tc>
                  <a:txBody>
                    <a:bodyPr wrap="square"/>
                    <a:lstStyle/>
                    <a:p>
                      <a:r>
                        <a:rPr sz="1100" b="0">
                          <a:solidFill>
                            <a:srgbClr val="1A1A1A"/>
                          </a:solidFill>
                          <a:latin typeface="Arial"/>
                        </a:rPr>
                        <a:t>4,0–6,0 %</a:t>
                      </a:r>
                    </a:p>
                  </a:txBody>
                  <a:tcPr>
                    <a:solidFill>
                      <a:srgbClr val="FFFFFF"/>
                    </a:solidFill>
                  </a:tcPr>
                </a:tc>
                <a:tc>
                  <a:txBody>
                    <a:bodyPr wrap="square"/>
                    <a:lstStyle/>
                    <a:p>
                      <a:r>
                        <a:rPr sz="1100" b="0">
                          <a:solidFill>
                            <a:srgbClr val="1A1A1A"/>
                          </a:solidFill>
                          <a:latin typeface="Arial"/>
                        </a:rPr>
                        <a:t>Je nach Lage und Drittverwendungsfähigkeit</a:t>
                      </a:r>
                    </a:p>
                  </a:txBody>
                  <a:tcPr>
                    <a:solidFill>
                      <a:srgbClr val="FFFFFF"/>
                    </a:solidFill>
                  </a:tcPr>
                </a:tc>
              </a:tr>
              <a:tr h="475488">
                <a:tc>
                  <a:txBody>
                    <a:bodyPr wrap="square"/>
                    <a:lstStyle/>
                    <a:p>
                      <a:r>
                        <a:rPr sz="1100" b="0">
                          <a:solidFill>
                            <a:srgbClr val="1A1A1A"/>
                          </a:solidFill>
                          <a:latin typeface="Arial"/>
                        </a:rPr>
                        <a:t>Gewerbeimmobilien (Handel, Logistik)</a:t>
                      </a:r>
                    </a:p>
                  </a:txBody>
                  <a:tcPr>
                    <a:solidFill>
                      <a:srgbClr val="F4F6FA"/>
                    </a:solidFill>
                  </a:tcPr>
                </a:tc>
                <a:tc>
                  <a:txBody>
                    <a:bodyPr wrap="square"/>
                    <a:lstStyle/>
                    <a:p>
                      <a:r>
                        <a:rPr sz="1100" b="0">
                          <a:solidFill>
                            <a:srgbClr val="1A1A1A"/>
                          </a:solidFill>
                          <a:latin typeface="Arial"/>
                        </a:rPr>
                        <a:t>4,5–7,0 %</a:t>
                      </a:r>
                    </a:p>
                  </a:txBody>
                  <a:tcPr>
                    <a:solidFill>
                      <a:srgbClr val="F4F6FA"/>
                    </a:solidFill>
                  </a:tcPr>
                </a:tc>
                <a:tc>
                  <a:txBody>
                    <a:bodyPr wrap="square"/>
                    <a:lstStyle/>
                    <a:p>
                      <a:r>
                        <a:rPr sz="1100" b="0">
                          <a:solidFill>
                            <a:srgbClr val="1A1A1A"/>
                          </a:solidFill>
                          <a:latin typeface="Arial"/>
                        </a:rPr>
                        <a:t>Strukturell höher wegen Nutzerspezifität</a:t>
                      </a:r>
                    </a:p>
                  </a:txBody>
                  <a:tcPr>
                    <a:solidFill>
                      <a:srgbClr val="F4F6FA"/>
                    </a:solidFill>
                  </a:tcPr>
                </a:tc>
              </a:tr>
              <a:tr h="475488">
                <a:tc>
                  <a:txBody>
                    <a:bodyPr wrap="square"/>
                    <a:lstStyle/>
                    <a:p>
                      <a:r>
                        <a:rPr sz="1100" b="0">
                          <a:solidFill>
                            <a:srgbClr val="1A1A1A"/>
                          </a:solidFill>
                          <a:latin typeface="Arial"/>
                        </a:rPr>
                        <a:t>Einzelhandel (Randlage, Fachmarktzentren)</a:t>
                      </a:r>
                    </a:p>
                  </a:txBody>
                  <a:tcPr>
                    <a:solidFill>
                      <a:srgbClr val="FFFFFF"/>
                    </a:solidFill>
                  </a:tcPr>
                </a:tc>
                <a:tc>
                  <a:txBody>
                    <a:bodyPr wrap="square"/>
                    <a:lstStyle/>
                    <a:p>
                      <a:r>
                        <a:rPr sz="1100" b="0">
                          <a:solidFill>
                            <a:srgbClr val="1A1A1A"/>
                          </a:solidFill>
                          <a:latin typeface="Arial"/>
                        </a:rPr>
                        <a:t>5,5–8,0 %</a:t>
                      </a:r>
                    </a:p>
                  </a:txBody>
                  <a:tcPr>
                    <a:solidFill>
                      <a:srgbClr val="FFFFFF"/>
                    </a:solidFill>
                  </a:tcPr>
                </a:tc>
                <a:tc>
                  <a:txBody>
                    <a:bodyPr wrap="square"/>
                    <a:lstStyle/>
                    <a:p>
                      <a:r>
                        <a:rPr sz="1100" b="0">
                          <a:solidFill>
                            <a:srgbClr val="1A1A1A"/>
                          </a:solidFill>
                          <a:latin typeface="Arial"/>
                        </a:rPr>
                        <a:t>E-Commerce-Druck und eingeschränkte Nachnutzung</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Praktische Einordnung: LTV-Grenzen</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365760" y="1143000"/>
          <a:ext cx="11430000" cy="3328416"/>
        </p:xfrm>
        <a:graphic>
          <a:graphicData uri="http://schemas.openxmlformats.org/drawingml/2006/table">
            <a:tbl>
              <a:tblPr firstRow="1" bandRow="1">
                <a:tableStyleId>{5C22544A-7EE6-4342-B048-85BDC9FD1C3A}</a:tableStyleId>
              </a:tblPr>
              <a:tblGrid>
                <a:gridCol w="3810000"/>
                <a:gridCol w="3810000"/>
                <a:gridCol w="3810000"/>
              </a:tblGrid>
              <a:tr h="475488">
                <a:tc>
                  <a:txBody>
                    <a:bodyPr wrap="square"/>
                    <a:lstStyle/>
                    <a:p>
                      <a:r>
                        <a:rPr sz="1100" b="1">
                          <a:solidFill>
                            <a:srgbClr val="FFFFFF"/>
                          </a:solidFill>
                          <a:latin typeface="Arial"/>
                        </a:rPr>
                        <a:t>Nutzungsart</a:t>
                      </a:r>
                    </a:p>
                  </a:txBody>
                  <a:tcPr>
                    <a:solidFill>
                      <a:srgbClr val="003DA5"/>
                    </a:solidFill>
                  </a:tcPr>
                </a:tc>
                <a:tc>
                  <a:txBody>
                    <a:bodyPr wrap="square"/>
                    <a:lstStyle/>
                    <a:p>
                      <a:r>
                        <a:rPr sz="1100" b="1">
                          <a:solidFill>
                            <a:srgbClr val="FFFFFF"/>
                          </a:solidFill>
                          <a:latin typeface="Arial"/>
                        </a:rPr>
                        <a:t>Üblicher LTV-Rahmen (Hausbankkredit)</a:t>
                      </a:r>
                    </a:p>
                  </a:txBody>
                  <a:tcPr>
                    <a:solidFill>
                      <a:srgbClr val="003DA5"/>
                    </a:solidFill>
                  </a:tcPr>
                </a:tc>
                <a:tc>
                  <a:txBody>
                    <a:bodyPr wrap="square"/>
                    <a:lstStyle/>
                    <a:p>
                      <a:r>
                        <a:rPr sz="1100" b="1">
                          <a:solidFill>
                            <a:srgbClr val="FFFFFF"/>
                          </a:solidFill>
                          <a:latin typeface="Arial"/>
                        </a:rPr>
                        <a:t>Hinweis</a:t>
                      </a:r>
                    </a:p>
                  </a:txBody>
                  <a:tcPr>
                    <a:solidFill>
                      <a:srgbClr val="003DA5"/>
                    </a:solidFill>
                  </a:tcPr>
                </a:tc>
              </a:tr>
              <a:tr h="475488">
                <a:tc>
                  <a:txBody>
                    <a:bodyPr wrap="square"/>
                    <a:lstStyle/>
                    <a:p>
                      <a:r>
                        <a:rPr sz="1100" b="0">
                          <a:solidFill>
                            <a:srgbClr val="1A1A1A"/>
                          </a:solidFill>
                          <a:latin typeface="Arial"/>
                        </a:rPr>
                        <a:t>Wohnimmobilien (EFH/MFH, gute Lage)</a:t>
                      </a:r>
                    </a:p>
                  </a:txBody>
                  <a:tcPr>
                    <a:solidFill>
                      <a:srgbClr val="FFFFFF"/>
                    </a:solidFill>
                  </a:tcPr>
                </a:tc>
                <a:tc>
                  <a:txBody>
                    <a:bodyPr wrap="square"/>
                    <a:lstStyle/>
                    <a:p>
                      <a:r>
                        <a:rPr sz="1100" b="0">
                          <a:solidFill>
                            <a:srgbClr val="1A1A1A"/>
                          </a:solidFill>
                          <a:latin typeface="Arial"/>
                        </a:rPr>
                        <a:t>bis 80 % des Beleihungswerts</a:t>
                      </a:r>
                    </a:p>
                  </a:txBody>
                  <a:tcPr>
                    <a:solidFill>
                      <a:srgbClr val="FFFFFF"/>
                    </a:solidFill>
                  </a:tcPr>
                </a:tc>
                <a:tc>
                  <a:txBody>
                    <a:bodyPr wrap="square"/>
                    <a:lstStyle/>
                    <a:p>
                      <a:r>
                        <a:rPr sz="1100" b="0">
                          <a:solidFill>
                            <a:srgbClr val="1A1A1A"/>
                          </a:solidFill>
                          <a:latin typeface="Arial"/>
                        </a:rPr>
                        <a:t>Standardbereich; darüber Auflagen</a:t>
                      </a:r>
                    </a:p>
                  </a:txBody>
                  <a:tcPr>
                    <a:solidFill>
                      <a:srgbClr val="FFFFFF"/>
                    </a:solidFill>
                  </a:tcPr>
                </a:tc>
              </a:tr>
              <a:tr h="475488">
                <a:tc>
                  <a:txBody>
                    <a:bodyPr wrap="square"/>
                    <a:lstStyle/>
                    <a:p>
                      <a:r>
                        <a:rPr sz="1100" b="0">
                          <a:solidFill>
                            <a:srgbClr val="1A1A1A"/>
                          </a:solidFill>
                          <a:latin typeface="Arial"/>
                        </a:rPr>
                        <a:t>Wohnimmobilien (ländliche Lage, Randlage)</a:t>
                      </a:r>
                    </a:p>
                  </a:txBody>
                  <a:tcPr>
                    <a:solidFill>
                      <a:srgbClr val="F4F6FA"/>
                    </a:solidFill>
                  </a:tcPr>
                </a:tc>
                <a:tc>
                  <a:txBody>
                    <a:bodyPr wrap="square"/>
                    <a:lstStyle/>
                    <a:p>
                      <a:r>
                        <a:rPr sz="1100" b="0">
                          <a:solidFill>
                            <a:srgbClr val="1A1A1A"/>
                          </a:solidFill>
                          <a:latin typeface="Arial"/>
                        </a:rPr>
                        <a:t>bis 70 %</a:t>
                      </a:r>
                    </a:p>
                  </a:txBody>
                  <a:tcPr>
                    <a:solidFill>
                      <a:srgbClr val="F4F6FA"/>
                    </a:solidFill>
                  </a:tcPr>
                </a:tc>
                <a:tc>
                  <a:txBody>
                    <a:bodyPr wrap="square"/>
                    <a:lstStyle/>
                    <a:p>
                      <a:r>
                        <a:rPr sz="1100" b="0">
                          <a:solidFill>
                            <a:srgbClr val="1A1A1A"/>
                          </a:solidFill>
                          <a:latin typeface="Arial"/>
                        </a:rPr>
                        <a:t>Eingeschränkte Liquidität des Marktes</a:t>
                      </a:r>
                    </a:p>
                  </a:txBody>
                  <a:tcPr>
                    <a:solidFill>
                      <a:srgbClr val="F4F6FA"/>
                    </a:solidFill>
                  </a:tcPr>
                </a:tc>
              </a:tr>
              <a:tr h="475488">
                <a:tc>
                  <a:txBody>
                    <a:bodyPr wrap="square"/>
                    <a:lstStyle/>
                    <a:p>
                      <a:r>
                        <a:rPr sz="1100" b="0">
                          <a:solidFill>
                            <a:srgbClr val="1A1A1A"/>
                          </a:solidFill>
                          <a:latin typeface="Arial"/>
                        </a:rPr>
                        <a:t>Gewerbeimmobilien (Büro, Logistik)</a:t>
                      </a:r>
                    </a:p>
                  </a:txBody>
                  <a:tcPr>
                    <a:solidFill>
                      <a:srgbClr val="FFFFFF"/>
                    </a:solidFill>
                  </a:tcPr>
                </a:tc>
                <a:tc>
                  <a:txBody>
                    <a:bodyPr wrap="square"/>
                    <a:lstStyle/>
                    <a:p>
                      <a:r>
                        <a:rPr sz="1100" b="0">
                          <a:solidFill>
                            <a:srgbClr val="1A1A1A"/>
                          </a:solidFill>
                          <a:latin typeface="Arial"/>
                        </a:rPr>
                        <a:t>i.d.R. ≤ 65 %</a:t>
                      </a:r>
                    </a:p>
                  </a:txBody>
                  <a:tcPr>
                    <a:solidFill>
                      <a:srgbClr val="FFFFFF"/>
                    </a:solidFill>
                  </a:tcPr>
                </a:tc>
                <a:tc>
                  <a:txBody>
                    <a:bodyPr wrap="square"/>
                    <a:lstStyle/>
                    <a:p>
                      <a:r>
                        <a:rPr sz="1100" b="0">
                          <a:solidFill>
                            <a:srgbClr val="1A1A1A"/>
                          </a:solidFill>
                          <a:latin typeface="Arial"/>
                        </a:rPr>
                        <a:t>Strukturell konservativer; Leerstandsrisiko</a:t>
                      </a:r>
                    </a:p>
                  </a:txBody>
                  <a:tcPr>
                    <a:solidFill>
                      <a:srgbClr val="FFFFFF"/>
                    </a:solidFill>
                  </a:tcPr>
                </a:tc>
              </a:tr>
              <a:tr h="475488">
                <a:tc>
                  <a:txBody>
                    <a:bodyPr wrap="square"/>
                    <a:lstStyle/>
                    <a:p>
                      <a:r>
                        <a:rPr sz="1100" b="0">
                          <a:solidFill>
                            <a:srgbClr val="1A1A1A"/>
                          </a:solidFill>
                          <a:latin typeface="Arial"/>
                        </a:rPr>
                        <a:t>Einzelhandel (Innenstadt)</a:t>
                      </a:r>
                    </a:p>
                  </a:txBody>
                  <a:tcPr>
                    <a:solidFill>
                      <a:srgbClr val="F4F6FA"/>
                    </a:solidFill>
                  </a:tcPr>
                </a:tc>
                <a:tc>
                  <a:txBody>
                    <a:bodyPr wrap="square"/>
                    <a:lstStyle/>
                    <a:p>
                      <a:r>
                        <a:rPr sz="1100" b="0">
                          <a:solidFill>
                            <a:srgbClr val="1A1A1A"/>
                          </a:solidFill>
                          <a:latin typeface="Arial"/>
                        </a:rPr>
                        <a:t>≤ 60–65 %</a:t>
                      </a:r>
                    </a:p>
                  </a:txBody>
                  <a:tcPr>
                    <a:solidFill>
                      <a:srgbClr val="F4F6FA"/>
                    </a:solidFill>
                  </a:tcPr>
                </a:tc>
                <a:tc>
                  <a:txBody>
                    <a:bodyPr wrap="square"/>
                    <a:lstStyle/>
                    <a:p>
                      <a:r>
                        <a:rPr sz="1100" b="0">
                          <a:solidFill>
                            <a:srgbClr val="1A1A1A"/>
                          </a:solidFill>
                          <a:latin typeface="Arial"/>
                        </a:rPr>
                        <a:t>E-Commerce-Druck auf Mieternachfrage</a:t>
                      </a:r>
                    </a:p>
                  </a:txBody>
                  <a:tcPr>
                    <a:solidFill>
                      <a:srgbClr val="F4F6FA"/>
                    </a:solidFill>
                  </a:tcPr>
                </a:tc>
              </a:tr>
              <a:tr h="475488">
                <a:tc>
                  <a:txBody>
                    <a:bodyPr wrap="square"/>
                    <a:lstStyle/>
                    <a:p>
                      <a:r>
                        <a:rPr sz="1100" b="0">
                          <a:solidFill>
                            <a:srgbClr val="1A1A1A"/>
                          </a:solidFill>
                          <a:latin typeface="Arial"/>
                        </a:rPr>
                        <a:t>Einzelhandel (Randlage) / Spezialimmobilien</a:t>
                      </a:r>
                    </a:p>
                  </a:txBody>
                  <a:tcPr>
                    <a:solidFill>
                      <a:srgbClr val="FFFFFF"/>
                    </a:solidFill>
                  </a:tcPr>
                </a:tc>
                <a:tc>
                  <a:txBody>
                    <a:bodyPr wrap="square"/>
                    <a:lstStyle/>
                    <a:p>
                      <a:r>
                        <a:rPr sz="1100" b="0">
                          <a:solidFill>
                            <a:srgbClr val="1A1A1A"/>
                          </a:solidFill>
                          <a:latin typeface="Arial"/>
                        </a:rPr>
                        <a:t>≤ 50–55 %</a:t>
                      </a:r>
                    </a:p>
                  </a:txBody>
                  <a:tcPr>
                    <a:solidFill>
                      <a:srgbClr val="FFFFFF"/>
                    </a:solidFill>
                  </a:tcPr>
                </a:tc>
                <a:tc>
                  <a:txBody>
                    <a:bodyPr wrap="square"/>
                    <a:lstStyle/>
                    <a:p>
                      <a:r>
                        <a:rPr sz="1100" b="0">
                          <a:solidFill>
                            <a:srgbClr val="1A1A1A"/>
                          </a:solidFill>
                          <a:latin typeface="Arial"/>
                        </a:rPr>
                        <a:t>Eingeschränkte Drittverwendungsfähigkeit</a:t>
                      </a:r>
                    </a:p>
                  </a:txBody>
                  <a:tcPr>
                    <a:solidFill>
                      <a:srgbClr val="FFFFFF"/>
                    </a:solidFill>
                  </a:tcPr>
                </a:tc>
              </a:tr>
              <a:tr h="475488">
                <a:tc>
                  <a:txBody>
                    <a:bodyPr wrap="square"/>
                    <a:lstStyle/>
                    <a:p>
                      <a:r>
                        <a:rPr sz="1100" b="0">
                          <a:solidFill>
                            <a:srgbClr val="1A1A1A"/>
                          </a:solidFill>
                          <a:latin typeface="Arial"/>
                        </a:rPr>
                        <a:t>Gastronomie, Spezialgebäude</a:t>
                      </a:r>
                    </a:p>
                  </a:txBody>
                  <a:tcPr>
                    <a:solidFill>
                      <a:srgbClr val="F4F6FA"/>
                    </a:solidFill>
                  </a:tcPr>
                </a:tc>
                <a:tc>
                  <a:txBody>
                    <a:bodyPr wrap="square"/>
                    <a:lstStyle/>
                    <a:p>
                      <a:r>
                        <a:rPr sz="1100" b="0">
                          <a:solidFill>
                            <a:srgbClr val="1A1A1A"/>
                          </a:solidFill>
                          <a:latin typeface="Arial"/>
                        </a:rPr>
                        <a:t>≤ 50 %</a:t>
                      </a:r>
                    </a:p>
                  </a:txBody>
                  <a:tcPr>
                    <a:solidFill>
                      <a:srgbClr val="F4F6FA"/>
                    </a:solidFill>
                  </a:tcPr>
                </a:tc>
                <a:tc>
                  <a:txBody>
                    <a:bodyPr wrap="square"/>
                    <a:lstStyle/>
                    <a:p>
                      <a:r>
                        <a:rPr sz="1100" b="0">
                          <a:solidFill>
                            <a:srgbClr val="1A1A1A"/>
                          </a:solidFill>
                          <a:latin typeface="Arial"/>
                        </a:rPr>
                        <a:t>Sehr eingeschränkte Verwertbarkeit</a:t>
                      </a:r>
                    </a:p>
                  </a:txBody>
                  <a:tcPr>
                    <a:solidFill>
                      <a:srgbClr val="F4F6FA"/>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E05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0"/>
            <a:ext cx="11430000" cy="2011680"/>
          </a:xfrm>
          <a:prstGeom prst="rect">
            <a:avLst/>
          </a:prstGeom>
          <a:noFill/>
        </p:spPr>
        <p:txBody>
          <a:bodyPr wrap="square">
            <a:spAutoFit/>
          </a:bodyPr>
          <a:lstStyle/>
          <a:p>
            <a:pPr algn="l"/>
            <a:r>
              <a:rPr sz="3600" b="1" i="0">
                <a:solidFill>
                  <a:srgbClr val="FFFFFF"/>
                </a:solidFill>
                <a:latin typeface="Arial"/>
              </a:rPr>
              <a:t>4.3 Theorie-Input 3: Kennzahlen der Immobilien- und Projektfinanzierung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Die vier Schlüsselkennzahlen im Überblick</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365760" y="1143000"/>
          <a:ext cx="11430000" cy="3328416"/>
        </p:xfrm>
        <a:graphic>
          <a:graphicData uri="http://schemas.openxmlformats.org/drawingml/2006/table">
            <a:tbl>
              <a:tblPr firstRow="1" bandRow="1">
                <a:tableStyleId>{5C22544A-7EE6-4342-B048-85BDC9FD1C3A}</a:tableStyleId>
              </a:tblPr>
              <a:tblGrid>
                <a:gridCol w="3810000"/>
                <a:gridCol w="3810000"/>
                <a:gridCol w="3810000"/>
              </a:tblGrid>
              <a:tr h="475488">
                <a:tc>
                  <a:txBody>
                    <a:bodyPr wrap="square"/>
                    <a:lstStyle/>
                    <a:p>
                      <a:r>
                        <a:rPr sz="1100" b="1">
                          <a:solidFill>
                            <a:srgbClr val="FFFFFF"/>
                          </a:solidFill>
                          <a:latin typeface="Arial"/>
                        </a:rPr>
                        <a:t>Kundentypologie</a:t>
                      </a:r>
                    </a:p>
                  </a:txBody>
                  <a:tcPr>
                    <a:solidFill>
                      <a:srgbClr val="003DA5"/>
                    </a:solidFill>
                  </a:tcPr>
                </a:tc>
                <a:tc>
                  <a:txBody>
                    <a:bodyPr wrap="square"/>
                    <a:lstStyle/>
                    <a:p>
                      <a:r>
                        <a:rPr sz="1100" b="1">
                          <a:solidFill>
                            <a:srgbClr val="FFFFFF"/>
                          </a:solidFill>
                          <a:latin typeface="Arial"/>
                        </a:rPr>
                        <a:t>LTV-Formel</a:t>
                      </a:r>
                    </a:p>
                  </a:txBody>
                  <a:tcPr>
                    <a:solidFill>
                      <a:srgbClr val="003DA5"/>
                    </a:solidFill>
                  </a:tcPr>
                </a:tc>
                <a:tc>
                  <a:txBody>
                    <a:bodyPr wrap="square"/>
                    <a:lstStyle/>
                    <a:p>
                      <a:r>
                        <a:rPr sz="1100" b="1">
                          <a:solidFill>
                            <a:srgbClr val="FFFFFF"/>
                          </a:solidFill>
                          <a:latin typeface="Arial"/>
                        </a:rPr>
                        <a:t>Bezugsgröße</a:t>
                      </a:r>
                    </a:p>
                  </a:txBody>
                  <a:tcPr>
                    <a:solidFill>
                      <a:srgbClr val="003DA5"/>
                    </a:solidFill>
                  </a:tcPr>
                </a:tc>
              </a:tr>
              <a:tr h="475488">
                <a:tc>
                  <a:txBody>
                    <a:bodyPr wrap="square"/>
                    <a:lstStyle/>
                    <a:p>
                      <a:r>
                        <a:rPr sz="1100" b="0">
                          <a:solidFill>
                            <a:srgbClr val="1A1A1A"/>
                          </a:solidFill>
                          <a:latin typeface="Arial"/>
                        </a:rPr>
                        <a:t>Bestandshalter</a:t>
                      </a:r>
                    </a:p>
                  </a:txBody>
                  <a:tcPr>
                    <a:solidFill>
                      <a:srgbClr val="FFFFFF"/>
                    </a:solidFill>
                  </a:tcPr>
                </a:tc>
                <a:tc>
                  <a:txBody>
                    <a:bodyPr wrap="square"/>
                    <a:lstStyle/>
                    <a:p>
                      <a:r>
                        <a:rPr sz="1100" b="0">
                          <a:solidFill>
                            <a:srgbClr val="1A1A1A"/>
                          </a:solidFill>
                          <a:latin typeface="Arial"/>
                        </a:rPr>
                        <a:t>Kreditbetrag / Beleihungswert (BelWertV) × 100</a:t>
                      </a:r>
                    </a:p>
                  </a:txBody>
                  <a:tcPr>
                    <a:solidFill>
                      <a:srgbClr val="FFFFFF"/>
                    </a:solidFill>
                  </a:tcPr>
                </a:tc>
                <a:tc>
                  <a:txBody>
                    <a:bodyPr wrap="square"/>
                    <a:lstStyle/>
                    <a:p>
                      <a:r>
                        <a:rPr sz="1100" b="0">
                          <a:solidFill>
                            <a:srgbClr val="1A1A1A"/>
                          </a:solidFill>
                          <a:latin typeface="Arial"/>
                        </a:rPr>
                        <a:t>Beleihungswert (dauerhaft erzielbarer Wert)</a:t>
                      </a:r>
                    </a:p>
                  </a:txBody>
                  <a:tcPr>
                    <a:solidFill>
                      <a:srgbClr val="FFFFFF"/>
                    </a:solidFill>
                  </a:tcPr>
                </a:tc>
              </a:tr>
              <a:tr h="475488">
                <a:tc>
                  <a:txBody>
                    <a:bodyPr wrap="square"/>
                    <a:lstStyle/>
                    <a:p>
                      <a:r>
                        <a:rPr sz="1100" b="0">
                          <a:solidFill>
                            <a:srgbClr val="1A1A1A"/>
                          </a:solidFill>
                          <a:latin typeface="Arial"/>
                        </a:rPr>
                        <a:t>Bauträger</a:t>
                      </a:r>
                    </a:p>
                  </a:txBody>
                  <a:tcPr>
                    <a:solidFill>
                      <a:srgbClr val="F4F6FA"/>
                    </a:solidFill>
                  </a:tcPr>
                </a:tc>
                <a:tc>
                  <a:txBody>
                    <a:bodyPr wrap="square"/>
                    <a:lstStyle/>
                    <a:p>
                      <a:r>
                        <a:rPr sz="1100" b="0">
                          <a:solidFill>
                            <a:srgbClr val="1A1A1A"/>
                          </a:solidFill>
                          <a:latin typeface="Arial"/>
                        </a:rPr>
                        <a:t>Kreditbetrag / Gesamtprojektwert (GDV) × 100</a:t>
                      </a:r>
                    </a:p>
                  </a:txBody>
                  <a:tcPr>
                    <a:solidFill>
                      <a:srgbClr val="F4F6FA"/>
                    </a:solidFill>
                  </a:tcPr>
                </a:tc>
                <a:tc>
                  <a:txBody>
                    <a:bodyPr wrap="square"/>
                    <a:lstStyle/>
                    <a:p>
                      <a:r>
                        <a:rPr sz="1100" b="0">
                          <a:solidFill>
                            <a:srgbClr val="1A1A1A"/>
                          </a:solidFill>
                          <a:latin typeface="Arial"/>
                        </a:rPr>
                        <a:t>Prognostizierter Gesamtverkaufserlös (Gross Development Value)</a:t>
                      </a:r>
                    </a:p>
                  </a:txBody>
                  <a:tcPr>
                    <a:solidFill>
                      <a:srgbClr val="F4F6FA"/>
                    </a:solidFill>
                  </a:tcPr>
                </a:tc>
              </a:tr>
              <a:tr h="475488">
                <a:tc>
                  <a:txBody>
                    <a:bodyPr wrap="square"/>
                    <a:lstStyle/>
                    <a:p>
                      <a:r>
                        <a:rPr sz="1100" b="0">
                          <a:solidFill>
                            <a:srgbClr val="1A1A1A"/>
                          </a:solidFill>
                          <a:latin typeface="Arial"/>
                        </a:rPr>
                        <a:t>LTV-Bereich (Bestandshalter)</a:t>
                      </a:r>
                    </a:p>
                  </a:txBody>
                  <a:tcPr>
                    <a:solidFill>
                      <a:srgbClr val="FFFFFF"/>
                    </a:solidFill>
                  </a:tcPr>
                </a:tc>
                <a:tc>
                  <a:txBody>
                    <a:bodyPr wrap="square"/>
                    <a:lstStyle/>
                    <a:p>
                      <a:r>
                        <a:rPr sz="1100" b="0">
                          <a:solidFill>
                            <a:srgbClr val="1A1A1A"/>
                          </a:solidFill>
                          <a:latin typeface="Arial"/>
                        </a:rPr>
                        <a:t>Einschätzung</a:t>
                      </a:r>
                    </a:p>
                  </a:txBody>
                  <a:tcPr>
                    <a:solidFill>
                      <a:srgbClr val="FFFFFF"/>
                    </a:solidFill>
                  </a:tcPr>
                </a:tc>
                <a:tc>
                  <a:txBody>
                    <a:bodyPr wrap="square"/>
                    <a:lstStyle/>
                    <a:p>
                      <a:r>
                        <a:rPr sz="1100" b="0">
                          <a:solidFill>
                            <a:srgbClr val="1A1A1A"/>
                          </a:solidFill>
                          <a:latin typeface="Arial"/>
                        </a:rPr>
                        <a:t/>
                      </a:r>
                    </a:p>
                  </a:txBody>
                  <a:tcPr>
                    <a:solidFill>
                      <a:srgbClr val="FFFFFF"/>
                    </a:solidFill>
                  </a:tcPr>
                </a:tc>
              </a:tr>
              <a:tr h="475488">
                <a:tc>
                  <a:txBody>
                    <a:bodyPr wrap="square"/>
                    <a:lstStyle/>
                    <a:p>
                      <a:r>
                        <a:rPr sz="1100" b="0">
                          <a:solidFill>
                            <a:srgbClr val="1A1A1A"/>
                          </a:solidFill>
                          <a:latin typeface="Arial"/>
                        </a:rPr>
                        <a:t>&lt; 60 % (Beleihungswert)</a:t>
                      </a:r>
                    </a:p>
                  </a:txBody>
                  <a:tcPr>
                    <a:solidFill>
                      <a:srgbClr val="F4F6FA"/>
                    </a:solidFill>
                  </a:tcPr>
                </a:tc>
                <a:tc>
                  <a:txBody>
                    <a:bodyPr wrap="square"/>
                    <a:lstStyle/>
                    <a:p>
                      <a:r>
                        <a:rPr sz="1100" b="0">
                          <a:solidFill>
                            <a:srgbClr val="1A1A1A"/>
                          </a:solidFill>
                          <a:latin typeface="Arial"/>
                        </a:rPr>
                        <a:t>Konservativ, pfandbrieffähig</a:t>
                      </a:r>
                    </a:p>
                  </a:txBody>
                  <a:tcPr>
                    <a:solidFill>
                      <a:srgbClr val="F4F6FA"/>
                    </a:solidFill>
                  </a:tcPr>
                </a:tc>
                <a:tc>
                  <a:txBody>
                    <a:bodyPr wrap="square"/>
                    <a:lstStyle/>
                    <a:p>
                      <a:r>
                        <a:rPr sz="1100" b="0">
                          <a:solidFill>
                            <a:srgbClr val="1A1A1A"/>
                          </a:solidFill>
                          <a:latin typeface="Arial"/>
                        </a:rPr>
                        <a:t/>
                      </a:r>
                    </a:p>
                  </a:txBody>
                  <a:tcPr>
                    <a:solidFill>
                      <a:srgbClr val="F4F6FA"/>
                    </a:solidFill>
                  </a:tcPr>
                </a:tc>
              </a:tr>
              <a:tr h="475488">
                <a:tc>
                  <a:txBody>
                    <a:bodyPr wrap="square"/>
                    <a:lstStyle/>
                    <a:p>
                      <a:r>
                        <a:rPr sz="1100" b="0">
                          <a:solidFill>
                            <a:srgbClr val="1A1A1A"/>
                          </a:solidFill>
                          <a:latin typeface="Arial"/>
                        </a:rPr>
                        <a:t>60–80 % (Beleihungswert)</a:t>
                      </a:r>
                    </a:p>
                  </a:txBody>
                  <a:tcPr>
                    <a:solidFill>
                      <a:srgbClr val="FFFFFF"/>
                    </a:solidFill>
                  </a:tcPr>
                </a:tc>
                <a:tc>
                  <a:txBody>
                    <a:bodyPr wrap="square"/>
                    <a:lstStyle/>
                    <a:p>
                      <a:r>
                        <a:rPr sz="1100" b="0">
                          <a:solidFill>
                            <a:srgbClr val="1A1A1A"/>
                          </a:solidFill>
                          <a:latin typeface="Arial"/>
                        </a:rPr>
                        <a:t>Banküblicher Standardbereich</a:t>
                      </a:r>
                    </a:p>
                  </a:txBody>
                  <a:tcPr>
                    <a:solidFill>
                      <a:srgbClr val="FFFFFF"/>
                    </a:solidFill>
                  </a:tcPr>
                </a:tc>
                <a:tc>
                  <a:txBody>
                    <a:bodyPr wrap="square"/>
                    <a:lstStyle/>
                    <a:p>
                      <a:r>
                        <a:rPr sz="1100" b="0">
                          <a:solidFill>
                            <a:srgbClr val="1A1A1A"/>
                          </a:solidFill>
                          <a:latin typeface="Arial"/>
                        </a:rPr>
                        <a:t/>
                      </a:r>
                    </a:p>
                  </a:txBody>
                  <a:tcPr>
                    <a:solidFill>
                      <a:srgbClr val="FFFFFF"/>
                    </a:solidFill>
                  </a:tcPr>
                </a:tc>
              </a:tr>
              <a:tr h="475488">
                <a:tc>
                  <a:txBody>
                    <a:bodyPr wrap="square"/>
                    <a:lstStyle/>
                    <a:p>
                      <a:r>
                        <a:rPr sz="1100" b="0">
                          <a:solidFill>
                            <a:srgbClr val="1A1A1A"/>
                          </a:solidFill>
                          <a:latin typeface="Arial"/>
                        </a:rPr>
                        <a:t>&gt; 80 % (Beleihungswert)</a:t>
                      </a:r>
                    </a:p>
                  </a:txBody>
                  <a:tcPr>
                    <a:solidFill>
                      <a:srgbClr val="F4F6FA"/>
                    </a:solidFill>
                  </a:tcPr>
                </a:tc>
                <a:tc>
                  <a:txBody>
                    <a:bodyPr wrap="square"/>
                    <a:lstStyle/>
                    <a:p>
                      <a:r>
                        <a:rPr sz="1100" b="0">
                          <a:solidFill>
                            <a:srgbClr val="1A1A1A"/>
                          </a:solidFill>
                          <a:latin typeface="Arial"/>
                        </a:rPr>
                        <a:t>Erhöhtes Risiko, Auflagen erforderlich</a:t>
                      </a:r>
                    </a:p>
                  </a:txBody>
                  <a:tcPr>
                    <a:solidFill>
                      <a:srgbClr val="F4F6FA"/>
                    </a:solidFill>
                  </a:tcPr>
                </a:tc>
                <a:tc>
                  <a:txBody>
                    <a:bodyPr wrap="square"/>
                    <a:lstStyle/>
                    <a:p>
                      <a:r>
                        <a:rPr sz="1100" b="0">
                          <a:solidFill>
                            <a:srgbClr val="1A1A1A"/>
                          </a:solidFill>
                          <a:latin typeface="Arial"/>
                        </a:rPr>
                        <a:t/>
                      </a:r>
                    </a:p>
                  </a:txBody>
                  <a:tcPr>
                    <a:solidFill>
                      <a:srgbClr val="F4F6FA"/>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Verbundpartner-Übersicht Immobilienfinanzierung</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365760" y="1143000"/>
          <a:ext cx="11430000" cy="4279392"/>
        </p:xfrm>
        <a:graphic>
          <a:graphicData uri="http://schemas.openxmlformats.org/drawingml/2006/table">
            <a:tbl>
              <a:tblPr firstRow="1" bandRow="1">
                <a:tableStyleId>{5C22544A-7EE6-4342-B048-85BDC9FD1C3A}</a:tableStyleId>
              </a:tblPr>
              <a:tblGrid>
                <a:gridCol w="5715000"/>
                <a:gridCol w="5715000"/>
              </a:tblGrid>
              <a:tr h="475488">
                <a:tc>
                  <a:txBody>
                    <a:bodyPr wrap="square"/>
                    <a:lstStyle/>
                    <a:p>
                      <a:r>
                        <a:rPr sz="1100" b="1">
                          <a:solidFill>
                            <a:srgbClr val="FFFFFF"/>
                          </a:solidFill>
                          <a:latin typeface="Arial"/>
                        </a:rPr>
                        <a:t>Verbundpartner</a:t>
                      </a:r>
                    </a:p>
                  </a:txBody>
                  <a:tcPr>
                    <a:solidFill>
                      <a:srgbClr val="003DA5"/>
                    </a:solidFill>
                  </a:tcPr>
                </a:tc>
                <a:tc>
                  <a:txBody>
                    <a:bodyPr wrap="square"/>
                    <a:lstStyle/>
                    <a:p>
                      <a:r>
                        <a:rPr sz="1100" b="1">
                          <a:solidFill>
                            <a:srgbClr val="FFFFFF"/>
                          </a:solidFill>
                          <a:latin typeface="Arial"/>
                        </a:rPr>
                        <a:t>Einsatzbereich</a:t>
                      </a:r>
                    </a:p>
                  </a:txBody>
                  <a:tcPr>
                    <a:solidFill>
                      <a:srgbClr val="003DA5"/>
                    </a:solidFill>
                  </a:tcPr>
                </a:tc>
              </a:tr>
              <a:tr h="475488">
                <a:tc>
                  <a:txBody>
                    <a:bodyPr wrap="square"/>
                    <a:lstStyle/>
                    <a:p>
                      <a:r>
                        <a:rPr sz="1100" b="0">
                          <a:solidFill>
                            <a:srgbClr val="1A1A1A"/>
                          </a:solidFill>
                          <a:latin typeface="Arial"/>
                        </a:rPr>
                        <a:t>Schwäbisch Hall (SHB)</a:t>
                      </a:r>
                    </a:p>
                  </a:txBody>
                  <a:tcPr>
                    <a:solidFill>
                      <a:srgbClr val="FFFFFF"/>
                    </a:solidFill>
                  </a:tcPr>
                </a:tc>
                <a:tc>
                  <a:txBody>
                    <a:bodyPr wrap="square"/>
                    <a:lstStyle/>
                    <a:p>
                      <a:r>
                        <a:rPr sz="1100" b="0">
                          <a:solidFill>
                            <a:srgbClr val="1A1A1A"/>
                          </a:solidFill>
                          <a:latin typeface="Arial"/>
                        </a:rPr>
                        <a:t>Endfinanzierung der Käufer bei Bauträgerprojekten; energetische Sanierungsfinanzierung bei Bestandshaltern; Tilgungsaussetzungsmodell (Bausparvertrag) – meistgenutzter Verbundpartner im Alltag</a:t>
                      </a:r>
                    </a:p>
                  </a:txBody>
                  <a:tcPr>
                    <a:solidFill>
                      <a:srgbClr val="FFFFFF"/>
                    </a:solidFill>
                  </a:tcPr>
                </a:tc>
              </a:tr>
              <a:tr h="475488">
                <a:tc>
                  <a:txBody>
                    <a:bodyPr wrap="square"/>
                    <a:lstStyle/>
                    <a:p>
                      <a:r>
                        <a:rPr sz="1100" b="0">
                          <a:solidFill>
                            <a:srgbClr val="1A1A1A"/>
                          </a:solidFill>
                          <a:latin typeface="Arial"/>
                        </a:rPr>
                        <a:t>MünchenerHyp</a:t>
                      </a:r>
                    </a:p>
                  </a:txBody>
                  <a:tcPr>
                    <a:solidFill>
                      <a:srgbClr val="F4F6FA"/>
                    </a:solidFill>
                  </a:tcPr>
                </a:tc>
                <a:tc>
                  <a:txBody>
                    <a:bodyPr wrap="square"/>
                    <a:lstStyle/>
                    <a:p>
                      <a:r>
                        <a:rPr sz="1100" b="0">
                          <a:solidFill>
                            <a:srgbClr val="1A1A1A"/>
                          </a:solidFill>
                          <a:latin typeface="Arial"/>
                        </a:rPr>
                        <a:t>Refinanzierung großvolumiger Bestandshalter-Kredite; Prolongationspartner bei langen Laufzeiten; Konsortialfinanzierung Wohnimmobilien ab ca. 1,5 Mio. EUR</a:t>
                      </a:r>
                    </a:p>
                  </a:txBody>
                  <a:tcPr>
                    <a:solidFill>
                      <a:srgbClr val="F4F6FA"/>
                    </a:solidFill>
                  </a:tcPr>
                </a:tc>
              </a:tr>
              <a:tr h="475488">
                <a:tc>
                  <a:txBody>
                    <a:bodyPr wrap="square"/>
                    <a:lstStyle/>
                    <a:p>
                      <a:r>
                        <a:rPr sz="1100" b="0">
                          <a:solidFill>
                            <a:srgbClr val="1A1A1A"/>
                          </a:solidFill>
                          <a:latin typeface="Arial"/>
                        </a:rPr>
                        <a:t>DZ BANK</a:t>
                      </a:r>
                    </a:p>
                  </a:txBody>
                  <a:tcPr>
                    <a:solidFill>
                      <a:srgbClr val="FFFFFF"/>
                    </a:solidFill>
                  </a:tcPr>
                </a:tc>
                <a:tc>
                  <a:txBody>
                    <a:bodyPr wrap="square"/>
                    <a:lstStyle/>
                    <a:p>
                      <a:r>
                        <a:rPr sz="1100" b="0">
                          <a:solidFill>
                            <a:srgbClr val="1A1A1A"/>
                          </a:solidFill>
                          <a:latin typeface="Arial"/>
                        </a:rPr>
                        <a:t>Konsortialfinanzierung gewerblicher Projektentwicklungen und Großprojekte (&gt; 5 Mio. EUR); Strukturierungsberatung für komplexe Finanzierungen</a:t>
                      </a:r>
                    </a:p>
                  </a:txBody>
                  <a:tcPr>
                    <a:solidFill>
                      <a:srgbClr val="FFFFFF"/>
                    </a:solidFill>
                  </a:tcPr>
                </a:tc>
              </a:tr>
              <a:tr h="475488">
                <a:tc>
                  <a:txBody>
                    <a:bodyPr wrap="square"/>
                    <a:lstStyle/>
                    <a:p>
                      <a:r>
                        <a:rPr sz="1100" b="0">
                          <a:solidFill>
                            <a:srgbClr val="1A1A1A"/>
                          </a:solidFill>
                          <a:latin typeface="Arial"/>
                        </a:rPr>
                        <a:t>Lagetyp</a:t>
                      </a:r>
                    </a:p>
                  </a:txBody>
                  <a:tcPr>
                    <a:solidFill>
                      <a:srgbClr val="F4F6FA"/>
                    </a:solidFill>
                  </a:tcPr>
                </a:tc>
                <a:tc>
                  <a:txBody>
                    <a:bodyPr wrap="square"/>
                    <a:lstStyle/>
                    <a:p>
                      <a:r>
                        <a:rPr sz="1100" b="0">
                          <a:solidFill>
                            <a:srgbClr val="1A1A1A"/>
                          </a:solidFill>
                          <a:latin typeface="Arial"/>
                        </a:rPr>
                        <a:t>Typische NAR Wohnimmobilien 2024/2025</a:t>
                      </a:r>
                    </a:p>
                  </a:txBody>
                  <a:tcPr>
                    <a:solidFill>
                      <a:srgbClr val="F4F6FA"/>
                    </a:solidFill>
                  </a:tcPr>
                </a:tc>
              </a:tr>
              <a:tr h="475488">
                <a:tc>
                  <a:txBody>
                    <a:bodyPr wrap="square"/>
                    <a:lstStyle/>
                    <a:p>
                      <a:r>
                        <a:rPr sz="1100" b="0">
                          <a:solidFill>
                            <a:srgbClr val="1A1A1A"/>
                          </a:solidFill>
                          <a:latin typeface="Arial"/>
                        </a:rPr>
                        <a:t>Metropolen (München, Stuttgart)</a:t>
                      </a:r>
                    </a:p>
                  </a:txBody>
                  <a:tcPr>
                    <a:solidFill>
                      <a:srgbClr val="FFFFFF"/>
                    </a:solidFill>
                  </a:tcPr>
                </a:tc>
                <a:tc>
                  <a:txBody>
                    <a:bodyPr wrap="square"/>
                    <a:lstStyle/>
                    <a:p>
                      <a:r>
                        <a:rPr sz="1100" b="0">
                          <a:solidFill>
                            <a:srgbClr val="1A1A1A"/>
                          </a:solidFill>
                          <a:latin typeface="Arial"/>
                        </a:rPr>
                        <a:t>2,0–3,0 %</a:t>
                      </a:r>
                    </a:p>
                  </a:txBody>
                  <a:tcPr>
                    <a:solidFill>
                      <a:srgbClr val="FFFFFF"/>
                    </a:solidFill>
                  </a:tcPr>
                </a:tc>
              </a:tr>
              <a:tr h="475488">
                <a:tc>
                  <a:txBody>
                    <a:bodyPr wrap="square"/>
                    <a:lstStyle/>
                    <a:p>
                      <a:r>
                        <a:rPr sz="1100" b="0">
                          <a:solidFill>
                            <a:srgbClr val="1A1A1A"/>
                          </a:solidFill>
                          <a:latin typeface="Arial"/>
                        </a:rPr>
                        <a:t>Bodenseeraum / Oberschwaben-Zentren (Ravensburg, Friedrichshafen)</a:t>
                      </a:r>
                    </a:p>
                  </a:txBody>
                  <a:tcPr>
                    <a:solidFill>
                      <a:srgbClr val="F4F6FA"/>
                    </a:solidFill>
                  </a:tcPr>
                </a:tc>
                <a:tc>
                  <a:txBody>
                    <a:bodyPr wrap="square"/>
                    <a:lstStyle/>
                    <a:p>
                      <a:r>
                        <a:rPr sz="1100" b="0">
                          <a:solidFill>
                            <a:srgbClr val="1A1A1A"/>
                          </a:solidFill>
                          <a:latin typeface="Arial"/>
                        </a:rPr>
                        <a:t>3,0–3,8 %</a:t>
                      </a:r>
                    </a:p>
                  </a:txBody>
                  <a:tcPr>
                    <a:solidFill>
                      <a:srgbClr val="F4F6FA"/>
                    </a:solidFill>
                  </a:tcPr>
                </a:tc>
              </a:tr>
              <a:tr h="475488">
                <a:tc>
                  <a:txBody>
                    <a:bodyPr wrap="square"/>
                    <a:lstStyle/>
                    <a:p>
                      <a:r>
                        <a:rPr sz="1100" b="0">
                          <a:solidFill>
                            <a:srgbClr val="1A1A1A"/>
                          </a:solidFill>
                          <a:latin typeface="Arial"/>
                        </a:rPr>
                        <a:t>Ländliche Kleinstädte (Biberach, Leutkirch, Wangen)</a:t>
                      </a:r>
                    </a:p>
                  </a:txBody>
                  <a:tcPr>
                    <a:solidFill>
                      <a:srgbClr val="FFFFFF"/>
                    </a:solidFill>
                  </a:tcPr>
                </a:tc>
                <a:tc>
                  <a:txBody>
                    <a:bodyPr wrap="square"/>
                    <a:lstStyle/>
                    <a:p>
                      <a:r>
                        <a:rPr sz="1100" b="0">
                          <a:solidFill>
                            <a:srgbClr val="1A1A1A"/>
                          </a:solidFill>
                          <a:latin typeface="Arial"/>
                        </a:rPr>
                        <a:t>4,0–5,5 %</a:t>
                      </a:r>
                    </a:p>
                  </a:txBody>
                  <a:tcPr>
                    <a:solidFill>
                      <a:srgbClr val="FFFFFF"/>
                    </a:solidFill>
                  </a:tcPr>
                </a:tc>
              </a:tr>
              <a:tr h="475488">
                <a:tc>
                  <a:txBody>
                    <a:bodyPr wrap="square"/>
                    <a:lstStyle/>
                    <a:p>
                      <a:r>
                        <a:rPr sz="1100" b="0">
                          <a:solidFill>
                            <a:srgbClr val="1A1A1A"/>
                          </a:solidFill>
                          <a:latin typeface="Arial"/>
                        </a:rPr>
                        <a:t>Abgelegene ländliche Lagen</a:t>
                      </a:r>
                    </a:p>
                  </a:txBody>
                  <a:tcPr>
                    <a:solidFill>
                      <a:srgbClr val="F4F6FA"/>
                    </a:solidFill>
                  </a:tcPr>
                </a:tc>
                <a:tc>
                  <a:txBody>
                    <a:bodyPr wrap="square"/>
                    <a:lstStyle/>
                    <a:p>
                      <a:r>
                        <a:rPr sz="1100" b="0">
                          <a:solidFill>
                            <a:srgbClr val="1A1A1A"/>
                          </a:solidFill>
                          <a:latin typeface="Arial"/>
                        </a:rPr>
                        <a:t>5,0–7,0 %</a:t>
                      </a:r>
                    </a:p>
                  </a:txBody>
                  <a:tcPr>
                    <a:solidFill>
                      <a:srgbClr val="F4F6FA"/>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Spezifische Kennzahlen für die Bauträgerfinanzierung</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43000"/>
            <a:ext cx="11430000" cy="5212080"/>
          </a:xfrm>
          <a:prstGeom prst="rect">
            <a:avLst/>
          </a:prstGeom>
          <a:noFill/>
        </p:spPr>
        <p:txBody>
          <a:bodyPr wrap="square">
            <a:spAutoFit/>
          </a:bodyPr>
          <a:lstStyle/>
          <a:p>
            <a:pPr>
              <a:spcBef>
                <a:spcPts val="500"/>
              </a:spcBef>
            </a:pPr>
            <a:r>
              <a:rPr sz="1500">
                <a:solidFill>
                  <a:srgbClr val="003DA5"/>
                </a:solidFill>
                <a:latin typeface="Arial"/>
              </a:rPr>
              <a:t>▪  </a:t>
            </a:r>
            <a:r>
              <a:rPr sz="1700" b="1">
                <a:solidFill>
                  <a:srgbClr val="003DA5"/>
                </a:solidFill>
                <a:latin typeface="Arial"/>
              </a:rPr>
              <a:t>Entwicklergewinn / Projektmarge: </a:t>
            </a:r>
            <a:r>
              <a:rPr sz="1700">
                <a:solidFill>
                  <a:srgbClr val="1A1A1A"/>
                </a:solidFill>
                <a:latin typeface="Arial"/>
              </a:rPr>
              <a:t>Projektmarge = (Verkaufserlöse − Gesamtinvestitionskosten) / Gesamtinvestitionskosten × 100</a:t>
            </a:r>
          </a:p>
          <a:p>
            <a:pPr>
              <a:spcBef>
                <a:spcPts val="500"/>
              </a:spcBef>
            </a:pPr>
            <a:r>
              <a:rPr sz="1500">
                <a:solidFill>
                  <a:srgbClr val="003DA5"/>
                </a:solidFill>
                <a:latin typeface="Arial"/>
              </a:rPr>
              <a:t>▪  </a:t>
            </a:r>
            <a:r>
              <a:rPr sz="1700" b="1">
                <a:solidFill>
                  <a:srgbClr val="003DA5"/>
                </a:solidFill>
                <a:latin typeface="Arial"/>
              </a:rPr>
              <a:t>15–20 %: </a:t>
            </a:r>
            <a:r>
              <a:rPr sz="1700">
                <a:solidFill>
                  <a:srgbClr val="1A1A1A"/>
                </a:solidFill>
                <a:latin typeface="Arial"/>
              </a:rPr>
              <a:t>gilt als solide Puffergröße, die auch bei Kostensteigerungen und Preisabschlägen noch eine positive Rendite sichert (Gondring, 2022, S. 512).</a:t>
            </a:r>
          </a:p>
          <a:p>
            <a:pPr>
              <a:spcBef>
                <a:spcPts val="500"/>
              </a:spcBef>
            </a:pPr>
            <a:r>
              <a:rPr sz="1500">
                <a:solidFill>
                  <a:srgbClr val="003DA5"/>
                </a:solidFill>
                <a:latin typeface="Arial"/>
              </a:rPr>
              <a:t>▪  </a:t>
            </a:r>
            <a:r>
              <a:rPr sz="1700" b="1">
                <a:solidFill>
                  <a:srgbClr val="003DA5"/>
                </a:solidFill>
                <a:latin typeface="Arial"/>
              </a:rPr>
              <a:t>Vorverkaufsquote: </a:t>
            </a:r>
            <a:r>
              <a:rPr sz="1700">
                <a:solidFill>
                  <a:srgbClr val="1A1A1A"/>
                </a:solidFill>
                <a:latin typeface="Arial"/>
              </a:rPr>
              <a:t>Anteil der Wohneinheiten, die vor Baubeginn bereits notariell beurkundet verkauft sind. Eine Vorverkaufsquote von ≥ 30–50 % reduziert das Absatzrisiko erheblich und ist bei vielen…</a:t>
            </a:r>
          </a:p>
          <a:p>
            <a:pPr>
              <a:spcBef>
                <a:spcPts val="500"/>
              </a:spcBef>
            </a:pPr>
            <a:r>
              <a:rPr sz="1500">
                <a:solidFill>
                  <a:srgbClr val="003DA5"/>
                </a:solidFill>
                <a:latin typeface="Arial"/>
              </a:rPr>
              <a:t>▪  </a:t>
            </a:r>
            <a:r>
              <a:rPr sz="1700" b="1">
                <a:solidFill>
                  <a:srgbClr val="003DA5"/>
                </a:solidFill>
                <a:latin typeface="Arial"/>
              </a:rPr>
              <a:t>Eigenkapitalquote (am Gesamtprojekt): </a:t>
            </a:r>
            <a:r>
              <a:rPr sz="1700">
                <a:solidFill>
                  <a:srgbClr val="1A1A1A"/>
                </a:solidFill>
                <a:latin typeface="Arial"/>
              </a:rPr>
              <a:t>EK-Quote = Eigenkapital / Gesamtinvestitionskosten × 100</a:t>
            </a:r>
          </a:p>
          <a:p>
            <a:pPr>
              <a:spcBef>
                <a:spcPts val="500"/>
              </a:spcBef>
            </a:pPr>
            <a:r>
              <a:rPr sz="1500">
                <a:solidFill>
                  <a:srgbClr val="003DA5"/>
                </a:solidFill>
                <a:latin typeface="Arial"/>
              </a:rPr>
              <a:t>▪  </a:t>
            </a:r>
            <a:r>
              <a:rPr sz="1700" b="1">
                <a:solidFill>
                  <a:srgbClr val="003DA5"/>
                </a:solidFill>
                <a:latin typeface="Arial"/>
              </a:rPr>
              <a:t>20–30 %: </a:t>
            </a:r>
            <a:r>
              <a:rPr sz="1700">
                <a:solidFill>
                  <a:srgbClr val="1A1A1A"/>
                </a:solidFill>
                <a:latin typeface="Arial"/>
              </a:rPr>
              <a:t>bei Bauträgerfinanzierungen. Darunter steigt das Risiko des Fremdkapitalgebers überproportional.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E05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0"/>
            <a:ext cx="11430000" cy="2011680"/>
          </a:xfrm>
          <a:prstGeom prst="rect">
            <a:avLst/>
          </a:prstGeom>
          <a:noFill/>
        </p:spPr>
        <p:txBody>
          <a:bodyPr wrap="square">
            <a:spAutoFit/>
          </a:bodyPr>
          <a:lstStyle/>
          <a:p>
            <a:pPr algn="l"/>
            <a:r>
              <a:rPr sz="3600" b="1" i="0">
                <a:solidFill>
                  <a:srgbClr val="FFFFFF"/>
                </a:solidFill>
                <a:latin typeface="Arial"/>
              </a:rPr>
              <a:t>4.4 Theorie-Input 4: Risikofelder der Bauträgerfinanzierung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4.4 Theorie-Input 4: Risikofelder der Bauträgerfinanzierung</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365760" y="1143000"/>
          <a:ext cx="11430000" cy="2852928"/>
        </p:xfrm>
        <a:graphic>
          <a:graphicData uri="http://schemas.openxmlformats.org/drawingml/2006/table">
            <a:tbl>
              <a:tblPr firstRow="1" bandRow="1">
                <a:tableStyleId>{5C22544A-7EE6-4342-B048-85BDC9FD1C3A}</a:tableStyleId>
              </a:tblPr>
              <a:tblGrid>
                <a:gridCol w="5715000"/>
                <a:gridCol w="5715000"/>
              </a:tblGrid>
              <a:tr h="475488">
                <a:tc>
                  <a:txBody>
                    <a:bodyPr wrap="square"/>
                    <a:lstStyle/>
                    <a:p>
                      <a:r>
                        <a:rPr sz="1100" b="1">
                          <a:solidFill>
                            <a:srgbClr val="FFFFFF"/>
                          </a:solidFill>
                          <a:latin typeface="Arial"/>
                        </a:rPr>
                        <a:t>Thema</a:t>
                      </a:r>
                    </a:p>
                  </a:txBody>
                  <a:tcPr>
                    <a:solidFill>
                      <a:srgbClr val="003DA5"/>
                    </a:solidFill>
                  </a:tcPr>
                </a:tc>
                <a:tc>
                  <a:txBody>
                    <a:bodyPr wrap="square"/>
                    <a:lstStyle/>
                    <a:p>
                      <a:r>
                        <a:rPr sz="1100" b="1">
                          <a:solidFill>
                            <a:srgbClr val="FFFFFF"/>
                          </a:solidFill>
                          <a:latin typeface="Arial"/>
                        </a:rPr>
                        <a:t>Praxisstandard</a:t>
                      </a:r>
                    </a:p>
                  </a:txBody>
                  <a:tcPr>
                    <a:solidFill>
                      <a:srgbClr val="003DA5"/>
                    </a:solidFill>
                  </a:tcPr>
                </a:tc>
              </a:tr>
              <a:tr h="475488">
                <a:tc>
                  <a:txBody>
                    <a:bodyPr wrap="square"/>
                    <a:lstStyle/>
                    <a:p>
                      <a:r>
                        <a:rPr sz="1100" b="0">
                          <a:solidFill>
                            <a:srgbClr val="1A1A1A"/>
                          </a:solidFill>
                          <a:latin typeface="Arial"/>
                        </a:rPr>
                        <a:t>Rang der Grundschuld</a:t>
                      </a:r>
                    </a:p>
                  </a:txBody>
                  <a:tcPr>
                    <a:solidFill>
                      <a:srgbClr val="FFFFFF"/>
                    </a:solidFill>
                  </a:tcPr>
                </a:tc>
                <a:tc>
                  <a:txBody>
                    <a:bodyPr wrap="square"/>
                    <a:lstStyle/>
                    <a:p>
                      <a:r>
                        <a:rPr sz="1100" b="0">
                          <a:solidFill>
                            <a:srgbClr val="1A1A1A"/>
                          </a:solidFill>
                          <a:latin typeface="Arial"/>
                        </a:rPr>
                        <a:t>Erstrangig; nachrangige Teile für Verbundpartner (MünchenerHyp) möglich</a:t>
                      </a:r>
                    </a:p>
                  </a:txBody>
                  <a:tcPr>
                    <a:solidFill>
                      <a:srgbClr val="FFFFFF"/>
                    </a:solidFill>
                  </a:tcPr>
                </a:tc>
              </a:tr>
              <a:tr h="475488">
                <a:tc>
                  <a:txBody>
                    <a:bodyPr wrap="square"/>
                    <a:lstStyle/>
                    <a:p>
                      <a:r>
                        <a:rPr sz="1100" b="0">
                          <a:solidFill>
                            <a:srgbClr val="1A1A1A"/>
                          </a:solidFill>
                          <a:latin typeface="Arial"/>
                        </a:rPr>
                        <a:t>Freigabebetrag pro Einheit</a:t>
                      </a:r>
                    </a:p>
                  </a:txBody>
                  <a:tcPr>
                    <a:solidFill>
                      <a:srgbClr val="F4F6FA"/>
                    </a:solidFill>
                  </a:tcPr>
                </a:tc>
                <a:tc>
                  <a:txBody>
                    <a:bodyPr wrap="square"/>
                    <a:lstStyle/>
                    <a:p>
                      <a:r>
                        <a:rPr sz="1100" b="0">
                          <a:solidFill>
                            <a:srgbClr val="1A1A1A"/>
                          </a:solidFill>
                          <a:latin typeface="Arial"/>
                        </a:rPr>
                        <a:t>Typisch: 100–110 % des anteiligen Kreditbetrags dieser Einheit</a:t>
                      </a:r>
                    </a:p>
                  </a:txBody>
                  <a:tcPr>
                    <a:solidFill>
                      <a:srgbClr val="F4F6FA"/>
                    </a:solidFill>
                  </a:tcPr>
                </a:tc>
              </a:tr>
              <a:tr h="475488">
                <a:tc>
                  <a:txBody>
                    <a:bodyPr wrap="square"/>
                    <a:lstStyle/>
                    <a:p>
                      <a:r>
                        <a:rPr sz="1100" b="0">
                          <a:solidFill>
                            <a:srgbClr val="1A1A1A"/>
                          </a:solidFill>
                          <a:latin typeface="Arial"/>
                        </a:rPr>
                        <a:t>Freigabezeitpunkt</a:t>
                      </a:r>
                    </a:p>
                  </a:txBody>
                  <a:tcPr>
                    <a:solidFill>
                      <a:srgbClr val="FFFFFF"/>
                    </a:solidFill>
                  </a:tcPr>
                </a:tc>
                <a:tc>
                  <a:txBody>
                    <a:bodyPr wrap="square"/>
                    <a:lstStyle/>
                    <a:p>
                      <a:r>
                        <a:rPr sz="1100" b="0">
                          <a:solidFill>
                            <a:srgbClr val="1A1A1A"/>
                          </a:solidFill>
                          <a:latin typeface="Arial"/>
                        </a:rPr>
                        <a:t>Erst nach vollständiger Kaufpreiszahlung durch den Erwerber</a:t>
                      </a:r>
                    </a:p>
                  </a:txBody>
                  <a:tcPr>
                    <a:solidFill>
                      <a:srgbClr val="FFFFFF"/>
                    </a:solidFill>
                  </a:tcPr>
                </a:tc>
              </a:tr>
              <a:tr h="475488">
                <a:tc>
                  <a:txBody>
                    <a:bodyPr wrap="square"/>
                    <a:lstStyle/>
                    <a:p>
                      <a:r>
                        <a:rPr sz="1100" b="0">
                          <a:solidFill>
                            <a:srgbClr val="1A1A1A"/>
                          </a:solidFill>
                          <a:latin typeface="Arial"/>
                        </a:rPr>
                        <a:t>Notar</a:t>
                      </a:r>
                    </a:p>
                  </a:txBody>
                  <a:tcPr>
                    <a:solidFill>
                      <a:srgbClr val="F4F6FA"/>
                    </a:solidFill>
                  </a:tcPr>
                </a:tc>
                <a:tc>
                  <a:txBody>
                    <a:bodyPr wrap="square"/>
                    <a:lstStyle/>
                    <a:p>
                      <a:r>
                        <a:rPr sz="1100" b="0">
                          <a:solidFill>
                            <a:srgbClr val="1A1A1A"/>
                          </a:solidFill>
                          <a:latin typeface="Arial"/>
                        </a:rPr>
                        <a:t>Koordiniert Eigentumsübertragung und Grundschuld-Freigabe; Bank und Notar stimmen Freigabevollmacht vorab ab</a:t>
                      </a:r>
                    </a:p>
                  </a:txBody>
                  <a:tcPr>
                    <a:solidFill>
                      <a:srgbClr val="F4F6FA"/>
                    </a:solidFill>
                  </a:tcPr>
                </a:tc>
              </a:tr>
              <a:tr h="475488">
                <a:tc>
                  <a:txBody>
                    <a:bodyPr wrap="square"/>
                    <a:lstStyle/>
                    <a:p>
                      <a:r>
                        <a:rPr sz="1100" b="0">
                          <a:solidFill>
                            <a:srgbClr val="1A1A1A"/>
                          </a:solidFill>
                          <a:latin typeface="Arial"/>
                        </a:rPr>
                        <a:t>Refinanzierer (MünchenerHyp / DZ BANK)</a:t>
                      </a:r>
                    </a:p>
                  </a:txBody>
                  <a:tcPr>
                    <a:solidFill>
                      <a:srgbClr val="FFFFFF"/>
                    </a:solidFill>
                  </a:tcPr>
                </a:tc>
                <a:tc>
                  <a:txBody>
                    <a:bodyPr wrap="square"/>
                    <a:lstStyle/>
                    <a:p>
                      <a:r>
                        <a:rPr sz="1100" b="0">
                          <a:solidFill>
                            <a:srgbClr val="1A1A1A"/>
                          </a:solidFill>
                          <a:latin typeface="Arial"/>
                        </a:rPr>
                        <a:t>Wenn nachrangige Tranchen refinanziert werden: eigene Freigaberegelungen abstimmen</a:t>
                      </a:r>
                    </a:p>
                  </a:txBody>
                  <a:tcP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E05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0"/>
            <a:ext cx="11430000" cy="2011680"/>
          </a:xfrm>
          <a:prstGeom prst="rect">
            <a:avLst/>
          </a:prstGeom>
          <a:noFill/>
        </p:spPr>
        <p:txBody>
          <a:bodyPr wrap="square">
            <a:spAutoFit/>
          </a:bodyPr>
          <a:lstStyle/>
          <a:p>
            <a:pPr algn="l"/>
            <a:r>
              <a:rPr sz="3600" b="1" i="0">
                <a:solidFill>
                  <a:srgbClr val="FFFFFF"/>
                </a:solidFill>
                <a:latin typeface="Arial"/>
              </a:rPr>
              <a:t>4.5 Praxiscase: Quartier Sonnenhalde – Bauträgerfinanzierung Ravensburg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Unternehmensporträt</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43000"/>
            <a:ext cx="11430000" cy="5212080"/>
          </a:xfrm>
          <a:prstGeom prst="rect">
            <a:avLst/>
          </a:prstGeom>
          <a:noFill/>
        </p:spPr>
        <p:txBody>
          <a:bodyPr wrap="square">
            <a:spAutoFit/>
          </a:bodyPr>
          <a:lstStyle/>
          <a:p>
            <a:pPr>
              <a:spcBef>
                <a:spcPts val="500"/>
              </a:spcBef>
            </a:pPr>
            <a:r>
              <a:rPr sz="1500">
                <a:solidFill>
                  <a:srgbClr val="003DA5"/>
                </a:solidFill>
                <a:latin typeface="Arial"/>
              </a:rPr>
              <a:t>▪  </a:t>
            </a:r>
            <a:r>
              <a:rPr sz="1700" b="1">
                <a:solidFill>
                  <a:srgbClr val="003DA5"/>
                </a:solidFill>
                <a:latin typeface="Arial"/>
              </a:rPr>
              <a:t>Quartier Sonnenhalde GmbH &amp; Co. KG**, Ravensburg, ist ein junges Bauträgerunternehmen, gegründet 2021 von Dipl.-Ing. (FH) Markus Feller (42 J.) und seiner Partnerin Stefanie Feller (38 J., Immobilienkauffrau). Markus Feller hat 12 Jahre Berufserfahrung als Projektleiter bei einem regionalen Bauunternehmen, bevor er sich selbständig gemacht hat.
Das Unternehmen hat **ein abgeschlossenes Projekt: </a:t>
            </a:r>
            <a:r>
              <a:rPr sz="1700">
                <a:solidFill>
                  <a:srgbClr val="1A1A1A"/>
                </a:solidFill>
                <a:latin typeface="Arial"/>
              </a:rPr>
              <a:t>vorzuweisen: 6 Eigentumswohnungen in Wangen im Allgäu, 2023 fertiggestellt und vollständig verkauft. Das neue Projekt ist das bisher größte Vorhaben des Unternehmens.</a:t>
            </a:r>
          </a:p>
          <a:p>
            <a:pPr>
              <a:spcBef>
                <a:spcPts val="500"/>
              </a:spcBef>
            </a:pPr>
            <a:r>
              <a:rPr sz="1500">
                <a:solidFill>
                  <a:srgbClr val="003DA5"/>
                </a:solidFill>
                <a:latin typeface="Arial"/>
              </a:rPr>
              <a:t>▪  </a:t>
            </a:r>
            <a:r>
              <a:rPr sz="1700" b="1">
                <a:solidFill>
                  <a:srgbClr val="003DA5"/>
                </a:solidFill>
                <a:latin typeface="Arial"/>
              </a:rPr>
              <a:t>Das Projekt "Sonnenhalde": </a:t>
            </a:r>
            <a:r>
              <a:rPr sz="1700">
                <a:solidFill>
                  <a:srgbClr val="1A1A1A"/>
                </a:solidFill>
                <a:latin typeface="Arial"/>
              </a:rPr>
              <a:t>- Lage: Ravensburg-Südstadt, aufgewertetes Quartier, gute ÖPNV-Anbindung - Nutzung: 16 Eigentumswohnungen (60–110 m², 2–4 Zimmer) - Baugenehmigung: seit März 2026 rechtskräftig -…</a:t>
            </a:r>
          </a:p>
          <a:p>
            <a:pPr>
              <a:spcBef>
                <a:spcPts val="500"/>
              </a:spcBef>
            </a:pPr>
            <a:r>
              <a:rPr sz="1500">
                <a:solidFill>
                  <a:srgbClr val="003DA5"/>
                </a:solidFill>
                <a:latin typeface="Arial"/>
              </a:rPr>
              <a:t>▪  </a:t>
            </a:r>
            <a:r>
              <a:rPr sz="1700" b="1">
                <a:solidFill>
                  <a:srgbClr val="003DA5"/>
                </a:solidFill>
                <a:latin typeface="Arial"/>
              </a:rPr>
              <a:t>Trainer-Hinweis – Zeitplan und Vorverkaufsquote: </a:t>
            </a:r>
            <a:r>
              <a:rPr sz="1700">
                <a:solidFill>
                  <a:srgbClr val="1A1A1A"/>
                </a:solidFill>
                <a:latin typeface="Arial"/>
              </a:rPr>
              <a:t>In der Seminarrealität werden Teilnehmer nach der Plausibilität des Baustarts fragen. Wichtig: In Süddeutschland benötigen notarielle Beurkundungen von Kaufverträgen typischerweise</a:t>
            </a:r>
          </a:p>
          <a:p>
            <a:pPr>
              <a:spcBef>
                <a:spcPts val="500"/>
              </a:spcBef>
            </a:pPr>
            <a:r>
              <a:rPr sz="1500">
                <a:solidFill>
                  <a:srgbClr val="003DA5"/>
                </a:solidFill>
                <a:latin typeface="Arial"/>
              </a:rPr>
              <a:t>▪  </a:t>
            </a:r>
            <a:r>
              <a:rPr sz="1700" b="1">
                <a:solidFill>
                  <a:srgbClr val="003DA5"/>
                </a:solidFill>
                <a:latin typeface="Arial"/>
              </a:rPr>
              <a:t>3–6 Monate Vorlauf: </a:t>
            </a:r>
            <a:r>
              <a:rPr sz="1700">
                <a:solidFill>
                  <a:srgbClr val="1A1A1A"/>
                </a:solidFill>
                <a:latin typeface="Arial"/>
              </a:rPr>
              <a:t>(Bonitätsprüfung Käufer, Finanzierungsbestätigung, Notarterminplanung). Die Kreditanfrage erfolgt im Mai/Juni 2026 – ein Baubeginn Oktober 2026 wäre in der Realität für das…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Projektfinanzierung – Eckdaten</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365760" y="1143000"/>
          <a:ext cx="11430000" cy="5029200"/>
        </p:xfrm>
        <a:graphic>
          <a:graphicData uri="http://schemas.openxmlformats.org/drawingml/2006/table">
            <a:tbl>
              <a:tblPr firstRow="1" bandRow="1">
                <a:tableStyleId>{5C22544A-7EE6-4342-B048-85BDC9FD1C3A}</a:tableStyleId>
              </a:tblPr>
              <a:tblGrid>
                <a:gridCol w="1905000"/>
                <a:gridCol w="1905000"/>
                <a:gridCol w="1905000"/>
                <a:gridCol w="1905000"/>
                <a:gridCol w="1905000"/>
                <a:gridCol w="1905000"/>
              </a:tblGrid>
              <a:tr h="359228">
                <a:tc>
                  <a:txBody>
                    <a:bodyPr wrap="square"/>
                    <a:lstStyle/>
                    <a:p>
                      <a:r>
                        <a:rPr sz="1100" b="1">
                          <a:solidFill>
                            <a:srgbClr val="FFFFFF"/>
                          </a:solidFill>
                          <a:latin typeface="Arial"/>
                        </a:rPr>
                        <a:t>Position</a:t>
                      </a:r>
                    </a:p>
                  </a:txBody>
                  <a:tcPr>
                    <a:solidFill>
                      <a:srgbClr val="003DA5"/>
                    </a:solidFill>
                  </a:tcPr>
                </a:tc>
                <a:tc>
                  <a:txBody>
                    <a:bodyPr wrap="square"/>
                    <a:lstStyle/>
                    <a:p>
                      <a:r>
                        <a:rPr sz="1100" b="1">
                          <a:solidFill>
                            <a:srgbClr val="FFFFFF"/>
                          </a:solidFill>
                          <a:latin typeface="Arial"/>
                        </a:rPr>
                        <a:t>Betrag</a:t>
                      </a:r>
                    </a:p>
                  </a:txBody>
                  <a:tcPr>
                    <a:solidFill>
                      <a:srgbClr val="003DA5"/>
                    </a:solidFill>
                  </a:tcPr>
                </a:tc>
                <a:tc>
                  <a:txBody>
                    <a:bodyPr wrap="square"/>
                    <a:lstStyle/>
                    <a:p>
                      <a:r>
                        <a:rPr sz="1100" b="1">
                          <a:solidFill>
                            <a:srgbClr val="FFFFFF"/>
                          </a:solidFill>
                          <a:latin typeface="Arial"/>
                        </a:rPr>
                        <a:t/>
                      </a:r>
                    </a:p>
                  </a:txBody>
                  <a:tcPr>
                    <a:solidFill>
                      <a:srgbClr val="003DA5"/>
                    </a:solidFill>
                  </a:tcPr>
                </a:tc>
                <a:tc>
                  <a:txBody>
                    <a:bodyPr wrap="square"/>
                    <a:lstStyle/>
                    <a:p>
                      <a:r>
                        <a:rPr sz="1100" b="1">
                          <a:solidFill>
                            <a:srgbClr val="FFFFFF"/>
                          </a:solidFill>
                          <a:latin typeface="Arial"/>
                        </a:rPr>
                        <a:t/>
                      </a:r>
                    </a:p>
                  </a:txBody>
                  <a:tcPr>
                    <a:solidFill>
                      <a:srgbClr val="003DA5"/>
                    </a:solidFill>
                  </a:tcPr>
                </a:tc>
                <a:tc>
                  <a:txBody>
                    <a:bodyPr wrap="square"/>
                    <a:lstStyle/>
                    <a:p>
                      <a:r>
                        <a:rPr sz="1100" b="1">
                          <a:solidFill>
                            <a:srgbClr val="FFFFFF"/>
                          </a:solidFill>
                          <a:latin typeface="Arial"/>
                        </a:rPr>
                        <a:t/>
                      </a:r>
                    </a:p>
                  </a:txBody>
                  <a:tcPr>
                    <a:solidFill>
                      <a:srgbClr val="003DA5"/>
                    </a:solidFill>
                  </a:tcPr>
                </a:tc>
                <a:tc>
                  <a:txBody>
                    <a:bodyPr wrap="square"/>
                    <a:lstStyle/>
                    <a:p>
                      <a:r>
                        <a:rPr sz="1100" b="1">
                          <a:solidFill>
                            <a:srgbClr val="FFFFFF"/>
                          </a:solidFill>
                          <a:latin typeface="Arial"/>
                        </a:rPr>
                        <a:t/>
                      </a:r>
                    </a:p>
                  </a:txBody>
                  <a:tcPr>
                    <a:solidFill>
                      <a:srgbClr val="003DA5"/>
                    </a:solidFill>
                  </a:tcPr>
                </a:tc>
              </a:tr>
              <a:tr h="359228">
                <a:tc>
                  <a:txBody>
                    <a:bodyPr wrap="square"/>
                    <a:lstStyle/>
                    <a:p>
                      <a:r>
                        <a:rPr sz="1100" b="0">
                          <a:solidFill>
                            <a:srgbClr val="1A1A1A"/>
                          </a:solidFill>
                          <a:latin typeface="Arial"/>
                        </a:rPr>
                        <a:t>Grundstück (bereits bezahlt, EK)</a:t>
                      </a:r>
                    </a:p>
                  </a:txBody>
                  <a:tcPr>
                    <a:solidFill>
                      <a:srgbClr val="FFFFFF"/>
                    </a:solidFill>
                  </a:tcPr>
                </a:tc>
                <a:tc>
                  <a:txBody>
                    <a:bodyPr wrap="square"/>
                    <a:lstStyle/>
                    <a:p>
                      <a:r>
                        <a:rPr sz="1100" b="0">
                          <a:solidFill>
                            <a:srgbClr val="1A1A1A"/>
                          </a:solidFill>
                          <a:latin typeface="Arial"/>
                        </a:rPr>
                        <a:t>1.200.000 EUR</a:t>
                      </a:r>
                    </a:p>
                  </a:txBody>
                  <a:tcPr>
                    <a:solidFill>
                      <a:srgbClr val="FFFFFF"/>
                    </a:solidFill>
                  </a:tcPr>
                </a:tc>
                <a:tc>
                  <a:txBody>
                    <a:bodyPr wrap="square"/>
                    <a:lstStyle/>
                    <a:p>
                      <a:r>
                        <a:rPr sz="1100" b="0">
                          <a:solidFill>
                            <a:srgbClr val="1A1A1A"/>
                          </a:solidFill>
                          <a:latin typeface="Arial"/>
                        </a:rPr>
                        <a:t/>
                      </a:r>
                    </a:p>
                  </a:txBody>
                  <a:tcPr>
                    <a:solidFill>
                      <a:srgbClr val="FFFFFF"/>
                    </a:solidFill>
                  </a:tcPr>
                </a:tc>
                <a:tc>
                  <a:txBody>
                    <a:bodyPr wrap="square"/>
                    <a:lstStyle/>
                    <a:p>
                      <a:r>
                        <a:rPr sz="1100" b="0">
                          <a:solidFill>
                            <a:srgbClr val="1A1A1A"/>
                          </a:solidFill>
                          <a:latin typeface="Arial"/>
                        </a:rPr>
                        <a:t/>
                      </a:r>
                    </a:p>
                  </a:txBody>
                  <a:tcPr>
                    <a:solidFill>
                      <a:srgbClr val="FFFFFF"/>
                    </a:solidFill>
                  </a:tcPr>
                </a:tc>
                <a:tc>
                  <a:txBody>
                    <a:bodyPr wrap="square"/>
                    <a:lstStyle/>
                    <a:p>
                      <a:r>
                        <a:rPr sz="1100" b="0">
                          <a:solidFill>
                            <a:srgbClr val="1A1A1A"/>
                          </a:solidFill>
                          <a:latin typeface="Arial"/>
                        </a:rPr>
                        <a:t/>
                      </a:r>
                    </a:p>
                  </a:txBody>
                  <a:tcPr>
                    <a:solidFill>
                      <a:srgbClr val="FFFFFF"/>
                    </a:solidFill>
                  </a:tcPr>
                </a:tc>
                <a:tc>
                  <a:txBody>
                    <a:bodyPr wrap="square"/>
                    <a:lstStyle/>
                    <a:p>
                      <a:r>
                        <a:rPr sz="1100" b="0">
                          <a:solidFill>
                            <a:srgbClr val="1A1A1A"/>
                          </a:solidFill>
                          <a:latin typeface="Arial"/>
                        </a:rPr>
                        <a:t/>
                      </a:r>
                    </a:p>
                  </a:txBody>
                  <a:tcPr>
                    <a:solidFill>
                      <a:srgbClr val="FFFFFF"/>
                    </a:solidFill>
                  </a:tcPr>
                </a:tc>
              </a:tr>
              <a:tr h="359228">
                <a:tc>
                  <a:txBody>
                    <a:bodyPr wrap="square"/>
                    <a:lstStyle/>
                    <a:p>
                      <a:r>
                        <a:rPr sz="1100" b="0">
                          <a:solidFill>
                            <a:srgbClr val="1A1A1A"/>
                          </a:solidFill>
                          <a:latin typeface="Arial"/>
                        </a:rPr>
                        <a:t>Baukosten (GU-Festpreisvertrag)</a:t>
                      </a:r>
                    </a:p>
                  </a:txBody>
                  <a:tcPr>
                    <a:solidFill>
                      <a:srgbClr val="F4F6FA"/>
                    </a:solidFill>
                  </a:tcPr>
                </a:tc>
                <a:tc>
                  <a:txBody>
                    <a:bodyPr wrap="square"/>
                    <a:lstStyle/>
                    <a:p>
                      <a:r>
                        <a:rPr sz="1100" b="0">
                          <a:solidFill>
                            <a:srgbClr val="1A1A1A"/>
                          </a:solidFill>
                          <a:latin typeface="Arial"/>
                        </a:rPr>
                        <a:t>3.500.000 EUR</a:t>
                      </a:r>
                    </a:p>
                  </a:txBody>
                  <a:tcPr>
                    <a:solidFill>
                      <a:srgbClr val="F4F6FA"/>
                    </a:solidFill>
                  </a:tcPr>
                </a:tc>
                <a:tc>
                  <a:txBody>
                    <a:bodyPr wrap="square"/>
                    <a:lstStyle/>
                    <a:p>
                      <a:r>
                        <a:rPr sz="1100" b="0">
                          <a:solidFill>
                            <a:srgbClr val="1A1A1A"/>
                          </a:solidFill>
                          <a:latin typeface="Arial"/>
                        </a:rPr>
                        <a:t/>
                      </a:r>
                    </a:p>
                  </a:txBody>
                  <a:tcPr>
                    <a:solidFill>
                      <a:srgbClr val="F4F6FA"/>
                    </a:solidFill>
                  </a:tcPr>
                </a:tc>
                <a:tc>
                  <a:txBody>
                    <a:bodyPr wrap="square"/>
                    <a:lstStyle/>
                    <a:p>
                      <a:r>
                        <a:rPr sz="1100" b="0">
                          <a:solidFill>
                            <a:srgbClr val="1A1A1A"/>
                          </a:solidFill>
                          <a:latin typeface="Arial"/>
                        </a:rPr>
                        <a:t/>
                      </a:r>
                    </a:p>
                  </a:txBody>
                  <a:tcPr>
                    <a:solidFill>
                      <a:srgbClr val="F4F6FA"/>
                    </a:solidFill>
                  </a:tcPr>
                </a:tc>
                <a:tc>
                  <a:txBody>
                    <a:bodyPr wrap="square"/>
                    <a:lstStyle/>
                    <a:p>
                      <a:r>
                        <a:rPr sz="1100" b="0">
                          <a:solidFill>
                            <a:srgbClr val="1A1A1A"/>
                          </a:solidFill>
                          <a:latin typeface="Arial"/>
                        </a:rPr>
                        <a:t/>
                      </a:r>
                    </a:p>
                  </a:txBody>
                  <a:tcPr>
                    <a:solidFill>
                      <a:srgbClr val="F4F6FA"/>
                    </a:solidFill>
                  </a:tcPr>
                </a:tc>
                <a:tc>
                  <a:txBody>
                    <a:bodyPr wrap="square"/>
                    <a:lstStyle/>
                    <a:p>
                      <a:r>
                        <a:rPr sz="1100" b="0">
                          <a:solidFill>
                            <a:srgbClr val="1A1A1A"/>
                          </a:solidFill>
                          <a:latin typeface="Arial"/>
                        </a:rPr>
                        <a:t/>
                      </a:r>
                    </a:p>
                  </a:txBody>
                  <a:tcPr>
                    <a:solidFill>
                      <a:srgbClr val="F4F6FA"/>
                    </a:solidFill>
                  </a:tcPr>
                </a:tc>
              </a:tr>
              <a:tr h="359228">
                <a:tc>
                  <a:txBody>
                    <a:bodyPr wrap="square"/>
                    <a:lstStyle/>
                    <a:p>
                      <a:r>
                        <a:rPr sz="1100" b="0">
                          <a:solidFill>
                            <a:srgbClr val="1A1A1A"/>
                          </a:solidFill>
                          <a:latin typeface="Arial"/>
                        </a:rPr>
                        <a:t>Architektur, Genehmigungen, Gutachten</a:t>
                      </a:r>
                    </a:p>
                  </a:txBody>
                  <a:tcPr>
                    <a:solidFill>
                      <a:srgbClr val="FFFFFF"/>
                    </a:solidFill>
                  </a:tcPr>
                </a:tc>
                <a:tc>
                  <a:txBody>
                    <a:bodyPr wrap="square"/>
                    <a:lstStyle/>
                    <a:p>
                      <a:r>
                        <a:rPr sz="1100" b="0">
                          <a:solidFill>
                            <a:srgbClr val="1A1A1A"/>
                          </a:solidFill>
                          <a:latin typeface="Arial"/>
                        </a:rPr>
                        <a:t>280.000 EUR</a:t>
                      </a:r>
                    </a:p>
                  </a:txBody>
                  <a:tcPr>
                    <a:solidFill>
                      <a:srgbClr val="FFFFFF"/>
                    </a:solidFill>
                  </a:tcPr>
                </a:tc>
                <a:tc>
                  <a:txBody>
                    <a:bodyPr wrap="square"/>
                    <a:lstStyle/>
                    <a:p>
                      <a:r>
                        <a:rPr sz="1100" b="0">
                          <a:solidFill>
                            <a:srgbClr val="1A1A1A"/>
                          </a:solidFill>
                          <a:latin typeface="Arial"/>
                        </a:rPr>
                        <a:t/>
                      </a:r>
                    </a:p>
                  </a:txBody>
                  <a:tcPr>
                    <a:solidFill>
                      <a:srgbClr val="FFFFFF"/>
                    </a:solidFill>
                  </a:tcPr>
                </a:tc>
                <a:tc>
                  <a:txBody>
                    <a:bodyPr wrap="square"/>
                    <a:lstStyle/>
                    <a:p>
                      <a:r>
                        <a:rPr sz="1100" b="0">
                          <a:solidFill>
                            <a:srgbClr val="1A1A1A"/>
                          </a:solidFill>
                          <a:latin typeface="Arial"/>
                        </a:rPr>
                        <a:t/>
                      </a:r>
                    </a:p>
                  </a:txBody>
                  <a:tcPr>
                    <a:solidFill>
                      <a:srgbClr val="FFFFFF"/>
                    </a:solidFill>
                  </a:tcPr>
                </a:tc>
                <a:tc>
                  <a:txBody>
                    <a:bodyPr wrap="square"/>
                    <a:lstStyle/>
                    <a:p>
                      <a:r>
                        <a:rPr sz="1100" b="0">
                          <a:solidFill>
                            <a:srgbClr val="1A1A1A"/>
                          </a:solidFill>
                          <a:latin typeface="Arial"/>
                        </a:rPr>
                        <a:t/>
                      </a:r>
                    </a:p>
                  </a:txBody>
                  <a:tcPr>
                    <a:solidFill>
                      <a:srgbClr val="FFFFFF"/>
                    </a:solidFill>
                  </a:tcPr>
                </a:tc>
                <a:tc>
                  <a:txBody>
                    <a:bodyPr wrap="square"/>
                    <a:lstStyle/>
                    <a:p>
                      <a:r>
                        <a:rPr sz="1100" b="0">
                          <a:solidFill>
                            <a:srgbClr val="1A1A1A"/>
                          </a:solidFill>
                          <a:latin typeface="Arial"/>
                        </a:rPr>
                        <a:t/>
                      </a:r>
                    </a:p>
                  </a:txBody>
                  <a:tcPr>
                    <a:solidFill>
                      <a:srgbClr val="FFFFFF"/>
                    </a:solidFill>
                  </a:tcPr>
                </a:tc>
              </a:tr>
              <a:tr h="359228">
                <a:tc>
                  <a:txBody>
                    <a:bodyPr wrap="square"/>
                    <a:lstStyle/>
                    <a:p>
                      <a:r>
                        <a:rPr sz="1100" b="0">
                          <a:solidFill>
                            <a:srgbClr val="1A1A1A"/>
                          </a:solidFill>
                          <a:latin typeface="Arial"/>
                        </a:rPr>
                        <a:t>Vertrieb &amp; Marketing</a:t>
                      </a:r>
                    </a:p>
                  </a:txBody>
                  <a:tcPr>
                    <a:solidFill>
                      <a:srgbClr val="F4F6FA"/>
                    </a:solidFill>
                  </a:tcPr>
                </a:tc>
                <a:tc>
                  <a:txBody>
                    <a:bodyPr wrap="square"/>
                    <a:lstStyle/>
                    <a:p>
                      <a:r>
                        <a:rPr sz="1100" b="0">
                          <a:solidFill>
                            <a:srgbClr val="1A1A1A"/>
                          </a:solidFill>
                          <a:latin typeface="Arial"/>
                        </a:rPr>
                        <a:t>180.000 EUR</a:t>
                      </a:r>
                    </a:p>
                  </a:txBody>
                  <a:tcPr>
                    <a:solidFill>
                      <a:srgbClr val="F4F6FA"/>
                    </a:solidFill>
                  </a:tcPr>
                </a:tc>
                <a:tc>
                  <a:txBody>
                    <a:bodyPr wrap="square"/>
                    <a:lstStyle/>
                    <a:p>
                      <a:r>
                        <a:rPr sz="1100" b="0">
                          <a:solidFill>
                            <a:srgbClr val="1A1A1A"/>
                          </a:solidFill>
                          <a:latin typeface="Arial"/>
                        </a:rPr>
                        <a:t/>
                      </a:r>
                    </a:p>
                  </a:txBody>
                  <a:tcPr>
                    <a:solidFill>
                      <a:srgbClr val="F4F6FA"/>
                    </a:solidFill>
                  </a:tcPr>
                </a:tc>
                <a:tc>
                  <a:txBody>
                    <a:bodyPr wrap="square"/>
                    <a:lstStyle/>
                    <a:p>
                      <a:r>
                        <a:rPr sz="1100" b="0">
                          <a:solidFill>
                            <a:srgbClr val="1A1A1A"/>
                          </a:solidFill>
                          <a:latin typeface="Arial"/>
                        </a:rPr>
                        <a:t/>
                      </a:r>
                    </a:p>
                  </a:txBody>
                  <a:tcPr>
                    <a:solidFill>
                      <a:srgbClr val="F4F6FA"/>
                    </a:solidFill>
                  </a:tcPr>
                </a:tc>
                <a:tc>
                  <a:txBody>
                    <a:bodyPr wrap="square"/>
                    <a:lstStyle/>
                    <a:p>
                      <a:r>
                        <a:rPr sz="1100" b="0">
                          <a:solidFill>
                            <a:srgbClr val="1A1A1A"/>
                          </a:solidFill>
                          <a:latin typeface="Arial"/>
                        </a:rPr>
                        <a:t/>
                      </a:r>
                    </a:p>
                  </a:txBody>
                  <a:tcPr>
                    <a:solidFill>
                      <a:srgbClr val="F4F6FA"/>
                    </a:solidFill>
                  </a:tcPr>
                </a:tc>
                <a:tc>
                  <a:txBody>
                    <a:bodyPr wrap="square"/>
                    <a:lstStyle/>
                    <a:p>
                      <a:r>
                        <a:rPr sz="1100" b="0">
                          <a:solidFill>
                            <a:srgbClr val="1A1A1A"/>
                          </a:solidFill>
                          <a:latin typeface="Arial"/>
                        </a:rPr>
                        <a:t/>
                      </a:r>
                    </a:p>
                  </a:txBody>
                  <a:tcPr>
                    <a:solidFill>
                      <a:srgbClr val="F4F6FA"/>
                    </a:solidFill>
                  </a:tcPr>
                </a:tc>
              </a:tr>
              <a:tr h="359228">
                <a:tc>
                  <a:txBody>
                    <a:bodyPr wrap="square"/>
                    <a:lstStyle/>
                    <a:p>
                      <a:r>
                        <a:rPr sz="1100" b="0">
                          <a:solidFill>
                            <a:srgbClr val="1A1A1A"/>
                          </a:solidFill>
                          <a:latin typeface="Arial"/>
                        </a:rPr>
                        <a:t>Zinsen (Bauphase, kalkuliert)</a:t>
                      </a:r>
                    </a:p>
                  </a:txBody>
                  <a:tcPr>
                    <a:solidFill>
                      <a:srgbClr val="FFFFFF"/>
                    </a:solidFill>
                  </a:tcPr>
                </a:tc>
                <a:tc>
                  <a:txBody>
                    <a:bodyPr wrap="square"/>
                    <a:lstStyle/>
                    <a:p>
                      <a:r>
                        <a:rPr sz="1100" b="0">
                          <a:solidFill>
                            <a:srgbClr val="1A1A1A"/>
                          </a:solidFill>
                          <a:latin typeface="Arial"/>
                        </a:rPr>
                        <a:t>180.000 EUR</a:t>
                      </a:r>
                    </a:p>
                  </a:txBody>
                  <a:tcPr>
                    <a:solidFill>
                      <a:srgbClr val="FFFFFF"/>
                    </a:solidFill>
                  </a:tcPr>
                </a:tc>
                <a:tc>
                  <a:txBody>
                    <a:bodyPr wrap="square"/>
                    <a:lstStyle/>
                    <a:p>
                      <a:r>
                        <a:rPr sz="1100" b="0">
                          <a:solidFill>
                            <a:srgbClr val="1A1A1A"/>
                          </a:solidFill>
                          <a:latin typeface="Arial"/>
                        </a:rPr>
                        <a:t/>
                      </a:r>
                    </a:p>
                  </a:txBody>
                  <a:tcPr>
                    <a:solidFill>
                      <a:srgbClr val="FFFFFF"/>
                    </a:solidFill>
                  </a:tcPr>
                </a:tc>
                <a:tc>
                  <a:txBody>
                    <a:bodyPr wrap="square"/>
                    <a:lstStyle/>
                    <a:p>
                      <a:r>
                        <a:rPr sz="1100" b="0">
                          <a:solidFill>
                            <a:srgbClr val="1A1A1A"/>
                          </a:solidFill>
                          <a:latin typeface="Arial"/>
                        </a:rPr>
                        <a:t/>
                      </a:r>
                    </a:p>
                  </a:txBody>
                  <a:tcPr>
                    <a:solidFill>
                      <a:srgbClr val="FFFFFF"/>
                    </a:solidFill>
                  </a:tcPr>
                </a:tc>
                <a:tc>
                  <a:txBody>
                    <a:bodyPr wrap="square"/>
                    <a:lstStyle/>
                    <a:p>
                      <a:r>
                        <a:rPr sz="1100" b="0">
                          <a:solidFill>
                            <a:srgbClr val="1A1A1A"/>
                          </a:solidFill>
                          <a:latin typeface="Arial"/>
                        </a:rPr>
                        <a:t/>
                      </a:r>
                    </a:p>
                  </a:txBody>
                  <a:tcPr>
                    <a:solidFill>
                      <a:srgbClr val="FFFFFF"/>
                    </a:solidFill>
                  </a:tcPr>
                </a:tc>
                <a:tc>
                  <a:txBody>
                    <a:bodyPr wrap="square"/>
                    <a:lstStyle/>
                    <a:p>
                      <a:r>
                        <a:rPr sz="1100" b="0">
                          <a:solidFill>
                            <a:srgbClr val="1A1A1A"/>
                          </a:solidFill>
                          <a:latin typeface="Arial"/>
                        </a:rPr>
                        <a:t/>
                      </a:r>
                    </a:p>
                  </a:txBody>
                  <a:tcPr>
                    <a:solidFill>
                      <a:srgbClr val="FFFFFF"/>
                    </a:solidFill>
                  </a:tcPr>
                </a:tc>
              </a:tr>
              <a:tr h="359228">
                <a:tc>
                  <a:txBody>
                    <a:bodyPr wrap="square"/>
                    <a:lstStyle/>
                    <a:p>
                      <a:r>
                        <a:rPr sz="1100" b="0">
                          <a:solidFill>
                            <a:srgbClr val="1A1A1A"/>
                          </a:solidFill>
                          <a:latin typeface="Arial"/>
                        </a:rPr>
                        <a:t>Gesamtinvestitionskosten</a:t>
                      </a:r>
                    </a:p>
                  </a:txBody>
                  <a:tcPr>
                    <a:solidFill>
                      <a:srgbClr val="F4F6FA"/>
                    </a:solidFill>
                  </a:tcPr>
                </a:tc>
                <a:tc>
                  <a:txBody>
                    <a:bodyPr wrap="square"/>
                    <a:lstStyle/>
                    <a:p>
                      <a:r>
                        <a:rPr sz="1100" b="0">
                          <a:solidFill>
                            <a:srgbClr val="1A1A1A"/>
                          </a:solidFill>
                          <a:latin typeface="Arial"/>
                        </a:rPr>
                        <a:t>5.340.000 EUR</a:t>
                      </a:r>
                    </a:p>
                  </a:txBody>
                  <a:tcPr>
                    <a:solidFill>
                      <a:srgbClr val="F4F6FA"/>
                    </a:solidFill>
                  </a:tcPr>
                </a:tc>
                <a:tc>
                  <a:txBody>
                    <a:bodyPr wrap="square"/>
                    <a:lstStyle/>
                    <a:p>
                      <a:r>
                        <a:rPr sz="1100" b="0">
                          <a:solidFill>
                            <a:srgbClr val="1A1A1A"/>
                          </a:solidFill>
                          <a:latin typeface="Arial"/>
                        </a:rPr>
                        <a:t/>
                      </a:r>
                    </a:p>
                  </a:txBody>
                  <a:tcPr>
                    <a:solidFill>
                      <a:srgbClr val="F4F6FA"/>
                    </a:solidFill>
                  </a:tcPr>
                </a:tc>
                <a:tc>
                  <a:txBody>
                    <a:bodyPr wrap="square"/>
                    <a:lstStyle/>
                    <a:p>
                      <a:r>
                        <a:rPr sz="1100" b="0">
                          <a:solidFill>
                            <a:srgbClr val="1A1A1A"/>
                          </a:solidFill>
                          <a:latin typeface="Arial"/>
                        </a:rPr>
                        <a:t/>
                      </a:r>
                    </a:p>
                  </a:txBody>
                  <a:tcPr>
                    <a:solidFill>
                      <a:srgbClr val="F4F6FA"/>
                    </a:solidFill>
                  </a:tcPr>
                </a:tc>
                <a:tc>
                  <a:txBody>
                    <a:bodyPr wrap="square"/>
                    <a:lstStyle/>
                    <a:p>
                      <a:r>
                        <a:rPr sz="1100" b="0">
                          <a:solidFill>
                            <a:srgbClr val="1A1A1A"/>
                          </a:solidFill>
                          <a:latin typeface="Arial"/>
                        </a:rPr>
                        <a:t/>
                      </a:r>
                    </a:p>
                  </a:txBody>
                  <a:tcPr>
                    <a:solidFill>
                      <a:srgbClr val="F4F6FA"/>
                    </a:solidFill>
                  </a:tcPr>
                </a:tc>
                <a:tc>
                  <a:txBody>
                    <a:bodyPr wrap="square"/>
                    <a:lstStyle/>
                    <a:p>
                      <a:r>
                        <a:rPr sz="1100" b="0">
                          <a:solidFill>
                            <a:srgbClr val="1A1A1A"/>
                          </a:solidFill>
                          <a:latin typeface="Arial"/>
                        </a:rPr>
                        <a:t/>
                      </a:r>
                    </a:p>
                  </a:txBody>
                  <a:tcPr>
                    <a:solidFill>
                      <a:srgbClr val="F4F6FA"/>
                    </a:solidFill>
                  </a:tcPr>
                </a:tc>
              </a:tr>
              <a:tr h="359228">
                <a:tc>
                  <a:txBody>
                    <a:bodyPr wrap="square"/>
                    <a:lstStyle/>
                    <a:p>
                      <a:r>
                        <a:rPr sz="1100" b="0">
                          <a:solidFill>
                            <a:srgbClr val="1A1A1A"/>
                          </a:solidFill>
                          <a:latin typeface="Arial"/>
                        </a:rPr>
                        <a:t>davon Eigenkapital (Grundstück + Barmittel)</a:t>
                      </a:r>
                    </a:p>
                  </a:txBody>
                  <a:tcPr>
                    <a:solidFill>
                      <a:srgbClr val="FFFFFF"/>
                    </a:solidFill>
                  </a:tcPr>
                </a:tc>
                <a:tc>
                  <a:txBody>
                    <a:bodyPr wrap="square"/>
                    <a:lstStyle/>
                    <a:p>
                      <a:r>
                        <a:rPr sz="1100" b="0">
                          <a:solidFill>
                            <a:srgbClr val="1A1A1A"/>
                          </a:solidFill>
                          <a:latin typeface="Arial"/>
                        </a:rPr>
                        <a:t>1.340.000 EUR (25,1 %)</a:t>
                      </a:r>
                    </a:p>
                  </a:txBody>
                  <a:tcPr>
                    <a:solidFill>
                      <a:srgbClr val="FFFFFF"/>
                    </a:solidFill>
                  </a:tcPr>
                </a:tc>
                <a:tc>
                  <a:txBody>
                    <a:bodyPr wrap="square"/>
                    <a:lstStyle/>
                    <a:p>
                      <a:r>
                        <a:rPr sz="1100" b="0">
                          <a:solidFill>
                            <a:srgbClr val="1A1A1A"/>
                          </a:solidFill>
                          <a:latin typeface="Arial"/>
                        </a:rPr>
                        <a:t/>
                      </a:r>
                    </a:p>
                  </a:txBody>
                  <a:tcPr>
                    <a:solidFill>
                      <a:srgbClr val="FFFFFF"/>
                    </a:solidFill>
                  </a:tcPr>
                </a:tc>
                <a:tc>
                  <a:txBody>
                    <a:bodyPr wrap="square"/>
                    <a:lstStyle/>
                    <a:p>
                      <a:r>
                        <a:rPr sz="1100" b="0">
                          <a:solidFill>
                            <a:srgbClr val="1A1A1A"/>
                          </a:solidFill>
                          <a:latin typeface="Arial"/>
                        </a:rPr>
                        <a:t/>
                      </a:r>
                    </a:p>
                  </a:txBody>
                  <a:tcPr>
                    <a:solidFill>
                      <a:srgbClr val="FFFFFF"/>
                    </a:solidFill>
                  </a:tcPr>
                </a:tc>
                <a:tc>
                  <a:txBody>
                    <a:bodyPr wrap="square"/>
                    <a:lstStyle/>
                    <a:p>
                      <a:r>
                        <a:rPr sz="1100" b="0">
                          <a:solidFill>
                            <a:srgbClr val="1A1A1A"/>
                          </a:solidFill>
                          <a:latin typeface="Arial"/>
                        </a:rPr>
                        <a:t/>
                      </a:r>
                    </a:p>
                  </a:txBody>
                  <a:tcPr>
                    <a:solidFill>
                      <a:srgbClr val="FFFFFF"/>
                    </a:solidFill>
                  </a:tcPr>
                </a:tc>
                <a:tc>
                  <a:txBody>
                    <a:bodyPr wrap="square"/>
                    <a:lstStyle/>
                    <a:p>
                      <a:r>
                        <a:rPr sz="1100" b="0">
                          <a:solidFill>
                            <a:srgbClr val="1A1A1A"/>
                          </a:solidFill>
                          <a:latin typeface="Arial"/>
                        </a:rPr>
                        <a:t/>
                      </a:r>
                    </a:p>
                  </a:txBody>
                  <a:tcPr>
                    <a:solidFill>
                      <a:srgbClr val="FFFFFF"/>
                    </a:solidFill>
                  </a:tcPr>
                </a:tc>
              </a:tr>
              <a:tr h="359228">
                <a:tc>
                  <a:txBody>
                    <a:bodyPr wrap="square"/>
                    <a:lstStyle/>
                    <a:p>
                      <a:r>
                        <a:rPr sz="1100" b="0">
                          <a:solidFill>
                            <a:srgbClr val="1A1A1A"/>
                          </a:solidFill>
                          <a:latin typeface="Arial"/>
                        </a:rPr>
                        <a:t>davon Kreditbedarf (Anfrage VR-Bank)</a:t>
                      </a:r>
                    </a:p>
                  </a:txBody>
                  <a:tcPr>
                    <a:solidFill>
                      <a:srgbClr val="F4F6FA"/>
                    </a:solidFill>
                  </a:tcPr>
                </a:tc>
                <a:tc>
                  <a:txBody>
                    <a:bodyPr wrap="square"/>
                    <a:lstStyle/>
                    <a:p>
                      <a:r>
                        <a:rPr sz="1100" b="0">
                          <a:solidFill>
                            <a:srgbClr val="1A1A1A"/>
                          </a:solidFill>
                          <a:latin typeface="Arial"/>
                        </a:rPr>
                        <a:t>4.000.000 EUR</a:t>
                      </a:r>
                    </a:p>
                  </a:txBody>
                  <a:tcPr>
                    <a:solidFill>
                      <a:srgbClr val="F4F6FA"/>
                    </a:solidFill>
                  </a:tcPr>
                </a:tc>
                <a:tc>
                  <a:txBody>
                    <a:bodyPr wrap="square"/>
                    <a:lstStyle/>
                    <a:p>
                      <a:r>
                        <a:rPr sz="1100" b="0">
                          <a:solidFill>
                            <a:srgbClr val="1A1A1A"/>
                          </a:solidFill>
                          <a:latin typeface="Arial"/>
                        </a:rPr>
                        <a:t/>
                      </a:r>
                    </a:p>
                  </a:txBody>
                  <a:tcPr>
                    <a:solidFill>
                      <a:srgbClr val="F4F6FA"/>
                    </a:solidFill>
                  </a:tcPr>
                </a:tc>
                <a:tc>
                  <a:txBody>
                    <a:bodyPr wrap="square"/>
                    <a:lstStyle/>
                    <a:p>
                      <a:r>
                        <a:rPr sz="1100" b="0">
                          <a:solidFill>
                            <a:srgbClr val="1A1A1A"/>
                          </a:solidFill>
                          <a:latin typeface="Arial"/>
                        </a:rPr>
                        <a:t/>
                      </a:r>
                    </a:p>
                  </a:txBody>
                  <a:tcPr>
                    <a:solidFill>
                      <a:srgbClr val="F4F6FA"/>
                    </a:solidFill>
                  </a:tcPr>
                </a:tc>
                <a:tc>
                  <a:txBody>
                    <a:bodyPr wrap="square"/>
                    <a:lstStyle/>
                    <a:p>
                      <a:r>
                        <a:rPr sz="1100" b="0">
                          <a:solidFill>
                            <a:srgbClr val="1A1A1A"/>
                          </a:solidFill>
                          <a:latin typeface="Arial"/>
                        </a:rPr>
                        <a:t/>
                      </a:r>
                    </a:p>
                  </a:txBody>
                  <a:tcPr>
                    <a:solidFill>
                      <a:srgbClr val="F4F6FA"/>
                    </a:solidFill>
                  </a:tcPr>
                </a:tc>
                <a:tc>
                  <a:txBody>
                    <a:bodyPr wrap="square"/>
                    <a:lstStyle/>
                    <a:p>
                      <a:r>
                        <a:rPr sz="1100" b="0">
                          <a:solidFill>
                            <a:srgbClr val="1A1A1A"/>
                          </a:solidFill>
                          <a:latin typeface="Arial"/>
                        </a:rPr>
                        <a:t/>
                      </a:r>
                    </a:p>
                  </a:txBody>
                  <a:tcPr>
                    <a:solidFill>
                      <a:srgbClr val="F4F6FA"/>
                    </a:solidFill>
                  </a:tcPr>
                </a:tc>
              </a:tr>
              <a:tr h="359228">
                <a:tc>
                  <a:txBody>
                    <a:bodyPr wrap="square"/>
                    <a:lstStyle/>
                    <a:p>
                      <a:r>
                        <a:rPr sz="1100" b="0">
                          <a:solidFill>
                            <a:srgbClr val="1A1A1A"/>
                          </a:solidFill>
                          <a:latin typeface="Arial"/>
                        </a:rPr>
                        <a:t>Kategorie</a:t>
                      </a:r>
                    </a:p>
                  </a:txBody>
                  <a:tcPr>
                    <a:solidFill>
                      <a:srgbClr val="FFFFFF"/>
                    </a:solidFill>
                  </a:tcPr>
                </a:tc>
                <a:tc>
                  <a:txBody>
                    <a:bodyPr wrap="square"/>
                    <a:lstStyle/>
                    <a:p>
                      <a:r>
                        <a:rPr sz="1100" b="0">
                          <a:solidFill>
                            <a:srgbClr val="1A1A1A"/>
                          </a:solidFill>
                          <a:latin typeface="Arial"/>
                        </a:rPr>
                        <a:t>Einheiten</a:t>
                      </a:r>
                    </a:p>
                  </a:txBody>
                  <a:tcPr>
                    <a:solidFill>
                      <a:srgbClr val="FFFFFF"/>
                    </a:solidFill>
                  </a:tcPr>
                </a:tc>
                <a:tc>
                  <a:txBody>
                    <a:bodyPr wrap="square"/>
                    <a:lstStyle/>
                    <a:p>
                      <a:r>
                        <a:rPr sz="1100" b="0">
                          <a:solidFill>
                            <a:srgbClr val="1A1A1A"/>
                          </a:solidFill>
                          <a:latin typeface="Arial"/>
                        </a:rPr>
                        <a:t>ø Preis/m²</a:t>
                      </a:r>
                    </a:p>
                  </a:txBody>
                  <a:tcPr>
                    <a:solidFill>
                      <a:srgbClr val="FFFFFF"/>
                    </a:solidFill>
                  </a:tcPr>
                </a:tc>
                <a:tc>
                  <a:txBody>
                    <a:bodyPr wrap="square"/>
                    <a:lstStyle/>
                    <a:p>
                      <a:r>
                        <a:rPr sz="1100" b="0">
                          <a:solidFill>
                            <a:srgbClr val="1A1A1A"/>
                          </a:solidFill>
                          <a:latin typeface="Arial"/>
                        </a:rPr>
                        <a:t>ø Größe</a:t>
                      </a:r>
                    </a:p>
                  </a:txBody>
                  <a:tcPr>
                    <a:solidFill>
                      <a:srgbClr val="FFFFFF"/>
                    </a:solidFill>
                  </a:tcPr>
                </a:tc>
                <a:tc>
                  <a:txBody>
                    <a:bodyPr wrap="square"/>
                    <a:lstStyle/>
                    <a:p>
                      <a:r>
                        <a:rPr sz="1100" b="0">
                          <a:solidFill>
                            <a:srgbClr val="1A1A1A"/>
                          </a:solidFill>
                          <a:latin typeface="Arial"/>
                        </a:rPr>
                        <a:t>ø Erlös/WE</a:t>
                      </a:r>
                    </a:p>
                  </a:txBody>
                  <a:tcPr>
                    <a:solidFill>
                      <a:srgbClr val="FFFFFF"/>
                    </a:solidFill>
                  </a:tcPr>
                </a:tc>
                <a:tc>
                  <a:txBody>
                    <a:bodyPr wrap="square"/>
                    <a:lstStyle/>
                    <a:p>
                      <a:r>
                        <a:rPr sz="1100" b="0">
                          <a:solidFill>
                            <a:srgbClr val="1A1A1A"/>
                          </a:solidFill>
                          <a:latin typeface="Arial"/>
                        </a:rPr>
                        <a:t>Gesamterlös</a:t>
                      </a:r>
                    </a:p>
                  </a:txBody>
                  <a:tcPr>
                    <a:solidFill>
                      <a:srgbClr val="FFFFFF"/>
                    </a:solidFill>
                  </a:tcPr>
                </a:tc>
              </a:tr>
              <a:tr h="359228">
                <a:tc>
                  <a:txBody>
                    <a:bodyPr wrap="square"/>
                    <a:lstStyle/>
                    <a:p>
                      <a:r>
                        <a:rPr sz="1100" b="0">
                          <a:solidFill>
                            <a:srgbClr val="1A1A1A"/>
                          </a:solidFill>
                          <a:latin typeface="Arial"/>
                        </a:rPr>
                        <a:t>2-Zi.-Wohnungen</a:t>
                      </a:r>
                    </a:p>
                  </a:txBody>
                  <a:tcPr>
                    <a:solidFill>
                      <a:srgbClr val="F4F6FA"/>
                    </a:solidFill>
                  </a:tcPr>
                </a:tc>
                <a:tc>
                  <a:txBody>
                    <a:bodyPr wrap="square"/>
                    <a:lstStyle/>
                    <a:p>
                      <a:r>
                        <a:rPr sz="1100" b="0">
                          <a:solidFill>
                            <a:srgbClr val="1A1A1A"/>
                          </a:solidFill>
                          <a:latin typeface="Arial"/>
                        </a:rPr>
                        <a:t>6</a:t>
                      </a:r>
                    </a:p>
                  </a:txBody>
                  <a:tcPr>
                    <a:solidFill>
                      <a:srgbClr val="F4F6FA"/>
                    </a:solidFill>
                  </a:tcPr>
                </a:tc>
                <a:tc>
                  <a:txBody>
                    <a:bodyPr wrap="square"/>
                    <a:lstStyle/>
                    <a:p>
                      <a:r>
                        <a:rPr sz="1100" b="0">
                          <a:solidFill>
                            <a:srgbClr val="1A1A1A"/>
                          </a:solidFill>
                          <a:latin typeface="Arial"/>
                        </a:rPr>
                        <a:t>4.800 EUR</a:t>
                      </a:r>
                    </a:p>
                  </a:txBody>
                  <a:tcPr>
                    <a:solidFill>
                      <a:srgbClr val="F4F6FA"/>
                    </a:solidFill>
                  </a:tcPr>
                </a:tc>
                <a:tc>
                  <a:txBody>
                    <a:bodyPr wrap="square"/>
                    <a:lstStyle/>
                    <a:p>
                      <a:r>
                        <a:rPr sz="1100" b="0">
                          <a:solidFill>
                            <a:srgbClr val="1A1A1A"/>
                          </a:solidFill>
                          <a:latin typeface="Arial"/>
                        </a:rPr>
                        <a:t>65 m²</a:t>
                      </a:r>
                    </a:p>
                  </a:txBody>
                  <a:tcPr>
                    <a:solidFill>
                      <a:srgbClr val="F4F6FA"/>
                    </a:solidFill>
                  </a:tcPr>
                </a:tc>
                <a:tc>
                  <a:txBody>
                    <a:bodyPr wrap="square"/>
                    <a:lstStyle/>
                    <a:p>
                      <a:r>
                        <a:rPr sz="1100" b="0">
                          <a:solidFill>
                            <a:srgbClr val="1A1A1A"/>
                          </a:solidFill>
                          <a:latin typeface="Arial"/>
                        </a:rPr>
                        <a:t>312.000 EUR</a:t>
                      </a:r>
                    </a:p>
                  </a:txBody>
                  <a:tcPr>
                    <a:solidFill>
                      <a:srgbClr val="F4F6FA"/>
                    </a:solidFill>
                  </a:tcPr>
                </a:tc>
                <a:tc>
                  <a:txBody>
                    <a:bodyPr wrap="square"/>
                    <a:lstStyle/>
                    <a:p>
                      <a:r>
                        <a:rPr sz="1100" b="0">
                          <a:solidFill>
                            <a:srgbClr val="1A1A1A"/>
                          </a:solidFill>
                          <a:latin typeface="Arial"/>
                        </a:rPr>
                        <a:t>1.872.000 EUR</a:t>
                      </a:r>
                    </a:p>
                  </a:txBody>
                  <a:tcPr>
                    <a:solidFill>
                      <a:srgbClr val="F4F6FA"/>
                    </a:solidFill>
                  </a:tcPr>
                </a:tc>
              </a:tr>
              <a:tr h="359228">
                <a:tc>
                  <a:txBody>
                    <a:bodyPr wrap="square"/>
                    <a:lstStyle/>
                    <a:p>
                      <a:r>
                        <a:rPr sz="1100" b="0">
                          <a:solidFill>
                            <a:srgbClr val="1A1A1A"/>
                          </a:solidFill>
                          <a:latin typeface="Arial"/>
                        </a:rPr>
                        <a:t>3-Zi.-Wohnungen</a:t>
                      </a:r>
                    </a:p>
                  </a:txBody>
                  <a:tcPr>
                    <a:solidFill>
                      <a:srgbClr val="FFFFFF"/>
                    </a:solidFill>
                  </a:tcPr>
                </a:tc>
                <a:tc>
                  <a:txBody>
                    <a:bodyPr wrap="square"/>
                    <a:lstStyle/>
                    <a:p>
                      <a:r>
                        <a:rPr sz="1100" b="0">
                          <a:solidFill>
                            <a:srgbClr val="1A1A1A"/>
                          </a:solidFill>
                          <a:latin typeface="Arial"/>
                        </a:rPr>
                        <a:t>7</a:t>
                      </a:r>
                    </a:p>
                  </a:txBody>
                  <a:tcPr>
                    <a:solidFill>
                      <a:srgbClr val="FFFFFF"/>
                    </a:solidFill>
                  </a:tcPr>
                </a:tc>
                <a:tc>
                  <a:txBody>
                    <a:bodyPr wrap="square"/>
                    <a:lstStyle/>
                    <a:p>
                      <a:r>
                        <a:rPr sz="1100" b="0">
                          <a:solidFill>
                            <a:srgbClr val="1A1A1A"/>
                          </a:solidFill>
                          <a:latin typeface="Arial"/>
                        </a:rPr>
                        <a:t>4.600 EUR</a:t>
                      </a:r>
                    </a:p>
                  </a:txBody>
                  <a:tcPr>
                    <a:solidFill>
                      <a:srgbClr val="FFFFFF"/>
                    </a:solidFill>
                  </a:tcPr>
                </a:tc>
                <a:tc>
                  <a:txBody>
                    <a:bodyPr wrap="square"/>
                    <a:lstStyle/>
                    <a:p>
                      <a:r>
                        <a:rPr sz="1100" b="0">
                          <a:solidFill>
                            <a:srgbClr val="1A1A1A"/>
                          </a:solidFill>
                          <a:latin typeface="Arial"/>
                        </a:rPr>
                        <a:t>88 m²</a:t>
                      </a:r>
                    </a:p>
                  </a:txBody>
                  <a:tcPr>
                    <a:solidFill>
                      <a:srgbClr val="FFFFFF"/>
                    </a:solidFill>
                  </a:tcPr>
                </a:tc>
                <a:tc>
                  <a:txBody>
                    <a:bodyPr wrap="square"/>
                    <a:lstStyle/>
                    <a:p>
                      <a:r>
                        <a:rPr sz="1100" b="0">
                          <a:solidFill>
                            <a:srgbClr val="1A1A1A"/>
                          </a:solidFill>
                          <a:latin typeface="Arial"/>
                        </a:rPr>
                        <a:t>404.800 EUR</a:t>
                      </a:r>
                    </a:p>
                  </a:txBody>
                  <a:tcPr>
                    <a:solidFill>
                      <a:srgbClr val="FFFFFF"/>
                    </a:solidFill>
                  </a:tcPr>
                </a:tc>
                <a:tc>
                  <a:txBody>
                    <a:bodyPr wrap="square"/>
                    <a:lstStyle/>
                    <a:p>
                      <a:r>
                        <a:rPr sz="1100" b="0">
                          <a:solidFill>
                            <a:srgbClr val="1A1A1A"/>
                          </a:solidFill>
                          <a:latin typeface="Arial"/>
                        </a:rPr>
                        <a:t>2.833.600 EUR</a:t>
                      </a:r>
                    </a:p>
                  </a:txBody>
                  <a:tcPr>
                    <a:solidFill>
                      <a:srgbClr val="FFFFFF"/>
                    </a:solidFill>
                  </a:tcPr>
                </a:tc>
              </a:tr>
              <a:tr h="359228">
                <a:tc>
                  <a:txBody>
                    <a:bodyPr wrap="square"/>
                    <a:lstStyle/>
                    <a:p>
                      <a:r>
                        <a:rPr sz="1100" b="0">
                          <a:solidFill>
                            <a:srgbClr val="1A1A1A"/>
                          </a:solidFill>
                          <a:latin typeface="Arial"/>
                        </a:rPr>
                        <a:t>4-Zi.-Wohnungen</a:t>
                      </a:r>
                    </a:p>
                  </a:txBody>
                  <a:tcPr>
                    <a:solidFill>
                      <a:srgbClr val="F4F6FA"/>
                    </a:solidFill>
                  </a:tcPr>
                </a:tc>
                <a:tc>
                  <a:txBody>
                    <a:bodyPr wrap="square"/>
                    <a:lstStyle/>
                    <a:p>
                      <a:r>
                        <a:rPr sz="1100" b="0">
                          <a:solidFill>
                            <a:srgbClr val="1A1A1A"/>
                          </a:solidFill>
                          <a:latin typeface="Arial"/>
                        </a:rPr>
                        <a:t>3</a:t>
                      </a:r>
                    </a:p>
                  </a:txBody>
                  <a:tcPr>
                    <a:solidFill>
                      <a:srgbClr val="F4F6FA"/>
                    </a:solidFill>
                  </a:tcPr>
                </a:tc>
                <a:tc>
                  <a:txBody>
                    <a:bodyPr wrap="square"/>
                    <a:lstStyle/>
                    <a:p>
                      <a:r>
                        <a:rPr sz="1100" b="0">
                          <a:solidFill>
                            <a:srgbClr val="1A1A1A"/>
                          </a:solidFill>
                          <a:latin typeface="Arial"/>
                        </a:rPr>
                        <a:t>4.500 EUR</a:t>
                      </a:r>
                    </a:p>
                  </a:txBody>
                  <a:tcPr>
                    <a:solidFill>
                      <a:srgbClr val="F4F6FA"/>
                    </a:solidFill>
                  </a:tcPr>
                </a:tc>
                <a:tc>
                  <a:txBody>
                    <a:bodyPr wrap="square"/>
                    <a:lstStyle/>
                    <a:p>
                      <a:r>
                        <a:rPr sz="1100" b="0">
                          <a:solidFill>
                            <a:srgbClr val="1A1A1A"/>
                          </a:solidFill>
                          <a:latin typeface="Arial"/>
                        </a:rPr>
                        <a:t>108 m²</a:t>
                      </a:r>
                    </a:p>
                  </a:txBody>
                  <a:tcPr>
                    <a:solidFill>
                      <a:srgbClr val="F4F6FA"/>
                    </a:solidFill>
                  </a:tcPr>
                </a:tc>
                <a:tc>
                  <a:txBody>
                    <a:bodyPr wrap="square"/>
                    <a:lstStyle/>
                    <a:p>
                      <a:r>
                        <a:rPr sz="1100" b="0">
                          <a:solidFill>
                            <a:srgbClr val="1A1A1A"/>
                          </a:solidFill>
                          <a:latin typeface="Arial"/>
                        </a:rPr>
                        <a:t>486.000 EUR</a:t>
                      </a:r>
                    </a:p>
                  </a:txBody>
                  <a:tcPr>
                    <a:solidFill>
                      <a:srgbClr val="F4F6FA"/>
                    </a:solidFill>
                  </a:tcPr>
                </a:tc>
                <a:tc>
                  <a:txBody>
                    <a:bodyPr wrap="square"/>
                    <a:lstStyle/>
                    <a:p>
                      <a:r>
                        <a:rPr sz="1100" b="0">
                          <a:solidFill>
                            <a:srgbClr val="1A1A1A"/>
                          </a:solidFill>
                          <a:latin typeface="Arial"/>
                        </a:rPr>
                        <a:t>1.458.000 EUR</a:t>
                      </a:r>
                    </a:p>
                  </a:txBody>
                  <a:tcPr>
                    <a:solidFill>
                      <a:srgbClr val="F4F6FA"/>
                    </a:solidFill>
                  </a:tcPr>
                </a:tc>
              </a:tr>
              <a:tr h="359236">
                <a:tc>
                  <a:txBody>
                    <a:bodyPr wrap="square"/>
                    <a:lstStyle/>
                    <a:p>
                      <a:r>
                        <a:rPr sz="1100" b="0">
                          <a:solidFill>
                            <a:srgbClr val="1A1A1A"/>
                          </a:solidFill>
                          <a:latin typeface="Arial"/>
                        </a:rPr>
                        <a:t>Gesamt</a:t>
                      </a:r>
                    </a:p>
                  </a:txBody>
                  <a:tcPr>
                    <a:solidFill>
                      <a:srgbClr val="FFFFFF"/>
                    </a:solidFill>
                  </a:tcPr>
                </a:tc>
                <a:tc>
                  <a:txBody>
                    <a:bodyPr wrap="square"/>
                    <a:lstStyle/>
                    <a:p>
                      <a:r>
                        <a:rPr sz="1100" b="0">
                          <a:solidFill>
                            <a:srgbClr val="1A1A1A"/>
                          </a:solidFill>
                          <a:latin typeface="Arial"/>
                        </a:rPr>
                        <a:t>16</a:t>
                      </a:r>
                    </a:p>
                  </a:txBody>
                  <a:tcPr>
                    <a:solidFill>
                      <a:srgbClr val="FFFFFF"/>
                    </a:solidFill>
                  </a:tcPr>
                </a:tc>
                <a:tc>
                  <a:txBody>
                    <a:bodyPr wrap="square"/>
                    <a:lstStyle/>
                    <a:p>
                      <a:r>
                        <a:rPr sz="1100" b="0">
                          <a:solidFill>
                            <a:srgbClr val="1A1A1A"/>
                          </a:solidFill>
                          <a:latin typeface="Arial"/>
                        </a:rPr>
                        <a:t/>
                      </a:r>
                    </a:p>
                  </a:txBody>
                  <a:tcPr>
                    <a:solidFill>
                      <a:srgbClr val="FFFFFF"/>
                    </a:solidFill>
                  </a:tcPr>
                </a:tc>
                <a:tc>
                  <a:txBody>
                    <a:bodyPr wrap="square"/>
                    <a:lstStyle/>
                    <a:p>
                      <a:r>
                        <a:rPr sz="1100" b="0">
                          <a:solidFill>
                            <a:srgbClr val="1A1A1A"/>
                          </a:solidFill>
                          <a:latin typeface="Arial"/>
                        </a:rPr>
                        <a:t/>
                      </a:r>
                    </a:p>
                  </a:txBody>
                  <a:tcPr>
                    <a:solidFill>
                      <a:srgbClr val="FFFFFF"/>
                    </a:solidFill>
                  </a:tcPr>
                </a:tc>
                <a:tc>
                  <a:txBody>
                    <a:bodyPr wrap="square"/>
                    <a:lstStyle/>
                    <a:p>
                      <a:r>
                        <a:rPr sz="1100" b="0">
                          <a:solidFill>
                            <a:srgbClr val="1A1A1A"/>
                          </a:solidFill>
                          <a:latin typeface="Arial"/>
                        </a:rPr>
                        <a:t/>
                      </a:r>
                    </a:p>
                  </a:txBody>
                  <a:tcPr>
                    <a:solidFill>
                      <a:srgbClr val="FFFFFF"/>
                    </a:solidFill>
                  </a:tcPr>
                </a:tc>
                <a:tc>
                  <a:txBody>
                    <a:bodyPr wrap="square"/>
                    <a:lstStyle/>
                    <a:p>
                      <a:r>
                        <a:rPr sz="1100" b="0">
                          <a:solidFill>
                            <a:srgbClr val="1A1A1A"/>
                          </a:solidFill>
                          <a:latin typeface="Arial"/>
                        </a:rPr>
                        <a:t>6.163.600 EUR</a:t>
                      </a:r>
                    </a:p>
                  </a:txBody>
                  <a:tcP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Aufgaben (Gruppenarbeit, je Gruppe ca. 60 Min.)</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43000"/>
            <a:ext cx="11430000" cy="5212080"/>
          </a:xfrm>
          <a:prstGeom prst="rect">
            <a:avLst/>
          </a:prstGeom>
          <a:noFill/>
        </p:spPr>
        <p:txBody>
          <a:bodyPr wrap="square">
            <a:spAutoFit/>
          </a:bodyPr>
          <a:lstStyle/>
          <a:p>
            <a:pPr>
              <a:spcBef>
                <a:spcPts val="500"/>
              </a:spcBef>
            </a:pPr>
            <a:r>
              <a:rPr sz="1500">
                <a:solidFill>
                  <a:srgbClr val="003DA5"/>
                </a:solidFill>
                <a:latin typeface="Arial"/>
              </a:rPr>
              <a:t>▪  </a:t>
            </a:r>
            <a:r>
              <a:rPr sz="1700" b="1">
                <a:solidFill>
                  <a:srgbClr val="003DA5"/>
                </a:solidFill>
                <a:latin typeface="Arial"/>
              </a:rPr>
              <a:t>Aufgabe 1 – Kundentypologie und Risikoprofil (LZ-1): </a:t>
            </a:r>
            <a:r>
              <a:rPr sz="1700">
                <a:solidFill>
                  <a:srgbClr val="1A1A1A"/>
                </a:solidFill>
                <a:latin typeface="Arial"/>
              </a:rPr>
              <a:t>Ordnen Sie die Quartier Sonnenhalde GmbH &amp; Co. KG einem der drei Kundentypologien zu. Begründen Sie Ihre Einordnung und leiten Sie aus dem Geschäftsmodell die</a:t>
            </a:r>
          </a:p>
          <a:p>
            <a:pPr>
              <a:spcBef>
                <a:spcPts val="500"/>
              </a:spcBef>
            </a:pPr>
            <a:r>
              <a:rPr sz="1500">
                <a:solidFill>
                  <a:srgbClr val="003DA5"/>
                </a:solidFill>
                <a:latin typeface="Arial"/>
              </a:rPr>
              <a:t>▪  </a:t>
            </a:r>
            <a:r>
              <a:rPr sz="1700" b="1">
                <a:solidFill>
                  <a:srgbClr val="003DA5"/>
                </a:solidFill>
                <a:latin typeface="Arial"/>
              </a:rPr>
              <a:t>drei wesentlichsten Risiken: </a:t>
            </a:r>
            <a:r>
              <a:rPr sz="1700">
                <a:solidFill>
                  <a:srgbClr val="1A1A1A"/>
                </a:solidFill>
                <a:latin typeface="Arial"/>
              </a:rPr>
              <a:t>für die VR-Bank ab. Priorisieren Sie diese Risiken und begründen Sie Ihre Priorisierung.</a:t>
            </a:r>
          </a:p>
          <a:p>
            <a:pPr>
              <a:spcBef>
                <a:spcPts val="500"/>
              </a:spcBef>
            </a:pPr>
            <a:r>
              <a:rPr sz="1500">
                <a:solidFill>
                  <a:srgbClr val="003DA5"/>
                </a:solidFill>
                <a:latin typeface="Arial"/>
              </a:rPr>
              <a:t>▪  </a:t>
            </a:r>
            <a:r>
              <a:rPr sz="1700" b="1">
                <a:solidFill>
                  <a:srgbClr val="003DA5"/>
                </a:solidFill>
                <a:latin typeface="Arial"/>
              </a:rPr>
              <a:t>Aufgabe 2 – Kennzahlenanalyse (LZ-2/LZ-3): </a:t>
            </a:r>
            <a:r>
              <a:rPr sz="1700">
                <a:solidFill>
                  <a:srgbClr val="1A1A1A"/>
                </a:solidFill>
                <a:latin typeface="Arial"/>
              </a:rPr>
              <a:t>Berechnen Sie folgende Kennzahlen auf Basis der Projektdaten:</a:t>
            </a:r>
          </a:p>
          <a:p>
            <a:pPr>
              <a:spcBef>
                <a:spcPts val="500"/>
              </a:spcBef>
            </a:pPr>
            <a:r>
              <a:rPr sz="1500">
                <a:solidFill>
                  <a:srgbClr val="003DA5"/>
                </a:solidFill>
                <a:latin typeface="Arial"/>
              </a:rPr>
              <a:t>▪  </a:t>
            </a:r>
            <a:r>
              <a:rPr sz="1700" b="1">
                <a:solidFill>
                  <a:srgbClr val="003DA5"/>
                </a:solidFill>
                <a:latin typeface="Arial"/>
              </a:rPr>
              <a:t>Projektmarge: </a:t>
            </a:r>
            <a:r>
              <a:rPr sz="1700">
                <a:solidFill>
                  <a:srgbClr val="1A1A1A"/>
                </a:solidFill>
                <a:latin typeface="Arial"/>
              </a:rPr>
              <a:t>= (Gesamtverkaufserlöse − Gesamtinvestitionskosten) / Gesamtinvestitionskosten × 100</a:t>
            </a:r>
          </a:p>
          <a:p>
            <a:pPr>
              <a:spcBef>
                <a:spcPts val="500"/>
              </a:spcBef>
            </a:pPr>
            <a:r>
              <a:rPr sz="1500">
                <a:solidFill>
                  <a:srgbClr val="003DA5"/>
                </a:solidFill>
                <a:latin typeface="Arial"/>
              </a:rPr>
              <a:t>▪  </a:t>
            </a:r>
            <a:r>
              <a:rPr sz="1700" b="1">
                <a:solidFill>
                  <a:srgbClr val="003DA5"/>
                </a:solidFill>
                <a:latin typeface="Arial"/>
              </a:rPr>
              <a:t>LTV: </a:t>
            </a:r>
            <a:r>
              <a:rPr sz="1700">
                <a:solidFill>
                  <a:srgbClr val="1A1A1A"/>
                </a:solidFill>
                <a:latin typeface="Arial"/>
              </a:rPr>
              <a:t>= Kreditbetrag / Gesamtverkaufserlöse × 100 (bezogen auf Marktwert fertig)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Aufgaben (Gruppenarbeit, je Gruppe ca. 60 Min.)</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43000"/>
            <a:ext cx="11430000" cy="5212080"/>
          </a:xfrm>
          <a:prstGeom prst="rect">
            <a:avLst/>
          </a:prstGeom>
          <a:noFill/>
        </p:spPr>
        <p:txBody>
          <a:bodyPr wrap="square">
            <a:spAutoFit/>
          </a:bodyPr>
          <a:lstStyle/>
          <a:p>
            <a:pPr>
              <a:spcBef>
                <a:spcPts val="500"/>
              </a:spcBef>
            </a:pPr>
            <a:r>
              <a:rPr sz="1500">
                <a:solidFill>
                  <a:srgbClr val="003DA5"/>
                </a:solidFill>
                <a:latin typeface="Arial"/>
              </a:rPr>
              <a:t>▪  </a:t>
            </a:r>
            <a:r>
              <a:rPr sz="1700" b="1">
                <a:solidFill>
                  <a:srgbClr val="003DA5"/>
                </a:solidFill>
                <a:latin typeface="Arial"/>
              </a:rPr>
              <a:t>Vorverkaufsquote: </a:t>
            </a:r>
            <a:r>
              <a:rPr sz="1700">
                <a:solidFill>
                  <a:srgbClr val="1A1A1A"/>
                </a:solidFill>
                <a:latin typeface="Arial"/>
              </a:rPr>
              <a:t>in % (wertmäßig, bezogen auf Gesamterlöse)</a:t>
            </a:r>
          </a:p>
          <a:p>
            <a:pPr>
              <a:spcBef>
                <a:spcPts val="500"/>
              </a:spcBef>
            </a:pPr>
            <a:r>
              <a:rPr sz="1500">
                <a:solidFill>
                  <a:srgbClr val="003DA5"/>
                </a:solidFill>
                <a:latin typeface="Arial"/>
              </a:rPr>
              <a:t>▪  </a:t>
            </a:r>
            <a:r>
              <a:rPr sz="1700" b="1">
                <a:solidFill>
                  <a:srgbClr val="003DA5"/>
                </a:solidFill>
                <a:latin typeface="Arial"/>
              </a:rPr>
              <a:t>Aufgabe 3 – Risikoanalyse und Kreditstruktur (LZ-4/LZ-5): </a:t>
            </a:r>
            <a:r>
              <a:rPr sz="1700">
                <a:solidFill>
                  <a:srgbClr val="1A1A1A"/>
                </a:solidFill>
                <a:latin typeface="Arial"/>
              </a:rPr>
              <a:t>Sie sollen eine Empfehlung für die Kreditkommission vorbereiten. a) Welche Risikofelder aus TI-4 sind für dieses konkrete Projekt am stärksten ausgeprägt? Begründen Sie. b) Welche</a:t>
            </a:r>
          </a:p>
          <a:p>
            <a:pPr>
              <a:spcBef>
                <a:spcPts val="500"/>
              </a:spcBef>
            </a:pPr>
            <a:r>
              <a:rPr sz="1500">
                <a:solidFill>
                  <a:srgbClr val="003DA5"/>
                </a:solidFill>
                <a:latin typeface="Arial"/>
              </a:rPr>
              <a:t>▪  </a:t>
            </a:r>
            <a:r>
              <a:rPr sz="1700" b="1">
                <a:solidFill>
                  <a:srgbClr val="003DA5"/>
                </a:solidFill>
                <a:latin typeface="Arial"/>
              </a:rPr>
              <a:t>3 Kreditauflagen: </a:t>
            </a:r>
            <a:r>
              <a:rPr sz="1700">
                <a:solidFill>
                  <a:srgbClr val="1A1A1A"/>
                </a:solidFill>
                <a:latin typeface="Arial"/>
              </a:rPr>
              <a:t>(Covenants) würden Sie in den Kreditvertrag aufnehmen? c) Sollte ein Verbundpartner (MünchenerHyp, DZ BANK) eingebunden werden? Warum, warum nicht?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E05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0"/>
            <a:ext cx="11430000" cy="2011680"/>
          </a:xfrm>
          <a:prstGeom prst="rect">
            <a:avLst/>
          </a:prstGeom>
          <a:noFill/>
        </p:spPr>
        <p:txBody>
          <a:bodyPr wrap="square">
            <a:spAutoFit/>
          </a:bodyPr>
          <a:lstStyle/>
          <a:p>
            <a:pPr algn="l"/>
            <a:r>
              <a:rPr sz="3600" b="1" i="0">
                <a:solidFill>
                  <a:srgbClr val="FFFFFF"/>
                </a:solidFill>
                <a:latin typeface="Arial"/>
              </a:rPr>
              <a:t>4.6 Reflexionsfragen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82880"/>
            <a:ext cx="11430000" cy="320040"/>
          </a:xfrm>
          <a:prstGeom prst="rect">
            <a:avLst/>
          </a:prstGeom>
          <a:noFill/>
        </p:spPr>
        <p:txBody>
          <a:bodyPr wrap="square">
            <a:spAutoFit/>
          </a:bodyPr>
          <a:lstStyle/>
          <a:p>
            <a:pPr algn="l"/>
            <a:r>
              <a:rPr sz="900" b="0" i="0">
                <a:solidFill>
                  <a:srgbClr val="556575"/>
                </a:solidFill>
                <a:latin typeface="Arial"/>
              </a:rPr>
              <a:t>M08 · Modulinhalte</a:t>
            </a:r>
          </a:p>
        </p:txBody>
      </p:sp>
      <p:sp>
        <p:nvSpPr>
          <p:cNvPr id="4" name="TextBox 3"/>
          <p:cNvSpPr txBox="1"/>
          <p:nvPr/>
        </p:nvSpPr>
        <p:spPr>
          <a:xfrm>
            <a:off x="365760" y="274320"/>
            <a:ext cx="11430000" cy="777240"/>
          </a:xfrm>
          <a:prstGeom prst="rect">
            <a:avLst/>
          </a:prstGeom>
          <a:noFill/>
        </p:spPr>
        <p:txBody>
          <a:bodyPr wrap="square">
            <a:spAutoFit/>
          </a:bodyPr>
          <a:lstStyle/>
          <a:p>
            <a:pPr algn="l"/>
            <a:r>
              <a:rPr sz="2200" b="1" i="0">
                <a:solidFill>
                  <a:srgbClr val="003DA5"/>
                </a:solidFill>
                <a:latin typeface="Arial"/>
              </a:rPr>
              <a:t>4.6 Reflexionsfragen</a:t>
            </a:r>
          </a:p>
        </p:txBody>
      </p:sp>
      <p:sp>
        <p:nvSpPr>
          <p:cNvPr id="5" name="Rectangle 4"/>
          <p:cNvSpPr/>
          <p:nvPr/>
        </p:nvSpPr>
        <p:spPr>
          <a:xfrm>
            <a:off x="365760" y="1005840"/>
            <a:ext cx="114300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457200" cy="41148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188720"/>
            <a:ext cx="457200" cy="411480"/>
          </a:xfrm>
          <a:prstGeom prst="rect">
            <a:avLst/>
          </a:prstGeom>
          <a:noFill/>
        </p:spPr>
        <p:txBody>
          <a:bodyPr wrap="square">
            <a:spAutoFit/>
          </a:bodyPr>
          <a:lstStyle/>
          <a:p>
            <a:pPr algn="ctr"/>
            <a:r>
              <a:rPr sz="1400" b="1" i="0">
                <a:solidFill>
                  <a:srgbClr val="FFFFFF"/>
                </a:solidFill>
                <a:latin typeface="Arial"/>
              </a:rPr>
              <a:t>1</a:t>
            </a:r>
          </a:p>
        </p:txBody>
      </p:sp>
      <p:sp>
        <p:nvSpPr>
          <p:cNvPr id="8" name="TextBox 7"/>
          <p:cNvSpPr txBox="1"/>
          <p:nvPr/>
        </p:nvSpPr>
        <p:spPr>
          <a:xfrm>
            <a:off x="960120" y="1188720"/>
            <a:ext cx="10698480" cy="502920"/>
          </a:xfrm>
          <a:prstGeom prst="rect">
            <a:avLst/>
          </a:prstGeom>
          <a:noFill/>
        </p:spPr>
        <p:txBody>
          <a:bodyPr wrap="square">
            <a:spAutoFit/>
          </a:bodyPr>
          <a:lstStyle/>
          <a:p>
            <a:pPr algn="l"/>
            <a:r>
              <a:rPr sz="1500" b="0" i="0">
                <a:solidFill>
                  <a:srgbClr val="1A1A1A"/>
                </a:solidFill>
                <a:latin typeface="Arial"/>
              </a:rPr>
              <a:t>**Mini-Case Bestandshalter (Anwenden, Bloom 3):**</a:t>
            </a:r>
          </a:p>
        </p:txBody>
      </p:sp>
      <p:sp>
        <p:nvSpPr>
          <p:cNvPr id="9" name="Rectangle 8"/>
          <p:cNvSpPr/>
          <p:nvPr/>
        </p:nvSpPr>
        <p:spPr>
          <a:xfrm>
            <a:off x="365760" y="1920240"/>
            <a:ext cx="457200" cy="41148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920240"/>
            <a:ext cx="457200" cy="411480"/>
          </a:xfrm>
          <a:prstGeom prst="rect">
            <a:avLst/>
          </a:prstGeom>
          <a:noFill/>
        </p:spPr>
        <p:txBody>
          <a:bodyPr wrap="square">
            <a:spAutoFit/>
          </a:bodyPr>
          <a:lstStyle/>
          <a:p>
            <a:pPr algn="ctr"/>
            <a:r>
              <a:rPr sz="1400" b="1" i="0">
                <a:solidFill>
                  <a:srgbClr val="FFFFFF"/>
                </a:solidFill>
                <a:latin typeface="Arial"/>
              </a:rPr>
              <a:t>2</a:t>
            </a:r>
          </a:p>
        </p:txBody>
      </p:sp>
      <p:sp>
        <p:nvSpPr>
          <p:cNvPr id="11" name="TextBox 10"/>
          <p:cNvSpPr txBox="1"/>
          <p:nvPr/>
        </p:nvSpPr>
        <p:spPr>
          <a:xfrm>
            <a:off x="960120" y="1920240"/>
            <a:ext cx="10698480" cy="502920"/>
          </a:xfrm>
          <a:prstGeom prst="rect">
            <a:avLst/>
          </a:prstGeom>
          <a:noFill/>
        </p:spPr>
        <p:txBody>
          <a:bodyPr wrap="square">
            <a:spAutoFit/>
          </a:bodyPr>
          <a:lstStyle/>
          <a:p>
            <a:pPr algn="l"/>
            <a:r>
              <a:rPr sz="1500" b="0" i="0">
                <a:solidFill>
                  <a:srgbClr val="1A1A1A"/>
                </a:solidFill>
                <a:latin typeface="Arial"/>
              </a:rPr>
              <a:t>**Analysieren (Bloom 4)**: Vergleichen Sie den Risikocharakter eines Bauträgers (Typ 2) mit dem eines Bestandshalters (Typ 1): Welche Risiken lassen sich mit klassischen Sicherheiten (Grundschuld) absichern, welche nicht? Was bedeutet das für die Preisgestaltung des Kredits?</a:t>
            </a:r>
          </a:p>
        </p:txBody>
      </p:sp>
      <p:sp>
        <p:nvSpPr>
          <p:cNvPr id="12" name="Rectangle 11"/>
          <p:cNvSpPr/>
          <p:nvPr/>
        </p:nvSpPr>
        <p:spPr>
          <a:xfrm>
            <a:off x="365760" y="2651760"/>
            <a:ext cx="457200" cy="41148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651760"/>
            <a:ext cx="457200" cy="411480"/>
          </a:xfrm>
          <a:prstGeom prst="rect">
            <a:avLst/>
          </a:prstGeom>
          <a:noFill/>
        </p:spPr>
        <p:txBody>
          <a:bodyPr wrap="square">
            <a:spAutoFit/>
          </a:bodyPr>
          <a:lstStyle/>
          <a:p>
            <a:pPr algn="ctr"/>
            <a:r>
              <a:rPr sz="1400" b="1" i="0">
                <a:solidFill>
                  <a:srgbClr val="FFFFFF"/>
                </a:solidFill>
                <a:latin typeface="Arial"/>
              </a:rPr>
              <a:t>3</a:t>
            </a:r>
          </a:p>
        </p:txBody>
      </p:sp>
      <p:sp>
        <p:nvSpPr>
          <p:cNvPr id="14" name="TextBox 13"/>
          <p:cNvSpPr txBox="1"/>
          <p:nvPr/>
        </p:nvSpPr>
        <p:spPr>
          <a:xfrm>
            <a:off x="960120" y="2651760"/>
            <a:ext cx="10698480" cy="502920"/>
          </a:xfrm>
          <a:prstGeom prst="rect">
            <a:avLst/>
          </a:prstGeom>
          <a:noFill/>
        </p:spPr>
        <p:txBody>
          <a:bodyPr wrap="square">
            <a:spAutoFit/>
          </a:bodyPr>
          <a:lstStyle/>
          <a:p>
            <a:pPr algn="l"/>
            <a:r>
              <a:rPr sz="1500" b="0" i="0">
                <a:solidFill>
                  <a:srgbClr val="1A1A1A"/>
                </a:solidFill>
                <a:latin typeface="Arial"/>
              </a:rPr>
              <a:t>**Analysieren (Bloom 4)**: Im Praxiscase "Quartier Sonnenhalde" liegt die Projektmarge bei 15,4 % – knapp über dem Mindestbereich. Ein Kollege sagt: "Das reicht, der Festpreisvertrag schützt uns." Welche Szenarien könnten trotz Festpreisvertrag zu einer Unterschreitung der Marge führen? Wie würden Sie die Margenentwicklung über die Projektlaufzeit monitoren?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3DA5"/>
        </a:solidFill>
        <a:effectLst/>
      </p:bgPr>
    </p:bg>
    <p:spTree>
      <p:nvGrpSpPr>
        <p:cNvPr id="1" name=""/>
        <p:cNvGrpSpPr/>
        <p:nvPr/>
      </p:nvGrpSpPr>
      <p:grpSpPr/>
      <p:sp>
        <p:nvSpPr>
          <p:cNvPr id="2" name="Rectangle 1"/>
          <p:cNvSpPr/>
          <p:nvPr/>
        </p:nvSpPr>
        <p:spPr>
          <a:xfrm>
            <a:off x="0" y="0"/>
            <a:ext cx="73152" cy="6858000"/>
          </a:xfrm>
          <a:prstGeom prst="rect">
            <a:avLst/>
          </a:prstGeom>
          <a:solidFill>
            <a:srgbClr val="E05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47472"/>
            <a:ext cx="7315200" cy="384048"/>
          </a:xfrm>
          <a:prstGeom prst="rect">
            <a:avLst/>
          </a:prstGeom>
          <a:noFill/>
        </p:spPr>
        <p:txBody>
          <a:bodyPr wrap="square">
            <a:spAutoFit/>
          </a:bodyPr>
          <a:lstStyle/>
          <a:p>
            <a:pPr algn="l"/>
            <a:r>
              <a:rPr sz="900" b="1" i="0">
                <a:solidFill>
                  <a:srgbClr val="CCD6F0"/>
                </a:solidFill>
                <a:latin typeface="Arial"/>
              </a:rPr>
              <a:t>PRAXISTRANSFER &amp; NÄCHSTE SCHRITTE</a:t>
            </a:r>
          </a:p>
        </p:txBody>
      </p:sp>
      <p:sp>
        <p:nvSpPr>
          <p:cNvPr id="4" name="Rectangle 3"/>
          <p:cNvSpPr/>
          <p:nvPr/>
        </p:nvSpPr>
        <p:spPr>
          <a:xfrm>
            <a:off x="365760" y="804672"/>
            <a:ext cx="8229600" cy="22860"/>
          </a:xfrm>
          <a:prstGeom prst="rect">
            <a:avLst/>
          </a:prstGeom>
          <a:solidFill>
            <a:srgbClr val="335C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60120"/>
            <a:ext cx="9144000" cy="914400"/>
          </a:xfrm>
          <a:prstGeom prst="rect">
            <a:avLst/>
          </a:prstGeom>
          <a:noFill/>
        </p:spPr>
        <p:txBody>
          <a:bodyPr wrap="square">
            <a:spAutoFit/>
          </a:bodyPr>
          <a:lstStyle/>
          <a:p>
            <a:pPr algn="l"/>
            <a:r>
              <a:rPr sz="3000" b="1" i="0">
                <a:solidFill>
                  <a:srgbClr val="FFFFFF"/>
                </a:solidFill>
                <a:latin typeface="Arial"/>
              </a:rPr>
              <a:t>Was nehmen Sie mit?</a:t>
            </a:r>
          </a:p>
        </p:txBody>
      </p:sp>
      <p:sp>
        <p:nvSpPr>
          <p:cNvPr id="6" name="TextBox 5"/>
          <p:cNvSpPr txBox="1"/>
          <p:nvPr/>
        </p:nvSpPr>
        <p:spPr>
          <a:xfrm>
            <a:off x="365760" y="2103120"/>
            <a:ext cx="11430000" cy="4114800"/>
          </a:xfrm>
          <a:prstGeom prst="rect">
            <a:avLst/>
          </a:prstGeom>
          <a:noFill/>
        </p:spPr>
        <p:txBody>
          <a:bodyPr wrap="square">
            <a:spAutoFit/>
          </a:bodyPr>
          <a:lstStyle/>
          <a:p>
            <a:pPr>
              <a:spcBef>
                <a:spcPts val="500"/>
              </a:spcBef>
            </a:pPr>
            <a:r>
              <a:rPr sz="1600">
                <a:solidFill>
                  <a:srgbClr val="E05B00"/>
                </a:solidFill>
                <a:latin typeface="Arial"/>
              </a:rPr>
              <a:t>▪  </a:t>
            </a:r>
            <a:r>
              <a:rPr sz="1800">
                <a:solidFill>
                  <a:srgbClr val="FFFFFF"/>
                </a:solidFill>
                <a:latin typeface="Arial"/>
              </a:rPr>
              <a:t>Transferaufgabe: Wenden Sie das Gelernte in den nächsten 14 Tagen bei einem konkreten Kunden an.</a:t>
            </a:r>
          </a:p>
          <a:p>
            <a:pPr>
              <a:spcBef>
                <a:spcPts val="500"/>
              </a:spcBef>
            </a:pPr>
            <a:r>
              <a:rPr sz="1600">
                <a:solidFill>
                  <a:srgbClr val="E05B00"/>
                </a:solidFill>
                <a:latin typeface="Arial"/>
              </a:rPr>
              <a:t>▪  </a:t>
            </a:r>
            <a:r>
              <a:rPr sz="1800">
                <a:solidFill>
                  <a:srgbClr val="FFFFFF"/>
                </a:solidFill>
                <a:latin typeface="Arial"/>
              </a:rPr>
              <a:t>Selbstcheck nach 4 Wochen: Bewerten Sie Ihre Fortschritte ehrlich.</a:t>
            </a:r>
          </a:p>
          <a:p>
            <a:pPr>
              <a:spcBef>
                <a:spcPts val="500"/>
              </a:spcBef>
            </a:pPr>
            <a:r>
              <a:rPr sz="1600">
                <a:solidFill>
                  <a:srgbClr val="E05B00"/>
                </a:solidFill>
                <a:latin typeface="Arial"/>
              </a:rPr>
              <a:t>▪  </a:t>
            </a:r>
            <a:r>
              <a:rPr sz="1800">
                <a:solidFill>
                  <a:srgbClr val="FFFFFF"/>
                </a:solidFill>
                <a:latin typeface="Arial"/>
              </a:rPr>
              <a:t>Nächste Module: M09, M21</a:t>
            </a:r>
          </a:p>
        </p:txBody>
      </p:sp>
      <p:sp>
        <p:nvSpPr>
          <p:cNvPr id="7" name="TextBox 6"/>
          <p:cNvSpPr txBox="1"/>
          <p:nvPr/>
        </p:nvSpPr>
        <p:spPr>
          <a:xfrm>
            <a:off x="365760" y="6309360"/>
            <a:ext cx="11430000" cy="365760"/>
          </a:xfrm>
          <a:prstGeom prst="rect">
            <a:avLst/>
          </a:prstGeom>
          <a:noFill/>
        </p:spPr>
        <p:txBody>
          <a:bodyPr wrap="square">
            <a:spAutoFit/>
          </a:bodyPr>
          <a:lstStyle/>
          <a:p>
            <a:pPr algn="l"/>
            <a:r>
              <a:rPr sz="900" b="0" i="0">
                <a:solidFill>
                  <a:srgbClr val="889ACC"/>
                </a:solidFill>
                <a:latin typeface="Arial"/>
              </a:rPr>
              <a:t>M08 · Immobilien &amp; Projektfinanzierung  ·  v0.3  ·  Benedikt Zoller Coaching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