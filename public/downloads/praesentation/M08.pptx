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M08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Immobilien &amp; Projektfinanzierung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Bauträger, Bestandshalter und Projektentwickler professionell begleiten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(ca. 360 Min.)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Kundentypologien (Bestandshalter, Bauträger, Projektentwickler) anhand Geschäftsmodell und Risikoprofil unterscheiden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Beleihungswert nach BelWertV (Ertragswert- und Sachwertverfahren) berechnen und kreditpraktisch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Kennzahlen LTV, DSCR, ICR und Nettoanfangsrendite berechnen und interpretieren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Risikofelder einer Bauträgerfinanzierung analysieren, gewichten und Risikominderungsmaßnahmen benennen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 Basis einer vollständigen Projektanalyse eine strukturierte Kreditempfehlung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 1: Kundentypologie der Immobilienfinanzierung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 1: Kundentypologie der Immobilienfinanzierung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Grundtypen – drei Risikolandschaften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Cashflow-Struktur: Stabile, planbare Mieteinnahmen – Finanzierungsrisiko hängt primär an Vermietungsstand und Mietzahlungsfähigkeit der Mieter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Typischer Finanzierungsbedarf: Ankaufsfinanzierung, Refinanzierung, Modernisierungskredite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Kernkennzahl: DSCR (Debt Service Coverage Ratio) – können die Mieteinnahmen den Kapitaldienst dauerhaft abdecken?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Hauptrisiko: Leerstandsrisiko, Mieterbonitätsrisiko, Instandhaltungsstau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Cashflow-Struktur: Kein laufender Miet-Cashflow – Rückfluss ausschließlich aus Verkaufserlösen nach Fertigstellung. Das Kapital ist bis zum Verkauf vollständig gebunden.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Typischer Finanzierungsbedarf: Kurzfristige Bauträgerfinanzierung (Laufzeit 18–36 Monate), strukturiert nach Baufortschritt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Bedeutung der Typologisierung für den 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Bestandshalter mit 92 % Vermietungsstand und langjährigen Mietern ist ein substanziell anderes Kreditrisiko als ein Bauträger, der sein erstes Projekt angeht. Wer diese Unterscheidung nicht sofort trifft, riskiert…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Schulte, Bone-Winkel &amp; Focke (2016, S. 312) betonen, dass die Risikostruktur in der Projektentwicklung fundamental anders ist als in der Bestandsfinanzierung: Während Bestandshalter-Risiken überwiegend Marktrisiken sind…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 2: Beleihungswertermittlung nach BelWertV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Warum der Beleihungswert kein Marktwert ist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Nutzungsart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Liegenschaftszins-Bandbreite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Hinweis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(MFH, gute bis mittlere 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2,5–4,0 %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Niedrigere Sätze in Metropolen, höhere in ländlichen 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(ländliche Kleinstädte)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3,5–5,0 %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Marktliquidität erhöht den 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Büroimmobilien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4,0–6,0 %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Je nach Lage und Drittverwendungsfähigkeit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Gewerbeimmobilien (Handel, Logistik)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4,5–7,0 %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Strukturell höher wegen Nutzerspezifität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(Randlage, Fachmarktzentren)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5,5–8,0 %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E-Commerce-Druck und eingeschränkte Nachnutzung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Nutzungsart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Üblicher LTV-Rahmen (Hausbankkredit)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Hinweis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(EFH/MFH, gute 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80 % des Beleihungswerts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Standardbereich; darüber Auflagen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Wohnimmobilien (ländliche Lage, Randlage)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70 %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Liquidität des Marktes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Gewerbeimmobilien (Büro, Logistik)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i.d.R. ≤ 65 %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Strukturell konservativer; Leerstandsrisiko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(Innenstadt)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60–65 %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E-Commerce-Druck auf Mieternachfrage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 (Randlage) / Spezialimmobilien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50–55 %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Drittverwendungsfähigkeit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Gastronomie, Spezialgebäude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Sehr eingeschränkte Verwertbarkeit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Warum der Beleihungswert kein Marktwert 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Im Kreditgeschäft ist der Beleihungswert (BW) die entscheidende Wertgröße – nicht der Marktwert. Der Beleihungswert ist nach § 16 PfandBG definiert als der Wert, der „die dauerhaften Merkmale des Grundstücks, die…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Beleihungswert liegt typischerweise 10–20 % unter dem Marktwert, weil er Marktüberhitzungen, spekulative Preissteigerungen und kurzfristige Marktverzerrungen herausfiltert. Das macht ihn zur stabilen…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zwei Hauptmethoden (§§ 8–17 BelWertV)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Methode 1: Ertragswertverfahren (bei vermieteten Objekten)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Anwendung: Wohnimmobilien mit mehreren Einheiten, Gewerbeimmobilien, Bestandsobjekte mit Miethistorie.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Berechnung (vereinfacht): 1. Rohertrag: Jahresmiete (nachhaltig erzielbar, kein vorübergehender Leerstand) 2. Bewirtschaftungskosten: Verwaltung, Instandhaltung, Mietausfall (pauschal 20–25 % je nach Nutzungsart) 3.…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Liegenschaftszins-Bandbreiten (Orientierungswerte gem. BelWertV-Anlage und Gutachterausschüsse):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Hinweis: Der konkrete Liegenschaftszins wird vom regionalen Gutachterausschuss veröffentlicht. Bei fehlenden Gutachterausschussdaten sind die Bandbreiten der BelWertV-Anlage zu verwenden.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Methode 2: Sachwertverfahren (bei selbst genutzten Objekten)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Praktische Einordnung: LTV-Grenzen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Wohnimmobilien: bis zu 60 % des Beleihungswerts als Pfandbriefdeckung (erstrangig)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Gewerbeimmobilien: bis zu 60 % des Beleihungswerts (erstrangig)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 3: Kennzahlen der Immobilien- und Projektfinanzierung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vier Schlüsselkennzahlen im Überblick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6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Kundentypologie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LTV-Formel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Bezugsgröße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Bestandshalter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/ Beleihungswert (BelWertV) × 100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Beleihungswert (dauerhaft erzielbarer Wert)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Bauträger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/ Gesamtprojektwert (GDV) × 100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Prognostizierter Gesamtverkaufserlös (Gross Development Value)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LTV-Bereich (Bestandshalter)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Einschätzung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60 % (Beleihungswert)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Konservativ, pfandbrieffähig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60–80 % (Beleihungswert)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Banküblicher Standardbereich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80 % (Beleihungswert)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Erhöhtes Risiko, Auflagen erforderlich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Einsatzbereich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 (SHB)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Endfinanzierung der Käufer bei Bauträgerprojekten; energetische Sanierungsfinanzierung bei Bestandshaltern; Tilgungsaussetzungsmodell (Bausparvertrag) – meistgenutzter Verbundpartner im Alltag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MünchenerHyp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Refinanzierung großvolumiger Bestandshalter-Kredite; Prolongationspartner bei langen Laufzeiten; Konsortialfinanzierung Wohnimmobilien ab ca. 1,5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Konsortialfinanzierung gewerblicher Projektentwicklungen und Großprojekte (&gt; 5 Mio. EUR); Strukturierungsberatung für komplexe Finanzierungen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Lagetyp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Typische NAR Wohnimmobilien 2024/2025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Metropolen (München, Stuttgart)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2,0–3,0 %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Bodenseeraum / Oberschwaben-Zentren (Ravensburg, Friedrichshafen)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3,0–3,8 %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Ländliche Kleinstädte (Biberach, Leutkirch, Wangen)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4,0–5,5 %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Abgelegene ländliche Lagen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5,0–7,0 %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vier Schlüsselkennzahlen im Überblick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LTV – Loan-to-Value (Beleihungsauslauf)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LTV misst, wie hoch der Kredit im Verhältnis zum Immobilienwert ist. Die Bezugsgröße ist je nach Kundentypologie unterschiedlich – diese Unterscheidung ist in der Kreditpraxis zwingend anzugeben: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Bauträgerprojekten gilt als Richtwert: LTV ≤ 65–70 % des GDV (enger als bei Bestandshaltern, da GDV zum Zeitpunkt der Kreditvergabe erst prognostiziert ist; vgl. Gondring, 2022).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Verbundpartner-Übersicht Immobilienfinanzierung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DSCR &gt; 1,25: Solide – ausreichender Puffer für Mietausfälle und Kostensteigerungen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DSCR 1,10–1,25: Vertretbar – wenig Puffer, Nebenabsprachen empfehlenswert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DSCR &lt; 1,10: Kritisch – Kapitaldienst kaum gedeckt, erhöhtes Ausfallrisiko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Wann läuft die aktuelle Zinsbindung aus?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Welchen Zinssatz hat der Bestandskredit aktuell – und was wäre realistisch bei Prolongation?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Wie entwickelt sich der DSCR bei Prolongation zu Marktkonditionen?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Spezifische Kennzahlen für die Bauträgerfinanzierung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Bauträgern entfallen DSCR und NAR (kein laufender Miet-Cashflow). Stattdessen: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Entwicklergewinn / Projektmarge: Projektmarge = (Verkaufserlöse − Gesamtinvestitionskosten) / Gesamtinvestitionskosten × 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Projektmarge von mindestens 15–20 % gilt als solide Puffergröße, die auch bei Kostensteigerungen und Preisabschlägen noch eine positive Rendite sichert (Gondring, 2022, S. 512).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Vorverkaufsquote: Anteil der Wohneinheiten, die vor Baubeginn bereits notariell beurkundet verkauft sind. Eine Vorverkaufsquote von ≥ 30–50 % reduziert das Absatzrisiko erheblich und ist bei vielen Banken Voraussetzung…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 (am Gesamtprojekt): EK-Quote = Eigenkapital / Gesamtinvestitionskosten × 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Marktstandard: EK-Quote von mindestens 20–30 % bei Bauträgerfinanzierungen. Darunter steigt das Risiko des Fremdkapitalgebers überproportional.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Theorie-Input 4: Risikofelder der Bauträgerfinanzierung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Bauträgerfinanzierungen gehören zu den risikoreichsten Produkten im Firmenkundengeschäft – nicht wegen der Größe der Beträge, sondern wegen der Spezifität der Risiken. Schulte, Bon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Thema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Praxisstandard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Rang der Grundschuld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Erstrangig; nachrangige Teile für Verbundpartner (MünchenerHyp)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Freigabebetrag pro Einheit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Typisch: 100–110 % des anteiligen Kreditbetrags dieser Einheit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Freigabezeitpunkt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Erst nach vollständiger Kaufpreiszahlung durch den Erwerber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Notar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Koordiniert Eigentumsübertragung und Grundschuld-Freigabe; Bank und Notar stimmen Freigabevollmacht vorab ab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Refinanzierer (MünchenerHyp / DZ BANK)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Wenn nachrangige Tranchen refinanziert werden: eigene Freigaberegelungen abstimmen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Praxiscase: Quartier Sonnenhalde – Bauträgerfinanzierung Ravensburg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Unternehmensporträt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7900"/>
                <a:gridCol w="977900"/>
                <a:gridCol w="977900"/>
                <a:gridCol w="977900"/>
                <a:gridCol w="977900"/>
                <a:gridCol w="9779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Betrag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Grundstück (bereits bezahlt, EK)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1.200.000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Baukosten (GU-Festpreisvertrag)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3.500.000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Architektur, Genehmigungen, Gutachten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Vertrieb &amp; Marketing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180.000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Zinsen (Bauphase, kalkuliert)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180.000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Gesamtinvestitionskosten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5.340.000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Eigenkapital (Grundstück + Barmittel)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1.340.000 EUR (25,1 %)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Kreditbedarf (Anfrage VR-Bank)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4.000.000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Einheiten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Preis/m²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Größe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Erlös/WE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Gesamterlös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2-Zi.-Wohnungen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4.800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65 m²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312.000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1.872.000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3-Zi.-Wohnungen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88 m²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404.800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2.833.600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4-Zi.-Wohnungen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4.500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108 m²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486.000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1.458.000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16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6.163.600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Unternehmensporträt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Lage: Ravensburg-Südstadt, aufgewertetes Quartier, gute ÖPNV-Anbindung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Nutzung: 16 Eigentumswohnungen (60–110 m², 2–4 Zimmer)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Baugenehmigung: seit März 2026 rechtskräftig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Baubeginn: geplant April 2027 (Vorlaufzeit für Beurkundungen und Bauvorbereitungen realistisch eingeplant)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Fertigstellung: Juni 2028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Vertrieb: eigenes Vertriebsbüro + regionaler Maklerpartner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Projektfinanzierung – Eckdaten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Praxishinweis – Sonderfall „Grundstück bereits bezahlt": Im vorliegenden Case hat die Quartier Sonnenhalde GmbH &amp; Co. KG das Grundstück bereits mit Eigenmitteln erworben. Das ist in der Praxis ein Vorteil (höhere EK-…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Prognostizierte Verkaufserlöse: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Aufgaben (Gruppenarbeit, je Gruppe ca. 60 Min.)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1 – Kundentypologie und Risikoprofil (LZ-1): Ordnen Sie die Quartier Sonnenhalde GmbH &amp; Co. KG einem der drei Kundentypologien zu. Begründen Sie Ihre Einordnung und leiten Sie aus dem Geschäftsmodell die drei…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2 – Kennzahlenanalyse (LZ-2/LZ-3): Berechnen Sie folgende Kennzahlen auf Basis der Projektdaten: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a) Projektmarge = (Gesamtverkaufserlöse − Gesamtinvestitionskosten) / Gesamtinvestitionskosten × 100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b) LTV = Kreditbetrag / Gesamtverkaufserlöse × 100 (bezogen auf Marktwert fertig)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c) Vorverkaufsquote in % (wertmäßig, bezogen auf Gesamterlöse)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Bewerten Sie die berechneten Kennzahlen: Sind sie im marktüblichen Rahmen? Wo sehen Sie Warnsignale?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4.6 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**Mini-Case Bestandshalter (Anwenden, Bloom 3):**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**Analysieren (Bloom 4)**: Vergleichen Sie den Risikocharakter eines Bauträgers (Typ 2) mit dem eines Bestandshalters (Typ 1): Welche Risiken lassen sich mit klassischen Sicherheiten (Grundschuld) absichern, welche…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**Analysieren (Bloom 4)**: Im Praxiscase "Quartier Sonnenhalde" liegt die Projektmarge bei 15,4 % – knapp über dem Mindestbereich. Ein Kollege sagt: "Das reicht, der Festpreisvertrag schützt uns." Welche Szenarien…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(4 Wochen)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(4 Wochen)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Auftrag: Analysieren Sie in den nächsten 4 Wochen einen Ihrer bestehenden Immobilienkunden anhand des in diesem Modul erlernten Rahmens.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Schritt 1 – Typologisierung: Welchem der drei Grundtypen (Bestandshalter / Bauträger / Projektentwickler) gehört Ihr Kunde an? Notieren Sie, welche Merkmale die Einordnung…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Schritt 2 – Kennzahlenanalyse: Berechnen Sie – soweit aus vorhandenen Unterlagen möglich – mindestens zwei der vier Kennzahlen (LTV, DSCR, ICR, NAR). Vergleichen Sie mit den in…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Schritt 3 – Risikoeinschätzung: Welche der vier Risikofelder (Fertigstellung, Absatz, Kosten, Zinsen/Laufzeit) sind für Ihren Kunden am stärksten ausgeprägt? Welche Maßnahmen zur…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Schritt 4 – Beratungsansatz: Formulieren Sie auf Basis Ihrer Analyse eine konkrete Gesprächsfrage oder einen Beratungsimpuls, den Sie beim nächsten Kundentermin einbringen…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Dokumentation: Halten Sie Ihre Analyse (max. 1 Seite) fest und besprechen Sie sie im nächsten Teammeeting (5 Min. Kurzpräsentation).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Ø 4,0–5,0: Sparring-Niveau erreicht. Bereit für M09 (Branchenexperte) oder M21 (Kreditentscheidung).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Ø 3,0–3,9: Grundlagen sitzen, Anwendungssicherheit ausbaufähig. Praxiscase nochmals durchrechnen.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Ø &lt; 3,0: Theorie-Inputs 2 und 3 (BelWertV, Kennzahlen) wiederholen. Rechenübungen mit einem Kollegen durchführen.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Gondring (2022): Immobilienwirtschaft, Kap. 15–18 (Finanzierung und Bewertung) – das deutschsprachige Standardwerk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BelWertV: Text der Verordnung inkl. Anlagen zu Liegenschaftszinssätzen – kostenlos unter bundesrecht.juris.de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vdp Immobilienpreisstatistik: Aktuelle Marktdaten für Preisniveaus in deutschen Regionen – kostenfrei unter pfandbrief.de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Schulte, Bone-Winkel &amp; Focke (2016): Handbuch Immobilien-Investition, Kap. 10–12 (Projektentwicklung und Risikomanagement)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Didaktik &amp; Kompetenzentwicklung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Anderson, L.W. &amp; Krathwohl, D.R. (Hrsg.). (2001). A Taxonomy for Learning, Teaching, and Assessing: A Revision of Bloom's Taxonomy of Educational Objectives. Addison Wesley Longman.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H.L. &amp; Dreyfus, S.E. (1986). Mind over Machine: The Power of Human Intuition and Expertise in the Era of the Computer. Free Press.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Kirkpatrick, D.L. (1994). Evaluating Training Programs: The Four Levels. Berrett-Koehler.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Finanzierungstheorie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Akerlof, G.A. (1970). The market for "lemons": Quality uncertainty and the market mechanism. Quarterly Journal of Economics, 84(3), 488–500.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Jensen, M.C. &amp; Meckling, W.H. (1976). Theory of the firm: Managerial behavior, agency costs and ownership structure. Journal of Financial Economics, 3(4), 305–360.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Bankfachliche und immobilienwirtschaftliche Quellen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Gondring, H. (2022). Immobilienwirtschaft: Handbuch für Studium und Praxis (4. Aufl.). Vahlen.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Schulte, K.-W., Bone-Winkel, S. &amp; Focke, C. (Hrsg.). (2016). Handbuch Immobilien-Investition (3. Aufl.). Immobilien Manager Verlag.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Regulatorische und amtliche Quellen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Beleihungswertermittlungsverordnung [BelWertV] i.d.F. vom 12. Mai 2006 (BGBl. I S. 1175), zuletzt geändert durch Art. 1 der Verordnung vom 19. August 2008 (BGBl. I S. 1724).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Verband deutscher Pfandbriefbanken [vdp]. (laufend). Immobilienpreisstatistik und Marktdaten. Abgerufen von https://www.pfandbrief.de/site/de/vdp/immobilien/marktdaten.html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KERN-Phase abgeschlossen. Fehlende Sektionen für Folgesession: Sec 2 (Wissenschaftliche Einordnung), Sec 3 (Trainerhandbuch), Sec 6 (Evaluation).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«Immobilien &amp; Projektfinanzierung»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M08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