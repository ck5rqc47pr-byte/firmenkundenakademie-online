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Immobilien &amp; Projektfinanzierung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Kundentypologien (Bestandshalter, Bauträger, Projektentwickler) anhand Geschäftsmodell und Risikoprofil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Beleihungswert nach BelWertV (Ertragswert- und Sachwertverfahren) berechnen und kreditpraktisch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LTV, DSCR, ICR und Nettoanfangsrendite berechnen und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Risikofelder einer Bauträgerfinanzierung analysieren, gewichten und Risikominderungsmaßnahmen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 Basis einer vollständigen Projektanalyse eine strukturierte Kreditempfehlung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Kundentypologie der Immobilienfinanzierung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DREI GRUNDTYPEN – DREI RISIKOLANDSCHAFTEN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1: Bestandshalter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Stabile, planbare Mieteinnahmen – Finanzierungsrisiko hängt primär an Vermietungsstand und Mietzahlungsfähigkeit der Mieter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Ankaufsfinanzierung, Refinanzierung, Modernisierungskredite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DSCR (Debt Service Coverage Ratio) – können die Mieteinnahmen den Kapitaldienst dauerhaft abdecken?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Leerstandsrisiko, Mieterbonitätsrisiko, Instandhaltungsstau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2: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Kein laufender Miet-Cashflow – Rückfluss ausschließlich aus Verkaufserlösen nach Fertigstellung. Das Kapital ist bis zum Verkauf vollständig gebunden.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Kurzfristige Bauträgerfinanzierung (Laufzeit 18–36 Monate), strukturiert nach Baufortschritt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LTV (Loan-to-Value) bezogen auf prognostizierte Verkaufserlöse; Vorverkaufsquote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Fertigstellungsrisiko, Absatzrisiko, Kostenüberschreitungen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3: Projektentwickler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Immobilien-Typologien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Beleihungswertermittlung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DER BELEIHUNGSWERT KEIN MARKTWERT IST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HAUPTMETHODEN (§§ 8–17 BELWERTV)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Methode 1: Ertragswertverfahren (bei vermieteten Objekten)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Anwendung: Wohnimmobilien mit mehreren Einheiten, Gewerbeimmobilien, Bestandsobjekte mit Miethistorie.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Berechnung (vereinfacht):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Rohertrag: Jahresmiete (nachhaltig erzielbar, kein vorübergehender Leerstand)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Bewirtschaftungskosten: Verwaltung, Instandhaltung, Mietausfall (pauschal 20–25 % je nach Nutzungsart)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Reinertrag = Rohertrag − Bewirtschaftungskosten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Bodenwert: Nachhaltiger Bodenrichtwert × Fläche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Gebäudeertragswert = Reinertrag − Bodenwertverzinsung (Liegenschaftszins × Bodenwert), kapitalisiert mit dem Liegenschaftszins über Restnutzungsdauer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Ertragswert = Gebäudeertragswert + Bodenwert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Beleihungswert: Sicherheitsabschlag auf den Ertragswert (§ 12 BelWertV, max. 10 % vom nachhaltigen Wert)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SCHLÜSSELKENNZAHLEN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1. LTV – Loan-to-Value (Beleihungsauslauf)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LTV misst, wie hoch der Kredit im Verhältnis zum Immobilienwert ist. Die Bezugsgröße ist je nach Kundentypologie unterschiedlich – diese Unterscheidung ist in der Kreditpraxis zwingend anzugeben: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Bauträgerprojekten gilt als Richtwert: LTV ≤ 65–70 % des GDV (enger als bei Bestandshaltern, da GDV zum Zeitpunkt der Kreditvergabe erst prognostiziert ist; vgl. Gondring, 2022 ).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VERBUNDPARTNER-ÜBERSICHT IMMOBILIENFINANZIERUNG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2. DSCR – Debt Service Coverage Ratio (Kapitaldienst-Deckungsgrad)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DSCR = Netto-Mieteinnahmen (NOI) / Jährlicher Kapitaldienst (Zins + Tilgung)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DSCR misst, ob die laufenden Mieteinnahmen ausreichen, um Zins und Tilgung zu bedienen. Anwendung primär bei Bestandshaltern (vgl. Gondring, 2022, S. 512 ).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&gt; 1,25: Solide – ausreichender Puffer für Mietausfälle und Kostensteigerungen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1,10–1,25: Vertretbar – wenig Puffer, Nebenabsprachen empfehlenswert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&lt; 1,10: Kritisch – Kapitaldienst kaum gedeckt, erhöhtes Ausfallrisiko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Prolongationsrisiko bei Bestandshaltern (Zinsänderungsrisiko bei Zinsbindungsablauf)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4: Risikofelder der Bauträgerfinanzierung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1: Fertigstellungsrisiko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2: Absatzrisiko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Vorverkaufsquote als Auszahlungsbedingung, konservative Wertansätze (Vergleichspreise statt Optimistik), Vermarktungskonzept des Bauträgers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3: Kostenüberschreitungsrisiko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Festpreisverträge mit dem Generalunternehmer, EK-Puffer (mindestens 20–25 % EK-Quote), Kostenschätzung durch unabhängigen Bausachverständigen prüfen lassen.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4a: Sicherheitenstruktur und Grundschuld-Freigabe bei Bauträgerfinanzierungen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in der Praxis häufig unterschätztes operatives Thema: Die Grundschuld-Strukturierung und die Freigaberegelung bei Teilverkäufen.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Freigaberegelung – typische Bankpraxis: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4: Zinsänderungs- und Laufzeitrisiko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Zinssicherung (Zinsswap, Cap) für die Bauphase, realistische Zeitplanung mit Puffer, Klauseln bei Laufzeitverlängerung.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Handlungskarte fasst die zentralen Diagnose-Aktion-Muster für die Immobilien- und Projektfinanzierung zusammen: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Immobilienfinanzierung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Projekt "Sonnenhalde":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Lage: Ravensburg-Südstadt, aufgewertetes Quartier, gute ÖPNV-Anbindung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Nutzung: 16 Eigentumswohnungen (60–110 m², 2–4 Zimmer)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Baugenehmigung: seit März 2026 rechtskräftig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Baubeginn: geplant April 2027 (Vorlaufzeit für Beurkundungen und Bauvorbereitungen realistisch eingeplant)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Fertigstellung: Juni 2028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Vertrieb: eigenes Vertriebsbüro + regionaler Maklerpartner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Vorverkäufe zum Zeitpunkt der Kreditanfrage: 4 von 16 Einheiten notariell beurkundet (25 %)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PROJEKTFINANZIERUNG – ECKDATEN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Prognostizierte Verkaufserlöse: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 (GRUPPENARBEIT, JE GRUPPE CA. 60 MIN.)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Mini-Case Bestandshalter (Anwenden, Bloom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Familie fragt nach einer Aufstockung des Kredits um 200.000 EUR für Dachgeschossausbau (2 neue Einheiten, geplante Zusatzmiete 18.000 EUR p.a.).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Musterlösung: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NOI aktuell: 84.000 − 21.000 = 63.000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aktuell: 63.000 / 50.400 = 1,25 → knapp solide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Annuität neu gesamt: 50.400 + 19.000 = 69.400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NOI nach Ausbau (erst in 18 Monaten): 63.000 + 18.000 = 81.000 EUR; in Übergangszeit: 63.000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übergangsweise: 63.000 / 69.400 = 0,91 → kritisch; nach Vollvermietung: 81.000 / 69.400 = 1,17 → vertretbar, aber knapp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LTV: 580.000 / 760.000 = 76,3 %; nach Aufstockung: 780.000 / 760.000 = 102,6 % → über Beleihungswert!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Fazit: Aufstockung auf Basis heutiger BelWertV problematisch. Optionen: Neugutachten nach Ausbau, Tilgungsaussetzung Bauphase, Schwäbisch Hall für Refinanzierung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Vergleichen Sie den Risikocharakter eines Bauträgers (Typ 2) mit dem eines Bestandshalters (Typ 1): Welche Risiken lassen sich mit klassischen Sicherheiten (Grundschuld) absichern, welche nicht? Was bedeutet das für die Preisgestaltung des Kredits?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Im Praxiscase "Quartier Sonnenhalde" liegt die Projektmarge bei 15,4 % – knapp über dem Mindestbereich. Ein Kollege sagt: "Das reicht, der Festpreisvertrag schützt uns." Welche Szenarien könnten trotz Festpreisvertrag zu einer Unterschreitung der Marge führen? Wie würden Sie die Margenentwicklung über die Projektlaufzeit monitoren?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