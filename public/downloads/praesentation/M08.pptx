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M08  ·  K-02 Branchenwissen  ·  Sparringspartner  ·  1 Tag (ca. 360 Min.)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68680"/>
            <a:ext cx="73152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11430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rial"/>
              </a:rPr>
              <a:t>Immobilien &amp; Projektfinanzierung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2004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CCD6F0"/>
                </a:solidFill>
                <a:latin typeface="Arial"/>
              </a:rPr>
              <a:t>Bauträger, Bestandshalter und Projektentwickler professionell begleiten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9AACC"/>
                </a:solidFill>
                <a:latin typeface="Arial"/>
              </a:rPr>
              <a:t>Trainer-Präsentation  ·  v0.3  ·  Benedikt Zoller Coaching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73152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3200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3DA5"/>
                </a:solidFill>
                <a:latin typeface="Arial"/>
              </a:rPr>
              <a:t>LERNZIELE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Arial"/>
              </a:rPr>
              <a:t>Was Sie nach diesem Modul können.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88720"/>
            <a:ext cx="11430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Drei Kundentypologien (Bestandshalter, Bauträger, Projektentwickler) anhand Geschäftsmodell und Risikoprofil unterscheiden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Beleihungswert nach BelWertV (Ertragswert- und Sachwertverfahren) berechnen und kreditpraktisch einordnen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Kennzahlen LTV, DSCR, ICR und Nettoanfangsrendite berechnen und interpretieren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Risikofelder einer Bauträgerfinanzierung analysieren, gewichten und Risikominderungsmaßnahmen benennen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Auf Basis einer vollständigen Projektanalyse eine strukturierte Kreditempfehlung erstellen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3DA5"/>
                </a:solidFill>
                <a:latin typeface="Arial"/>
              </a:rPr>
              <a:t>Drei Grundtypen – drei Risikolandschaften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114300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Cashflow-Struktur: Stabile, planbare Mieteinnahmen – Finanzierungsrisiko hängt primär an Vermietungsstand und Mietzahlungsfähigkeit der Mieter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Typischer Finanzierungsbedarf: Ankaufsfinanzierung, Refinanzierung, Modernisierungskredite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Kernkennzahl: DSCR (Debt Service Coverage Ratio) – können die Mieteinnahmen den Kapitaldienst dauerhaft abdecken?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Hauptrisiko: Leerstandsrisiko, Mieterbonitätsrisiko, Instandhaltungsstau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Cashflow-Struktur: Kein laufender Miet-Cashflow – Rückfluss ausschließlich aus Verkaufserlösen nach Fertigstellung. Das Kapital ist bis zum Verkauf vollständig gebunden.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Typischer Finanzierungsbedarf: Kurzfristige Bauträgerfinanzierung (Laufzeit 18–36 Monate), strukturiert nach Baufortschritt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3DA5"/>
                </a:solidFill>
                <a:latin typeface="Arial"/>
              </a:rPr>
              <a:t>Die Bedeutung der Typologisierung für den Berater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114300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Ein Bestandshalter mit 92 % Vermietungsstand und langjährigen Mietern ist ein substanziell anderes Kreditrisiko als ein…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Schulte, Bone-Winkel &amp; Focke (2016, S. 312) betonen, dass die Risikostruktur in der Projektentwicklung fundamental…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3DA5"/>
                </a:solidFill>
                <a:latin typeface="Arial"/>
              </a:rPr>
              <a:t>Warum der Beleihungswert kein Marktwert ist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114300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Im Kreditgeschäft ist der Beleihungswert (BW) die entscheidende Wertgröße – nicht der Marktwert. Der Beleihungswert ist…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Der Beleihungswert liegt typischerweise 10–20 % unter dem Marktwert, weil er Marktüberhitzungen, spekulative…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3DA5"/>
                </a:solidFill>
                <a:latin typeface="Arial"/>
              </a:rPr>
              <a:t>Die zwei Hauptmethoden (§§ 8–17 BelWertV)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114300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Methode 1: Ertragswertverfahren (bei vermieteten Objekten)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Anwendung: Wohnimmobilien mit mehreren Einheiten, Gewerbeimmobilien, Bestandsobjekte mit Miethistorie.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Berechnung (vereinfacht): 1. Rohertrag: Jahresmiete (nachhaltig erzielbar, kein vorübergehender Leerstand) 2.…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Typische Liegenschaftszins-Bandbreiten (Orientierungswerte gem. BelWertV-Anlage und Gutachterausschüsse):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Hinweis: Der konkrete Liegenschaftszins wird vom regionalen Gutachterausschuss veröffentlicht. Bei fehlenden…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Methode 2: Sachwertverfahren (bei selbst genutzten Objekten)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3DA5"/>
                </a:solidFill>
                <a:latin typeface="Arial"/>
              </a:rPr>
              <a:t>Praktische Einordnung: LTV-Grenzen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114300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Wohnimmobilien: bis zu 60 % des Beleihungswerts als Pfandbriefdeckung (erstrangig)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Gewerbeimmobilien: bis zu 60 % des Beleihungswerts (erstrangig)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3DA5"/>
                </a:solidFill>
                <a:latin typeface="Arial"/>
              </a:rPr>
              <a:t>Die vier Schlüsselkennzahlen im Überblick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114300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1. LTV – Loan-to-Value (Beleihungsauslauf)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Der LTV misst, wie hoch der Kredit im Verhältnis zum Immobilienwert ist. Die Bezugsgröße ist je nach Kundentypologie…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Bei Bauträgerprojekten gilt als Richtwert: LTV ≤ 65–70 % des GDV (enger als bei Bestandshaltern, da GDV zum Zeitpunkt…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3DA5"/>
                </a:solidFill>
                <a:latin typeface="Arial"/>
              </a:rPr>
              <a:t>Verbundpartner-Übersicht Immobilienfinanzierung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114300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DSCR &gt; 1,25: Solide – ausreichender Puffer für Mietausfälle und Kostensteigerungen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DSCR 1,10–1,25: Vertretbar – wenig Puffer, Nebenabsprachen empfehlenswert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DSCR &lt; 1,10: Kritisch – Kapitaldienst kaum gedeckt, erhöhtes Ausfallrisiko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Wann läuft die aktuelle Zinsbindung aus?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Welchen Zinssatz hat der Bestandskredit aktuell – und was wäre realistisch bei Prolongation?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Wie entwickelt sich der DSCR bei Prolongation zu Marktkonditionen?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3DA5"/>
                </a:solidFill>
                <a:latin typeface="Arial"/>
              </a:rPr>
              <a:t>Spezifische Kennzahlen für die Bauträgerfinanzierung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114300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Bei Bauträgern entfallen DSCR und NAR (kein laufender Miet-Cashflow). Stattdessen: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Entwicklergewinn / Projektmarge: Projektmarge = (Verkaufserlöse − Gesamtinvestitionskosten) / Gesamtinvestitionskosten…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Eine Projektmarge von mindestens 15–20 % gilt als solide Puffergröße, die auch bei Kostensteigerungen und…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Vorverkaufsquote: Anteil der Wohneinheiten, die vor Baubeginn bereits notariell beurkundet verkauft sind. Eine…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Eigenkapitalquote (am Gesamtprojekt): EK-Quote = Eigenkapital / Gesamtinvestitionskosten × 100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Marktstandard: EK-Quote von mindestens 20–30 % bei Bauträgerfinanzierungen. Darunter steigt das Risiko des…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4.4 Theorie-Input 4: Risikofelder der Bauträgerfinanzierung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3DA5"/>
                </a:solidFill>
                <a:latin typeface="Arial"/>
              </a:rPr>
              <a:t>Unternehmensporträt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114300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Lage: Ravensburg-Südstadt, aufgewertetes Quartier, gute ÖPNV-Anbindung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Nutzung: 16 Eigentumswohnungen (60–110 m², 2–4 Zimmer)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Baugenehmigung: seit März 2026 rechtskräftig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Baubeginn: geplant April 2027 (Vorlaufzeit für Beurkundungen und Bauvorbereitungen realistisch eingeplant)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Fertigstellung: Juni 2028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Vertrieb: eigenes Vertriebsbüro + regionaler Maklerpartner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3DA5"/>
                </a:solidFill>
                <a:latin typeface="Arial"/>
              </a:rPr>
              <a:t>Projektfinanzierung – Eckdaten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114300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Praxishinweis – Sonderfall „Grundstück bereits bezahlt": Im vorliegenden Case hat die Quartier Sonnenhalde GmbH &amp; Co.…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Prognostizierte Verkaufserlöse: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3DA5"/>
                </a:solidFill>
                <a:latin typeface="Arial"/>
              </a:rPr>
              <a:t>Aufgaben (Gruppenarbeit, je Gruppe ca. 60 Min.)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114300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Aufgabe 1 – Kundentypologie und Risikoprofil (LZ-1): Ordnen Sie die Quartier Sonnenhalde GmbH &amp; Co. KG einem der drei…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Aufgabe 2 – Kennzahlenanalyse (LZ-2/LZ-3): Berechnen Sie folgende Kennzahlen auf Basis der Projektdaten: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a) Projektmarge = (Gesamtverkaufserlöse − Gesamtinvestitionskosten) / Gesamtinvestitionskosten × 100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b) LTV = Kreditbetrag / Gesamtverkaufserlöse × 100 (bezogen auf Marktwert fertig)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c) Vorverkaufsquote in % (wertmäßig, bezogen auf Gesamterlöse)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Bewerten Sie die berechneten Kennzahlen: Sind sie im marktüblichen Rahmen? Wo sehen Sie Warnsignale?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4.6 Reflexionsfragen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5.1 Transferaufgabe (4 Wochen)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5.2 Selbstcheck nach 4 Wochen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Didaktik &amp; Kompetenzentwicklung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Finanzierungstheorie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Bankfachliche und immobilienwirtschaftliche Quellen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Regulatorische und amtliche Quellen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CD6F0"/>
                </a:solidFill>
                <a:latin typeface="Arial"/>
              </a:rPr>
              <a:t>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rial"/>
              </a:rPr>
              <a:t>Was nehmen Sie mit?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63040"/>
            <a:ext cx="7315200" cy="27432"/>
          </a:xfrm>
          <a:prstGeom prst="rect">
            <a:avLst/>
          </a:prstGeom>
          <a:solidFill>
            <a:srgbClr val="335C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45920"/>
            <a:ext cx="11430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600">
                <a:solidFill>
                  <a:srgbClr val="E05B00"/>
                </a:solidFill>
                <a:latin typeface="Arial"/>
              </a:rPr>
              <a:t>▪  </a:t>
            </a:r>
            <a:r>
              <a:rPr sz="1800">
                <a:solidFill>
                  <a:srgbClr val="FFFFFF"/>
                </a:solidFill>
                <a:latin typeface="Arial"/>
              </a:rPr>
              <a:t>Transferaufgabe: Wenden Sie das Gelernte in den nächsten 14 Tagen bei einem konkreten Kunden an.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E05B00"/>
                </a:solidFill>
                <a:latin typeface="Arial"/>
              </a:rPr>
              <a:t>▪  </a:t>
            </a:r>
            <a:r>
              <a:rPr sz="1800">
                <a:solidFill>
                  <a:srgbClr val="FFFFFF"/>
                </a:solidFill>
                <a:latin typeface="Arial"/>
              </a:rPr>
              <a:t>Selbstcheck nach 4 Wochen: Was hat sich verändert?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9AACC"/>
                </a:solidFill>
                <a:latin typeface="Arial"/>
              </a:rPr>
              <a:t>M08 · Immobilien &amp; Projektfinanzierung  ·  v0.3  ·  Benedikt Zoller Coaching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