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M03  ·  K-01 Finanzanalyse &amp; Strategieberatung  ·  Stratege  ·  1 Tag (ca. 7 Std.)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Der strategische Finanzdialog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Kapitalstruktur, Werttreiber und Finanzierungsstrategien für Unternehmer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v1.1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Kapitalstruktur eines mittelständischen Unternehmens analysieren und Optimierungspotenziale identifizieren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Alternative Finanzierungsstrategien (Bankkredit, Mezzanine, Beteiligungskapital) nach Kosten, Flexibilität und strategischer Passung bewerten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Unternehmenswerttreiber (Wachstum, Marge, Kapitaleffizienz) analysieren und strategische Handlungsempfehlungen ableiten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Strategischen Finanzierungsplan einschließlich Meilensteinplanung und Risikobewertung entwickeln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Beurteilen, wann eine Bankfinanzierung ihre Grenzen erreicht und alternative Kapitalquellen strategisch sinnvoll sind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Zentrale Werttreiber im Mittelstand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(vgl.)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Die fünf Kernszenarien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So starten Sie Ihren ersten Fördermittelantrag: (1) Thema in agree unter „Fördermittelcheck" prüfen, (2) L-Bank Bayern…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Exkurs für exportorientierte Betriebe: Internationalisierung (Export-/Importfinanzierung, Währungsrisiken, ausländische…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Strategische Ausgangslage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 Medizintechnik-Konzern (Auftragsvolumen derzeit 18 % vom Umsatz) hat eine langfristige Rahmenvereinbarung angeboten, die eine Umsatzsteigerung auf ca. 16 Mio. EUR ermöglicht – aber einen zweiten CNC-Bearbeitungszentrums-Park (Investitionsbedarf: 3,2 Mio. EUR) voraussetzt.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Gleichzeitig hat ein süddeutscher Stratege-Investor Interesse an einer Minderheitsbeteiligung von 25,1 % signalisiert (Bewertung: 8x EBITDA = ca. 11,8 Mio. EUR Unternehmenswert).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Stefan Habermaiers älterer Bruder (typisch stiller Gesellschafter, 15 % Anteil, ohne Stimmrecht und Verlustbeteiligung) möchte seinen Anteil mittelfristig veräußern. (Praxishinweis: Bei atypisch stiller Beteiligung mit Verlustbeteiligung wäre steuerlich und rechtlich ein Steuerberater/Rechtsanwalt frühzeitig einzuschalten – das Signal für den Berater ist die Frage nach Stimmrecht und Verlustbeteiligung.)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Working Capital und Cash Conversion 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Formel Betriebsmittelbedarf: Betriebsmittelbedarf = Umsatzwachstum (EUR) × CCC (Tage) / 365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Praxisfaustregel: Wenn keine CCC-Daten vorliegen: Umsatzwachstum × 15–20 % als grober Betriebsmittelbedarf. Die CCC-…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Beispiel: Umsatzwachstum +3,0 Mio. EUR, CCC 58 Tage → Betriebsmittelbedarf: 3.000 TEUR × 58/365 = ca. 477 TEUR…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Instrumente der Wachstumsfinanzierung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Praxistransfer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Transferaufgabe (innerhalb von 4 Wochen)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Strategiememo-Vorlage (1 Seite, zum Ausfüllen)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Selbstcheck nach 4 Wochen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M03 · Der strategische Finanzdialog  ·  v1.1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