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M03  ·  v1.1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Der strategische Finanzdialog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Kapitalstruktur, Werttreiber und Finanzierungsstrategien für Unternehmer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Stratege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1 Tag (ca. 7 Std.)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27100"/>
            <a:ext cx="508000" cy="647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 i="1">
                <a:solidFill>
                  <a:srgbClr val="1F2B56"/>
                </a:solidFill>
                <a:latin typeface="Georgia"/>
              </a:rPr>
              <a:t>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952500"/>
            <a:ext cx="6858000" cy="622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Kapitalstruktur eines mittelständischen Unternehmens analysieren und Optimierungspotenziale identifizieren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748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12900"/>
            <a:ext cx="508000" cy="647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 i="1">
                <a:solidFill>
                  <a:srgbClr val="1F2B56"/>
                </a:solidFill>
                <a:latin typeface="Georgia"/>
              </a:rPr>
              <a:t>II.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9000" y="1638300"/>
            <a:ext cx="6858000" cy="622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Alternative Finanzierungsstrategien (Bankkredit, Mezzanine, Beteiligungskapital) nach Kosten, Flexibilität und strategischer Passung bewerten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606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298700"/>
            <a:ext cx="508000" cy="647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 i="1">
                <a:solidFill>
                  <a:srgbClr val="1F2B56"/>
                </a:solidFill>
                <a:latin typeface="Georgia"/>
              </a:rPr>
              <a:t>III.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9000" y="2324100"/>
            <a:ext cx="6858000" cy="622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Unternehmenswerttreiber (Wachstum, Marge, Kapitaleffizienz) analysieren und strategische Handlungsempfehlungen ableiten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464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2984500"/>
            <a:ext cx="508000" cy="647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 i="1">
                <a:solidFill>
                  <a:srgbClr val="1F2B56"/>
                </a:solidFill>
                <a:latin typeface="Georgia"/>
              </a:rPr>
              <a:t>IV.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9000" y="3009900"/>
            <a:ext cx="6858000" cy="622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Strategischen Finanzierungsplan einschließlich Meilensteinplanung und Risikobewertung entwickeln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36322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3670300"/>
            <a:ext cx="508000" cy="647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 i="1">
                <a:solidFill>
                  <a:srgbClr val="1F2B56"/>
                </a:solidFill>
                <a:latin typeface="Georgia"/>
              </a:rPr>
              <a:t>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9000" y="3695700"/>
            <a:ext cx="6858000" cy="622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Beurteilen, wann eine Bankfinanzierung ihre Grenzen erreicht und alternative Kapitalquellen strategisch sinnvoll sind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Modulinhalte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Vom Bilanzgespräch zum Strategiegespräch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Vom Bilanzgespräch zum Strategiegespräch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Der Übergang vom Kredit- zum Strategieberater ist der entscheidende Entwicklungsschritt auf dem Weg zum Strategischen Partner. Während der Kreditberater primär auf Rückzahlungsfähi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1955800"/>
                <a:gridCol w="19558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Ebene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Fragetyp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Beispiel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 Operativ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Sachstandsfragen (Was ist?)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Wie entwickelt sich Ihr Auftragsbestand im nächsten Quartal?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 Taktisch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Implikationsfragen (Was bedeutet das?)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Wenn die Marge weiter sinkt – welche Investitionen müssen Sie dann verschieben?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 Strategisch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Zukunftsfragen (Wo wollen Sie hin?)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Was wäre der nächste Schritt, wenn Ihre Eigenkapitalquote 30 % überschreitet?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Kapitalstruktur und Werttreiber verstehen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Die strategische Finanzberatung setzt ein vertieftes Verständnis der Kapitalstruktur voraus. Kapitalstrukturentscheidungen – das Verhältnis von Eigen- zu Fremdkapital – sind keine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850"/>
                <a:gridCol w="1466850"/>
                <a:gridCol w="1466850"/>
                <a:gridCol w="146685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Werttreiber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Definition / KPI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Strategische Relevanz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Umsatzwachstum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YoY-Wachstumsrate (%)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Wachstumsstrategie: organisch vs. akquisitorisch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EBITDA-Marge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EBITDA / Umsatz (%)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Profitabilität, Debt-Service-Fähigkeit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Kapitaleffizienz (ROCE)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EBIT / eingesetztes Kapital (%)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Qualität der Investitionen, Asset-Intensität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Eigenkapitalquote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EK / Bilanzsumme (%)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Krisenpuffer, Ratingrelevanz (MaRisk), Kreditkonditionen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Free Cashflow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Operativer CF − Investitionen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Tilgungskapazität, Investitionsspielraum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Verschuldungsgrad (Leverage)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Nettofinanzverbindlichkeiten / EBITDA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Standard-Covenant bei strukturierten Finanzierungen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Instrument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Vorteile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Nachteile / Risiken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Geeignet für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Bankkredit (klassisch)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Günstig, strukturiert, bekannt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Sicherheitenerfordernisse, Covenant-Pflichten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Investitionen, Betriebsmittel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Förderkredit (KfW/L-Bank)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Subventionierter Zins, Haftungsfreistellung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Antragsprozess, Verwendungsbindung; Antrag muss vor Kreditauszahlung gestellt sein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Wachstum, Innovation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Mezzanine-Kapital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EK-ähnliche Wirkung, keine Verwässerung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Teurer als FK, begrenzte Laufzeit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Wachstum, Nachfolge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Private Equity / Beteiligung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Starkes EK, Netzwerk, Management-Know-how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Kontrollverlust, Exit-Druck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Skalierung, MBO/MBI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Innenfinanzierung / Thesaurierung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Keine Abhängigkeiten, günstig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Begrenzt durch Ertragsstärke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Konsolidierung, Eigenkapitalaufbau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Strategische Szenarien in der Beratungspraxis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Der Strategische Partner begegnet im Beratungsalltag einer begrenzten Anzahl wiederkehrender strategischer Grundszenarien. Jedes Szenario erfordert eine spezifische Kombination aus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1955800"/>
                <a:gridCol w="19558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Szenario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Charakteristik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Relevante Verbundpartner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 Wachstumsfinanzierung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Investitionsbedarf übersteigt Innenfinanzierungskraft; Skalierung geplant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DZ BANK (Fördermittel), L-Bank, ggf. Private Equity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 Unternehmensverkauf / M&amp;A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Nachfolge durch externen Käufer, MBO, strategische Akquisition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DZ BANK Corporate Finance (primär, über FK-Regionalverantwortlichen), Steuerberater, Notar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 Gesellschafterwechsel / Erbschaftsfall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Anteilsübertragung, Erbauseinandersetzung, GbR-Umwandlung, Bewertungsbedarf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Steuerberater, Notar, DZ BANK (Bewertung), R+V (Absicherung)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 Kapitalstrukturoptimierung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EK-Stärkung, Schuldenabbau, Rating-Verbesserung vor Investitionszyklus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Intern (Strukturierungsexpertise), ggf. Mezzanine-Anbieter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5 Restrukturierung / Krise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Liquiditätsengpass, Covenant-Verletzung, drohende Insolvenz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Restrukturierungsberater, Insolvenzverwalter (präventiv), DZ BANK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Die fünf Kernszenarien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&gt; So starten Sie Ihren ersten Fördermittelantrag: (1) Thema in agree unter „Fördermittelcheck" prüfen, (2) L-Bank Bayern Produktfinder aufrufen (lbank.de), (3) Hausbanktool für den Antrag nutzen, (4) Antrag immer vor…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Exkurs für exportorientierte Betriebe: Internationalisierung (Export-/Importfinanzierung, Währungsrisiken, ausländische Tochtergesellschaft) → DZ BANK Trade Finance, R+V Währungsabsicherung. Relevant für ca. 5–15 % des…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Praxiscase: Habermaier Präzisionsteile GmbH &amp; Co. 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Unternehmensprofil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106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1955800"/>
                <a:gridCol w="19558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Merkmal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Detail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Unternehmen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Habermaier Präzisionsteile GmbH &amp; Co. KG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Branche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Präzisionsmechanik / Zulieferer Maschinenbau und Medizintechnik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Standort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Landsberg am Lech (Bayern)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Größe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62 Mitarbeiter, 3 Generationen im Familienbesitz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Gesellschafter-GF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Stefan Habermaier (47), Diplom-Ingenieur, zweite Generation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Bankenverbindung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VR-Bank seit 27 Jahren, Hauptbankverbindung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Kennzahl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Jahr 3 (Ist)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Jahr 4 (Ist)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Umsatz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9,8 Mio.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11,4 Mio.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EBITDA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1,18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1,48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EBITDA-Marge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12,0 %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13,0 %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Jahresüberschuss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294 TEUR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398 TEUR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Eigenkapital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2,1 Mio.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2,5 Mio.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Bilanzsumme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7,6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8,1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EK-Quote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27,6 %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30,9 %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Nettofinanzverbindl.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2,8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2,4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Leverage (NFK/EBITDA)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2,37x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1,62x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Free Cashflow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420 TEUR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590 TEUR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Aufgabe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Beschreibung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A1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Analysieren Sie die aktuelle Finanzsituation. Welche Stärken und Risiken sehen Sie? Berechnen Sie den Verschuldungsgrad nach erfolgter Investition (Szenario: vollständig kreditfinanziert).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Bewerten Sie die drei strategischen Optionen: (1) Kreditfinanzierung der Investition, (2) Einstieg des Investors + Kreditfinanzierung, (3) Ablösung des stillen Gesellschafters + Eigenkapitalaufbau vor Investition. Welche Option empfehlen Sie und warum?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A3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Entwickeln Sie eine Gesprächsstrategie für das Jahresgespräch mit Stefan Habermaier. Welche Fragen stellen Sie (SPIN-Systematik)? Wie positionieren Sie die VR-Bank als strategischen Partner gegenüber dem externen Investor? Nutzen Sie die Musterformulierungen unten als Ausgangspunkt.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Skizzieren Sie einen Finanzierungsplan (Betrag, Instrument, Laufzeit, Tilgung) für Ihr empfohlenes Szenario. Berücksichtigen Sie Fördermitteloptionen (KfW, L-Bank Bayern).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Stärke der VR-Bank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Musterformulierung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Kontinuität &amp; Verlässlichkeit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„Wir begleiten Ihr Unternehmen seit 27 Jahren – durch Hochkonjunktur und durch die Krise 2020. Ein Finanzinvestor hat einen Zeithorizont von 5–7 Jahren; danach kommt der Exit. Wir haben keinen Exit-Druck."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Keine Verwässerung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„Mit unserer Finanzierungslösung behalten Sie 100 % der Kontrolle. Kein Investor sitzt im Beirat, kein Fremder hat Einblick in Ihre strategischen Pläne."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Verbundnetzwerk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„Über die DZ BANK haben wir Zugang zu Förderstrukturen und Spezialfinanzierungen, die eine M&amp;A-Boutique nicht anbieten kann. Gleichzeitig sind R+V und Union Investment direkt angebunden – alles aus einer Hand."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Regionale Verwurzelung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„Wir kennen Ihre Branche, Ihren Markt und Ihre Kunden hier in der Region. Das ist kein Netzwerk auf dem Papier – das sind echte Kontakte, die wir für Sie nutzen können."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Strategische Ausgangslage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Ein Medizintechnik-Konzern (Auftragsvolumen derzeit 18 % vom Umsatz) hat eine langfristige Rahmenvereinbarung angeboten, die eine Umsatzsteigerung auf ca. 16 Mio. EUR ermöglicht – aber einen zweiten CNC-…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Gleichzeitig hat ein süddeutscher Stratege-Investor Interesse an einer Minderheitsbeteiligung von 25,1 % signalisiert (Bewertung: 8x EBITDA = ca. 11,8 Mio. EUR Unternehmenswert).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433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799" y="39179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Stefan Habermaiers älterer Bruder (typisch stiller Gesellschafter, 15 % Anteil, ohne Stimmrecht und Verlustbeteiligung) möchte seinen Anteil mittelfristig veräußern. (Praxishinweis: Bei atypisch stiller Beteiligung mit…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799" y="44005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Liquiditäts- und Wachstumsplanung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Wachstum ist für mittelständische Unternehmen häufig keine Frage des Willens, sondern des Kapitals. Die betriebswirtschaftliche Praxis zeigt: Unternehmen scheitern seltener an fehl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1955800"/>
                <a:gridCol w="19558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Komponente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Formel / Beschreibung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Optimierungsansatz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Debitorenlaufzeit (DSO)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Forderungen / (Umsatz / 365)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Zahlungsziele verkürzen, Factoring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Kreditorenlaufzeit (DPO)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Verbindlichkeiten / (Wareneinkauf / 365)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Zahlungsziele bei Lieferanten verlängern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Lagerdauer (DIO)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Vorräte / (COGS / 365)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Lagerbestand optimieren, Just-in-time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Cash Conversion Cycle (CCC)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DSO + DIO − DPO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Ziel: CCC minimieren = Liquiditätsbedarf sinkt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Instrument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Einsatzbereich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Typische Merkmale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Kontokorrentlinie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Saisonale / kurzfristige Schwankungen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Revolving, tagesgenaue Inanspruchnahme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Betriebsmittelkredit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Struktureller Working-Capital-Anstieg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Laufzeit 1–3 Jahre, feste Tranche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Factoring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Sofortige Liquidität aus Forderungen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DSO auf 0–2 Tage; Kosten 0,8–2,0 % p.a.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Investitionskredit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Maschinen, Anlagen, Gebäude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Laufzeit 5–15 Jahre, ggf. Fördermittel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Working Capital und Cash Conversion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Formel Betriebsmittelbedarf: Betriebsmittelbedarf = Umsatzwachstum (EUR) × CCC (Tage) / 365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&gt; Praxisfaustregel: Wenn keine CCC-Daten vorliegen: Umsatzwachstum × 15–20 % als grober Betriebsmittelbedarf. Die CCC-Berechnung lohnt sich vor allem bei kapitalintensiven Branchen (Produktion, Handel) oder wenn der…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433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799" y="39179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Beispiel: Umsatzwachstum +3,0 Mio. EUR, CCC 58 Tage → Betriebsmittelbedarf: 3.000 TEUR × 58/365 = ca. 477 TEUR zusätzlich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799" y="44005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Praxistransfer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Transferaufgabe (innerhalb von 4 Wochen)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Transferaufgabe (innerhalb von 4 Wochen)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4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99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Öffnen Sie die Jahresgespräch-Funktion in agree (Firmenkundenanalyse) und übernehmen Sie die Kennzahlen aus dem Analysebogen als Ausgangsbasis.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99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Berechnen Sie die zentralen Werttreibergrößen (EBITDA-Marge, EK-Quote, Leverage) anhand der aktuellen Jahresabschlusskennzahlen.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3400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Identifizieren Sie das strategische Szenario und leiten Sie drei strategische Implikationen für die Finanzierungsstruktur ab.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24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3400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Bereiten Sie eine SPIN-Fragenliste für das nächste Jahresgespräch vor.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24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2400" y="35623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3400" y="35369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Erstellen Sie eine 1-seitige Zusammenfassung (Strategiememo) für Ihre Führungskraft oder als Vorbereitung für einen Fördermittelantrag.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2400" y="41084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Strategiememo-Vorlage (1 Seite, zum Ausfüllen)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0" y="920750"/>
          <a:ext cx="5867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29337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Feld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Inhalt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Kunde / Datum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______________________________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Strategisches Szenario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 Wachstum ☐ Gesellschafterwechsel ☐ M&amp;A ☐ Kapitalstruktur ☐ Restrukturierung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 Stärken des Unternehmens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1. ______________________________ 2. ______________________________ 3. ______________________________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 zentrale Risiken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1. ______________________________ 2. ______________________________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Empfohlenes Finanzierungsinstrument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______________________________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Fördermitteloption geprüft?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 Ja (Produkt: ______) ☐ Nein (Grund: ______)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Verbundpartner einzuschalten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 DZ BANK ☐ R+V ☐ Union Investment ☐ VR-Leasing ☐ Sonstige: 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Nächste Schritte (mit Termin)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1. ______________________________ 2. ______________________________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Dokumentation in agree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 Gesprächsnotiz angelegt ☐ Wiedervorlage gesetzt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Vertiefungsliteratur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4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99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Rappaport, A. (1998). Creating Shareholder Value: A Guide for Managers and Investors (2. Aufl.). Free Press.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99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Rackham, N. (1988). SPIN Selling. McGraw-Hill.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3400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Brealey, R. A., Myers, S. C. &amp; Allen, F. (2020). Principles of Corporate Finance (13. Aufl.). McGraw-Hill.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24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3400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Damodaran, A. (2012). Investment Valuation: Tools and Techniques for Determining the Value of Any Asset (3. Aufl.). Wiley Finance.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24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2400" y="35623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3400" y="35369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Porter, M. E. (1985). Competitive Advantage: Creating and Sustaining Superior Performance. Free Press.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2400" y="41084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Quellen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· v1.1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«Der strategische Finanzdialog» auf FKB Campus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info@benedikt-zoller.de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M03 · Stratege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