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Der strategische Finanzdialog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Kapitalstruktur, Werttreiber und Finanzierungsstrategien für Strategische Partner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Strategieberatung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Teilnehmer analysieren die Kapitalstruktur eines mittelständischen Unternehmens und identifizieren Optimierungspotenziale hinsichtlich Eigen- und Fremdkapitalquote.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Teilnehmer bewerten alternative Finanzierungsstrategien (Bankkredit, Mezzanine, Beteiligungskapital) nach Kosten, Flexibilität und strategischer Passung.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Teilnehmer analysieren Unternehmenswerttreiber und entwickeln daraus begründete strategische Handlungsempfehlungen.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Teilnehmer entwickeln für ein Fallstudienunternehmen einen strategischen Finanzierungsplan einschließlich Meilensteinplanung und Risikobewertung.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Teilnehmer beurteilen, wann Bankfinanzierung ihre Grenzen erreicht und alternative Kapitalquellen strategisch sinnvoll sind.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Bilanzgespräch zum Strategiegespräch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DREI EBENEN DES STRATEGISCHEN FINANZDIALOGS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Drei Gesprächsebenen des strategischen Finanzdialogs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463" y="1325880"/>
            <a:ext cx="8170026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Kapitalstruktur und Werttreiber verstehen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ZENTRALE WERTTREIBER IM MITTELSTAND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(vgl. 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FINANZIERUNGSOPTIONEN IM STRATEGISCHEN VERGLEICH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Werttreiberbaum für den Mittelstand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Strategische Szenarien in der Beratungspraxis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FÜNF KERNSZENARIEN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Habermaier Präzisionsteile GmbH &amp; Co. KG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UNTERNEHMENSPROFIL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FINANZKENNZAHLEN (GESCHÄFTSJAHRE)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STRATEGISCHE AUSGANGSLAGE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Stefan Habermaier hat Sie zum Jahresgespräch eingeladen. Im Vorlauf hat er angedeutet, dass er „größere Pläne" hat. Folgender Sachverhalt zeichnet sich ab: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Medizintechnik-Konzern (Auftragsvolumen derzeit 18 % vom Umsatz) hat eine langfristige Rahmenvereinbarung angeboten, die eine Umsatzsteigerung auf ca. 16 Mio. EUR ermöglicht – aber einen zweiten CNC-Bearbeitungszentrums-Park (Investitionsbedarf: 3,2 Mio. EUR) voraussetzt.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Gleichzeitig hat ein süddeutscher Stratege-Investor Interesse an einer Minderheitsbeteiligung von 25,1 % signalisiert (Bewertung: 8x EBITDA = ca. 11,8 Mio. EUR Unternehmenswert).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Stefan Habermaiers älterer Bruder (typisch stiller Gesellschafter, 15 % Anteil, ohne Stimmrecht und Verlustbeteiligung) möchte seinen Anteil mittelfristig veräußern. (Praxishinweis: Bei atypisch stiller Beteiligung mit Verlustbeteiligung wäre steuerlich und rechtlich ein Steuerberater/Rechtsanwalt frühzeitig einzuschalten – das Signal für den Berater ist die Frage nach Stimmrecht und Verlustbeteiligung.)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AUFGABENSTELLUNG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VR-BANK VS. INVESTOR – MUSTERFORMULIERUNGEN FÜR A3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SZENARIO-ANALYSE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1: Kennzahlenanalyse Ist-Situation (Jahr 4)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2: Szenario-Vergleich nach Investition (3,2 Mio. EUR)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Liquiditäts- und Wachstumsplanung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WORKING CAPITAL UND CASH CONVERSION CYCLE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Formel Betriebsmittelbedarf: Betriebsmittelbedarf = Umsatzwachstum (EUR) × CCC (Tage) / 365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Beispiel: Umsatzwachstum +3,0 Mio. EUR, CCC 58 Tage → Betriebsmittelbedarf: 3.000 TEUR × 58/365 = ca. 477 TEUR zusätzlich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INSTRUMENTE DER WACHSTUMSFINANZIERUNG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