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M03  · 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Der strategische Finanzdialog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Kapitalstruktur, Werttreiber und Finanzierungsstrategien für Unternehmer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 Tag (ca. 7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Kapitalstruktur eines mittelständischen Unternehmens analysieren und Optimierungspotenziale identifizieren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Alternative Finanzierungsstrategien (Bankkredit, Mezzanine, Beteiligungskapital) nach Kosten, Flexibilität und strategischer Passung bewerten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Unternehmenswerttreiber (Wachstum, Marge, Kapitaleffizienz) analysieren und strategische Handlungsempfehlungen ableiten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Strategischen Finanzierungsplan einschließlich Meilensteinplanung und Risikobewertung entwickeln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Beurteilen, wann eine Bankfinanzierung ihre Grenzen erreicht und alternative Kapitalquellen strategisch sinnvoll sind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Vom Bilanzgespräch zum Strategiegespräch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Vom Bilanzgespräch zum Strategiegespräch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Der Übergang vom Kredit- zum Strategieberater ist der entscheidende Entwicklungsschritt auf dem Weg zum Strategischen Partner. Während der Kreditberater primär auf Rückzahlungsfähigkeit und Sicherheit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Ebene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 Operativ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Sachstandsfragen (Was ist?)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entwickelt sich Ihr Auftragsbestand im nächsten Quartal?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Taktisch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Implikationsfragen (Was bedeutet das?)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Wenn die Marge weiter sinkt – welche Investitionen müssen Sie dann verschieben?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Strategisch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Zukunftsfragen (Wo wollen Sie hin?)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wäre der nächste Schritt, wenn Ihre Eigenkapitalquote 30 % überschreitet?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Kapitalstruktur und Werttreiber verstehen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strategische Finanzberatung setzt ein vertieftes Verständnis der Kapitalstruktur voraus. Kapitalstrukturentscheidungen – das Verhältnis von Eigen- zu Fremdkapital – sind keine rein bilanziellen Gr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29307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Werttreiber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Definition / KPI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Strategische Relevanz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Umsatzwachstum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YoY-Wachstumsrate (%)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Wachstumsstrategie: organisch vs. akquisitorisch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EBITDA / Umsatz (%)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Profitabilität, Debt-Service-Fähigkeit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Kapitaleffizienz (ROCE)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 / eingesetztes Kapital (%)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Qualität der Investitionen, Asset-Intensität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 / Bilanzsumme (%)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Krisenpuffer, Ratingrelevanz (MaRisk), Kreditkonditionen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Free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Operativer CF − Investitionen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Tilgungskapazität, Investitionsspielraum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(Leverage)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Nettofinanzverbindlichkeiten /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Standard-Covenant bei strukturierten Finanzierungen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Vorteile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Nachteile / Risiken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Geeignet für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Bankkredit (klassisch)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Günstig, strukturiert, bekannt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Sicherheitenerfordernisse, Covenant-Pflichten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Investitionen, Betriebsmittel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Förderkredit (KfW/L-Bank)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Subventionierter Zins, Haftungsfreistellung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Antragsprozess, Verwendungsbindung; Antrag muss vor Kreditauszahlung gestellt sein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Wachstum, Innovation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Mezzanine-Kapital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EK-ähnliche Wirkung, keine Verwässerung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Teurer als FK, begrenzte Laufzeit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Wachstum,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Private Equity / Beteiligung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Starkes EK, Netzwerk, Management-Know-how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Kontrollverlust, Exit-Druck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Skalierung, MBO/MBI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Innenfinanzierung / Thesaurierung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Abhängigkeiten, günstig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Begrenzt durch Ertragsstärke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Konsolidierung, Eigenkapitalaufbau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Strategische Szenarien in der Beratungspraxis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Der Strategische Partner begegnet im Beratungsalltag einer begrenzten Anzahl wiederkehrender strategischer Grundszenarien. Jedes Szenario erfordert eine spezifische Kombination aus Finanzanalyse, Fach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Szenario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Charakteristik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Relevante Verbundpartner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 Wachstumsfinanzierung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Investitionsbedarf übersteigt Innenfinanzierungskraft; Skalierung geplant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DZ BANK (Fördermittel), L-Bank, ggf. Private Equity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Unternehmensverkauf / M&amp;A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 durch externen Käufer, MBO, strategische Akquisition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DZ BANK Corporate Finance (primär, über FK-Regionalverantwortlichen), Steuerberater, Notar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Gesellschafterwechsel / Erbschaftsfall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Anteilsübertragung, Erbauseinandersetzung, GbR-Umwandlung, Bewertungsbedarf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Steuerberater, Notar, DZ BANK (Bewertung), R+V (Absicherung)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 Kapitalstrukturoptimierung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EK-Stärkung, Schuldenabbau, Rating-Verbesserung vor Investitionszyklus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Intern (Strukturierungsexpertise), ggf. Mezzanine-Anbieter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Restrukturierung /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Liquiditätsengpass, Covenant-Verletzung, drohende Insolvenz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Restrukturierungsberater, Insolvenzverwalter (präventiv), DZ 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fünf Kernszenarien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So starten Sie Ihren ersten Fördermittelantrag: (1) Thema in agree unter „Fördermittelcheck" prüfen, (2) L-Bank Bayern Produktfinder aufrufen (lbank.de), (3) Hausbanktool für den Antrag nutzen, (4)…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Exkurs für exportorientierte Betriebe: Internationalisierung (Export-/Importfinanzierung, Währungsrisiken, ausländische Tochtergesellschaft) → DZ BANK Trade Finance, R+V Währungsabsicherung. Relevant…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Praxiscase: Habermaier Präzisionsteile GmbH &amp; Co.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Unternehmensprofil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13607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Habermaier Präzisionsteile GmbH &amp; Co. KG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Präzisionsmechanik / Zulieferer Maschinenbau und Medizintechnik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Standort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Landsberg am Lech (Bayern)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Größe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62 Mitarbeiter, 3 Generationen im Familienbesitz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Gesellschafter-GF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Stefan Habermaier (47), Diplom-Ingenieur, zweite Generation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Bankenverbindung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VR-Bank seit 27 Jahren, Hauptbankverbindung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3 (Ist)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 4 (Ist)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9,8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11,4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EBITDA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1,18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1,48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12,0 %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13,0 %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Jahresüberschuss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294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398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2,1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2,5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7,6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8,1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27,6 %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30,9 %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Nettofinanzverbindl.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2,4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2,37x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1,62x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Free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420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590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Aufgabe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Analysieren Sie die aktuelle Finanzsituation. Welche Stärken und Risiken sehen Sie? Berechnen Sie den Verschuldungsgrad nach erfolgter Investition (Szenario: vollständig kreditfinanziert).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Bewerten Sie die drei strategischen Optionen: (1) Kreditfinanzierung der Investition, (2) Einstieg des Investors + Kreditfinanzierung, (3) Ablösung des stillen Gesellschafters + Eigenkapitalaufbau vor Investition. Welche Option empfehlen Sie und warum?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Entwickeln Sie eine Gesprächsstrategie für das Jahresgespräch mit Stefan Habermaier. Welche Fragen stellen Sie (SPIN-Systematik)? Wie positionieren Sie die VR-Bank als strategischen Partner gegenüber dem externen Investor? Nutzen Sie die Musterformulierungen unten als Ausgangspunkt.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Skizzieren Sie einen Finanzierungsplan (Betrag, Instrument, Laufzeit, Tilgung) für Ihr empfohlenes Szenario. Berücksichtigen Sie Fördermitteloptionen (KfW, L-Bank Bayern).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Stärke der VR-Bank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Musterformulierung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Kontinuität &amp; Verlässlichkeit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„Wir begleiten Ihr Unternehmen seit 27 Jahren – durch Hochkonjunktur und durch die Krise 2020. Ein Finanzinvestor hat einen Zeithorizont von 5–7 Jahren; danach kommt der Exit. Wir haben keinen Exit-Druck."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Verwässerung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„Mit unserer Finanzierungslösung behalten Sie 100 % der Kontrolle. Kein Investor sitzt im Beirat, kein Fremder hat Einblick in Ihre strategischen Pläne."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3607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Verbundnetzwerk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„Über die DZ BANK haben wir Zugang zu Förderstrukturen und Spezialfinanzierungen, die eine M&amp;A-Boutique nicht anbieten kann. Gleichzeitig sind R+V und Union Investment direkt angebunden – alles aus einer Hand."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3608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Regionale Verwurzelung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„Wir kennen Ihre Branche, Ihren Markt und Ihre Kunden hier in der Region. Das ist kein Netzwerk auf dem Papier – das sind echte Kontakte, die wir für Sie nutzen können."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Strategische Ausgangslage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 Medizintechnik-Konzern (Auftragsvolumen derzeit 18 % vom Umsatz) hat eine langfristige Rahmenvereinbarung angeboten, die eine Umsatzsteigerung auf ca. 16 Mio. EUR ermöglicht – aber einen zweiten…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Gleichzeitig hat ein süddeutscher Stratege-Investor Interesse an einer Minderheitsbeteiligung von 25,1 % signalisiert (Bewertung: 8x EBITDA = ca. 11,8 Mio. EUR Unternehmenswert).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Stefan Habermaiers älterer Bruder (typisch stiller Gesellschafter, 15 % Anteil, ohne Stimmrecht und Verlustbeteiligung) möchte seinen Anteil mittelfristig veräußern. (Praxishinweis: Bei atypisch…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Liquiditäts- und Wachstumsplanung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Wachstum ist für mittelständische Unternehmen häufig keine Frage des Willens, sondern des Kapitals. Die betriebswirtschaftliche Praxis zeigt: Unternehmen scheitern seltener an fehlender Profitabilität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Komponente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Formel / 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Optimierungsansatz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Debitorenlaufzeit (DSO)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Forderungen / (Umsatz / 365)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Zahlungsziele verkürzen, Factoring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Kreditorenlaufzeit (DPO)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Verbindlichkeiten / (Wareneinkauf / 365)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Zahlungsziele bei Lieferanten verlängern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Lagerdauer (DIO)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Vorräte / (COGS / 365)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Lagerbestand optimieren, Just-in-time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Cash Conversion Cycle (CCC)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DSO + DIO − DPO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Ziel: CCC minimieren = Liquiditätsbedarf sinkt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Einsatzbereich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Typische Merkmale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Kontokorrentlinie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Saisonale / kurzfristige Schwankungen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Revolving, tagesgenaue Inanspruchnahme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Struktureller Working-Capital-Anstieg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Laufzeit 1–3 Jahre, feste Tranche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Factoring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Sofortige Liquidität aus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DSO auf 0–2 Tage; Kosten 0,8–2,0 % p.a.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Maschinen, Anlagen, Gebäude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Laufzeit 5–15 Jahre, ggf. Fördermittel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Working Capital und Cash Conversion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Formel Betriebsmittelbedarf: Betriebsmittelbedarf = Umsatzwachstum (EUR) × CCC (Tage) / 365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Praxisfaustregel: Wenn keine CCC-Daten vorliegen: Umsatzwachstum × 15–20 % als grober Betriebsmittelbedarf. Die CCC-Berechnung lohnt sich vor allem bei kapitalintensiven Branchen (Produktion,…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Beispiel: Umsatzwachstum +3,0 Mio. EUR, CCC 58 Tage → Betriebsmittelbedarf: 3.000 TEUR × 58/365 = ca. 477 TEUR zusätzlich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Transferaufgabe (innerhalb von 4 Wochen)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Transferaufgabe (innerhalb von 4 Wochen)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Öffnen Sie die Jahresgespräch-Funktion in agree (Firmenkundenanalyse) und übernehmen Sie die Kennzahlen aus dem Analysebogen als Ausgangsbasis.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Berechnen Sie die zentralen Werttreibergrößen (EBITDA-Marge, EK-Quote, Leverage) anhand der aktuellen Jahresabschlusskennzahlen.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Identifizieren Sie das strategische Szenario und leiten Sie drei strategische Implikationen für die Finanzierungsstruktur ab.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Bereiten Sie eine SPIN-Fragenliste für das nächste Jahresgespräch vor.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Erstellen Sie eine 1-seitige Zusammenfassung (Strategiememo) für Ihre Führungskraft oder als Vorbereitung für einen Fördermittelantrag.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Strategiememo-Vorlage (1 Seite, zum Ausfüllen)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 / Datum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Strategisches Szenario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Wachstum ☐ Gesellschafterwechsel ☐ M&amp;A ☐ Kapitalstruktur ☐ Restrukturierung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 Stärken des Unternehmens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 3. 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 zentrale Risiken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Empfohlenes Finanzierungsinstrument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Fördermitteloption geprüft?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Ja (Produkt: ______) ☐ Nein (Grund: ______)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 einzuschalten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DZ BANK ☐ R+V ☐ Union Investment ☐ VR-Leasing ☐ Sonstige: 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Nächste Schritte (mit Termin)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 Gesprächsnotiz angelegt ☐ Wiedervorlage gesetzt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Trifft zu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Teilweise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bei mindestens einem Kunden die Werttreiber vollständig berechnet.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in einem Jahresgespräch mindestens 2 strategische Fragen eingesetzt.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passende Finanzierungsinstrument für ein konkretes Szenario identifiziert.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 Strategiememo erstellt und mit meiner Führungskraft besprochen.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Förderoptionen geprüft und ggf. einen Antrag vorbereitet.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Rappaport, A. (1998). Creating Shareholder Value: A Guide for Managers and Investors (2. Aufl.). Free Press.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Brealey, R. A., Myers, S. C. &amp; Allen, F. (2020). Principles of Corporate Finance (13. Aufl.). McGraw-Hill.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Damodaran, A. (2012). Investment Valuation: Tools and Techniques for Determining the Value of Any Asset (3. Aufl.). Wiley Finance.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Porter, M. E. (1985). Competitive Advantage: Creating and Sustaining Superior Performance. Free Press.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 &amp; Krathwohl, D. R. (Hrsg.). (2001). A Taxonomy for Learning, Teaching, and Assessing: A Revision of Bloom's Taxonomy of Educational Objectives. Longman. (Q-001)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Brealey, R. A., Myers, S. C. &amp; Allen, F. (2020). Principles of Corporate Finance (13. Aufl.). McGraw-Hill.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Damodaran, A. (2012). Investment Valuation: Tools and Techniques for Determining the Value of Any Asset (3. Aufl.). Wiley Finance.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Deutsche Bundesbank. (2023). Monatsbericht Januar 2023: Ertragslage und Finanzierungsverhältnisse der Unternehmen. Deutsche Bundesbank.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 L. &amp; Dreyfus, S. E. (1980). A Five-Stage Model of the Mental Activities Involved in Directed Skill Acquisition (ORC-80-2). Operations Research Center, University of California, Berkeley. (Q-003)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Hanan, M. (2011). Consultative Selling: The Hanan Formula for High-Margin Sales at High Levels (8. Aufl.). AMACOM. (Q-123)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Herreid, C. F. (1994). Case studies in science: A novel method of science education. Journal of College Science Teaching, 23(4), 221–229. (Q-124)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KfW Bankengruppe. (2024). KfW-Mittelstandspanel 2024. KfW Research.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Modigliani, F. &amp; Miller, M. H. (1958). The cost of capital, corporation finance and the theory of investment. The American Economic Review, 48(3), 261–297.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Myers, S. C. (1984). The capital structure puzzle. The Journal of Finance, 39(3), 574–592.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Porter, M. E. (1980). Competitive Strategy: Techniques for Analyzing Industries and Competitors. Free Press. (Q-125)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Porter, M. E. (1985). Competitive Advantage: Creating and Sustaining Superior Performance. Free Press.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Rackham, N. (1988). SPIN Selling. McGraw-Hill. (Q-122)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«Der strategische Finanzdialog»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M03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