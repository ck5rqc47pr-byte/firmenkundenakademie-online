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M03  ·  v1.1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Der strategische Finanzdialog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Kapitalstruktur, Werttreiber und Finanzierungsstrategien für Unternehmer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Stratege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 Tag (ca. 7 Std.)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Kapitalstruktur eines mittelständischen Unternehmens analysieren und Optimierungspotenziale identifizieren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Alternative Finanzierungsstrategien (Bankkredit, Mezzanine, Beteiligungskapital) nach Kosten, Flexibilität und strategischer Passung bewerten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Unternehmenswerttreiber (Wachstum, Marge, Kapitaleffizienz) analysieren und strategische Handlungsempfehlungen ableiten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84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3035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048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Strategischen Finanzierungsplan einschließlich Meilensteinplanung und Risikobewertung entwickeln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0" y="3683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4000" y="3733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746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Beurteilen, wann eine Bankfinanzierung ihre Grenzen erreicht und alternative Kapitalquellen strategisch sinnvoll sind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JENSEITS DES KREDITGESPRÄCHS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Jenseits des Kreditgesprächs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Wenn der Berater zum strategischen Partner wird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 · JENSEITS DES KREDITGESPRÄCHS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Drei Ebenen — drei verschiedene Gespräche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Ebene 1 (operativ): Jahresabschluss, Kontokorrent, Liquidität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Ebene 2 (taktisch): Finanzierungsstruktur, Kapitalkosten, Rating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Ebene 3 (strategisch): Wachstum, Wert, Nachfolge, Exit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Die meisten Berater spielen auf Ebene 1. Strategen spielen auf Ebene 3.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WAS DEN UNTERNEHMENSWERT WIRKLICH TREIBT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Was den Unternehmenswert wirklich treibt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Drei Hebel, die Banker kennen müssen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 · WAS DEN UNTERNEHMENSWERT WIRKLICH TREIBT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Wachstum × Marge × Kapitaleffizienz = Wert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Wachstum allein schafft keinen Wert — wenn die Marge dabei fällt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EBIT-Marge: Wie viel bleibt pro EUR Umsatz?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Kapitalrendite (ROCE): Wie effizient arbeitet das gebundene Kapital?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Working Capital: Hier steckt oft verstecktes Geld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WELCHE FINANZIERUNG PASST WANN?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Welche Finanzierung passt wann?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Nicht jede Lösung ist eine Bankfinanzierung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WELCHE FINANZIERUNG PASST WANN?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Drei Wege — drei Profile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15000" y="920750"/>
          <a:ext cx="58674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Finanzierungsform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Stärken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Grenzen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Wann sinnvoll?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Bankkredit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Günstig, bekannt, schnell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Besicherung, Covenants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Investitionen mit klarem Cashflow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Mezzanine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Kein Kontrollverlust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Teurer als Kredit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Wachstum ohne Sicherheiten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Beteiligungskapital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Keine Rückzahlung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Kontrollverlust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Rapid Scale-up, Nachfolge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WELCHE FINANZIERUNG PASST WANN?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889000"/>
            <a:ext cx="381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Kernaussage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Wann die Bankfinanzierung an ihre Grenzen stößt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825750"/>
            <a:ext cx="5207000" cy="2857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Wenn das Unternehmen schnell wächst, keine verwertbaren Sicherheiten hat oder einen strategischen Investor braucht — dann ist die Bank nicht die beste Lösung. Das ehrlich zu sagen, schafft mehr Vertrauen als ein Nein.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0" y="2825750"/>
            <a:ext cx="4851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F2B56"/>
                </a:solidFill>
                <a:latin typeface="Courier New"/>
              </a:rPr>
              <a:t>Mitnahme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3041650"/>
            <a:ext cx="4851400" cy="2667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Die ehrlichste Beratung ist manchmal: 'Für diesen Schritt brauchen Sie einen anderen Partner — aber ich begleite Sie dabei.'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445000" cy="6858000"/>
          </a:xfrm>
          <a:prstGeom prst="rect">
            <a:avLst/>
          </a:prstGeom>
          <a:solidFill>
            <a:srgbClr val="C8A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5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8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0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3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76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88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101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114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127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139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152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165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77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90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03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215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228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41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54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266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79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292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04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317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330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342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55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68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381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93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406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90999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31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444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457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469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482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495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508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520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533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546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558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571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84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596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09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22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0" y="635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647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660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73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52400" y="6477000"/>
            <a:ext cx="4190999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3A2A0A"/>
                </a:solidFill>
                <a:latin typeface="Courier New"/>
              </a:rPr>
              <a:t>Praxisfall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WELCHE FINANZIERUNG PASST WANN?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26000" y="1016000"/>
            <a:ext cx="6731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Praxisfall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26000" y="1244600"/>
            <a:ext cx="6731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Habermaier Präzisionsteile GmbH — Strategiegespräch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26000" y="2984500"/>
            <a:ext cx="6731000" cy="3429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Mittelständischer Präzisionsmechaniker, Umsatz 18 Mio. EUR, EBIT-Marge 7,2 %. Wachstumsfinanzierung für neuen Markt geplant. Eigentümer fragt: Bank oder Investor? Ihre Aufgabe: strategischen Finanzierungsrahmen entwickeln.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Ihr erster strategischer Dialog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IV · 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Wer aus Ihrem Portfolio ist bereit für Ebene 3?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Kunden mit Wachstumsplänen identifizieren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Working Capital analysieren — oft unentdecktes Potenzial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Gesprächseinstieg üben: 'Wo sehen Sie Ihr Unternehmen in 5 Jahren?'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Verbundpartner einbinden: DZ Bank, Union Investment, MünchenerHyp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QUELLENAPPARAT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63600"/>
            <a:ext cx="5080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A0AACC"/>
                </a:solidFill>
                <a:latin typeface="Courier New"/>
              </a:rPr>
              <a:t>Quellenapparat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F8F8FA"/>
                </a:solidFill>
                <a:latin typeface="Georgia"/>
              </a:rPr>
              <a:t>Quellen.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3A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177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Anderson, L. W. &amp; Krathwohl, D. R. (Hrsg.). (2001). A Taxonomy for Learning, Teaching, and Assessing: A Revision of Bloom's Taxonomy of…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8003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Brealey, R. A., Myers, S. C. &amp; Allen, F. (2020). Principles of Corporate Finance (13. Aufl.). McGraw-Hill.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2829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Damodaran, A. (2012). Investment Valuation: Tools and Techniques for Determining the Value of Any Asset (3. Aufl.). Wiley Finance.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655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Deutsche Bundesbank. (2023). Monatsbericht Januar 2023: Ertragslage und Finanzierungsverhältnisse der Unternehmen. Deutsche Bundesbank.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2481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Dreyfus, H. L. &amp; Dreyfus, S. E. (1980). A Five-Stage Model of the Mental Activities Involved in Directed Skill Acquisition (ORC-80-2).…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7307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Hanan, M. (2011). Consultative Selling: The Hanan Formula for High-Margin Sales at High Levels (8. Aufl.). AMACOM. (Q-123)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2133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Herreid, C. F. (1994). Case studies in science: A novel method of science education. Journal of College Science Teaching, 23(4), 221–229.…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56959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Kirkpatrick, D. L. (1994). Evaluating Training Programs: The Four Levels. Berrett-Koehler. (Q-005)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1785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KfW Bankengruppe. (2024). KfW-Mittelstandspanel 2024. KfW Research.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0" y="23177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Modigliani, F. &amp; Miller, M. H. (1958). The cost of capital, corporation finance and the theory of investment. The American Economic Review,…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28003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Myers, S. C. (1984). The capital structure puzzle. The Journal of Finance, 39(3), 574–592.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0" y="32829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Porter, M. E. (1980). Competitive Strategy: Techniques for Analyzing Industries and Competitors. Free Press. (Q-125)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0" y="37655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Porter, M. E. (1985). Competitive Advantage: Creating and Sustaining Superior Performance. Free Press.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0" y="42481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Rackham, N. (1988). SPIN Selling. McGraw-Hill. (Q-122)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0" y="47307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Rappaport, A. (1998). Creating Shareholder Value: A Guide for Managers and Investors (2. Aufl.). Free Press. (Q-126)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0" y="52133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Schön, D. A. (1983). The Reflective Practitioner: How Professionals Think in Action. Basic Books. (Q-127)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«Der strategische Finanzdialog» auf FKB Campus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Trainer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[Name · Kontakt]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M03 · Stratege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