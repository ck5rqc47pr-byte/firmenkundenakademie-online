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200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CCEE"/>
                </a:solidFill>
                <a:latin typeface="Arial"/>
              </a:rPr>
              <a:t>M03  ·  K-01 Finanzanalyse &amp; Strategieberatung  ·  Zielstufe: Stratege  ·  1 Tag (ca. 7 Std.)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04672"/>
            <a:ext cx="8229600" cy="22860"/>
          </a:xfrm>
          <a:prstGeom prst="rect">
            <a:avLst/>
          </a:prstGeom>
          <a:solidFill>
            <a:srgbClr val="335C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Arial"/>
              </a:rPr>
              <a:t>Der strategische Finanzdialog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38328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CCD6F0"/>
                </a:solidFill>
                <a:latin typeface="Arial"/>
              </a:rPr>
              <a:t>Kapitalstruktur, Werttreiber und Finanzierungsstrategien für Unternehmer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ACC"/>
                </a:solidFill>
                <a:latin typeface="Arial"/>
              </a:rPr>
              <a:t>Trainer-Präsentation  ·  v1.1  ·  Benedikt Zoller Coaching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" y="804672"/>
            <a:ext cx="11612880" cy="2286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32004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3DA5"/>
                </a:solidFill>
                <a:latin typeface="Arial"/>
              </a:rPr>
              <a:t>LERNZIELE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Arial"/>
              </a:rPr>
              <a:t>Was Sie nach diesem Modul können.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23444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Kapitalstruktur eines mittelständischen Unternehmens analysieren und Optimierungspotenziale identifizieren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Alternative Finanzierungsstrategien (Bankkredit, Mezzanine, Beteiligungskapital) nach Kosten, Flexibilität und strategischer Passung bewerten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Unternehmenswerttreiber (Wachstum, Marge, Kapitaleffizienz) analysieren und strategische Handlungsempfehlungen ableiten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Strategischen Finanzierungsplan einschließlich Meilensteinplanung und Risikobewertung entwickeln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Beurteilen, wann eine Bankfinanzierung ihre Grenzen erreicht und alternative Kapitalquellen strategisch sinnvoll sind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Vom Bilanzgespräch zum Strategiegespräch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M03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Die drei Ebenen des strategischen Finanzdialogs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Ebene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Fragetyp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Beispiel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 Operativ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Sachstandsfragen (Was ist?)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Wie entwickelt sich Ihr Auftragsbestand im nächsten Quartal?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 Taktisch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Implikationsfragen (Was bedeutet das?)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Wenn die Marge weiter sinkt – welche Investitionen müssen Sie dann verschieben?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3 Strategisch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Zukunftsfragen (Wo wollen Sie hin?)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Was wäre der nächste Schritt, wenn Ihre Eigenkapitalquote 30 % überschreitet?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Kapitalstruktur und Werttreiber verstehen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M03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Zentrale Werttreiber im Mittelstand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Werttreiber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Definition / KPI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Strategische Relevanz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Umsatzwachstum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YoY-Wachstumsrate (%)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Wachstumsstrategie: organisch vs. akquisitorisch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EBITDA-Marge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EBITDA / Umsatz (%)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Profitabilität, Debt-Service-Fähigkeit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Kapitaleffizienz (ROCE)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EBIT / eingesetztes Kapital (%)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Qualität der Investitionen, Asset-Intensität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Eigenkapitalquote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EK / Bilanzsumme (%)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Krisenpuffer, Ratingrelevanz (MaRisk), Kreditkonditionen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Free Cashflow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Operativer CF − Investitionen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Tilgungskapazität, Investitionsspielraum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Verschuldungsgrad (Leverage)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Nettofinanzverbindlichkeiten / EBITDA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Standard-Covenant bei strukturierten Finanzierungen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M03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Finanzierungsoptionen im strategischen Vergleich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Instrument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Vorteile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Nachteile / Risiken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Geeignet für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Bankkredit (klassisch)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Günstig, strukturiert, bekannt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Sicherheitenerfordernisse, Covenant-Pflichten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Investitionen, Betriebsmittel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Förderkredit (KfW/L-Bank)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Subventionierter Zins, Haftungsfreistellung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Antragsprozess, Verwendungsbindung; Antrag muss vor Kreditauszahlung gestellt sein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Wachstum, Innovation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Mezzanine-Kapital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EK-ähnliche Wirkung, keine Verwässerung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Teurer als FK, begrenzte Laufzeit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Wachstum, Nachfolge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Private Equity / Beteiligung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Starkes EK, Netzwerk, Management-Know-how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Kontrollverlust, Exit-Druck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Skalierung, MBO/MBI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Innenfinanzierung / Thesaurierung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Keine Abhängigkeiten, günstig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Begrenzt durch Ertragsstärke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Konsolidierung, Eigenkapitalaufbau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Strategische Szenarien in der Beratungspraxis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M03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Die fünf Kernszenarien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Szenario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Charakteristik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Relevante Verbundpartner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 Wachstumsfinanzierung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Investitionsbedarf übersteigt Innenfinanzierungskraft; Skalierung geplant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DZ BANK (Fördermittel), L-Bank, ggf. Private Equity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 Unternehmensverkauf / M&amp;A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Nachfolge durch externen Käufer, MBO, strategische Akquisition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DZ BANK Corporate Finance (primär, über FK-Regionalverantwortlichen), Steuerberater, Notar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3 Gesellschafterwechsel / Erbschaftsfall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Anteilsübertragung, Erbauseinandersetzung, GbR-Umwandlung, Bewertungsbedarf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Steuerberater, Notar, DZ BANK (Bewertung), R+V (Absicherung)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4 Kapitalstrukturoptimierung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EK-Stärkung, Schuldenabbau, Rating-Verbesserung vor Investitionszyklus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Intern (Strukturierungsexpertise), ggf. Mezzanine-Anbieter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5 Restrukturierung / Krise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Liquiditätsengpass, Covenant-Verletzung, drohende Insolvenz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Restrukturierungsberater, Insolvenzverwalter (präventiv), DZ 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Praxiscase: Habermaier Präzisionsteile GmbH &amp; Co. KG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M03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Unternehmensprofil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5000"/>
                <a:gridCol w="5715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Merkmal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Detail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Unternehmen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Habermaier Präzisionsteile GmbH &amp; Co. KG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Branche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Präzisionsmechanik / Zulieferer Maschinenbau und Medizintechnik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Standort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Landsberg am Lech (Bayern)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Größe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62 Mitarbeiter, 3 Generationen im Familienbesitz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Gesellschafter-GF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Stefan Habermaier (47), Diplom-Ingenieur, zweite Generation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Bankenverbindung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VR-Bank seit 27 Jahren, Hauptbankverbindung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M03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Finanzkennzahlen (Geschäftsjahre)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Kennzahl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Jahr 3 (Ist)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Jahr 4 (Ist)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Umsatz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9,8 Mio. EUR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11,4 Mio. EUR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EBITDA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1,18 Mio. EUR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1,48 Mio. EUR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EBITDA-Marge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12,0 %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13,0 %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Jahresüberschuss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294 TEUR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398 TEUR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Eigenkapital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2,1 Mio. EUR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2,5 Mio. EUR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Bilanzsumme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7,6 Mio. EUR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8,1 Mio. EUR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EK-Quote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27,6 %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30,9 %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Nettofinanzverbindl.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2,8 Mio. EUR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2,4 Mio. EUR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Leverage (NFK/EBITDA)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2,37x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1,62x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Free Cashflow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420 TEUR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590 TEUR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M03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Strategische Ausgangslage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11430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Stefan Habermaier hat Sie zum Jahresgespräch eingeladen. Im Vorlauf hat er angedeutet, dass er „größere Pläne" hat. Folgender Sachverhalt zeichnet sich ab: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003DA5"/>
                </a:solidFill>
                <a:latin typeface="Arial"/>
              </a:rPr>
              <a:t>▪  </a:t>
            </a:r>
            <a:r>
              <a:rPr sz="1700">
                <a:solidFill>
                  <a:srgbClr val="1A1A1A"/>
                </a:solidFill>
                <a:latin typeface="Arial"/>
              </a:rPr>
              <a:t>- Ein Medizintechnik-Konzern (Auftragsvolumen derzeit 18 % vom Umsatz) hat eine langfristige Rahmenvereinbarung angeboten, die eine Umsatzsteigerung auf ca. 16…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M03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Aufgabenstellung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5000"/>
                <a:gridCol w="5715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Aufgabe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Beschreibung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A1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Analysieren Sie die aktuelle Finanzsituation. Welche Stärken und Risiken sehen Sie? Berechnen Sie den Verschuldungsgrad nach erfolgter Investition (Szenario: vollständig kreditfinanziert).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A2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Bewerten Sie die drei strategischen Optionen: (1) Kreditfinanzierung der Investition, (2) Einstieg des Investors + Kreditfinanzierung, (3) Ablösung des stillen Gesellschafters + Eigenkapitalaufbau vor Investition. Welche Option empfehlen Sie und warum?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A3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Entwickeln Sie eine Gesprächsstrategie für das Jahresgespräch mit Stefan Habermaier. Welche Fragen stellen Sie (SPIN-Systematik)? Wie positionieren Sie die VR-Bank als strategischen Partner gegenüber dem externen Investor? Nutzen Sie die Musterformulierungen unten als Ausgangspunkt.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A4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Skizzieren Sie einen Finanzierungsplan (Betrag, Instrument, Laufzeit, Tilgung) für Ihr empfohlenes Szenario. Berücksichtigen Sie Fördermitteloptionen (KfW, L-Bank Bayern).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M03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VR-Bank vs. Investor – Musterformulierungen für A3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5000"/>
                <a:gridCol w="5715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Stärke der VR-Bank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Musterformulierung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Kontinuität &amp; Verlässlichkeit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„Wir begleiten Ihr Unternehmen seit 27 Jahren – durch Hochkonjunktur und durch die Krise 2020. Ein Finanzinvestor hat einen Zeithorizont von 5–7 Jahren; danach kommt der Exit. Wir haben keinen Exit-Druck."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Keine Verwässerung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„Mit unserer Finanzierungslösung behalten Sie 100 % der Kontrolle. Kein Investor sitzt im Beirat, kein Fremder hat Einblick in Ihre strategischen Pläne."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Verbundnetzwerk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„Über die DZ BANK haben wir Zugang zu Förderstrukturen und Spezialfinanzierungen, die eine M&amp;A-Boutique nicht anbieten kann. Gleichzeitig sind R+V und Union Investment direkt angebunden – alles aus einer Hand."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Regionale Verwurzelung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„Wir kennen Ihre Branche, Ihren Markt und Ihre Kunden hier in der Region. Das ist kein Netzwerk auf dem Papier – das sind echte Kontakte, die wir für Sie nutzen können."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0"/>
            <a:ext cx="11430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Liquiditäts- und Wachstumsplanung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M03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Working Capital und Cash Conversion Cycle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Komponente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Formel / Beschreibung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Optimierungsansatz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Debitorenlaufzeit (DSO)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Forderungen / (Umsatz / 365)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Zahlungsziele verkürzen, Factoring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Kreditorenlaufzeit (DPO)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Verbindlichkeiten / (Wareneinkauf / 365)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Zahlungsziele bei Lieferanten verlängern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Lagerdauer (DIO)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Vorräte / (COGS / 365)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Lagerbestand optimieren, Just-in-time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Cash Conversion Cycle (CCC)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DSO + DIO − DPO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Ziel: CCC minimieren = Liquiditätsbedarf sinkt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5"/>
                </a:solidFill>
                <a:latin typeface="Arial"/>
              </a:rPr>
              <a:t>M03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3DA5"/>
                </a:solidFill>
                <a:latin typeface="Arial"/>
              </a:rPr>
              <a:t>Instrumente der Wachstumsfinanzierung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430000" cy="27432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Instrument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Einsatzbereich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Typische Merkmale</a:t>
                      </a:r>
                    </a:p>
                  </a:txBody>
                  <a:tcPr>
                    <a:solidFill>
                      <a:srgbClr val="003DA5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Kontokorrentlinie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Saisonale / kurzfristige Schwankungen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Revolving, tagesgenaue Inanspruchnahme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Betriebsmittelkredit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Struktureller Working-Capital-Anstieg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Laufzeit 1–3 Jahre, feste Tranche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Factoring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Sofortige Liquidität aus Forderungen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DSO auf 0–2 Tage; Kosten 0,8–2,0 % p.a.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Investitionskredit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Maschinen, Anlagen, Gebäude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A1A1A"/>
                          </a:solidFill>
                          <a:latin typeface="Arial"/>
                        </a:rPr>
                        <a:t>Laufzeit 5–15 Jahre, ggf. Fördermittel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47472"/>
            <a:ext cx="7315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CD6F0"/>
                </a:solidFill>
                <a:latin typeface="Arial"/>
              </a:rPr>
              <a:t>PRAXISTRANSFER &amp; NÄCHSTE SCHRITTE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04672"/>
            <a:ext cx="8229600" cy="22860"/>
          </a:xfrm>
          <a:prstGeom prst="rect">
            <a:avLst/>
          </a:prstGeom>
          <a:solidFill>
            <a:srgbClr val="335C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601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Was nehmen Sie mit?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103120"/>
            <a:ext cx="11430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Transferaufgabe: Wenden Sie das Gelernte in den nächsten 14 Tagen bei einem konkreten Kunden an.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Selbstcheck nach 4 Wochen: Bewerten Sie Ihre Fortschritte ehrlich.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ACC"/>
                </a:solidFill>
                <a:latin typeface="Arial"/>
              </a:rPr>
              <a:t>M03 · Der strategische Finanzdialog  ·  v1.1  ·  Benedikt Zoller Coaching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