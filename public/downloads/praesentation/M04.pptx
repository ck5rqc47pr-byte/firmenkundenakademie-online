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M04  ·  v1.2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048000"/>
            <a:ext cx="109728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Kreditrisikofrüherkennung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334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461000"/>
            <a:ext cx="5207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4D5270"/>
                </a:solidFill>
                <a:latin typeface="Georgia"/>
              </a:rPr>
              <a:t>Frühwarnsignale erkennen, bewerten und eskalieren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461000"/>
            <a:ext cx="2286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spc="10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664200"/>
            <a:ext cx="228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Berater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0" y="5461000"/>
            <a:ext cx="25400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spc="10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0" y="5664200"/>
            <a:ext cx="254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35000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7FA0"/>
                </a:solidFill>
                <a:latin typeface="Courier New"/>
              </a:rPr>
              <a:t>v1.2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270000"/>
            <a:ext cx="368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1333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333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4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70500" y="1409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Drei Kreditrisikoarten (Ausfall-, Migrations-, Konzentrationsrisiko) benennen und praxisrelevante Beispiele nennen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095499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46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0500" y="2171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Unterschied zwischen qualitativen und quantitativen Frühwarnindikatoren erklären und Signale zuordnen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857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908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III.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0500" y="2933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Ampelcheckliste auf einen Fallstudienfall anwenden und Kunden in Risikoklasse klassifizieren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619500"/>
            <a:ext cx="70104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670300"/>
            <a:ext cx="5715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1">
                <a:solidFill>
                  <a:srgbClr val="1F2B56"/>
                </a:solidFill>
                <a:latin typeface="Georgia"/>
              </a:rPr>
              <a:t>IV.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500" y="3695700"/>
            <a:ext cx="6223000" cy="71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91D2E"/>
                </a:solidFill>
                <a:latin typeface="Georgia"/>
              </a:rPr>
              <a:t>Kontokorrentbewegungen und Kennzahlenentwicklungen analysieren und geeigneten Eskalationspfad identifizieren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Kreditrisiko – Grundbegriffe und Bedeutung für den Berater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Kreditrisiko – Grundbegriffe und Bedeutung für den Berater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Kreditrisiko bezeichnet die Gefahr, dass ein Kreditnehmer seinen vertraglichen Zahlungsverpflichtungen nicht vollständig oder nicht fristgerecht nachkommt. Für Volksbanken — mit einem Kreditbuch, 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/>
                <a:gridCol w="2167466"/>
                <a:gridCol w="2167468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Risikoart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Definition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Praxisbeispiel VR-Bank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Ausfallrisiko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Kreditnehmer kann Zins und Tilgung dauerhaft nicht leisten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Handwerksbetrieb stellt Insolvenzantrag nach Auftragswegbruch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Migrationsrisiko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Bonität verschlechtert sich ohne sofortigen Ausfall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Mittelständler rutscht von Rating B nach C — Risikogewicht steigt, EK-Bedarf der Bank erhöht sich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Konzentrationsrisiko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Übergewicht einzelner Branchen, Regionen oder Kreditnehmer im Portfolio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35 % Kreditvolumen in der Automobilzulieferer-Branche — systemisches Risiko bei Branchenkrise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Die vier Krisenphasen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Nicht jede rote Ampel hat dieselbe Dringlichkeit. Das Krisenphasen-Modell hilft einzuordnen, wie weit ein Unternehmen bereits in die Krise gerutscht ist: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/>
                <a:gridCol w="1300480"/>
                <a:gridCol w="1300480"/>
                <a:gridCol w="1300480"/>
                <a:gridCol w="1300480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Phase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Bezeichnung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Typische Signale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Ampel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Ihr Handlungsfenster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Potenzielle Krise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Umsatzstagnation, Marktanteilsverlust, Abhängigkeit von wenigen Kunden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Präventiv ansprechen, Beratung anbieten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Latente Krise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Margenrückgang, EBIT sinkt, EK-Erosion, BWA angefordert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Gelb–Rot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Haupthandlungsfenster — engmaschige Betreuung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Akute/beherrschbar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KK dauerhaft ausgeschöpft, Zinsverzug, Rücklastschriften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Sofort eskalieren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Insolvenz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Zahlungsunfähigkeit, Insolvenzantrag gestellt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 (Sofort)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Problemkreditabteilung übernimmt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Frühwarnindikatoren – Quantitativ und Qualitativ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Frühwarnindikatoren lassen sich in zwei komplementäre Kategorien einteilen: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/>
                <a:gridCol w="1300480"/>
                <a:gridCol w="1300480"/>
                <a:gridCol w="1300480"/>
                <a:gridCol w="1300480"/>
              </a:tblGrid>
              <a:tr h="2930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Indikator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Formel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Grün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Gelb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EBITDA-Marge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EBITDA / Umsatz × 100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8 %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5–8 %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5 %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Leverage (NFK/EBITDA)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Netto-Finanzverbindlichkeiten / EBITDA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3,0x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3,0–4,0x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4,0x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Eigenkapitalquote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EK / Bilanzsumme × 100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20 %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10–20 %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10 %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KK-Inanspruchnahme (Ø)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Ø-Inanspruchnahme / Limit × 100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60 %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60–85 %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85 %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Jahresabschluss-Vorlage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Monate nach Geschäftsjahresende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6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6–9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9 / Verweigerung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Kategorie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Warnsignal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Bewertung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Transparenz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Verweigerung oder Verzögerung von Jahresabschluss/BWA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Hoch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Gesprächsverhalten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Ausweichen bei direkten Fragen zu Umsatz/Liquidität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Hoch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Management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Häufiger Wechsel in Geschäftsführung oder Steuerberatung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Mittel–Hoch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Markt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Verlust von Schlüsselkunden oder -lieferanten; Klumpenrisiko &gt; 30 %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Mittel–Hoch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93076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Konto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Systematische KK-Überschreitungen, Lastschriftrückläufer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Hoch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9308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Nachfolge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Keine geregelte Nachfolgeregelung bei Inhabergesellschaften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Mittel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Ampel-Checkliste: Gesamtbewertung Kreditrisiko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Die Ampel-Checkliste führt quantitative und qualitative Signale in einem Gesamturteil zusammen. Sie ist kein Ersatz für professionelles Urteil, sondern ein strukturierendes Werkzeug zur Reduktion kogn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3733"/>
                <a:gridCol w="1083733"/>
                <a:gridCol w="1083733"/>
                <a:gridCol w="1083733"/>
                <a:gridCol w="1083733"/>
                <a:gridCol w="1083735"/>
              </a:tblGrid>
              <a:tr h="23812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Nr.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Indikator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Grün (0)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Gelb (1)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Rot (2)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Punkte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Q1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EBITDA-Marge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8 %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5–8 %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5 %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Leverage NFK/EBITDA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3,0x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3,0–4,0x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4,0x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Q3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Eigenkapitalquote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20 %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10–20 %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10 %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KK-Inanspruchnahme (Ø)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60 %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60–85 %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85 %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Q5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Jahresabschluss-Vorlage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&lt; 6 Monate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6–9 Monate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 9 Monate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QL1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Transparenz im Gespräch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Offen, kooperativ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Eingeschränkt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Verweigert / ausweichend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QL2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Gesprächsverhalten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Sachlich, direkt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Zögerlich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Aggressiv / ablenkend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QL3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Managementstabilität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Stabil, kompetent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Personenwechsel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Häufiger Wechsel / Vakanz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QL4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Marktposition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Stabil / wachsend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Stagnierend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Klare Verluste / Kundenabgang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QL5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Kontoverhalten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Unauffällig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Gelegentl. Überschreitung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Systematische Überschreitung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GESAMTPUNKTE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______ / 20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Gesamtpunkte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Ampel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Nächster Schritt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0–5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Grün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Reguläre Jahresbetrachtung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6–10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Kundengespräch, Dokumentation, Meldung an Teamleiter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238125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11–20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Sofortige Eskalation, Intensivbetreuung prüfen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Eskalationspfade – Wer handelt wann?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&gt; Dokumentation in agree: Jeder Gelb- oder Rot-Befund wird im Risikovermerk dokumentiert: Datum, Indikator, Bewertung, nächste Maßnahme, Verantwortlicher. Das ist Revisionspflicht.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Ampel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Verantwortung Berater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Eskalation an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Zeitrahmen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Grün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Reguläre Betreuung, Jahresabschluss einfordern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Jährlich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Kundengespräch führen, Checkliste in agree dokumentieren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Teamleiter informieren, Watchlist prüfen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Innerhalb 4 Wochen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Sofortige Meldung, keine eigenständigen Zusagen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Teamleiter + Marktfolge, ggf. Problemkreditabteilung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Innerhalb 48 Stunden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Praxiscase: Renner Metallverarbeitung GmbH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Unternehmensprofil: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14653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Merkmal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Detail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Branche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Metallverarbeitung / Präzisionsteile für Maschinenbau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Mitarbeiter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Geschäftsführer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Klaus Renner, 62 Jahre, Alleingesellschafter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Kreditobligo VR-Bank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1,85 Mio. EUR (Investitionsdarlehen + KK-Linie 350.000 EUR)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Bankbeziehung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14 Jahre, bislang unauffällig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Hauptkunde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Norddeutscher Maschinenbauer, Umsatzanteil ca. 40 %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Nachfolge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Nicht geregelt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Kennzahl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 -2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 -1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Aktuell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Umsatz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5,8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6,0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6,2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EBITDA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580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480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310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EBITDA-Marge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10,0 %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8,0 %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5,0 %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Netto-Finanzverbindlichkeiten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980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1.200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1.670 TEUR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Leverage (NFK/EBITDA)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1,7x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2,5x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5,4x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Eigenkapitalquote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28 %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22 %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KK-Inanspruchnahme (Ø)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52 %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68 %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91 %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Jahresabschluss vorgelegt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März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April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Ausstehend (Oktober)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Kennzahl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Wert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Bewertung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Punkte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EBITDA-Marge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5,0 %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 (Grenzfall)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Leverage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5,4x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Eigenkapitalquote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15 %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KK-Inanspruchnahme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91 %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JA-Vorlage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&gt;9 Monate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Transparenz (QL1)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Ausweichend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146538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Gesprächsverhalten (QL2)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Einsilbig, ablenkend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Rot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14655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Managementstabilität (QL3)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Keine Nachfolge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Gelb–Rot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1–2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25500"/>
            <a:ext cx="5715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0" b="0" i="1">
                <a:solidFill>
                  <a:srgbClr val="D9BF7A"/>
                </a:solidFill>
                <a:latin typeface="Georgia"/>
              </a:rPr>
              <a:t>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0" y="3683000"/>
            <a:ext cx="459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4000500"/>
            <a:ext cx="45974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6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5524500"/>
            <a:ext cx="45974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1">
                <a:solidFill>
                  <a:srgbClr val="7B7FA0"/>
                </a:solidFill>
                <a:latin typeface="Georgia"/>
              </a:rPr>
              <a:t>Transferaufgabe (4 Wochen nach Seminar)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Transferaufgabe (4 Wochen nach Seminar)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Wählen Sie 3 Firmenkunden aus Ihrem Portfolio (Kreditvolumen &gt; 250.000 EUR). Wenden Sie die Ampel-Checkliste auf jeden dieser Kunden an.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Feld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Kunde 1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Kunde 2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Kunde 3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Branche (keine Namen)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Ampel-Gesamtpunktzahl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Einstufung (Grün/Gelb/Rot)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Dominantes Warnsignal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Maßnahme eingeleitet?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In agree dokumentiert?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Teamleiter informiert?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16000"/>
            <a:ext cx="4953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Selbstcheck nach 4 Wochen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75000"/>
            <a:ext cx="4953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D5270"/>
                </a:solidFill>
                <a:latin typeface="Georgia"/>
              </a:rPr>
              <a:t>Skala: 4 = trifft voll zu, 1 = trifft nicht zu | 17–20 Punkte: Transfer gelungen · 12–16: Nacharbeit · &lt; 12: Modul wiederholen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0" y="1016000"/>
          <a:ext cx="6502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/>
                <a:gridCol w="1300480"/>
                <a:gridCol w="1300480"/>
                <a:gridCol w="1300480"/>
                <a:gridCol w="1300480"/>
              </a:tblGrid>
              <a:tr h="4445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Aussage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4 – voll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3 – eher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2 – kaum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8FA"/>
                          </a:solidFill>
                          <a:latin typeface="Courier New"/>
                        </a:rPr>
                        <a:t>1 – nicht</a:t>
                      </a:r>
                    </a:p>
                  </a:txBody>
                  <a:tcPr>
                    <a:solidFill>
                      <a:srgbClr val="191D2E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Ich habe die Ampel-Checkliste bei mind. 3 Kunden selbstständig angewendet.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Ich kann quantitative und qualitative Signale klar voneinander abgrenzen.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Ich weiß, wann ich an Teamleiter / Problemkreditabteilung eskaliere.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Ich habe einen Gelb- oder Rot-Fall mit meiner Führungskraft besprochen.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Ich dokumentiere Risikoeinschätzungen revisionssicher in agree.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7B7FA0"/>
                </a:solidFill>
                <a:latin typeface="Courier New"/>
              </a:rPr>
              <a:t>§ 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7B7FA0"/>
                </a:solidFill>
                <a:latin typeface="Courier New"/>
              </a:rPr>
              <a:t>13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109728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191D2E"/>
                </a:solidFill>
                <a:latin typeface="Georgia"/>
              </a:rPr>
              <a:t>Empfohlene Vertiefungsliteratur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159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Gleißner, W. (2022). Grundlagen des Risikomanagements (4. Aufl.). Vahlen. — Kap. 7: Kreditrisikomessung für KMU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Krystek, U. (1987). Unternehmungskrisen. Gabler. — Kap. 3: Krisenphasen-Modell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0" y="2540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2540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BaFin. (2023). MaRisk (Rundschreiben 05/2023). — BTO 1.2 und BTO 1.3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02400" y="3111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2400" y="3175000"/>
            <a:ext cx="406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2B56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400" y="3175000"/>
            <a:ext cx="44450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Deutsche Bundesbank. (2023). Unternehmensfinanzierung in Deutschland: Statistisches Handbuch. — Branchenkennzahlen KMU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2400" y="3746500"/>
            <a:ext cx="50800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254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04800"/>
            <a:ext cx="1158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 spc="100">
                <a:solidFill>
                  <a:srgbClr val="F8F8FA"/>
                </a:solidFill>
                <a:latin typeface="Courier New"/>
              </a:rPr>
              <a:t>QUELLENAPPARAT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350000"/>
            <a:ext cx="1158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06070"/>
                </a:solidFill>
                <a:latin typeface="Courier New"/>
              </a:rPr>
              <a:t>14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89000"/>
            <a:ext cx="508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spc="100">
                <a:solidFill>
                  <a:srgbClr val="7B7FA0"/>
                </a:solidFill>
                <a:latin typeface="Courier New"/>
              </a:rPr>
              <a:t>QUELLENAPPARAT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174750"/>
            <a:ext cx="109728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8F8FA"/>
                </a:solidFill>
                <a:latin typeface="Georgia"/>
              </a:rPr>
              <a:t>Quellen­apparat.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86000"/>
            <a:ext cx="10972800" cy="6350"/>
          </a:xfrm>
          <a:prstGeom prst="rect">
            <a:avLst/>
          </a:prstGeom>
          <a:solidFill>
            <a:srgbClr val="404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41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Altman, E. I. (1968). Financial ratios, discriminant analysis and the prediction of corporate bankruptcy. The Journal of Finance, 23(4), 589–609. https://doi.org/10.1111/j.1540-6261.1968.tb00843.x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21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Anderson, L. W. &amp; Krathwohl, D. R. (Hrsg.). (2001). A taxonomy for learning, teaching, and assessing: A revision of Bloom's educational objectives. Longman.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29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Barrows, H. S. (1986). A taxonomy of problem-based learning methods. Medical Education, 20(6), 481–486. https://doi.org/10.1111/j.1365-2923.1986.tb01386.x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37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Bundesanstalt für Finanzdienstleistungsaufsicht. (2023). Mindestanforderungen an das Risikomanagement (MaRisk) (Rundschreiben 05/2023 (BA)). BaFin.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45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Deutsche Bundesbank. (2023). Unternehmensfinanzierung in Deutschland: Ergebnisse der Unternehmensabschluss-Statistik. Deutsche Bundesbank.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95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Dreyfus, S. E. &amp; Dreyfus, H. L. (1980). A five-stage model of the mental activities involved in directed skill acquisition (ORC 80-2). University of California, Berkeley, Operations Research Center.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461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Gleißner, W. (2022). Grundlagen des Risikomanagements: Mit fundierten Informationen zu besseren Entscheidungen (4. Aufl.). Vahlen.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41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Kolb, D. A. (1984). Experiential learning: Experience as the source of learning and development. Prentice-Hall.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2921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Krystek, U. (1987). Unternehmungskrisen: Beschreibung, Vermeidung und Bewältigung überlebenskritischer Prozesse in Unternehmungen. Gabler.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429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Merton, R. C. (1974). On the pricing of corporate debt: The risk structure of interest rates. The Journal of Finance, 29(2), 449–470. https://doi.org/10.1111/j.1540-6261.1974.tb03058.x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3937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Sweller, J. (1988). Cognitive load during problem solving: Effects on learning. Cognitive Science, 12(2), 257–285. https://doi.org/10.1207/s15516709cog1202_4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445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Gesetz über den Stabilisierungs- und Restrukturierungsrahmen für Unternehmen (StaRUG) vom 22. Dezember 2020, BGBl. I S. 3256.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4953000"/>
            <a:ext cx="508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D8"/>
                </a:solidFill>
                <a:latin typeface="Courier New"/>
              </a:rPr>
              <a:t>Kreditwesengesetz (KWG) in der Fassung vom 9. September 1998, BGBl. I S. 2776. § 18 Kreditunterlagen.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08000"/>
            <a:ext cx="3175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6100"/>
            <a:ext cx="1158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7B7FA0"/>
                </a:solidFill>
                <a:latin typeface="Courier New"/>
              </a:rPr>
              <a:t>Ende · v1.2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5143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270500"/>
            <a:ext cx="5715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91D2E"/>
                </a:solidFill>
                <a:latin typeface="Georgia"/>
              </a:rPr>
              <a:t>Das vollständige Modul «Kreditrisikofrüherkennung» ist auf FKB Campus verfügbar — 4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5270500"/>
            <a:ext cx="2413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spc="10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0" y="54991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5270500"/>
            <a:ext cx="218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spc="10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499100"/>
            <a:ext cx="2184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91D2E"/>
                </a:solidFill>
                <a:latin typeface="Georgia"/>
              </a:rPr>
              <a:t>M04 · Berater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