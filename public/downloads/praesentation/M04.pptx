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M04  ·  v1.2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Kreditrisikofrüherkennung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Frühwarnsignale erkennen, bewerten und eskalieren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Drei Kreditrisikoarten (Ausfall-, Migrations-, Konzentrationsrisiko) benennen und praxisrelevante Beispiele nennen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Unterschied zwischen qualitativen und quantitativen Frühwarnindikatoren erklären und Signale zuordnen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Ampelcheckliste auf einen Fallstudienfall anwenden und Kunden in Risikoklasse klassifizieren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Kontokorrentbewegungen und Kennzahlenentwicklungen analysieren und geeigneten Eskalationspfad identifizieren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Kreditrisiko – Grundbegriffe und Bedeutung für den Berater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Kreditrisiko – Grundbegriffe und Bedeutung für den Berater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Kreditrisiko bezeichnet die Gefahr, dass ein Kreditnehmer seinen vertraglichen Zahlungsverpflichtungen nicht vollständig oder nicht fristgerecht nachkommt. Für Volksbanken — mit ei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Risikoart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Definition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Praxisbeispiel VR-Bank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Ausfallrisiko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Kreditnehmer kann Zins und Tilgung dauerhaft nicht leisten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Handwerksbetrieb stellt Insolvenzantrag nach Auftragswegbruch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Migrationsrisiko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Bonität verschlechtert sich ohne sofortigen Ausfall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Mittelständler rutscht von Rating B nach C — Risikogewicht steigt, EK-Bedarf der Bank erhöht sich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Konzentrationsrisiko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Übergewicht einzelner Branchen, Regionen oder Kreditnehmer im Portfolio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35 % Kreditvolumen in der Automobilzulieferer-Branche — systemisches Risiko bei Branchenkrise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vier Krisenphasen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Nicht jede rote Ampel hat dieselbe Dringlichkeit. Das Krisenphasen-Modell hilft einzuordnen, wie weit ein Unternehmen bereits in die Krise gerutscht ist: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Phase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Bezeichnung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 Signale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Ampel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Ihr Handlungsfenster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Potenzielle Krise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Umsatzstagnation, Marktanteilsverlust, Abhängigkeit von wenigen Kunden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Gelb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Präventiv ansprechen, Beratung anbieten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Latente Krise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Margenrückgang, EBIT sinkt, EK-Erosion, BWA angefordert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Gelb–Rot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Haupthandlungsfenster — engmaschige Betreuung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Akute/beherrschbar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KK dauerhaft ausgeschöpft, Zinsverzug, Rücklastschriften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 eskalieren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Insolvenz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Zahlungsunfähigkeit, Insolvenzantrag gestellt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 (Sofort)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Problemkreditabteilung übernimmt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Frühwarnindikatoren – Quantitativ und Qualitativ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Frühwarnindikatoren lassen sich in zwei komplementäre Kategorien einteilen: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Indikator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Formel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Grün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Gelb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EBITDA-Marge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 / Umsatz × 100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5–8 %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Leverage (NFK/EBITDA)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Netto-Finanzverbindlichkeiten / EBITDA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3,0–4,0x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 / Bilanzsumme × 100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20 %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10–20 %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10 %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KK-Inanspruchnahme (Ø)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Ø-Inanspruchnahme / Limit × 100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60 %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60–85 %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85 %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Jahresabschluss-Vorlage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Monate nach Geschäftsjahresende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6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6–9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9 / Verweigerung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Kategorie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Warnsignal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Bewertung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Transparenz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Verweigerung oder Verzögerung von Jahresabschluss/BWA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Gesprächsverhalten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Ausweichen bei direkten Fragen zu Umsatz/Liquidität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Management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Häufiger Wechsel in Geschäftsführung oder Steuerberatung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Mittel–Hoch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Verlust von Schlüsselkunden oder -lieferanten; Klumpenrisiko &gt; 30 %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Mittel–Hoch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Systematische KK-Überschreitungen, Lastschriftrückläufer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geregelte Nachfolgeregelung bei Inhabergesellschaften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Ampel-Checkliste: Gesamtbewertung Kreditrisiko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Die Ampel-Checkliste führt quantitative und qualitative Signale in einem Gesamturteil zusammen. Sie ist kein Ersatz für professionelles Urteil, sondern ein strukturierendes Werkzeu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60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7900"/>
                <a:gridCol w="977900"/>
                <a:gridCol w="977900"/>
                <a:gridCol w="977900"/>
                <a:gridCol w="977900"/>
                <a:gridCol w="9779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Nr.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Indikator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Grün (0)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Gelb (1)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Rot (2)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Punkte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EBITDA-Marge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5–8 %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Leverage NFK/EBITDA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3,0–4,0x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20 %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10–20 %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10 %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KK-Inanspruchnahme (Ø)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60 %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60–85 %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85 %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Jahresabschluss-Vorlage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6 Monate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6–9 Monate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9 Monate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QL1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Transparenz im Gespräch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Offen, kooperativ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Eingeschränkt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Verweigert / ausweichend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QL2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Gesprächsverhalten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Sachlich, direkt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Zögerlich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Aggressiv / ablenkend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QL3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Managementstabilität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Stabil, kompetent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Personenwechsel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Häufiger Wechsel / Vakanz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QL4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Marktposition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Stabil / wachsend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Stagnierend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Klare Verluste / Kundenabgang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QL5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Kontoverhalten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Unauffällig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Gelegentl. Überschreitung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Systematische Überschreitung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GESAMTPUNKTE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 / 20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Gesamtpunkte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Ampel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Nächster Schritt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0–5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Grün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Reguläre Jahresbetrachtung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6–10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Kundengespräch, Dokumentation, Meldung an Teamleiter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11–20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Sofortige Eskalation, Intensivbetreuung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Eskalationspfade – Wer handelt wann?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&gt; Dokumentation in agree: Jeder Gelb- oder Rot-Befund wird im Risikovermerk dokumentiert: Datum, Indikator, Bewertung, nächste Maßnahme, Verantwortlicher. Das ist Revisionspflicht.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Ampel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Verantwortung Berater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Eskalation an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Zeitrahmen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Grün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Reguläre Betreuung, Jahresabschluss einfordern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Jährlich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Kundengespräch führen, Checkliste in agree dokumentieren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Teamleiter informieren, Watchlist prüfen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Innerhalb 4 Wochen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Sofortige Meldung, keine eigenständigen Zusagen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Teamleiter + Marktfolge, ggf. Problemkreditabteilung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Innerhalb 48 Stunden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Praxiscase: Renner Metallverarbeitung GmbH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Unternehmensprofil: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990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Merkmal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Detail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Metallverarbeitung / Präzisionsteile für Maschinenbau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Mitarbeiter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38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Geschäftsführer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Klaus Renner, 62 Jahre, Alleingesellschafter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Kreditobligo VR-Bank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1,85 Mio. EUR (Investitionsdarlehen + KK-Linie 350.000 EUR)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Bankbeziehung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14 Jahre, bislang unauffällig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Hauptkunde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Norddeutscher Maschinenbauer, Umsatzanteil ca. 40 %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Nicht geregelt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 -2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 -1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Aktuell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5,8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6,0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6,2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580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480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310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EBITDA-Marge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Netto-Finanzverbindlichkeiten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980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1.200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1.670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Leverage (NFK/EBITDA)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1,7x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5,4x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28 %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22 %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KK-Inanspruchnahme (Ø)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52 %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91 %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 vorgelegt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März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April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Ausstehend (Oktober)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Bewertung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Punkte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EBITDA-Marge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Gelb (Grenzfall)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Leverage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5,4x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KK-Inanspruchnahme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91 %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JA-Vorlage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&gt;9 Monate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Transparenz (QL1)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Ausweichend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Gesprächsverhalten (QL2)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Einsilbig, ablenkend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Managementstabilität (QL3)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Nachfolge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Gelb–Rot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Transferaufgabe (4 Wochen nach Seminar)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Transferaufgabe (4 Wochen nach Seminar)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Wählen Sie 3 Firmenkunden aus Ihrem Portfolio (Kreditvolumen &gt; 250.000 EUR). Wenden Sie die Ampel-Checkliste auf jeden dieser Kunden an.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Kunde 1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Kunde 2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Kunde 3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 (keine Namen)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Ampel-Gesamtpunktzahl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Einstufung (Grün/Gelb/Rot)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Dominantes Warnsignal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Maßnahme eingeleitet?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 agree dokumentiert?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Teamleiter informiert?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Selbstcheck nach 4 Wochen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Skala: 4 = trifft voll zu, 1 = trifft nicht zu | 17–20 Punkte: Transfer gelungen · 12–16: Nacharbeit · &lt; 12: Modul wiederholen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4 – voll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3 – eher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2 – kaum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1 – nicht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die Ampel-Checkliste bei mind. 3 Kunden selbstständig angewendet.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kann quantitative und qualitative Signale klar voneinander abgrenzen.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weiß, wann ich an Teamleiter / Problemkreditabteilung eskaliere.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einen Gelb- oder Rot-Fall mit meiner Führungskraft besprochen.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dokumentiere Risikoeinschätzungen revisionssicher in agree.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Gleißner, W. (2022). Grundlagen des Risikomanagements (4. Aufl.). Vahlen. — Kap. 7: Kreditrisikomessung für KMU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Krystek, U. (1987). Unternehmungskrisen. Gabler. — Kap. 3: Krisenphasen-Modell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BaFin. (2023). MaRisk (Rundschreiben 05/2023). — BTO 1.2 und BTO 1.3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Deutsche Bundesbank. (2023). Unternehmensfinanzierung in Deutschland: Statistisches Handbuch. — Branchenkennzahlen KMU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«Kreditrisikofrüherkennung»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M04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