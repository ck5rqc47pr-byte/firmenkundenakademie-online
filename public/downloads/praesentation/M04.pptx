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3175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3048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M04  ·  v1.2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2794000"/>
            <a:ext cx="10972800" cy="2032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Kreditrisikofrüherkennung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4889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5016500"/>
            <a:ext cx="520700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4D5270"/>
                </a:solidFill>
                <a:latin typeface="Georgia"/>
              </a:rPr>
              <a:t>Frühwarnsignale erkennen, bewerten und eskalieren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2500" y="5016500"/>
            <a:ext cx="2540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ZIELSTUFE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2500" y="5207000"/>
            <a:ext cx="25400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Berater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90000" y="5016500"/>
            <a:ext cx="2667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DAUER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90000" y="5207000"/>
            <a:ext cx="26670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90 Min.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00 — LERNZIELE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3175000" cy="165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4800" b="0" i="1">
                <a:solidFill>
                  <a:srgbClr val="1F2B56"/>
                </a:solidFill>
                <a:latin typeface="Georgia"/>
              </a:rPr>
              <a:t>Inhalt.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064000" y="8890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4000" y="939799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53000" y="9525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Drei Kreditrisikoarten (Ausfall-, Migrations-, Konzentrationsrisiko) benennen und praxisrelevante Beispiele nennen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4000" y="15875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64000" y="1638300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53000" y="16510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Unterschied zwischen qualitativen und quantitativen Frühwarnindikatoren erklären und Signale zuordnen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64000" y="22860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64000" y="2336800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III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53000" y="23495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Ampelcheckliste auf einen Fallstudienfall anwenden und Kunden in Risikoklasse klassifizieren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64000" y="29845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64000" y="3035300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3000" y="30480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Kontokorrentbewegungen und Kennzahlenentwicklungen analysieren und geeigneten Eskalationspfad identifizieren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KRISEN KÜNDIGEN SICH 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Krisen kündigen sich 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Wer früh erkennt, kann handeln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 · KRISEN KÜNDIGEN SICH 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Vier Krisenphasen — vier Handlungsfenster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51150"/>
            <a:ext cx="10972800" cy="344805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Phase 1 – Strategiekrise: Geschäftsmodell verliert Stärke (oft unsichtbar)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Phase 2 – Erfolgskrise: Margen fallen, Ergebnis verschlechtert sich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Phase 3 – Liquiditätskrise: Kontokorrent dauerhaft ausgelastet, Zahlungsverzug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Phase 4 – Insolvenz: Handlungsfähigkeit verloren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Berater sehen Phase 3 — Ziel: Phase 1 und 2 erkennen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DIE SIGNALE LESEN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Die Signale lesen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Quantitativ + qualitativ = vollständiges Bild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II · DIE SIGNALE LESEN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06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Quantitative Frühwarnzeichen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51150"/>
            <a:ext cx="10972800" cy="344805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EK-Quote sinkt zwei Jahre in Folge unter Branchenschnitt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EBIT-Marge fällt unter 3 % (Maschinenbau: Alarm unter 4 %)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KDCG unter 1,10 — Schuldendienstdeckung wird eng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Kontokorrent dauerhaft &gt; 75 % ausgelastet (&gt; 80 %: kritisch)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Forderungslaufzeit steigt: Kunden zahlen langsamer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II · DIE SIGNALE LESEN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07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Qualitative Warnsignale — oft früher sichtbar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51150"/>
            <a:ext cx="10972800" cy="344805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Managementwechsel ohne klare Nachfolge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Unternehmer ist schwer erreichbar, weicht Fragen aus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Jahresabschluss wird später als üblich eingereicht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Lieferanten berichten von verzögerten Zahlungen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Beraterwechsel: Steuerberater oder Wirtschaftsprüfer wechselt plötzlich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II · DIE SIGNALE LESEN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08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Ampel-Bewertung: Drei Risikostufen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715000" y="920750"/>
          <a:ext cx="5867400" cy="1905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6850"/>
                <a:gridCol w="1466850"/>
                <a:gridCol w="1466850"/>
                <a:gridCol w="146685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Signal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Grün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Gelb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Rot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EK-Quote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30 %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20–30 %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&lt; 20 %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KDCG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1,30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1,10–1,30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&lt; 1,10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KK-Auslastung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&lt; 60 %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60–80 %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80 %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Jahresabschluss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Pünktlich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1–3 Monate verspätet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3 Monate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WER HANDELT WANN?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Wer handelt wann?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Eskalation ist kein Versagen — sondern Professionalität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III · WER HANDELT WANN?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Eskalationspfad — drei Stufen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51150"/>
            <a:ext cx="10972800" cy="344805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Stufe 1 (gelb): Intensivierung der Betreuung, Gesprächstermin vereinbaren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Stufe 2 (rot): Intensivbetreuung, Rating-Update, Kreditausschuss informieren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Stufe 3 (kritisch): Sanierungsabteilung einschalten, § 18 KWG-Dokumentation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Grundregel: Früh ansprechen schützt Kunden UND Bank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445000" cy="6858000"/>
          </a:xfrm>
          <a:prstGeom prst="rect">
            <a:avLst/>
          </a:prstGeom>
          <a:solidFill>
            <a:srgbClr val="C8A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25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381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508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35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762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889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1016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1143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1270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139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152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1651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1778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1905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2032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2159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2286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2413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2540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266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279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2921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3048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3175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3302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3429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3556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3683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3810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393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406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4190999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4318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4445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4572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4699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0" y="4826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0" y="4953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0" y="5080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0" y="520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0" y="533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0" y="5461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0" y="5588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0" y="5715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0" y="5842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0" y="5969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096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0" y="6223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0" y="6350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0" y="647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0" y="660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0" y="6731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52400" y="6477000"/>
            <a:ext cx="4190999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3A2A0A"/>
                </a:solidFill>
                <a:latin typeface="Courier New"/>
              </a:rPr>
              <a:t>Praxisfall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III · WER HANDELT WANN?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26000" y="1016000"/>
            <a:ext cx="6731000" cy="203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Praxisfall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826000" y="1244600"/>
            <a:ext cx="6731000" cy="165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Renner Metallverarbeitung GmbH — Krisenerkennung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26000" y="2984500"/>
            <a:ext cx="6731000" cy="3429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Zulieferer, 45 MA, bisher unauffälliger Kunde. Jahresabschluss kommt drei Monate zu spät. Kontokorrent bei 87 %. GF erklärt alles mit 'Sondereffekten'. Ihre Aufgabe: Ampel-Checkliste anwenden und Eskalationsstufe bestimmen.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III · WER HANDELT WANN?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Ihr Auftrag: Risikocheck im eigenen Bestand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51150"/>
            <a:ext cx="10972800" cy="344805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Drei Kunden mit KK-Auslastung &gt; 75 % identifizieren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Ampel-Checkliste auf jeden anwenden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Mindestens einen Gesprächstermin vereinbaren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Ergebnis mit Teamleiter besprechen und dokumentieren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QUELLENAPPARAT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63600"/>
            <a:ext cx="5080000" cy="203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A0AACC"/>
                </a:solidFill>
                <a:latin typeface="Courier New"/>
              </a:rPr>
              <a:t>Quellenapparat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27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F8F8FA"/>
                </a:solidFill>
                <a:latin typeface="Georgia"/>
              </a:rPr>
              <a:t>Quellen.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254250"/>
            <a:ext cx="10972800" cy="6350"/>
          </a:xfrm>
          <a:prstGeom prst="rect">
            <a:avLst/>
          </a:prstGeom>
          <a:solidFill>
            <a:srgbClr val="3A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317750"/>
            <a:ext cx="52070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Altman, E. I. (1968). Financial ratios, discriminant analysis and the prediction of corporate bankruptcy. The Journal of Finance, 23(4),…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2800350"/>
            <a:ext cx="52070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Anderson, L. W. &amp; Krathwohl, D. R. (Hrsg.). (2001). A taxonomy for learning, teaching, and assessing: A revision of Bloom's educational…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3282950"/>
            <a:ext cx="52070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Barrows, H. S. (1986). A taxonomy of problem-based learning methods. Medical Education, 20(6), 481–486.…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765550"/>
            <a:ext cx="52070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Bundesanstalt für Finanzdienstleistungsaufsicht. (2023). Mindestanforderungen an das Risikomanagement (MaRisk) (Rundschreiben 05/2023…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4248150"/>
            <a:ext cx="52070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Deutsche Bundesbank. (2023). Unternehmensfinanzierung in Deutschland: Ergebnisse der Unternehmensabschluss-Statistik. Deutsche Bundesbank.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4730750"/>
            <a:ext cx="52070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Dreyfus, S. E. &amp; Dreyfus, H. L. (1980). A five-stage model of the mental activities involved in directed skill acquisition (ORC 80-2).…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5213350"/>
            <a:ext cx="52070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Gleißner, W. (2022). Grundlagen des Risikomanagements: Mit fundierten Informationen zu besseren Entscheidungen (4. Aufl.). Vahlen.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5695950"/>
            <a:ext cx="52070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Kirkpatrick, D. L. (1994). Evaluating training programs: The four levels. Berrett-Koehler.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0" y="2317750"/>
            <a:ext cx="52324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Kolb, D. A. (1984). Experiential learning: Experience as the source of learning and development. Prentice-Hall.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0" y="2800350"/>
            <a:ext cx="52324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Krystek, U. (1987). Unternehmungskrisen: Beschreibung, Vermeidung und Bewältigung überlebenskritischer Prozesse in Unternehmungen. Gabler.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6000" y="3282950"/>
            <a:ext cx="52324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Merton, R. C. (1974). On the pricing of corporate debt: The risk structure of interest rates. The Journal of Finance, 29(2), 449–470.…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0" y="3765550"/>
            <a:ext cx="52324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Sweller, J. (1988). Cognitive load during problem solving: Effects on learning. Cognitive Science, 12(2), 257–285.…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0" y="4248150"/>
            <a:ext cx="52324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Gesetz über den Stabilisierungs- und Restrukturierungsrahmen für Unternehmen (StaRUG) vom 22. Dezember 2020, BGBl. I S. 3256.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0" y="4730750"/>
            <a:ext cx="52324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Kreditwesengesetz (KWG) in der Fassung vom 9. September 1998, BGBl. I S. 2776. § 18 Kreditunterlagen.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0" y="5213350"/>
            <a:ext cx="52324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Verordnung (EU) Nr. 575/2013 (Capital Requirements Regulation, CRR), Art. 81 ff. Großkredite.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457200"/>
            <a:ext cx="3175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4572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Ende · v1.2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143000"/>
            <a:ext cx="10972800" cy="355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600" b="0" i="0">
                <a:solidFill>
                  <a:srgbClr val="191D2E"/>
                </a:solidFill>
                <a:latin typeface="Georgia"/>
              </a:rPr>
              <a:t>Danke.
Fragen?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482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4953000"/>
            <a:ext cx="571500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191D2E"/>
                </a:solidFill>
                <a:latin typeface="Georgia"/>
              </a:rPr>
              <a:t>Modul «Kreditrisikofrüherkennung» auf FKB Campus — 4 Lernziele, Praxisfall und Quellenapparat.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4953000"/>
            <a:ext cx="2413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Trainer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31000" y="5156200"/>
            <a:ext cx="2413000" cy="38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[Name · Kontakt]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8000" y="4953000"/>
            <a:ext cx="21844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Modul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98000" y="5156200"/>
            <a:ext cx="2184400" cy="38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M04 · Berater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