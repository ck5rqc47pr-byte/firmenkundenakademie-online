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DA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32004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BCCEE"/>
                </a:solidFill>
                <a:latin typeface="Arial"/>
              </a:rPr>
              <a:t>M04  ·  K-01 Finanzanalyse &amp; Kreditexpertise  ·  Zielstufe: Berater  ·  90 Min.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804672"/>
            <a:ext cx="8229600" cy="22860"/>
          </a:xfrm>
          <a:prstGeom prst="rect">
            <a:avLst/>
          </a:prstGeom>
          <a:solidFill>
            <a:srgbClr val="335C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05840"/>
            <a:ext cx="114300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Arial"/>
              </a:rPr>
              <a:t>Kreditrisikofrüherkennung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38328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1">
                <a:solidFill>
                  <a:srgbClr val="CCD6F0"/>
                </a:solidFill>
                <a:latin typeface="Arial"/>
              </a:rPr>
              <a:t>Frühwarnsignale erkennen, bewerten und eskalieren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30936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89ACC"/>
                </a:solidFill>
                <a:latin typeface="Arial"/>
              </a:rPr>
              <a:t>Trainer-Präsentation  ·  v1.2  ·  Benedikt Zoller Coaching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28600" y="804672"/>
            <a:ext cx="11612880" cy="22860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320040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3DA5"/>
                </a:solidFill>
                <a:latin typeface="Arial"/>
              </a:rPr>
              <a:t>LERNZIELE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029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Arial"/>
              </a:rPr>
              <a:t>Was Sie nach diesem Modul können.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234440"/>
            <a:ext cx="114300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Drei Kreditrisikoarten (Ausfall-, Migrations-, Konzentrationsrisiko) benennen und praxisrelevante Beispiele nennen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Unterschied zwischen qualitativen und quantitativen Frühwarnindikatoren erklären und Signale zuordnen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Ampelcheckliste auf einen Fallstudienfall anwenden und Kunden in Risikoklasse klassifizieren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Kontokorrentbewegungen und Kennzahlenentwicklungen analysieren und geeigneten Eskalationspfad identifizieren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011680"/>
            <a:ext cx="11430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Arial"/>
              </a:rPr>
              <a:t>Kreditrisiko – Grundbegriffe und Bedeutung für den Berater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18288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56575"/>
                </a:solidFill>
                <a:latin typeface="Arial"/>
              </a:rPr>
              <a:t>M04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27432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3DA5"/>
                </a:solidFill>
                <a:latin typeface="Arial"/>
              </a:rPr>
              <a:t>Kreditrisiko – Grundbegriffe und Bedeutung für den Berater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05840"/>
            <a:ext cx="11430000" cy="27432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143000"/>
          <a:ext cx="1143000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10000"/>
                <a:gridCol w="3810000"/>
                <a:gridCol w="3810000"/>
              </a:tblGrid>
              <a:tr h="47548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Risikoart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Definition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Praxisbeispiel VR-Bank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Ausfallrisiko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Kreditnehmer kann Zins und Tilgung dauerhaft nicht leisten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Handwerksbetrieb stellt Insolvenzantrag nach Auftragswegbruch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Migrationsrisiko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Bonität verschlechtert sich ohne sofortigen Ausfall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Mittelständler rutscht von Rating B nach C — Risikogewicht steigt, EK-Bedarf der Bank erhöht sich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Konzentrationsrisiko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Übergewicht einzelner Branchen, Regionen oder Kreditnehmer im Portfolio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35 % Kreditvolumen in der Automobilzulieferer-Branche — systemisches Risiko bei Branchenkrise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011680"/>
            <a:ext cx="11430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Arial"/>
              </a:rPr>
              <a:t>Die vier Krisenphasen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18288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56575"/>
                </a:solidFill>
                <a:latin typeface="Arial"/>
              </a:rPr>
              <a:t>M04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27432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3DA5"/>
                </a:solidFill>
                <a:latin typeface="Arial"/>
              </a:rPr>
              <a:t>Die vier Krisenphasen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05840"/>
            <a:ext cx="11430000" cy="27432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143000"/>
          <a:ext cx="114300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286000"/>
                <a:gridCol w="2286000"/>
                <a:gridCol w="2286000"/>
                <a:gridCol w="2286000"/>
              </a:tblGrid>
              <a:tr h="47548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Phase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Bezeichnung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Typische Signale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Ampel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Ihr Handlungsfenster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Potenzielle Krise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Umsatzstagnation, Marktanteilsverlust, Abhängigkeit von wenigen Kunden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Gelb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Präventiv ansprechen, Beratung anbieten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Latente Krise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Margenrückgang, EBIT sinkt, EK-Erosion, BWA angefordert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Gelb–Rot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Haupthandlungsfenster — engmaschige Betreuung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Akute/beherrschbar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KK dauerhaft ausgeschöpft, Zinsverzug, Rücklastschriften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Rot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Sofort eskalieren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Insolvenz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Zahlungsunfähigkeit, Insolvenzantrag gestellt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Rot (Sofort)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Problemkreditabteilung übernimmt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011680"/>
            <a:ext cx="11430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Arial"/>
              </a:rPr>
              <a:t>Frühwarnindikatoren – Quantitativ und Qualitativ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18288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56575"/>
                </a:solidFill>
                <a:latin typeface="Arial"/>
              </a:rPr>
              <a:t>M04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27432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3DA5"/>
                </a:solidFill>
                <a:latin typeface="Arial"/>
              </a:rPr>
              <a:t>Frühwarnindikatoren – Quantitativ und Qualitativ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05840"/>
            <a:ext cx="11430000" cy="27432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143000"/>
          <a:ext cx="1143000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286000"/>
                <a:gridCol w="2286000"/>
                <a:gridCol w="2286000"/>
                <a:gridCol w="2286000"/>
              </a:tblGrid>
              <a:tr h="386861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Indikator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Formel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Grün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Gelb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Rot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</a:tr>
              <a:tr h="386861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EBITDA-Marge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EBITDA / Umsatz × 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&gt; 8 %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5–8 %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&lt; 5 %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6861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Leverage (NFK/EBITDA)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Netto-Finanzverbindlichkeiten / EBITDA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&lt; 3,0x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3,0–4,0x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&gt; 4,0x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386861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Eigenkapitalquote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EK / Bilanzsumme × 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&gt; 20 %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10–20 %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&lt; 10 %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6861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KK-Inanspruchnahme (Ø)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Ø-Inanspruchnahme / Limit × 100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&lt; 60 %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60–85 %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&gt; 85 %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386861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Jahresabschluss-Vorlage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Monate nach Geschäftsjahresende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&lt; 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6–9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&gt; 9 / Verweigerung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6861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Kategorie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Warnsignal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Bewertung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386861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Transparenz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Verweigerung oder Verzögerung von Jahresabschluss/BWA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Hoch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6861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Gesprächsverhalten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Ausweichen bei direkten Fragen zu Umsatz/Liquidität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Hoch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386861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Management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Häufiger Wechsel in Geschäftsführung oder Steuerberatung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Mittel–Hoch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6861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Markt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Verlust von Schlüsselkunden oder -lieferanten; Klumpenrisiko &gt; 30 %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Mittel–Hoch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386861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Konto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Systematische KK-Überschreitungen, Lastschriftrückläufer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Hoch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686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Nachfolge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Keine geregelte Nachfolgeregelung bei Inhabergesellschaften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Mittel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011680"/>
            <a:ext cx="11430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Arial"/>
              </a:rPr>
              <a:t>Ampel-Checkliste: Gesamtbewertung Kreditrisiko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18288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56575"/>
                </a:solidFill>
                <a:latin typeface="Arial"/>
              </a:rPr>
              <a:t>M04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27432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3DA5"/>
                </a:solidFill>
                <a:latin typeface="Arial"/>
              </a:rPr>
              <a:t>Ampel-Checkliste: Gesamtbewertung Kreditrisiko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05840"/>
            <a:ext cx="11430000" cy="27432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143000"/>
          <a:ext cx="1143000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05000"/>
                <a:gridCol w="1905000"/>
                <a:gridCol w="1905000"/>
                <a:gridCol w="1905000"/>
                <a:gridCol w="1905000"/>
                <a:gridCol w="1905000"/>
              </a:tblGrid>
              <a:tr h="31432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Nr.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Indikator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Grün (0)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Gelb (1)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Rot (2)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Punkte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</a:tr>
              <a:tr h="3143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Q1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EBITDA-Marge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&gt; 8 %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5–8 %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&lt; 5 %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______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43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Q2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Leverage NFK/EBITDA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&lt; 3,0x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3,0–4,0x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&gt; 4,0x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______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3143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Q3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Eigenkapitalquote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&gt; 20 %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10–20 %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&lt; 10 %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______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43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Q4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KK-Inanspruchnahme (Ø)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&lt; 60 %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60–85 %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&gt; 85 %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______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3143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Q5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Jahresabschluss-Vorlage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&lt; 6 Monate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6–9 Monate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&gt; 9 Monate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______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43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QL1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Transparenz im Gespräch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Offen, kooperativ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Eingeschränkt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Verweigert / ausweichend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______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3143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QL2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Gesprächsverhalten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Sachlich, direkt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Zögerlich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Aggressiv / ablenkend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______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43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QL3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Managementstabilität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Stabil, kompetent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Personenwechsel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Häufiger Wechsel / Vakanz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______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3143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QL4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Marktposition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Stabil / wachsend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Stagnierend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Klare Verluste / Kundenabgang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______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43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QL5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Kontoverhalten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Unauffällig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Gelegentl. Überschreitung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Systematische Überschreitung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______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3143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GESAMTPUNKTE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______ / 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43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Gesamtpunkte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Ampel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Nächster Schritt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3143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0–5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Grün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Reguläre Jahresbetrachtung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43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6–10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Gelb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Kundengespräch, Dokumentation, Meldung an Teamleiter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3143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11–20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Rot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Sofortige Eskalation, Intensivbetreuung prüfen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011680"/>
            <a:ext cx="11430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Arial"/>
              </a:rPr>
              <a:t>Eskalationspfade – Wer handelt wann?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18288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56575"/>
                </a:solidFill>
                <a:latin typeface="Arial"/>
              </a:rPr>
              <a:t>M04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27432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3DA5"/>
                </a:solidFill>
                <a:latin typeface="Arial"/>
              </a:rPr>
              <a:t>Eskalationspfade – Wer handelt wann?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05840"/>
            <a:ext cx="11430000" cy="27432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143000"/>
          <a:ext cx="1143000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7500"/>
                <a:gridCol w="2857500"/>
                <a:gridCol w="2857500"/>
                <a:gridCol w="2857500"/>
              </a:tblGrid>
              <a:tr h="47548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Ampel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Verantwortung Berater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Eskalation an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Zeitrahmen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Grün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Reguläre Betreuung, Jahresabschluss einfordern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Keine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Jährlich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Gelb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Kundengespräch führen, Checkliste in agree dokumentieren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Teamleiter informieren, Watchlist prüfen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Innerhalb 4 Wochen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Rot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Sofortige Meldung, keine eigenständigen Zusagen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Teamleiter + Marktfolge, ggf. Problemkreditabteilung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Innerhalb 48 Stunden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011680"/>
            <a:ext cx="11430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Arial"/>
              </a:rPr>
              <a:t>Praxiscase: Renner Metallverarbeitung GmbH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DA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347472"/>
            <a:ext cx="7315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CD6F0"/>
                </a:solidFill>
                <a:latin typeface="Arial"/>
              </a:rPr>
              <a:t>PRAXISTRANSFER &amp; NÄCHSTE SCHRITTE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804672"/>
            <a:ext cx="8229600" cy="22860"/>
          </a:xfrm>
          <a:prstGeom prst="rect">
            <a:avLst/>
          </a:prstGeom>
          <a:solidFill>
            <a:srgbClr val="335C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601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Arial"/>
              </a:rPr>
              <a:t>Was nehmen Sie mit?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103120"/>
            <a:ext cx="11430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600">
                <a:solidFill>
                  <a:srgbClr val="E05B00"/>
                </a:solidFill>
                <a:latin typeface="Arial"/>
              </a:rPr>
              <a:t>▪  </a:t>
            </a:r>
            <a:r>
              <a:rPr sz="1800">
                <a:solidFill>
                  <a:srgbClr val="FFFFFF"/>
                </a:solidFill>
                <a:latin typeface="Arial"/>
              </a:rPr>
              <a:t>Transferaufgabe: Wenden Sie das Gelernte in den nächsten 14 Tagen bei einem konkreten Kunden an.</a:t>
            </a:r>
          </a:p>
          <a:p>
            <a:pPr>
              <a:spcBef>
                <a:spcPts val="500"/>
              </a:spcBef>
            </a:pPr>
            <a:r>
              <a:rPr sz="1600">
                <a:solidFill>
                  <a:srgbClr val="E05B00"/>
                </a:solidFill>
                <a:latin typeface="Arial"/>
              </a:rPr>
              <a:t>▪  </a:t>
            </a:r>
            <a:r>
              <a:rPr sz="1800">
                <a:solidFill>
                  <a:srgbClr val="FFFFFF"/>
                </a:solidFill>
                <a:latin typeface="Arial"/>
              </a:rPr>
              <a:t>Selbstcheck nach 4 Wochen: Bewerten Sie Ihre Fortschritte ehrlich.</a:t>
            </a:r>
          </a:p>
          <a:p>
            <a:pPr>
              <a:spcBef>
                <a:spcPts val="500"/>
              </a:spcBef>
            </a:pPr>
            <a:r>
              <a:rPr sz="1600">
                <a:solidFill>
                  <a:srgbClr val="E05B00"/>
                </a:solidFill>
                <a:latin typeface="Arial"/>
              </a:rPr>
              <a:t>▪  </a:t>
            </a:r>
            <a:r>
              <a:rPr sz="1800">
                <a:solidFill>
                  <a:srgbClr val="FFFFFF"/>
                </a:solidFill>
                <a:latin typeface="Arial"/>
              </a:rPr>
              <a:t>Nächste Module: M02, M21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30936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89ACC"/>
                </a:solidFill>
                <a:latin typeface="Arial"/>
              </a:rPr>
              <a:t>M04 · Kreditrisikofrüherkennung  ·  v1.2  ·  Benedikt Zoller Coaching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