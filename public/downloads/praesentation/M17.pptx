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3175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M17  ·  v0.4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3048000"/>
            <a:ext cx="10972800" cy="215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600" b="0" i="0">
                <a:solidFill>
                  <a:srgbClr val="191D2E"/>
                </a:solidFill>
                <a:latin typeface="Georgia"/>
              </a:rPr>
              <a:t>agree &amp; Co. effizient nutzen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5334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5461000"/>
            <a:ext cx="5207000" cy="88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1">
                <a:solidFill>
                  <a:srgbClr val="4D5270"/>
                </a:solidFill>
                <a:latin typeface="Georgia"/>
              </a:rPr>
              <a:t>Digitale Workflows im Firmenkundenalltag meistern und Zeitpotenziale durch konsequente Systemnutzung erschließen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2500" y="5461000"/>
            <a:ext cx="228600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spc="100">
                <a:solidFill>
                  <a:srgbClr val="7B7FA0"/>
                </a:solidFill>
                <a:latin typeface="Courier New"/>
              </a:rPr>
              <a:t>ZIELSTUFE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2500" y="5664200"/>
            <a:ext cx="22860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Berater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63000" y="5461000"/>
            <a:ext cx="254000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spc="100">
                <a:solidFill>
                  <a:srgbClr val="7B7FA0"/>
                </a:solidFill>
                <a:latin typeface="Courier New"/>
              </a:rPr>
              <a:t>DAUER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63000" y="5664200"/>
            <a:ext cx="25400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90 Min.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00 — LERNZIELE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350000"/>
            <a:ext cx="508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B7FA0"/>
                </a:solidFill>
                <a:latin typeface="Courier New"/>
              </a:rPr>
              <a:t>v0.4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02 / 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270000"/>
            <a:ext cx="36830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0" b="0" i="1">
                <a:solidFill>
                  <a:srgbClr val="1F2B56"/>
                </a:solidFill>
                <a:latin typeface="Georgia"/>
              </a:rPr>
              <a:t>Inhalt.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1333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0" y="1333500"/>
            <a:ext cx="70104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384300"/>
            <a:ext cx="5715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0" i="1">
                <a:solidFill>
                  <a:srgbClr val="1F2B56"/>
                </a:solidFill>
                <a:latin typeface="Georgia"/>
              </a:rPr>
              <a:t>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70500" y="1409700"/>
            <a:ext cx="62230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Die fünf zentralen Funktionsbereiche von agree für Firmenkundenberater beschreiben und typische Aufgaben zuordnen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2095499"/>
            <a:ext cx="70104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2146300"/>
            <a:ext cx="5715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0" i="1">
                <a:solidFill>
                  <a:srgbClr val="1F2B56"/>
                </a:solidFill>
                <a:latin typeface="Georgia"/>
              </a:rPr>
              <a:t>II.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70500" y="2171700"/>
            <a:ext cx="62230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Die digitale Gesprächsvorbereitung für ein Jahresgespräch vollständig in agree durchführen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2857500"/>
            <a:ext cx="70104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2908300"/>
            <a:ext cx="5715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0" i="1">
                <a:solidFill>
                  <a:srgbClr val="1F2B56"/>
                </a:solidFill>
                <a:latin typeface="Georgia"/>
              </a:rPr>
              <a:t>III.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70500" y="2933700"/>
            <a:ext cx="62230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Den UnternehmerDialog als strukturierten Gesprächsleitfaden nutzen und Bedarfe sowie Folgeaktivitäten unmittelbar dokumentieren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0" y="3619500"/>
            <a:ext cx="70104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0" y="3670300"/>
            <a:ext cx="5715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0" i="1">
                <a:solidFill>
                  <a:srgbClr val="1F2B56"/>
                </a:solidFill>
                <a:latin typeface="Georgia"/>
              </a:rPr>
              <a:t>IV.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70500" y="3695700"/>
            <a:ext cx="62230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Einen NMZ-Bestandsbericht und einen Frühwarnbericht aus agree erzeugen und die wichtigsten Kennzahlen interpretieren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0" y="4381500"/>
            <a:ext cx="70104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4432300"/>
            <a:ext cx="5715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0" i="1">
                <a:solidFill>
                  <a:srgbClr val="1F2B56"/>
                </a:solidFill>
                <a:latin typeface="Georgia"/>
              </a:rPr>
              <a:t>V.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70500" y="4457700"/>
            <a:ext cx="62230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Den eigenen agree-Workflow analysieren und mindestens zwei Zeitfresser mit konkreten agree-Systemfunktionen identifizieren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03 / 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MODULINHALTE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Modulinhalte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0" y="5524500"/>
            <a:ext cx="4597400" cy="63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 i="1">
                <a:solidFill>
                  <a:srgbClr val="7B7FA0"/>
                </a:solidFill>
                <a:latin typeface="Georgia"/>
              </a:rPr>
              <a:t>Die häufigsten agree-Fehler im Firmenkundenalltag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04 / 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016000"/>
            <a:ext cx="4953000" cy="20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Die häufigsten agree-Fehler im Firmenkundenalltag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175000"/>
            <a:ext cx="49530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4D5270"/>
                </a:solidFill>
                <a:latin typeface="Georgia"/>
              </a:rPr>
              <a:t>Branchenbeobachtungen zufolge verbringen Firmenkundenberater bis zu 35–40 % ihrer Zeit mit administrativen Tätigkeiten, die mit konsequenter Systemnutzung erheblich reduziert werden könnten (vgl. Rola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96000" y="1016000"/>
          <a:ext cx="6502400" cy="2667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7466"/>
                <a:gridCol w="2167466"/>
                <a:gridCol w="2167468"/>
              </a:tblGrid>
              <a:tr h="4445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Fehler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Folge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Lösung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Gesprächsergebnisse in E-Mail statt agree dokumentieren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Kollege/Nachfolger hat keinen Zugriff; keine Revisionshistorie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UnternehmerDialog-Protokoll direkt im System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Kreditfälligkeiten manuell in Outlook tracken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Fristversäumnisse, Doppelarbeit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agree Prolongationsübersicht + Aufgabenmanagement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NMZ nicht regelmäßig abrufen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Schwache Kunden werden spät erkannt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Monatliche NMZ-Routine (→ M16)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Verbundpartner-Status nicht regelmäßig lesen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Cross-Selling-Potenziale werden übersehen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Verbundpartner-Cockpit wöchentlich lesen (nicht: selbst befüllen – das macht der Verbundpartner nach Abschluss)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Eigene Excel-Kundenliste parallel zu agree führen (Kundenstamm)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Doppelpflege, Fehlerquelle, DSGVO-Risiko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agree als Single Source of Truth für Kundendaten; Excel für eigene Auswertungen ist ok, wenn agree keine flexible Filterung bietet – dann agree-Admin ansprechen (Zusatzmodule: agree-Analytics, Power BI-Schnittstelle)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4.2 EFFIZIENTER GESPRÄCHSWORKFLOW: VOR – WÄHREND – NACH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05 / 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4.2 EFFIZIENTER GESPRÄCHSWORKFLOW: VOR – WÄHREND – NACH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4.2 Effizienter Gesprächsworkflow: Vor – Während – Nach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0" y="5524500"/>
            <a:ext cx="4597400" cy="63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 i="1">
                <a:solidFill>
                  <a:srgbClr val="7B7FA0"/>
                </a:solidFill>
                <a:latin typeface="Georgia"/>
              </a:rPr>
              <a:t>Phase 1: Vorbereitung (15–20 Minuten statt 45–60 Minuten)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II · 4.2 EFFIZIENTER GESPRÄCHSWORKFLOW: VOR – WÄHREND – NACH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06 / 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016000"/>
            <a:ext cx="4953000" cy="20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Phase 1: Vorbereitung (15–20 Minuten statt 45–60 Minuten)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175000"/>
            <a:ext cx="49530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4D5270"/>
                </a:solidFill>
                <a:latin typeface="Georgia"/>
              </a:rPr>
              <a:t>agree-Checkliste Jahresgespräch: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96000" y="1016000"/>
          <a:ext cx="6502400" cy="355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7466"/>
                <a:gridCol w="2167466"/>
                <a:gridCol w="2167468"/>
              </a:tblGrid>
              <a:tr h="4445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Schritt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Wo in agree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Zeitbedarf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Kundenprofil öffnen – letzte Notizen/Protokolle lesen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CRM → Kundenprofil → Aktivitäten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3 Min.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Kreditengagements: Volumen, Fälligkeiten, Auslastung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Kreditbearbeitung → Engagementübersicht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3 Min.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NMZ und DB-Komponenten prüfen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Controlling → Kundenprofitabilität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2 Min.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Verbundpartner-Cockpit: Welche Verbundprodukte? Was fehlt?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Firmenkunden → Verbund → Cockpit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3 Min.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ZV-Analyse: Vollständig? Auslands-ZV?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Zahlungsverkehr → Umsatzstruktur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2 Min.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UnternehmerDialog öffnen und Cross-Selling-Hypothesen notieren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UnternehmerDialog → Vorbereitung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5 Min.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Gesamt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~18 Min.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II · 4.2 EFFIZIENTER GESPRÄCHSWORKFLOW: VOR – WÄHREND – NACH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07 / 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Phase 2: Während des Gesprächs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Kein separates Notizheft – direkt in agree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Vereinbarungen sofort als Aktivität/Aufgabe anlegen (mit Datum und Verantwortlichkeit)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70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000" y="368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Bedarfe in den dafür vorgesehenen Bedarfsfeldern des UnternehmerDialogs erfassen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II · 4.2 EFFIZIENTER GESPRÄCHSWORKFLOW: VOR – WÄHREND – NACH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08 / 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016000"/>
            <a:ext cx="4953000" cy="20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Phase 3: Nachbereitung (10 Minuten statt 30 Minuten)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175000"/>
            <a:ext cx="49530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4D5270"/>
                </a:solidFill>
                <a:latin typeface="Georgia"/>
              </a:rPr>
              <a:t>&gt; Verbundpartner-Übergabe – bankindividuell: Ob die Verbund-Übergabefunktion in agree bei Ihrer Bank aktiviert ist, klären Sie mit Ihrem Verbundpartner-Koordinator. Alternativ: Übergabe per definierte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96000" y="1016000"/>
          <a:ext cx="6502400" cy="2667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7466"/>
                <a:gridCol w="2167466"/>
                <a:gridCol w="2167468"/>
              </a:tblGrid>
              <a:tr h="4445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Schritt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agree-Funktion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Zeitbedarf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Protokoll abschließen und freigeben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UnternehmerDialog → Protokoll finalisieren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3 Min.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Offene Aktivitäten und Termine bestätigen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CRM → Aufgabenverwaltung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2 Min.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Verbundpartner-Übergaben anlegen (falls relevant)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Verbund → Übergabeauftrag (oder bankspezifischer Prozess – s. Hinweis unten)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3 Min.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Frühwarnstatus prüfen (Hinweise aus Gespräch)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Frühwarnung → Bewertung aktualisieren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2 Min.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Gesamt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~10 Min.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4.3 UNTERNEHMERDIALOG: MEHR ALS EIN FORMULAR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09 / 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III.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4.3 UNTERNEHMERDIALOG: MEHR ALS EIN FORMULAR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4.3 UnternehmerDialog: Mehr als ein Formular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0" y="5524500"/>
            <a:ext cx="4597400" cy="63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 i="1">
                <a:solidFill>
                  <a:srgbClr val="7B7FA0"/>
                </a:solidFill>
                <a:latin typeface="Georgia"/>
              </a:rPr>
              <a:t>Die Bedarfsdimensionen im UnternehmerDialog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III · 4.3 UNTERNEHMERDIALOG: MEHR ALS EIN FORMULAR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10 / 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016000"/>
            <a:ext cx="4953000" cy="20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Die Bedarfsdimensionen im UnternehmerDialog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175000"/>
            <a:ext cx="49530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4D5270"/>
                </a:solidFill>
                <a:latin typeface="Georgia"/>
              </a:rPr>
              <a:t>(Bezeichnungen entsprechen der agree-Standardstruktur; in Ihrer Bankinstallation können einzelne Felder abweichend benannt sein)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96000" y="1016000"/>
          <a:ext cx="6502400" cy="355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7466"/>
                <a:gridCol w="2167466"/>
                <a:gridCol w="2167468"/>
              </a:tblGrid>
              <a:tr h="4445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Dimension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Typische Fragefelder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Verbundrelevanz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Liquidität &amp; Finanzierung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Investitionsplanung, Fördermittel, Liquiditätsreserve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Langfristfinanzierung, KfW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Unternehmen absichern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Betriebsunterbrechung, Schlüsselperson, D&amp;O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R+V Versicherung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Kapitalanlage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Betriebliche Rücklagen, Altersvorsorge Gesellschafter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Union Investment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Zahlungsverkehr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Inlands-ZV, Auslands-ZV, Kartenzahlung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DZ BANK, VR-NetWorld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Nachfolge &amp; Unternehmertum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Nachfolgeplanung, Testamentsvollstreckung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Schwäbisch Hall, Notare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Mitarbeiter &amp; Personalwesen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bAV (Direktversicherung, Pensionszusage), Gruppenunfallversicherung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R+V (versicherungsgebunden), Union Investment (fondsgebunden)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Privat &amp; Familie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Eigenheim Gesellschafter, private Altersvorsorge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Schwäbisch Hall, R+V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III · 4.3 UNTERNEHMERDIALOG: MEHR ALS EIN FORMULAR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11 / 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400" b="0" i="0">
                <a:solidFill>
                  <a:srgbClr val="191D2E"/>
                </a:solidFill>
                <a:latin typeface="Georgia"/>
              </a:rPr>
              <a:t>Dokumentationsstandards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159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540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7600" y="2540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Datum, Teilnehmer, Gesprächsanlass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3111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9600" y="3175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7600" y="3175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Besprochene Bedarfsdimensionen mit Ergebnis (Bedarf vorhanden / kein Bedarf / offen)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3746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02400" y="2540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10400" y="2540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Vereinbarte Maßnahmen mit Termin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02400" y="3111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02400" y="3175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10400" y="3175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Folgeaktivitäten angelegt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02400" y="3746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4.4 REPORTING-COCKPITS: WAS WANN WOZU?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12 / 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IV.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4.4 REPORTING-COCKPITS: WAS WANN WOZU?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4.4 Reporting-Cockpits: Was wann wozu?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4.5 VR-NETWORLD UND VERBUNDPARTNER-SYSTEME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13 / 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V.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4.5 VR-NETWORLD UND VERBUNDPARTNER-SYSTEME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4.5 VR-NetWorld und Verbundpartner-Systeme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4.6 PRAXISCASE: EIN JAHRESGESPRÄCH VON A BIS Z IN AGREE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14 / 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VI.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4.6 PRAXISCASE: EIN JAHRESGESPRÄCH VON A BIS Z IN AGREE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4.6 Praxiscase: Ein Jahresgespräch von A bis Z in agree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4.7 ARBEITSBLÄTTER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15 / 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VII.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4.7 ARBEITSBLÄTTER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4.7 Arbeitsblätter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0" y="5524500"/>
            <a:ext cx="4597400" cy="63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 i="1">
                <a:solidFill>
                  <a:srgbClr val="7B7FA0"/>
                </a:solidFill>
                <a:latin typeface="Georgia"/>
              </a:rPr>
              <a:t>Arbeitsblatt A: Mein agree-Selbstcheck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VII · 4.7 ARBEITSBLÄTTER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16 / 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016000"/>
            <a:ext cx="4953000" cy="20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Arbeitsblatt A: Mein agree-Selbstcheck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175000"/>
            <a:ext cx="49530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4D5270"/>
                </a:solidFill>
                <a:latin typeface="Georgia"/>
              </a:rPr>
              <a:t>Bewerten Sie Ihren aktuellen Umgang mit agree ehrlich (1 = nutze ich kaum / 5 = nutze ich routiniert):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96000" y="1016000"/>
          <a:ext cx="6502400" cy="355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7466"/>
                <a:gridCol w="2167466"/>
                <a:gridCol w="2167468"/>
              </a:tblGrid>
              <a:tr h="4445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agree-Bereich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Meine Nutzung (1–5)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Wichtigste Verbesserung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CRM / Kundenprofil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UnternehmerDialog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Kreditbearbeitung / Prolongation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Controlling (NMZ, DB-Cockpit)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Verbundpartner-Cockpit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Frühwarnliste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Aktivitäten / Aufgabenverwaltung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VII · 4.7 ARBEITSBLÄTTER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17 / 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016000"/>
            <a:ext cx="4953000" cy="20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Arbeitsblatt B: Workflow-Optimierungsplan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175000"/>
            <a:ext cx="49530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4D5270"/>
                </a:solidFill>
                <a:latin typeface="Georgia"/>
              </a:rPr>
              <a:t>Aktueller Zeitaufwand Jahresgespräch gesamt: ________ Minuten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96000" y="1016000"/>
          <a:ext cx="6502400" cy="177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/>
                <a:gridCol w="1625600"/>
                <a:gridCol w="1625600"/>
                <a:gridCol w="1625600"/>
              </a:tblGrid>
              <a:tr h="4445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Phase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Aktuell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Ziel nach Optimierung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Maßnahme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Vorbereitung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Nachbereitung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Reporting-Routine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18 / 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VIII.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PRAXISTRANSFER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Praxistransfer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5.2 SELBSTCHECK NACH 4 WOCHEN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19 / 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IX.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5.2 SELBSTCHECK NACH 4 WOCHEN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5.2 Selbstcheck nach 4 Wochen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5.3 VERTIEFUNGSLITERATUR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20 / 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5.3 VERTIEFUNGSLITERATUR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5.3 Vertiefungsliteratur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0" y="5524500"/>
            <a:ext cx="4597400" cy="63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 i="1">
                <a:solidFill>
                  <a:srgbClr val="7B7FA0"/>
                </a:solidFill>
                <a:latin typeface="Georgia"/>
              </a:rPr>
              <a:t>Praxismaterialien (Pflicht)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X · 5.3 VERTIEFUNGSLITERATUR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21 / 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Praxismaterialien (Pflicht)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Atruvia AG: agree-Benutzerhandbuch Firmenkunden (aktuellste Version im Intranet) – Vollständige Funktionsdokumentation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Atruvia AG: UnternehmerDialog – Anleitung und Best Practices (Intranet Schulungsmaterialien)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70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000" y="368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DZ BANK: Digitaler Arbeitsplatz Firmenkunden – Übersicht Verbundpartner-Schnittstellen (Verbund-Intranet)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X · 5.3 VERTIEFUNGSLITERATUR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22 / 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Fachlicher Kontext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Roland Berger (2024): KMU-Banking: Firmenkundenberater 2.0 – Kapitel Digitalisierung des Beratungsalltags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zeb consulting (2020): Firmenkundenstudie 8.0 – Administrative Zeitanteile und Digitalisierungspotenziale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DIDAKTIK &amp; KOMPETENZENTWICKLUNG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23 / 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11.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DIDAKTIK &amp; KOMPETENZENTWICKLUNG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Didaktik &amp; Kompetenzentwicklung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QUELLENAPPARAT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24 / 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508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spc="100">
                <a:solidFill>
                  <a:srgbClr val="7B7FA0"/>
                </a:solidFill>
                <a:latin typeface="Courier New"/>
              </a:rPr>
              <a:t>QUELLENAPPARAT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174750"/>
            <a:ext cx="10972800" cy="10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F8F8FA"/>
                </a:solidFill>
                <a:latin typeface="Georgia"/>
              </a:rPr>
              <a:t>Quellen­apparat.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404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413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Bundesanstalt für Finanzdienstleistungsaufsicht [BaFin]. (2023). Mindestanforderungen an das Risikomanagement (MaRisk): Rundschreiben 10/2012 (BA) in der Fassung vom 29.06.2023. BaFin.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2921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Roland Berger. (2024). KMU-Banking: Firmenkundenberater 2.0. Roland Berger.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0" y="2413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zeb consulting. (2020). Firmenkundenstudie 8.0. zeb.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SYSTEMDOKUMENTATION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25 / 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12.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SYSTEMDOKUMENTATION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Systemdokumentation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508000"/>
            <a:ext cx="317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546100"/>
            <a:ext cx="11582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Ende · v0.4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143000"/>
            <a:ext cx="10972800" cy="368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0" b="0" i="0">
                <a:solidFill>
                  <a:srgbClr val="191D2E"/>
                </a:solidFill>
                <a:latin typeface="Georgia"/>
              </a:rPr>
              <a:t>Danke.
Fragen?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5143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5270500"/>
            <a:ext cx="5715000" cy="10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1">
                <a:solidFill>
                  <a:srgbClr val="191D2E"/>
                </a:solidFill>
                <a:latin typeface="Georgia"/>
              </a:rPr>
              <a:t>Das vollständige Modul «agree &amp; Co. effizient nutzen» ist auf FKB Campus verfügbar — 5 Lernziele, Praxisfall und Quellenapparat.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67500" y="5270500"/>
            <a:ext cx="24130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spc="100">
                <a:solidFill>
                  <a:srgbClr val="7B7FA0"/>
                </a:solidFill>
                <a:latin typeface="Courier New"/>
              </a:rPr>
              <a:t>Kontakt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67500" y="5499100"/>
            <a:ext cx="2413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info@benedikt-zoller.de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8000" y="5270500"/>
            <a:ext cx="21844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spc="100">
                <a:solidFill>
                  <a:srgbClr val="7B7FA0"/>
                </a:solidFill>
                <a:latin typeface="Courier New"/>
              </a:rPr>
              <a:t>Modul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98000" y="5499100"/>
            <a:ext cx="21844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M17 · Berater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