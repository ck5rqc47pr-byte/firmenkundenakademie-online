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M02  ·  v0.2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3048000"/>
            <a:ext cx="10972800" cy="21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Bilanzgespräch auf Augenhöhe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334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0"/>
            <a:ext cx="5207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4D5270"/>
                </a:solidFill>
                <a:latin typeface="Georgia"/>
              </a:rPr>
              <a:t>Jahresabschlussgespräche professionell führen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461000"/>
            <a:ext cx="2286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664200"/>
            <a:ext cx="228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Sparring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0" y="5461000"/>
            <a:ext cx="2540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0" y="5664200"/>
            <a:ext cx="254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180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350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B7FA0"/>
                </a:solidFill>
                <a:latin typeface="Courier New"/>
              </a:rPr>
              <a:t>v0.2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2700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33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1333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84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500" y="1409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Bilanzgespräch anhand eines strukturierten 5-Phasen-Rahmens situativ planen und durchführen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95499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46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500" y="2171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Kritische Kennzahlenentwicklungen im offenen Dialog mit dem Kunden thematisieren, ohne eine Abwehrhaltung auszulösen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857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08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0500" y="2933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Qualitative Unternehmenssignale in die Bewertung des Jahresabschlusses einbeziehen und mit quantitativen Kennzahlen verknüpfen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9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670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500" y="3695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Einwände und Abwehrhaltungen des Kunden mit angemessenen Fragetechniken konstruktiv aufgreifen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381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432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500" y="4457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Aus der integrierten Bilanzanalyse konkrete Beratungsimpulse für Verbundprodukte ableiten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Theorie-Input: Vom Zahlenleser zum Gesprächsführer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Theorie-Input: Vom Zahlenleser zum Gesprächsführer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&gt; Kennen Sie das? Sie führen ein Bilanzgespräch – gut vorbereitet, Kennzahlen analysiert – und nach 20 Minuten werden die Antworten des Kunden einsilbiger. Er wirkt angespannt, weicht aus. Das Gespräc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23333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Thema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Belehrend (Abwehr provoziert)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Fragend (Dialog öffnet)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EK-Quote sinkt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„Ihre EK-Quote ist viel zu niedrig."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„Ich sehe, dass die EK-Quote von 22 % auf 15 % gefallen ist. Wie erklären Sie sich das?"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Liquidität kritisch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„Sie haben ein Liquiditätsproblem."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„Ihre liquiden Mittel sind deutlich gesunken. Ist das beabsichtigt – z. B. durch eine Investition?"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Verschuldung hoch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„Sie sind viel zu verschuldet."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„Die Fremdkapitalquote hat sich erhöht. Entspricht das Ihrer Finanzierungsstrategie?"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Fragetyp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Ziel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Beispiel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Offene Explorationsfrage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Kunden zum Erzählen bringen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„Wie erklären Sie sich den Rückgang der Liquiditätsreserve?" — Niemals „Warum?" (wirkt anklagend). Stattdessen: „Welche Entscheidungen haben dazu geführt?" oder „Womit hängt das zusammen?"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Spiegelnde Frage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Verständnis klären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„Wenn ich Sie richtig verstehe: Die Verschuldung ist temporär durch den Großauftrag?"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Hypothetische Frage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Zukünftige Szenarien erkunden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„Was würde sich für Ihre Planung ändern, wenn die Zinsen weiter steigen?"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2333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Einwandaufgriff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Defensivität auflösen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Einwand anerkennen + Frage stellen (nie Gegenargument)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Die Grenzen der reinen Kennzahlenanalyse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Der Jahresabschluss beantwortet die Frage: „Wie ist die finanzielle Situation?". Diese Analyse ist die Grundlage des Kreditgeschäfts – und gleichzeitig nur die Hälfte der Geschichte.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Eine Kennzahl allein erzählt keinen Kontext. Ein Unternehmen mit einer EK-Quote von 15 % kann sein: ein schnell wachsendes Unternehmen mit geplanter Großinvestition, ein etablierter Mittelständler…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Krecek (2019, S. 156) betont: „Die Bilanzanalyse muss in einem Gesprächsprozess mit dem Unternehmen eingebettet sein. Nur so werden die qualitativen Faktoren erkennbar, die über die Zukunftsfähigkeit…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Kommunikation auf Augenhöhe: Inhalts- vs. Beziehungsebene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Watzlawick, Beavin und Jackson (1967) zeigen: Jede Aussage enthält neben dem Sachinhalt eine Beziehungsbotschaft. Eine sachlich neutrale Aussage kann auf der Beziehungsebene als Vorwurf ankommen: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Das Muster: Beobachtung + offene Frage statt Beobachtung + Bewertung.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Der 5-Phasen-Rahmen für das Bilanzgespräch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Mindestens 4 Kennzahlen berechnen (EK-Quote, Liquidität, Verschuldungsgrad, EBIT-Marge)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Zeitreihe: Vergleich zu mindestens 2 Vorjahren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Branchenwert recherchieren: In agree (Firmenkundenanalyse) stehen aktuelle Branchenbenchmarks aus der Creditreform/Bisnode-Lizenz direkt im Analysebogen – diese Werte für das Gespräch bevorzugen.…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3 Schlüsselbotschaften + 5 offene Fragen schriftlich vorbereiten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495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Kontext und Ziel setzen: „Heute möchte ich mit Ihnen Ihren Jahresabschluss durchgehen und verstehen, wie sich Ihre Lage entwickelt hat."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61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558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Struktur ankündigen: „Ich stelle die wichtigsten Kennzahlen vor, interessiere mich aber vor allem für Ihre Einschätzung dazu."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Praxiscase: Schwäbische Metallbau GmbH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Unternehmensportrait: Inhabergeführt von Dipl.-Ing. Martin Klemm (55 J.), Tübingen, seit 8 Jahren Kunde der VR-Bank. Kerngeschäft: Stahlbaukonstruktionen für den Maschinenbau. 45 Mitarbeiter, Jahresum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  <a:gridCol w="1625600"/>
              </a:tblGrid>
              <a:tr h="29307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Kennzahl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2024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2025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Branche (Ø)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22,4 %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15,1 %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28–32 %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Liquidität 2. Grades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1,18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0,94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&gt; 1,0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Verschuldungsgrad (FK/EK)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5,6x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2,5–3,5x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EBIT-Marge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4,1 %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2,8 %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4–6 %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Personalaufwandsquote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38 %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44 %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38–42 %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Kriterium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Beobachtung / Beispiel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1–5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5-Phasen-Rahmen eingehalten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Offene Fragen eingesetzt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Beobachtung + Frage statt Beobachtung + Urteil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Qualitative Info aktiv erfragt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2930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Konkrete Beratungsimpulse aus Analyse abgeleitet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2930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Gespräch wirkte wie Dialog auf Augenhöhe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Checkliste: Bilanzgespräch vorbereiten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[ ] Jahresabschluss und Vorjahresvergleich ausgewertet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[ ] 4+ Kennzahlen berechnet, Branchenvergleich notiert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76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[ ] 5 offene Fragen schriftlich vorbereitet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[ ] Gesprächsziel definiert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[ ] Kreditlinie / § 18 KWG-Unterlagen geprüft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24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04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[ ] Verbundpartner-Bedarf gesichtet (R+V, Union Investment, DZ BANK)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024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Reflexionsfragen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An welcher Stelle im Rollenspiel haben Sie sich am wohlsten gefühlt? Warum?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Wo haben Sie gemerkt, dass Ihnen eine Technik noch nicht in Fleisch und Blut übergegangen ist?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Welchen konkreten Kunden würden Sie gerne beim nächsten Gespräch mit den neuen Techniken ansprechen?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34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31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Was nehmen Sie sich vor, beim nächsten echten Bilanzgespräch anders zu machen?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Transferaufgabe (4 Wochen nach dem Modul)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Transferaufgabe (4 Wochen nach dem Modul)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Gesprächsnotiz in agree CRM anlegen: Kernerkenntnisse, vereinbarte Maßnahmen, Wiedervorlage setzen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Offene Punkte (z. B. Unterlagenlieferung, Folgetermin) fristgerecht nachverfolgen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Was hat funktioniert? Was würden Sie beim nächsten Mal anders machen?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Wie hat der Kunde auf Ihre Gesprächsführung reagiert?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2400" y="381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400" y="381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Haben Sie einen konkreten nächsten Schritt vereinbart?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02400" y="438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Selbstcheck nach 4 Wochen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Auswertung: 4–5× Sicher/Souverän → Bereit für M03 | 2–3× → Auf dem richtigen Weg | 0–1× → Nächstes Gespräch mit bewusstem Fokus üben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480"/>
                <a:gridCol w="1300480"/>
                <a:gridCol w="1300480"/>
                <a:gridCol w="1300480"/>
                <a:gridCol w="130048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Kompetenz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Noch unsicher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Ansatzweise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Sicher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Souverän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Bilanzgespräch mit 5-Phasen-Rahmen strukturieren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Kennzahlen mit offener Frage ansprechen (nicht urteilen)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Qualitative Faktoren aktiv erfragen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Einwände konstruktiv aufgreifen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Beratungsimpulse aus Analyse ableiten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Empfohlene Vertiefungsliteratur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Schulz von Thun, F., Ruppel, J. &amp; Stratmann, R. (2000). Miteinander Reden: Kommunikationspsychologie für Führungskräfte. Rowohlt.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Watzlawick, P., Beavin, J. H. &amp; Jackson, D. D. (1967). Pragmatics of Human Communication. Norton.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Krecek, T. (2019). Kreditwürdigkeitsprüfung mittelständischer Unternehmen (5. Aufl.). Erich Schmidt Verlag.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Rackham, N. (1988). SPIN Selling. McGraw-Hill.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spc="10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74750"/>
            <a:ext cx="109728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F8F8FA"/>
                </a:solidFill>
                <a:latin typeface="Georgia"/>
              </a:rPr>
              <a:t>Quellen­apparat.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Anderson, L. W. &amp; Krathwohl, D. R. (Hrsg.). (2001). A taxonomy for learning, teaching, and assessing: A revision of Bloom's taxonomy of educational objectives. Longman.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Baetge, J., Kirsch, H.-J. &amp; Thiele, S. (2019). Bilanzanalyse (3. Aufl.). IDW Verlag.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Deutsche Bundesbank. (laufend). Unternehmensabschlussstatistik: Kennzahlen und Branchendurchschnitte. Abgerufen von https://www.bundesbank.de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937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Dreyfus, S. E. &amp; Dreyfus, H. L. (1980). A five-stage model of the mental activities involved in directed skill acquisition. University of California, Berkeley, Operations Research Center.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445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Gordon, T. (1974). Teacher effectiveness training. P. H. Wyden.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95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Kirkpatrick, D. L. (1994). Evaluating training programs: The four levels. Berrett-Koehler.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46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Kolb, D. A. (1984). Experiential learning: Experience as the source of learning and development. Prentice-Hall.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Lave, J. &amp; Wenger, E. (1991). Situated learning: Legitimate peripheral participation. Cambridge University Press.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Rackham, N. (1988). SPIN selling. McGraw-Hill.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429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Roland Berger. (2024). KMU-Banking: Firmenkundenberater 2.0. Roland Berger GmbH.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3937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Schön, D. A. (1983). The reflective practitioner: How professionals think in action. Basic Books.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4445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Schulz von Thun, F. (1981). Miteinander Reden: Störungen und Klärungen. Rowohlt.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495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Schulz von Thun, F., Ruppel, J. &amp; Stratmann, R. (2000). Miteinander Reden: Kommunikationspsychologie für Führungskräfte. Rowohlt.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08000"/>
            <a:ext cx="317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"/>
            <a:ext cx="11582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Ende · v0.2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6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14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270500"/>
            <a:ext cx="5715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191D2E"/>
                </a:solidFill>
                <a:latin typeface="Georgia"/>
              </a:rPr>
              <a:t>Das vollständige Modul «Bilanzgespräch auf Augenhöhe» ist auf FKB Campus verfügbar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5270500"/>
            <a:ext cx="2413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5499100"/>
            <a:ext cx="241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5270500"/>
            <a:ext cx="218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499100"/>
            <a:ext cx="2184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M02 · Sparring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