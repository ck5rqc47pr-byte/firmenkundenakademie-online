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M02  ·  K-01 Finanzanalyse &amp; Kreditexpertise  ·  Zielstufe: Sparring  ·  180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Bilanzgespräch auf Augenhöhe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Jahresabschlussgespräche professionell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v0.2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Bilanzgespräch anhand eines strukturierten 5-Phasen-Rahmens situativ planen und durchführen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Kritische Kennzahlenentwicklungen im offenen Dialog mit dem Kunden thematisieren, ohne eine Abwehrhaltung auszulösen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Qualitative Unternehmenssignale in die Bewertung des Jahresabschlusses einbeziehen und mit quantitativen Kennzahlen verknüpfen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Einwände und Abwehrhaltungen des Kunden mit angemessenen Fragetechniken konstruktiv aufgreifen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Aus der integrierten Bilanzanalyse konkrete Beratungsimpulse für Verbundprodukte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Theorie-Input: Vom Zahlenleser zum Gesprächsführer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Die Grenzen der reinen Kennzahlenanalyse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Der Jahresabschluss beantwortet die Frage: „Wie ist die finanzielle Situation?". Diese Analyse ist die Grundlage des Kreditgeschäfts – und gleichzeitig nur die…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Eine Kennzahl allein erzählt keinen Kontext. Ein Unternehmen mit einer EK-Quote von 15 % kann sein: ein schnell wachsendes Unternehmen mit geplanter…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Krecek (2019, S. 156) betont: „Die Bilanzanalyse muss in einem Gesprächsprozess mit dem Unternehmen eingebettet sein. Nur so werden die qualitativen Faktoren…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Kommunikation auf Augenhöhe: Inhalts- vs. Beziehungsebene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Thema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Belehrend (Abwehr provoziert)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Fragend (Dialog öffnet)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EK-Quote sinkt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„Ihre EK-Quote ist viel zu niedrig."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„Ich sehe, dass die EK-Quote von 22 % auf 15 % gefallen ist. Wie erklären Sie sich das?"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Liquidität kritisch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„Sie haben ein Liquiditätsproblem."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„Ihre liquiden Mittel sind deutlich gesunken. Ist das beabsichtigt – z. B. durch eine Investition?"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Verschuldung hoch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„Sie sind viel zu verschuldet."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„Die Fremdkapitalquote hat sich erhöht. Entspricht das Ihrer Finanzierungsstrategie?"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Der 5-Phasen-Rahmen für das Bilanzgespräch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Phase 1 – Vorbereitung: </a:t>
            </a:r>
            <a:r>
              <a:rPr sz="1700">
                <a:solidFill>
                  <a:srgbClr val="1A1A1A"/>
                </a:solidFill>
                <a:latin typeface="Arial"/>
              </a:rPr>
              <a:t>(30–45 Min. vor dem Termin) - Mindestens 4 Kennzahlen berechnen (EK-Quote, Liquidität, Verschuldungsgrad, EBIT-Marge) - Zeitreihe: Vergleich zu mindestens 2 Vorjahren -…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Phase 2 – Eröffnung: </a:t>
            </a:r>
            <a:r>
              <a:rPr sz="1700">
                <a:solidFill>
                  <a:srgbClr val="1A1A1A"/>
                </a:solidFill>
                <a:latin typeface="Arial"/>
              </a:rPr>
              <a:t>(ca. 10 Min.) - Kontext und Ziel setzen: „Heute möchte ich mit Ihnen Ihren Jahresabschluss durchgehen und verstehen, wie sich Ihre Lage entwickelt hat." - Struktur ankündigen:…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Phase 3 – Analyse-Dialog: </a:t>
            </a:r>
            <a:r>
              <a:rPr sz="1700">
                <a:solidFill>
                  <a:srgbClr val="1A1A1A"/>
                </a:solidFill>
                <a:latin typeface="Arial"/>
              </a:rPr>
              <a:t>(ca. 75 Min. im Workshop-Setting — Herzstück) Grundstruktur: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Praxishinweis: </a:t>
            </a:r>
            <a:r>
              <a:rPr sz="1700">
                <a:solidFill>
                  <a:srgbClr val="1A1A1A"/>
                </a:solidFill>
                <a:latin typeface="Arial"/>
              </a:rPr>
              <a:t>Die 180-Minuten-Struktur dieses Moduls ist ein Übungsformat für den Seminarraum, keine Vorlage für den echten Kundentermin. Im realen Gespräch vor Ort gilt eine Gesamtdauer von…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Phase 4 – Beratungsimpulse: </a:t>
            </a:r>
            <a:r>
              <a:rPr sz="1700">
                <a:solidFill>
                  <a:srgbClr val="1A1A1A"/>
                </a:solidFill>
                <a:latin typeface="Arial"/>
              </a:rPr>
              <a:t>(ca. 30 Min.) Aus Erkenntnissen konkrete Optionen ableiten — immer aus der Analyse heraus: - Liquiditätsrisiko → Kontokorrent-Kreditlinie erhöhen oder Betriebsmittelkredit (VR-…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Der 5-Phasen-Rahmen für das Bilanzgespräch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Phase 5 – Vereinbarungen: </a:t>
            </a:r>
            <a:r>
              <a:rPr sz="1700">
                <a:solidFill>
                  <a:srgbClr val="1A1A1A"/>
                </a:solidFill>
                <a:latin typeface="Arial"/>
              </a:rPr>
              <a:t>(ca. 15 Min.) - Erkenntnisse zusammenfassen, konkrete Maßnahmen mit Terminen festlegen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Fragetechniken für den Analyse-Dialog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Beispiel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Offene Explorationsfrage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Kunden zum Erzählen bringen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„Wie erklären Sie sich den Rückgang der Liquiditätsreserve?" — Niemals „Warum?" (wirkt anklagend). Stattdessen: „Welche Entscheidungen haben dazu geführt?" oder „Womit hängt das zusammen?"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Spiegelnde Frage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Verständnis klären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„Wenn ich Sie richtig verstehe: Die Verschuldung ist temporär durch den Großauftrag?"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Hypothetische Frage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Zukünftige Szenarien erkunden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„Was würde sich für Ihre Planung ändern, wenn die Zinsen weiter steigen?"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Einwandaufgriff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Defensivität auflösen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Einwand anerkennen + Frage stellen (nie Gegenargument)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Praxiscase: Schwäbische Metallbau GmbH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Beobachtungsbogen Rollenspiel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 / Beispiel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1–5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5-Phasen-Rahmen eingehalten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Offene Fragen eingesetzt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Beobachtung + Frage statt Beobachtung + Urteil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Qualitative Info aktiv erfragt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Konkrete Beratungsimpulse aus Analyse abgeleitet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Gespräch wirkte wie Dialog auf Augenhöhe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/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Checkliste: Bilanzgespräch vorbereiten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Checkliste: Bilanzgespräch vorbereiten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Vor dem Gespräch: </a:t>
            </a:r>
            <a:r>
              <a:rPr sz="1700">
                <a:solidFill>
                  <a:srgbClr val="1A1A1A"/>
                </a:solidFill>
                <a:latin typeface="Arial"/>
              </a:rPr>
              <a:t>- [ ] Jahresabschluss und Vorjahresvergleich ausgewertet - [ ] 4+ Kennzahlen berechnet, Branchenvergleich notiert - [ ] 5 offene Fragen schriftlich vorbereitet - [ ] Gesprächsziel…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Im Gespräch: </a:t>
            </a:r>
            <a:r>
              <a:rPr sz="1700">
                <a:solidFill>
                  <a:srgbClr val="1A1A1A"/>
                </a:solidFill>
                <a:latin typeface="Arial"/>
              </a:rPr>
              <a:t>- [ ] Positiver Einstieg, Agenda gesetzt - [ ] Mindestens 40 % Redezeit für den Kunden - [ ] Kritische Punkte mit offener Frage angesprochen - [ ] Handlungsoptionen gemeinsam…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 b="1">
                <a:solidFill>
                  <a:srgbClr val="003DA5"/>
                </a:solidFill>
                <a:latin typeface="Arial"/>
              </a:rPr>
              <a:t>Nach dem Gespräch: </a:t>
            </a:r>
            <a:r>
              <a:rPr sz="1700">
                <a:solidFill>
                  <a:srgbClr val="1A1A1A"/>
                </a:solidFill>
                <a:latin typeface="Arial"/>
              </a:rPr>
              <a:t>- [ ] Gesprächsnotiz in agree CRM angelegt - [ ] Offene Punkte fristgerecht nachverfolgt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Reflexionsfragen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M02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Reflexionsfragen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1887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An welcher Stelle im Rollenspiel haben Sie sich am wohlsten gefühlt? Warum?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9202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Wo haben Sie gemerkt, dass Ihnen eine Technik noch nicht in Fleisch und Blut übergegangen ist?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5176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6517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51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Welchen konkreten Kunden würden Sie gerne beim nächsten Gespräch mit den neuen Techniken ansprechen?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83280"/>
            <a:ext cx="457200" cy="41148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3832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8328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  <a:latin typeface="Arial"/>
              </a:rPr>
              <a:t>Was nehmen Sie sich vor, beim nächsten echten Bilanzgespräch anders zu machen?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Nächste Module: M03, M21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M02 · Bilanzgespräch auf Augenhöhe  ·  v0.2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