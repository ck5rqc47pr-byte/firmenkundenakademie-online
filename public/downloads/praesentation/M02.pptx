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DA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05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657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rial"/>
              </a:rPr>
              <a:t>M02  ·  K-01 Finanzanalyse &amp; Kreditexpertise  ·  Sparring  ·  180 Min.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68680"/>
            <a:ext cx="73152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11430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rial"/>
              </a:rPr>
              <a:t>Bilanzgespräch auf Augenhöhe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004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CD6F0"/>
                </a:solidFill>
                <a:latin typeface="Arial"/>
              </a:rPr>
              <a:t>Jahresabschlussgespräche professionell führen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2179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9AACC"/>
                </a:solidFill>
                <a:latin typeface="Arial"/>
              </a:rPr>
              <a:t>Trainer-Präsentation  ·  v0.2  ·  Benedikt Zoller Coaching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7315200" cy="2743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3DA5"/>
                </a:solidFill>
                <a:latin typeface="Arial"/>
              </a:rPr>
              <a:t>LERNZIELE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Arial"/>
              </a:rPr>
              <a:t>Was Sie nach diesem Modul können.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003DA5"/>
                </a:solidFill>
                <a:latin typeface="Arial"/>
              </a:rPr>
              <a:t>▪  </a:t>
            </a:r>
            <a:r>
              <a:rPr sz="1600">
                <a:solidFill>
                  <a:srgbClr val="1A1A1A"/>
                </a:solidFill>
                <a:latin typeface="Arial"/>
              </a:rPr>
              <a:t>Bilanzgespräch anhand eines strukturierten 5-Phasen-Rahmens situativ planen und durchführen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003DA5"/>
                </a:solidFill>
                <a:latin typeface="Arial"/>
              </a:rPr>
              <a:t>▪  </a:t>
            </a:r>
            <a:r>
              <a:rPr sz="1600">
                <a:solidFill>
                  <a:srgbClr val="1A1A1A"/>
                </a:solidFill>
                <a:latin typeface="Arial"/>
              </a:rPr>
              <a:t>Kritische Kennzahlenentwicklungen im offenen Dialog mit dem Kunden thematisieren, ohne eine Abwehrhaltung auszulösen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003DA5"/>
                </a:solidFill>
                <a:latin typeface="Arial"/>
              </a:rPr>
              <a:t>▪  </a:t>
            </a:r>
            <a:r>
              <a:rPr sz="1600">
                <a:solidFill>
                  <a:srgbClr val="1A1A1A"/>
                </a:solidFill>
                <a:latin typeface="Arial"/>
              </a:rPr>
              <a:t>Qualitative Unternehmenssignale in die Bewertung des Jahresabschlusses einbeziehen und mit quantitativen Kennzahlen verknüpfen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003DA5"/>
                </a:solidFill>
                <a:latin typeface="Arial"/>
              </a:rPr>
              <a:t>▪  </a:t>
            </a:r>
            <a:r>
              <a:rPr sz="1600">
                <a:solidFill>
                  <a:srgbClr val="1A1A1A"/>
                </a:solidFill>
                <a:latin typeface="Arial"/>
              </a:rPr>
              <a:t>Einwände und Abwehrhaltungen des Kunden mit angemessenen Fragetechniken konstruktiv aufgreifen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003DA5"/>
                </a:solidFill>
                <a:latin typeface="Arial"/>
              </a:rPr>
              <a:t>▪  </a:t>
            </a:r>
            <a:r>
              <a:rPr sz="1600">
                <a:solidFill>
                  <a:srgbClr val="1A1A1A"/>
                </a:solidFill>
                <a:latin typeface="Arial"/>
              </a:rPr>
              <a:t>Aus der integrierten Bilanzanalyse konkrete Beratungsimpulse für Verbundprodukte ableiten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3DA5"/>
                </a:solidFill>
                <a:latin typeface="Arial"/>
              </a:rPr>
              <a:t>Die Grenzen der reinen Kennzahlenanalyse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51560"/>
            <a:ext cx="11430000" cy="2743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3444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>
                <a:solidFill>
                  <a:srgbClr val="1A1A1A"/>
                </a:solidFill>
                <a:latin typeface="Arial"/>
              </a:rPr>
              <a:t>Der Jahresabschluss beantwortet die Frage: „Wie ist die finanzielle Situation?". Diese Analyse ist die Grundlage des…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>
                <a:solidFill>
                  <a:srgbClr val="1A1A1A"/>
                </a:solidFill>
                <a:latin typeface="Arial"/>
              </a:rPr>
              <a:t>Eine Kennzahl allein erzählt keinen Kontext. Ein Unternehmen mit einer EK-Quote von 15 % kann sein: ein schnell…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>
                <a:solidFill>
                  <a:srgbClr val="1A1A1A"/>
                </a:solidFill>
                <a:latin typeface="Arial"/>
              </a:rPr>
              <a:t>Krecek (2019, S. 156) betont: „Die Bilanzanalyse muss in einem Gesprächsprozess mit dem Unternehmen eingebettet sein.…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3DA5"/>
                </a:solidFill>
                <a:latin typeface="Arial"/>
              </a:rPr>
              <a:t>Kommunikation auf Augenhöhe: Inhalts- vs. Beziehungsebene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51560"/>
            <a:ext cx="11430000" cy="2743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3444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>
                <a:solidFill>
                  <a:srgbClr val="1A1A1A"/>
                </a:solidFill>
                <a:latin typeface="Arial"/>
              </a:rPr>
              <a:t>Watzlawick, Beavin und Jackson (1967) zeigen: Jede Aussage enthält neben dem Sachinhalt eine Beziehungsbotschaft. Eine…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>
                <a:solidFill>
                  <a:srgbClr val="1A1A1A"/>
                </a:solidFill>
                <a:latin typeface="Arial"/>
              </a:rPr>
              <a:t>Das Muster: Beobachtung + offene Frage statt Beobachtung + Bewertung.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3DA5"/>
                </a:solidFill>
                <a:latin typeface="Arial"/>
              </a:rPr>
              <a:t>Der 5-Phasen-Rahmen für das Bilanzgespräch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51560"/>
            <a:ext cx="11430000" cy="2743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3444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>
                <a:solidFill>
                  <a:srgbClr val="1A1A1A"/>
                </a:solidFill>
                <a:latin typeface="Arial"/>
              </a:rPr>
              <a:t>Mindestens 4 Kennzahlen berechnen (EK-Quote, Liquidität, Verschuldungsgrad, EBIT-Marge)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>
                <a:solidFill>
                  <a:srgbClr val="1A1A1A"/>
                </a:solidFill>
                <a:latin typeface="Arial"/>
              </a:rPr>
              <a:t>Zeitreihe: Vergleich zu mindestens 2 Vorjahren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>
                <a:solidFill>
                  <a:srgbClr val="1A1A1A"/>
                </a:solidFill>
                <a:latin typeface="Arial"/>
              </a:rPr>
              <a:t>Branchenwert recherchieren: In agree (Firmenkundenanalyse) stehen aktuelle Branchenbenchmarks aus der Creditreform/Bisnode-Lizenz direkt im Analysebogen – diese Werte für das Gespräch bevorzugen. Alternativ: Bundesbank Unternehmensabschlussstatistik (kostenfrei, aber teils 2 Jahre zeitverzögert)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>
                <a:solidFill>
                  <a:srgbClr val="1A1A1A"/>
                </a:solidFill>
                <a:latin typeface="Arial"/>
              </a:rPr>
              <a:t>3 Schlüsselbotschaften + 5 offene Fragen schriftlich vorbereiten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>
                <a:solidFill>
                  <a:srgbClr val="1A1A1A"/>
                </a:solidFill>
                <a:latin typeface="Arial"/>
              </a:rPr>
              <a:t>Kontext und Ziel setzen: „Heute möchte ich mit Ihnen Ihren Jahresabschluss durchgehen und verstehen, wie sich Ihre Lage entwickelt hat."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>
                <a:solidFill>
                  <a:srgbClr val="1A1A1A"/>
                </a:solidFill>
                <a:latin typeface="Arial"/>
              </a:rPr>
              <a:t>Struktur ankündigen: „Ich stelle die wichtigsten Kennzahlen vor, interessiere mich aber vor allem für Ihre Einschätzung dazu."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3DA5"/>
                </a:solidFill>
                <a:latin typeface="Arial"/>
              </a:rPr>
              <a:t>Beobachtungsbogen Rollenspiel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51560"/>
            <a:ext cx="11430000" cy="2743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3444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>
                <a:solidFill>
                  <a:srgbClr val="1A1A1A"/>
                </a:solidFill>
                <a:latin typeface="Arial"/>
              </a:rPr>
              <a:t>Skala: 1 = gar nicht sichtbar · 3 = ansatzweise · 5 = sehr gut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05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0"/>
            <a:ext cx="11430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rial"/>
              </a:rPr>
              <a:t>Checkliste: Bilanzgespräch vorbereiten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05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0"/>
            <a:ext cx="11430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rial"/>
              </a:rPr>
              <a:t>Reflexionsfragen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05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0"/>
            <a:ext cx="11430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rial"/>
              </a:rPr>
              <a:t>Transferaufgabe (4 Wochen nach dem Modul)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05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0"/>
            <a:ext cx="11430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rial"/>
              </a:rPr>
              <a:t>Selbstcheck nach 4 Wochen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DA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05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65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CD6F0"/>
                </a:solidFill>
                <a:latin typeface="Arial"/>
              </a:rPr>
              <a:t>PRAXISTRANSFER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rial"/>
              </a:rPr>
              <a:t>Was nehmen Sie mit?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7315200" cy="27432"/>
          </a:xfrm>
          <a:prstGeom prst="rect">
            <a:avLst/>
          </a:prstGeom>
          <a:solidFill>
            <a:srgbClr val="335C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645920"/>
            <a:ext cx="11430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E05B00"/>
                </a:solidFill>
                <a:latin typeface="Arial"/>
              </a:rPr>
              <a:t>▪  </a:t>
            </a:r>
            <a:r>
              <a:rPr sz="1800">
                <a:solidFill>
                  <a:srgbClr val="FFFFFF"/>
                </a:solidFill>
                <a:latin typeface="Arial"/>
              </a:rPr>
              <a:t>Transferaufgabe: Wenden Sie das Gelernte in den nächsten 14 Tagen bei einem konkreten Kunden an.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E05B00"/>
                </a:solidFill>
                <a:latin typeface="Arial"/>
              </a:rPr>
              <a:t>▪  </a:t>
            </a:r>
            <a:r>
              <a:rPr sz="1800">
                <a:solidFill>
                  <a:srgbClr val="FFFFFF"/>
                </a:solidFill>
                <a:latin typeface="Arial"/>
              </a:rPr>
              <a:t>Selbstcheck nach 4 Wochen: Was hat sich verändert?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9AACC"/>
                </a:solidFill>
                <a:latin typeface="Arial"/>
              </a:rPr>
              <a:t>M02 · Bilanzgespräch auf Augenhöhe  ·  v0.2  ·  Benedikt Zoller Coaching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