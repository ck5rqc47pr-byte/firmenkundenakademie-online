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3048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M02  ·  v0.2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794000"/>
            <a:ext cx="10972800" cy="203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Bilanzgespräch auf Augenhöhe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89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016500"/>
            <a:ext cx="5207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4D5270"/>
                </a:solidFill>
                <a:latin typeface="Georgia"/>
              </a:rPr>
              <a:t>Jahresabschlussgespräche professionell führen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016500"/>
            <a:ext cx="254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207000"/>
            <a:ext cx="2540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Sparring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0" y="5016500"/>
            <a:ext cx="2667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0" y="5207000"/>
            <a:ext cx="2667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180 Min.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3175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0" y="889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4000" y="939799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3000" y="952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Bilanzgespräch anhand eines strukturierten 5-Phasen-Rahmens situativ planen und durchführen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0" y="1587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4000" y="1638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3000" y="1651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Kritische Kennzahlenentwicklungen im offenen Dialog mit dem Kunden thematisieren, ohne eine Abwehrhaltung auszulösen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0" y="2286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64000" y="23368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3000" y="2349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Qualitative Unternehmenssignale in die Bewertung des Jahresabschlusses einbeziehen und mit quantitativen Kennzahlen verknüpfen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4000" y="2984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4000" y="3035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3000" y="3048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Einwände und Abwehrhaltungen des Kunden mit angemessenen Fragetechniken konstruktiv aufgreifen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4000" y="3683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64000" y="3733799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3000" y="3746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Aus der integrierten Bilanzanalyse konkrete Beratungsimpulse für Verbundprodukte ableiten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VOM ZAHLENLESER ZUM GESPRÄCHSFÜHRER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Vom Zahlenleser zum Gesprächsführer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Was Kennzahlen allein nicht leisten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 · VOM ZAHLENLESER ZUM GESPRÄCHSFÜHRER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Warum gute Zahlenanalyse allein nicht reicht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Kunden reagieren auf Kritik mit Rechtfertigung, nicht mit Offenheit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Beziehungsebene entscheidet, ob Sachebene gehört wird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Augenhöhe entsteht durch Zuhören — nicht durch Vorlesen von Kennzahlen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Ziel: Gemeinsam Erkenntnisse entwickeln, nicht Befunde verkünden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 · VOM ZAHLENLESER ZUM GESPRÄCHSFÜHRER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889000"/>
            <a:ext cx="381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Kernaussage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5 Phasen — ein Gespräch das Vertrauen schafft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2825750"/>
            <a:ext cx="5207000" cy="2857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Vorbereitung → Eröffnung → Analyse-Dialog → Impulse → Abschluss. Jede Phase hat eine klare Funktion. Wer die Phasen kennt, behält auch in schwierigen Gesprächen die Führung.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0" y="2825750"/>
            <a:ext cx="4851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1F2B56"/>
                </a:solidFill>
                <a:latin typeface="Courier New"/>
              </a:rPr>
              <a:t>Mitnahme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0" y="3041650"/>
            <a:ext cx="4851400" cy="2667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Entscheidend: Die Eröffnung. Die ersten 3 Minuten entscheiden, ob der Kunde sich als Partner oder als Prüfling fühlt.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 · VOM ZAHLENLESER ZUM GESPRÄCHSFÜHRER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Fragetechniken, die Erkenntnisse erzeugen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Offene Fragen: 'Was hat Sie im letzten Jahr am meisten beschäftigt?'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Skalenfragen: 'Wie schätzen Sie Ihre Liquiditätssituation auf einer Skala 1–10 ein?'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Hypothetische Fragen: 'Angenommen, der Umsatz fällt 15 % — was passiert?'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Schweigen aushalten: Nach einer kritischen Frage 5 Sekunden warten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KRITISCHES ANSPRECHEN OHNE ABWEHR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Kritisches ansprechen ohne Abwehr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Wenn die Zahlen eine unbequeme Geschichte erzählen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 · KRITISCHES ANSPRECHEN OHNE ABWEHR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762000"/>
            <a:ext cx="2032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0000" b="0" i="1">
                <a:solidFill>
                  <a:srgbClr val="D9BF7A"/>
                </a:solidFill>
                <a:latin typeface="Georgia"/>
              </a:rPr>
              <a:t>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2286000"/>
            <a:ext cx="10972800" cy="241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1">
                <a:solidFill>
                  <a:srgbClr val="F8F8FA"/>
                </a:solidFill>
                <a:latin typeface="Georgia"/>
              </a:rPr>
              <a:t>Nicht die Wahrheit schmerzt — sondern wie sie gesagt wird.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4826000"/>
            <a:ext cx="4318000" cy="6350"/>
          </a:xfrm>
          <a:prstGeom prst="rect">
            <a:avLst/>
          </a:prstGeom>
          <a:solidFill>
            <a:srgbClr val="404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9600" y="4953000"/>
            <a:ext cx="406400" cy="406400"/>
          </a:xfrm>
          <a:prstGeom prst="rect">
            <a:avLst/>
          </a:prstGeom>
          <a:solidFill>
            <a:srgbClr val="D9B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5003800"/>
            <a:ext cx="406400" cy="304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00" b="1" i="0">
                <a:solidFill>
                  <a:srgbClr val="3A2A0A"/>
                </a:solidFill>
                <a:latin typeface="Courier New"/>
              </a:rPr>
              <a:t>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7600" y="4953000"/>
            <a:ext cx="4064000" cy="241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1" i="0">
                <a:solidFill>
                  <a:srgbClr val="F8F8FA"/>
                </a:solidFill>
                <a:latin typeface="Georgia"/>
              </a:rPr>
              <a:t>Kommunikationsprinzip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5207000"/>
            <a:ext cx="4064000" cy="203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Inhalts- und Beziehungsebene trennen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 · KRITISCHES ANSPRECHEN OHNE ABWEHR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Einwände konstruktiv aufgreifen — nicht entkräften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Einwand anerkennen: 'Das verstehe ich — das war ein schwieriges Jahr.'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Gemeinsam erkunden: 'Was glauben Sie, warum die EK-Quote gefallen ist?'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Zukunft öffnen: 'Was wäre hilfreich, um das mittelfristig zu stabilisieren?'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Nie widersprechen — immer weiterführen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VOM GESPRÄCH ZUR BERATUNG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Vom Gespräch zur Beratung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Qualitative Signale + Kennzahlen = vollständiges Bild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III · VOM GESPRÄCH ZUR BERATUNG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Was Zahlen nicht sagen — und trotzdem wichtig ist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Managementqualität: Reagiert der GF schnell, klar, realistisch?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Abhängigkeiten: Einzelkunde &gt; 30 % Umsatz ist ein stilles Risiko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Marktposition: Wächst die Branche oder schrumpft sie?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Nachfolgefrage: Wer führt das Unternehmen in 10 Jahren?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Verbundpotenzial: Welche Lücke in der Absicherung fällt auf?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445000" cy="6858000"/>
          </a:xfrm>
          <a:prstGeom prst="rect">
            <a:avLst/>
          </a:prstGeom>
          <a:solidFill>
            <a:srgbClr val="C8A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5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8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50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3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76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88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101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114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127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139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152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165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77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90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203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215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228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241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54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266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279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292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304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317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330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342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355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368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381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93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406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90999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31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444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457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469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482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495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0" y="508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0" y="520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533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546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0" y="558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0" y="571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0" y="584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596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09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0" y="622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0" y="635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0" y="647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0" y="660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73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52400" y="6477000"/>
            <a:ext cx="4190999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3A2A0A"/>
                </a:solidFill>
                <a:latin typeface="Courier New"/>
              </a:rPr>
              <a:t>Praxisfall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III · VOM GESPRÄCH ZUR BERATUNG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26000" y="1016000"/>
            <a:ext cx="6731000" cy="203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Praxisfall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26000" y="1244600"/>
            <a:ext cx="6731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Schwäbische Metallbau GmbH — Rollenspiel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26000" y="2984500"/>
            <a:ext cx="6731000" cy="3429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Jahresabschluss liegt vor: EK-Quote gefallen, Kontokorrent dauerhaft ausgelastet. Der GF ist stolz auf das Wachstum des letzten Jahres. Ihre Aufgabe: Das Gespräch so führen, dass er selbst die Risiken erkennt.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Transfer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Was verändert sich ab morgen?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IV · 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Ihr Auftrag: Das nächste Gespräch anders vorbereiten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Einen Kunden auswählen, dessen Zahlen Sie schon kennen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5-Phasen-Rahmen auf dieses Gespräch anwenden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Drei offene Fragen vorbereiten — keine Ja/Nein-Fragen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Nach dem Gespräch: Was hat der Kunde selbst erkannt?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QUELLENAPPARAT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63600"/>
            <a:ext cx="5080000" cy="203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A0AACC"/>
                </a:solidFill>
                <a:latin typeface="Courier New"/>
              </a:rPr>
              <a:t>Quellenapparat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F8F8FA"/>
                </a:solidFill>
                <a:latin typeface="Georgia"/>
              </a:rPr>
              <a:t>Quellen.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3A4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177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Anderson, L. W. &amp; Krathwohl, D. R. (Hrsg.). (2001). A taxonomy for learning, teaching, and assessing: A revision of Bloom's taxonomy of…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8003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Baetge, J., Kirsch, H.-J. &amp; Thiele, S. (2019). Bilanzanalyse (3. Aufl.). IDW Verlag.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2829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Deutsche Bundesbank. (laufend). Unternehmensabschlussstatistik: Kennzahlen und Branchendurchschnitte. Abgerufen von…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655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Dreyfus, S. E. &amp; Dreyfus, H. L. (1980). A five-stage model of the mental activities involved in directed skill acquisition. University of…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2481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Gordon, T. (1974). Teacher effectiveness training. P. H. Wyden.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7307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Kirkpatrick, D. L. (1994). Evaluating training programs: The four levels. Berrett-Koehler.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52133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Kolb, D. A. (1984). Experiential learning: Experience as the source of learning and development. Prentice-Hall.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56959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Krecek, T. (2019). Kreditwürdigkeitsprüfung mittelständischer Unternehmen (5. Aufl.). Erich Schmidt Verlag.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6178550"/>
            <a:ext cx="52070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Lave, J. &amp; Wenger, E. (1991). Situated learning: Legitimate peripheral participation. Cambridge University Press.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0" y="23177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Rackham, N. (1988). SPIN selling. McGraw-Hill.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0" y="28003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Roland Berger. (2024). KMU-Banking: Firmenkundenberater 2.0. Roland Berger GmbH.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0" y="32829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Schön, D. A. (1983). The reflective practitioner: How professionals think in action. Basic Books.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0" y="37655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Schulz von Thun, F. (1981). Miteinander Reden: Störungen und Klärungen. Rowohlt.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0" y="42481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Schulz von Thun, F., Ruppel, J. &amp; Stratmann, R. (2000). Miteinander Reden: Kommunikationspsychologie für Führungskräfte. Rowohlt.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0" y="47307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Watzlawick, P., Beavin, J. H. &amp; Jackson, D. D. (1967). Pragmatics of human communication. Norton.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0" y="5213350"/>
            <a:ext cx="5232400" cy="444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F8F8FA"/>
                </a:solidFill>
                <a:latin typeface="Courier New"/>
              </a:rPr>
              <a:t>zeb. (2020). Firmenkundenstudie 8.0. zeb.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572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Ende · v0.2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55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2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953000"/>
            <a:ext cx="5715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Modul «Bilanzgespräch auf Augenhöhe» auf FKB Campus — 5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4953000"/>
            <a:ext cx="2413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Trainer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1000" y="5156200"/>
            <a:ext cx="24130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[Name · Kontakt]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4953000"/>
            <a:ext cx="2184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156200"/>
            <a:ext cx="21844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M02 · Sparring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