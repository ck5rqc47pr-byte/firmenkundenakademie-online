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Bilanzgespräch auf Augenhöhe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Jahresabschlussgespräche professionell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180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Bilanzgespräch anhand eines strukturierten 5-Phasen-Rahmens situativ planen und durchführen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Kritische Kennzahlenentwicklungen im offenen Dialog mit dem Kunden thematisieren, ohne eine Abwehrhaltung auszulösen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Unternehmenssignale in die Bewertung des Jahresabschlusses einbeziehen und mit quantitativen Kennzahlen verknüpfen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Einwände und Abwehrhaltungen des Kunden mit angemessenen Fragetechniken konstruktiv aufgreifen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 der integrierten Bilanzanalyse konkrete Beratungsimpulse für Verbundprodukte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Theorie-Input: Vom Zahlenleser zum Gesprächsführer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Theorie-Input: Vom Zahlenleser zum Gesprächsführer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Kennen Sie das? Sie führen ein Bilanzgespräch – gut vorbereitet, Kennzahlen analysiert – und nach 20 Minuten werden die Antworten des Kunden einsilbiger. Er wirkt angespannt, wei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Thema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Belehrend (Abwehr provoziert)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Fragend (Dialog öffnet)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 sinkt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„Ihre EK-Quote ist viel zu niedrig."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„Ich sehe, dass die EK-Quote von 22 % auf 15 % gefallen ist. Wie erklären Sie sich das?"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kritisch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„Sie haben ein Liquiditätsproblem."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„Ihre liquiden Mittel sind deutlich gesunken. Ist das beabsichtigt – z. B. durch eine Investition?"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 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„Sie sind viel zu verschuldet."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„Die Fremdkapitalquote hat sich erhöht. Entspricht das Ihrer Finanzierungsstrategie?"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Explorationsfrage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 zum Erzählen bringen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„Wie erklären Sie sich den Rückgang der Liquiditätsreserve?" — Niemals „Warum?" (wirkt anklagend). Stattdessen: „Welche Entscheidungen haben dazu geführt?" oder „Womit hängt das zusammen?"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Spiegelnde 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Verständnis klären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„Wenn ich Sie richtig verstehe: Die Verschuldung ist temporär durch den Großauftrag?"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Hypothetische 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Zukünftige Szenarien erkunden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würde sich für Ihre Planung ändern, wenn die Zinsen weiter steigen?"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Einwandaufgriff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Defensivität auflösen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Einwand anerkennen + Frage stellen (nie Gegenargument)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Grenzen der reinen Kennzahlenanalyse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Jahresabschluss beantwortet die Frage: „Wie ist die finanzielle Situation?". Diese Analyse ist die Grundlage des Kreditgeschäfts – und gleichzeitig nur die Hälfte der Geschichte.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Kennzahl allein erzählt keinen Kontext. Ein Unternehmen mit einer EK-Quote von 15 % kann sein: ein schnell wachsendes Unternehmen mit geplanter Großinvestition, ein etablierter Mittelständler mit…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 (2019, S. 156) betont: „Die Bilanzanalyse muss in einem Gesprächsprozess mit dem Unternehmen eingebettet sein. Nur so werden die qualitativen Faktoren erkennbar, die über die Zukunftsfähigkeit entscheiden."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Kommunikation auf Augenhöhe: Inhalts- vs. Beziehungsebene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Watzlawick, Beavin und Jackson (1967) zeigen: Jede Aussage enthält neben dem Sachinhalt eine Beziehungsbotschaft. Eine sachlich neutrale Aussage kann auf der Beziehungsebene als Vorwurf ankommen: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Muster: Beobachtung + offene Frage statt Beobachtung + Bewertung.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Der 5-Phasen-Rahmen für das Bilanzgespräch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Mindestens 4 Kennzahlen berechnen (EK-Quote, Liquidität, Verschuldungsgrad, EBIT-Marge)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Zeitreihe: Vergleich zu mindestens 2 Vorjahren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Branchenwert recherchieren: In agree (Firmenkundenanalyse) stehen aktuelle Branchenbenchmarks aus der Creditreform/Bisnode-Lizenz direkt im Analysebogen – diese Werte für das Gespräch bevorzugen. Alternativ: Bundesbank…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3 Schlüsselbotschaften + 5 offene Fragen schriftlich vorbereiten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Kontext und Ziel setzen: „Heute möchte ich mit Ihnen Ihren Jahresabschluss durchgehen und verstehen, wie sich Ihre Lage entwickelt hat."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Struktur ankündigen: „Ich stelle die wichtigsten Kennzahlen vor, interessiere mich aber vor allem für Ihre Einschätzung dazu."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Praxiscase: Schwäbische Metallbau GmbH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Unternehmensportrait: Inhabergeführt von Dipl.-Ing. Martin Klemm (55 J.), Tübingen, seit 8 Jahren Kunde der VR-Bank. Kerngeschäft: Stahlbaukonstruktionen für den Maschinenbau. 45 M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2024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2025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Branche (Ø)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22,4 %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15,1 %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28–32 %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2. Grades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1,18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0,94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1,0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(FK/EK)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5,6x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2,5–3,5x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4,1 %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2,8 %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4–6 %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Personalaufwandsquote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38–42 %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5-Phasen-Rahmen eingehalten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Fragen eingesetzt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Beobachtung + Frage statt Beobachtung + Urteil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Qualitative Info aktiv erfragt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Konkrete Beratungsimpulse aus Analyse abgeleitet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 wirkte wie Dialog auf Augenhöhe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Checkliste: Bilanzgespräch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Jahresabschluss und Vorjahresvergleich ausgewertet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4+ Kennzahlen berechnet, Branchenvergleich notiert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5 offene Fragen schriftlich vorbereitet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Gesprächsziel definiert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Kreditlinie / § 18 KWG-Unterlagen geprüft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Verbundpartner-Bedarf gesichtet (R+V, Union Investment, DZ BANK)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 welcher Stelle im Rollenspiel haben Sie sich am wohlsten gefühlt? Warum?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Wo haben Sie gemerkt, dass Ihnen eine Technik noch nicht in Fleisch und Blut übergegangen ist?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Welchen konkreten Kunden würden Sie gerne beim nächsten Gespräch mit den neuen Techniken ansprechen?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nehmen Sie sich vor, beim nächsten echten Bilanzgespräch anders zu machen?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(4 Wochen nach dem Modul)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(4 Wochen nach dem Modul)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Gesprächsnotiz in agree CRM anlegen: Kernerkenntnisse, vereinbarte Maßnahmen, Wiedervorlage setzen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Offene Punkte (z. B. Unterlagenlieferung, Folgetermin) fristgerecht nachverfolgen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hat funktioniert? Was würden Sie beim nächsten Mal anders machen?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Wie hat der Kunde auf Ihre Gesprächsführung reagiert?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Haben Sie einen konkreten nächsten Schritt vereinbart?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Auswertung: 4–5× Sicher/Souverän → Bereit für M03 | 2–3× → Auf dem richtigen Weg | 0–1× → Nächstes Gespräch mit bewusstem Fokus üben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F., Ruppel, J. &amp; Stratmann, R. (2000). Miteinander Reden: Kommunikationspsychologie für Führungskräfte. Rowohlt.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Watzlawick, P., Beavin, J. H. &amp; Jackson, D. D. (1967). Pragmatics of Human Communication. Norton.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Krecek, T. (2019). Kreditwürdigkeitsprüfung mittelständischer Unternehmen (5. Aufl.). Erich Schmidt Verlag.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«Bilanzgespräch auf Augenhöhe»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M02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