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20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CCEE"/>
                </a:solidFill>
                <a:latin typeface="Arial"/>
              </a:rPr>
              <a:t>M11  ·  K-03 Gesprächsführung &amp; Beratung  ·  Zielstufe: Sparring  ·  90 Min.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8229600" cy="22860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Arial"/>
              </a:rPr>
              <a:t>Latente Bedarfe erkennen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3832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CCD6F0"/>
                </a:solidFill>
                <a:latin typeface="Arial"/>
              </a:rPr>
              <a:t>Implizite Kundenbedürfnisse durch SPIN-Fragetechnik und aktives Zuhören aufdecken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ACC"/>
                </a:solidFill>
                <a:latin typeface="Arial"/>
              </a:rPr>
              <a:t>Trainer-Präsentation  ·  v0.2  ·  Benedikt Zoller Coaching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804672"/>
            <a:ext cx="11612880" cy="2286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3DA5"/>
                </a:solidFill>
                <a:latin typeface="Arial"/>
              </a:rPr>
              <a:t>LERNZIELE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Arial"/>
              </a:rPr>
              <a:t>Was Sie nach diesem Modul können.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23444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Explizite von latenten Bedarfen anhand konkreter Gesprächsbeispiele unterscheiden und Kundensignale systematisch zuordnen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Die SPIN-Fragetechnik in simulierten Kundengesprächen anwenden und implizite Problemformulierungen in explizite Bedarfsaussagen überführen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Gesprächsverläufe auf latente Signale (verbal, paraverbal, nonverbal) analysieren und den wahrscheinlichen Hintergrundbedarf benennen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Die Qualität des eigenen Frageverhaltens in Rollenspielen bewerten und konkrete Verbesserungsschritte ableiten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Situationsgerecht zwischen verschiedenen Fragetechniken wählen und die Wahl begründen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Das Eisberg-Modell der Kundenbedürfnisse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M11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Das Eisberg-Modell der Kundenbedürfnisse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Explizite Bedarfe: </a:t>
            </a:r>
            <a:r>
              <a:rPr sz="1700">
                <a:solidFill>
                  <a:srgbClr val="1A1A1A"/>
                </a:solidFill>
                <a:latin typeface="Arial"/>
              </a:rPr>
              <a:t>Der Kunde benennt klar, was er will. „Ich brauche eine Anschlussfinanzierung für meine Maschine." Explizite Bedarfe entstehen, wenn der Kunde seine Situation analysiert und eine…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Implizite (latente) Bedarfe: </a:t>
            </a:r>
            <a:r>
              <a:rPr sz="1700">
                <a:solidFill>
                  <a:srgbClr val="1A1A1A"/>
                </a:solidFill>
                <a:latin typeface="Arial"/>
              </a:rPr>
              <a:t>Der Kunde beschreibt ein Problem, einen Schmerz oder eine Unzufriedenheit, ohne eine Lösung zu benennen. „Unsere Abschreibungen sind dieses Jahr sehr hoch." Oder: „Ich mache mir…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Warum Kunden latente Bedarfe nicht artikulieren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M11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Warum Kunden latente Bedarfe nicht artikulieren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Unbewusstheit: </a:t>
            </a:r>
            <a:r>
              <a:rPr sz="1700">
                <a:solidFill>
                  <a:srgbClr val="1A1A1A"/>
                </a:solidFill>
                <a:latin typeface="Arial"/>
              </a:rPr>
              <a:t>Der Bedarf ist noch nicht als solcher erkannt. Der Kunde spürt das Problem, hat es aber nicht als lösungswürdig eingeordnet. 2.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Schambarriere: </a:t>
            </a:r>
            <a:r>
              <a:rPr sz="1700">
                <a:solidFill>
                  <a:srgbClr val="1A1A1A"/>
                </a:solidFill>
                <a:latin typeface="Arial"/>
              </a:rPr>
              <a:t>Sensitive Themen wie Nachfolge, Unternehmenskrise oder Privatsphäre werden nicht freiwillig angesprochen. 3.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Fehlende Sicherheit: </a:t>
            </a:r>
            <a:r>
              <a:rPr sz="1700">
                <a:solidFill>
                  <a:srgbClr val="1A1A1A"/>
                </a:solidFill>
                <a:latin typeface="Arial"/>
              </a:rPr>
              <a:t>Der Kunde weiß nicht, ob der Berater kompetent genug ist für das eigentliche Thema. Im Volksbankenalltag kommt ein verstärkender Faktor hinzu: Häufige Beraterwechsel. Wer…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Praxistipp: </a:t>
            </a:r>
            <a:r>
              <a:rPr sz="1700">
                <a:solidFill>
                  <a:srgbClr val="1A1A1A"/>
                </a:solidFill>
                <a:latin typeface="Arial"/>
              </a:rPr>
              <a:t>Eigene Erfahrungen kurz einbringen öffnet schneller als jede Frage – „Ich habe das bei einem anderen Kunden ähnlich erlebt, wie er das gelöst hat, war interessant…" signalisiert…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Gewohnheit: </a:t>
            </a:r>
            <a:r>
              <a:rPr sz="1700">
                <a:solidFill>
                  <a:srgbClr val="1A1A1A"/>
                </a:solidFill>
                <a:latin typeface="Arial"/>
              </a:rPr>
              <a:t>Der Kunde ist es gewohnt, dass Bankgespräche Produktgespräche sind – er stellt sich selbst anders ein.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Typische latente Bedarfsfelder im Firmenkunden-Alltag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M11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Typische latente Bedarfsfelder im Firmenkunden-Alltag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Bedarfsfeld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Typisches Kundensignal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Einstiegsfrage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Nachfolge / Übergabe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„Mein Sohn ist dabei, aber…" · „Irgendwann mache ich kürzer…" · Abgelenktes Auftreten im Jahresgespräch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„Wer führt das Unternehmen, wenn Sie morgen ausfallen?"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Wachstumsfinanzierung / Investition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„Wir bauen gerade eine zweite Halle…" · „Der Auftragsbestand ist gut" · Keine Anfrage bei der Bank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„Haben Sie den Finanzierungsbedarf schon durchgerechnet, oder ist das noch offen?"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Risikoabsicherung (GF-Ausfall, Schlüsselperson)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Krankheitsepisode erwähnt · „Wenn ich mal nicht mehr da bin…" · Kein Gesellschaftervertrag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„Was passiert mit dem Unternehmen, wenn Sie länger ausfallen – ist das rechtlich und finanziell geregelt?"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Liquiditätspuffer / Krisenvorsorge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Kontokorrent nahe Limit · Saisonale Schwankungen · „Das läuft immer so ein bisschen eng im Frühjahr"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„Welchen Liquiditätspuffer haben Sie für einen größeren Auftragsausfall?"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Fragetechnik in der Praxis: Drei Tiefen-Ebenen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M11 · 4.2 SPIN – Das Fragetechnik-System für tiefe Bedarfe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Fragetechnik in der Praxis: Drei Tiefen-Ebenen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Ebene 1 – Thema: </a:t>
            </a:r>
            <a:r>
              <a:rPr sz="1700">
                <a:solidFill>
                  <a:srgbClr val="1A1A1A"/>
                </a:solidFill>
                <a:latin typeface="Arial"/>
              </a:rPr>
              <a:t>(Was ist das Gesprächsthema?) &gt; „Wie läuft das Geschäft aktuell?"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Ebene 2 – Problem: </a:t>
            </a:r>
            <a:r>
              <a:rPr sz="1700">
                <a:solidFill>
                  <a:srgbClr val="1A1A1A"/>
                </a:solidFill>
                <a:latin typeface="Arial"/>
              </a:rPr>
              <a:t>(Wo drückt der Schuh?) &gt; „Sie sagten, die Personalkosten steigen. Was steckt dahinter?"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Ebene 3 – Bedeutung: </a:t>
            </a:r>
            <a:r>
              <a:rPr sz="1700">
                <a:solidFill>
                  <a:srgbClr val="1A1A1A"/>
                </a:solidFill>
                <a:latin typeface="Arial"/>
              </a:rPr>
              <a:t>(Was steht auf dem Spiel?) &gt; „Wenn sich das fortsetzt: Was bedeutet das für Ihre Pläne für die nächsten fünf Jahre?"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Übung im Plenum: „Was höre ich wirklich?"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Arbeitsblatt A: SPIN-Fragen vorbereiten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M11 · 4.6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Arbeitsblatt A: SPIN-Fragen vorbereiten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Fragetyp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Meine Frage 1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Meine Frage 2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Situationsfrage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Problemfrage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Implikationsfrage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Nutzenfrage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Arbeitsblatt B: Beobachtungsbogen Rollenspiel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M11 · 4.6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Arbeitsblatt B: Beobachtungsbogen Rollenspiel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Beobachtungskriterium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Sehr gut (3)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Gut (2)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Ausbaufähig (1)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Nicht beobachtet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Offene Einstiegsfragen gestellt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Problemfragen aktiv eingesetzt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Implikationsfragen verwendet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Latente Signale aufgegriffen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Schweigen ausgehalten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Paraphrase/Zusammenfassung eingesetzt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Zu früh zu Produkten gewechselt (neg.)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47472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D6F0"/>
                </a:solidFill>
                <a:latin typeface="Arial"/>
              </a:rPr>
              <a:t>PRAXISTRANSFER &amp; NÄCHSTE SCHRITTE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8229600" cy="22860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Was nehmen Sie mit?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103120"/>
            <a:ext cx="11430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Transferaufgabe: Wenden Sie das Gelernte in den nächsten 14 Tagen bei einem konkreten Kunden an.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Selbstcheck nach 4 Wochen: Bewerten Sie Ihre Fortschritte ehrlich.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Nächste Module: M12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ACC"/>
                </a:solidFill>
                <a:latin typeface="Arial"/>
              </a:rPr>
              <a:t>M11 · Latente Bedarfe erkennen  ·  v0.2  ·  Benedikt Zoller Coaching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