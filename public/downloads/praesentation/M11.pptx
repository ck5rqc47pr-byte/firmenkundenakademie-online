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3175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M11  ·  v0.2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48000"/>
            <a:ext cx="109728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0" i="0">
                <a:solidFill>
                  <a:srgbClr val="191D2E"/>
                </a:solidFill>
                <a:latin typeface="Georgia"/>
              </a:rPr>
              <a:t>Latente Bedarfe erkennen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461000"/>
            <a:ext cx="5207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4D5270"/>
                </a:solidFill>
                <a:latin typeface="Georgia"/>
              </a:rPr>
              <a:t>Implizite Kundenbedürfnisse durch SPIN-Fragetechnik und aktives Zuhören aufdecken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500" y="5461000"/>
            <a:ext cx="2286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spc="100">
                <a:solidFill>
                  <a:srgbClr val="7B7FA0"/>
                </a:solidFill>
                <a:latin typeface="Courier New"/>
              </a:rPr>
              <a:t>ZIELSTUFE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2500" y="5664200"/>
            <a:ext cx="2286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Sparring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0" y="5461000"/>
            <a:ext cx="2540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spc="100">
                <a:solidFill>
                  <a:srgbClr val="7B7FA0"/>
                </a:solidFill>
                <a:latin typeface="Courier New"/>
              </a:rPr>
              <a:t>DAUER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5664200"/>
            <a:ext cx="2540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90 Min.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00 — LERNZIELE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350000"/>
            <a:ext cx="508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7FA0"/>
                </a:solidFill>
                <a:latin typeface="Courier New"/>
              </a:rPr>
              <a:t>v0.2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02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270000"/>
            <a:ext cx="368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0" i="1">
                <a:solidFill>
                  <a:srgbClr val="1F2B56"/>
                </a:solidFill>
                <a:latin typeface="Georgia"/>
              </a:rPr>
              <a:t>Inhalt.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333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333500"/>
            <a:ext cx="70104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84300"/>
            <a:ext cx="5715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1F2B56"/>
                </a:solidFill>
                <a:latin typeface="Georgia"/>
              </a:rPr>
              <a:t>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0500" y="1409700"/>
            <a:ext cx="622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Explizite von latenten Bedarfen anhand konkreter Gesprächsbeispiele unterscheiden und Kundensignale systematisch zuordnen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095499"/>
            <a:ext cx="70104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46300"/>
            <a:ext cx="5715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1F2B56"/>
                </a:solidFill>
                <a:latin typeface="Georgia"/>
              </a:rPr>
              <a:t>II.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0500" y="2171700"/>
            <a:ext cx="622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Die SPIN-Fragetechnik in simulierten Kundengesprächen anwenden und implizite Problemformulierungen in explizite Bedarfsaussagen überführen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857500"/>
            <a:ext cx="70104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908300"/>
            <a:ext cx="5715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1F2B56"/>
                </a:solidFill>
                <a:latin typeface="Georgia"/>
              </a:rPr>
              <a:t>III.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0500" y="2933700"/>
            <a:ext cx="622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Gesprächsverläufe auf latente Signale (verbal, paraverbal, nonverbal) analysieren und den wahrscheinlichen Hintergrundbedarf benennen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619500"/>
            <a:ext cx="70104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670300"/>
            <a:ext cx="5715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1F2B56"/>
                </a:solidFill>
                <a:latin typeface="Georgia"/>
              </a:rPr>
              <a:t>IV.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0500" y="3695700"/>
            <a:ext cx="622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Die Qualität des eigenen Frageverhaltens in Rollenspielen bewerten und konkrete Verbesserungsschritte ableiten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381500"/>
            <a:ext cx="70104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432300"/>
            <a:ext cx="5715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1F2B56"/>
                </a:solidFill>
                <a:latin typeface="Georgia"/>
              </a:rPr>
              <a:t>V.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0500" y="4457700"/>
            <a:ext cx="622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Situationsgerecht zwischen verschiedenen Fragetechniken wählen und die Wahl begründen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03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MODULINHALTE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Modulinhalte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5524500"/>
            <a:ext cx="459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1">
                <a:solidFill>
                  <a:srgbClr val="7B7FA0"/>
                </a:solidFill>
                <a:latin typeface="Georgia"/>
              </a:rPr>
              <a:t>Das Eisberg-Modell der Kundenbedürfnisse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04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Das Eisberg-Modell der Kundenbedürfnisse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Explizite Bedarfe: Der Kunde benennt klar, was er will. „Ich brauche eine Anschlussfinanzierung für meine Maschine." Explizite Bedarfe entstehen, wenn der Kunde seine Situation analysiert und eine…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Implizite (latente) Bedarfe: Der Kunde beschreibt ein Problem, einen Schmerz oder eine Unzufriedenheit, ohne eine Lösung zu benennen. „Unsere Abschreibungen sind dieses Jahr sehr hoch." Oder: „Ich…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05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Warum Kunden latente Bedarfe nicht artikulieren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Es gibt vier Hauptgründe, warum Kunden ihre eigentlichen Bedarfe nicht spontan nennen (praxisbasiert; vgl. Rackham, 1988, S. 57–62):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1. Unbewusstheit: Der Bedarf ist noch nicht als solcher erkannt. Der Kunde spürt das Problem, hat es aber nicht als lösungswürdig eingeordnet. 2. Schambarriere: Sensitive Themen wie Nachfolge,…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Der Berater, der latente Bedarfe erkennen will, muss aktiv dazu einladen: durch offene Haltung, gezielte Fragen und echtes Zuhören.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06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Typische latente Bedarfsfelder im Firmenkunden-Alltag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Ein Berater braucht ein inneres Radar: Worauf soll ich achten? Die folgende Übersicht zeigt die vier häufigsten Felder – mit typischen Kundensignalen und passendem Gesprächseinstieg: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222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466"/>
                <a:gridCol w="2167466"/>
                <a:gridCol w="2167468"/>
              </a:tblGrid>
              <a:tr h="4445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Bedarfsfeld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Typisches Kundensignal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Einstiegsfrage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Nachfolge / Übergabe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„Mein Sohn ist dabei, aber…" · „Irgendwann mache ich kürzer…" · Abgelenktes Auftreten im Jahresgespräch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„Wer führt das Unternehmen, wenn Sie morgen ausfallen?"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Wachstumsfinanzierung / Investition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„Wir bauen gerade eine zweite Halle…" · „Der Auftragsbestand ist gut" · Keine Anfrage bei der Bank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„Haben Sie den Finanzierungsbedarf schon durchgerechnet, oder ist das noch offen?"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Risikoabsicherung (GF-Ausfall, Schlüsselperson)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Krankheitsepisode erwähnt · „Wenn ich mal nicht mehr da bin…" · Kein Gesellschaftervertrag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„Was passiert mit dem Unternehmen, wenn Sie länger ausfallen – ist das rechtlich und finanziell geregelt?"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Liquiditätspuffer / Krisenvorsorge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Kontokorrent nahe Limit · Saisonale Schwankungen · „Das läuft immer so ein bisschen eng im Frühjahr"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„Welchen Liquiditätspuffer haben Sie für einen größeren Auftragsausfall?"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4.2 SPIN – DAS FRAGETECHNIK-SYSTEM FÜR TIEFE BEDARFE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07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4.2 SPIN – DAS FRAGETECHNIK-SYSTEM FÜR TIEFE BEDARFE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4.2 SPIN – Das Fragetechnik-System für tiefe Bedarfe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5524500"/>
            <a:ext cx="459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1">
                <a:solidFill>
                  <a:srgbClr val="7B7FA0"/>
                </a:solidFill>
                <a:latin typeface="Georgia"/>
              </a:rPr>
              <a:t>Fragetechnik in der Praxis: Drei Tiefen-Ebenen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II · 4.2 SPIN – DAS FRAGETECHNIK-SYSTEM FÜR TIEFE BEDARFE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08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191D2E"/>
                </a:solidFill>
                <a:latin typeface="Georgia"/>
              </a:rPr>
              <a:t>Fragetechnik in der Praxis: Drei Tiefen-Ebenen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159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540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540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Latente Bedarfe liegen oft unter zwei oder drei Gesprächsschichten. Eine einfache Orientierung: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111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175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3175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Ebene 1 – Thema (Was ist das Gesprächsthema?) &gt; „Wie läuft das Geschäft aktuell?"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746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2400" y="2540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2540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Ebene 2 – Problem (Wo drückt der Schuh?) &gt; „Sie sagten, die Personalkosten steigen. Was steckt dahinter?"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2400" y="3111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2400" y="3175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3175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Ebene 3 – Bedeutung (Was steht auf dem Spiel?) &gt; „Wenn sich das fortsetzt: Was bedeutet das für Ihre Pläne für die nächsten fünf Jahre?"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2400" y="3746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2400" y="3810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3810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Erst auf Ebene 3 wird der latente Bedarf sichtbar – und damit auch, welches Produkt oder welche Lösung wirklich passt.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02400" y="4381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4.3 SIGNALE ERKENNEN: DIE VIER KANÄLE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09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III.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4.3 SIGNALE ERKENNEN: DIE VIER KANÄLE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4.3 Signale erkennen: Die vier Kanäle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5524500"/>
            <a:ext cx="459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1">
                <a:solidFill>
                  <a:srgbClr val="7B7FA0"/>
                </a:solidFill>
                <a:latin typeface="Georgia"/>
              </a:rPr>
              <a:t>Übung im Plenum: „Was höre ich wirklich?"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III · 4.3 SIGNALE ERKENNEN: DIE VIER KANÄLE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10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Übung im Plenum: „Was höre ich wirklich?"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Der Trainer liest fünf Kundenaussagen vor. Die Teilnehmenden notieren: (1) Sachinhalt, (2) vermuteter latenter Hintergrund. Anschließend Auswertung im Plenum.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80"/>
                <a:gridCol w="1300480"/>
                <a:gridCol w="1300480"/>
                <a:gridCol w="1300480"/>
                <a:gridCol w="1300480"/>
              </a:tblGrid>
              <a:tr h="4445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#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Aussage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Sachinhalt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Wahrscheinlicher latenter Hintergrund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Einstiegsfrage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„Die Banken geben einem ja momentan viele Angebote."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Marktbeobachtung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Wechselsignal: Der Kunde hat bereits Kontakt zu einer anderen Bank und testet gerade, ob er wechseln soll – oder will prüfen, ob die eigene Bank noch wettbewerbsfähig ist.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„Haben Sie konkrete Angebote erhalten, die Sie mit uns vergleichen möchten?"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„Mein Sohn macht das irgendwann schon."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Optimismus über Nachfolge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Ungeklärte Unternehmensnachfolge: Der Unternehmer weiß, dass die Nachfolge nicht geregelt ist – verdrängt das Thema aber aktiv.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„Wann wäre für Sie der richtige Zeitpunkt, das strukturiert anzugehen?"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„Wir haben dieses Jahr weniger investiert als geplant."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Investitionsrückgang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Liquiditätsdruck oder Unsicherheit: Entweder fehlte das Kapital, oder der Unternehmer traut der Konjunkturlage nicht. Auch möglich: ungelöster Finanzierungsbedarf.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„Was hat das verhindert – war es eher eine Liquiditätsfrage oder eher Unsicherheit über die Marktentwicklung?"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„Eigentlich läuft alles, aber die Mitarbeiter kosten immer mehr."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Personalkosten steigen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Fachkräftebindung und Rentabilitätsdruck: Langfristig Risiko für Wettbewerbsfähigkeit; kurzfristig Bedarf nach Employer-Branding-Lösungen (bAV, KfW-Förderung, Betriebsausrüstung zur Effizienzsteigerung).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„Was tun Sie aktuell, um Schlüsselmitarbeiter zu halten?"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„Ich muss mal schauen, wie sich das mit der Rente entwickelt."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Private Altersvorsorge unklar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Unterversorgte Privatvorsorge des Unternehmers: Viele Selbstständige haben kaum gesetzliche Rente aufgebaut und verdrängen das Thema. Einstieg für R+V oder Union Investment.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„Haben Sie schon mal ausgerechnet, was aus der gesetzlichen Rente bei Ihnen realistisch zu erwarten ist?"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4.4 AKTIVES ZUHÖREN ALS SCHLÜSSELKOMPETENZ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11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IV.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4.4 AKTIVES ZUHÖREN ALS SCHLÜSSELKOMPETENZ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4.4 Aktives Zuhören als Schlüsselkompetenz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4.5 PRAXISCASE: DAS ZINSGESPRÄCH, DAS KEINES 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12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4.5 PRAXISCASE: DAS ZINSGESPRÄCH, DAS KEINES 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4.5 Praxiscase: Das Zinsgespräch, das keines 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4.6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13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VI.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4.6 ARBEITSBLÄTTER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4.6 Arbeitsblätter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5524500"/>
            <a:ext cx="459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1">
                <a:solidFill>
                  <a:srgbClr val="7B7FA0"/>
                </a:solidFill>
                <a:latin typeface="Georgia"/>
              </a:rPr>
              <a:t>Arbeitsblatt A: SPIN-Fragen vorbereiten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VI · 4.6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14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Arbeitsblatt A: SPIN-Fragen vorbereiten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Mein nächstes Kundengespräch: 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Bereiten Sie für jede SPIN-Kategorie mindestens zwei Fragen vor, die zu diesem Kunden passen: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Meine Hypothese: Welchen latenten Bedarf könnte dieser Kunde haben?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4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1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___________________________________________________________________________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15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VII.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PRAXISTRANSFER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Praxistransfer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5.2 SELBSTCHECK NACH 4 WOCHEN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16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VIII.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5.2 SELBSTCHECK NACH 4 WOCHEN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5.2 Selbstcheck nach 4 Wochen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5.3 VERTIEFUNGSLITERATUR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17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5.3 VERTIEFUNGSLITERATUR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5.3 Vertiefungsliteratur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5524500"/>
            <a:ext cx="459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1">
                <a:solidFill>
                  <a:srgbClr val="7B7FA0"/>
                </a:solidFill>
                <a:latin typeface="Georgia"/>
              </a:rPr>
              <a:t>Pflichtlektüre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IX · 5.3 VERTIEFUNGSLITERATUR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18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Pflichtlektüre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Rackham, N. (1988): SPIN Selling – Das empirische Fundament des Moduls. Kapitel 4 (Implied vs. Explicit Needs) und Kapitel 6 (Implication Questions) besonders empfohlen.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IX · 5.3 VERTIEFUNGSLITERATUR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19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Ergänzend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Rogers, C.R. &amp; Farson, R.E. (1957): Active Listening – Grundlagen des aktiven Zuhörens als professionelle Gesprächshaltung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Schulz von Thun, F. (1981): Miteinander Reden – Vier-Seiten-Modell für die Gesprächsanalyse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Hanan, M. (1970): Consultative Selling – Grundlagen beratungsorientierter Gesprächsführung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IX · 5.3 VERTIEFUNGSLITERATUR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20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Praxismaterialien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UnternehmerDialog (Atruvia/agree): Gesprächsleitfaden für strukturierte Bedarfsanalyse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BVR Gesprächsführung im Firmenkundengeschäft: Praxisleitfaden für VR-Banken (Intranet)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DIDAKTIK &amp; KOMPETENZENTWICKLUNG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21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DIDAKTIK &amp; KOMPETENZENTWICKLUNG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Didaktik &amp; Kompetenzentwicklung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GESPRÄCHSFÜHRUNG &amp; KOMMUNIKATION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22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11.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GESPRÄCHSFÜHRUNG &amp; KOMMUNIKATION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Gesprächsführung &amp; Kommunikation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BEDARFSANALYSE &amp; CONSULTATIVE SELLING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23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12.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BEDARFSANALYSE &amp; CONSULTATIVE SELLING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Bedarfsanalyse &amp; Consultative Selling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08000"/>
            <a:ext cx="317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6100"/>
            <a:ext cx="1158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Ende · v0.2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0972800" cy="368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0" i="0">
                <a:solidFill>
                  <a:srgbClr val="191D2E"/>
                </a:solidFill>
                <a:latin typeface="Georgia"/>
              </a:rPr>
              <a:t>Danke.
Fragen?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143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270500"/>
            <a:ext cx="5715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191D2E"/>
                </a:solidFill>
                <a:latin typeface="Georgia"/>
              </a:rPr>
              <a:t>Das vollständige Modul «Latente Bedarfe erkennen» ist auf FKB Campus verfügbar — 5 Lernziele, Praxisfall und Quellenapparat.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5270500"/>
            <a:ext cx="2413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spc="100">
                <a:solidFill>
                  <a:srgbClr val="7B7FA0"/>
                </a:solidFill>
                <a:latin typeface="Courier New"/>
              </a:rPr>
              <a:t>Kontakt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5499100"/>
            <a:ext cx="2413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info@benedikt-zoller.de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5270500"/>
            <a:ext cx="218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spc="100">
                <a:solidFill>
                  <a:srgbClr val="7B7FA0"/>
                </a:solidFill>
                <a:latin typeface="Courier New"/>
              </a:rPr>
              <a:t>Modul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0" y="5499100"/>
            <a:ext cx="2184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M11 · Sparring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