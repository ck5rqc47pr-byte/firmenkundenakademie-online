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20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EE"/>
                </a:solidFill>
                <a:latin typeface="Arial"/>
              </a:rPr>
              <a:t>M01  ·  K-01 Finanzanalyse &amp; Kreditexpertise  ·  Zielstufe: Berater  ·  90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Bilanzlesen für Praktiker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83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CCD6F0"/>
                </a:solidFill>
                <a:latin typeface="Arial"/>
              </a:rPr>
              <a:t>Jahresabschlüsse sicher lesen und für das Kundengespräch nutzen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Trainer-Präsentation  ·  v0.4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804672"/>
            <a:ext cx="11612880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HGB-Bilanzstruktur (Aktiv-/Passivseite) benennen und Positionen zuordnen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GuV-Grundstruktur erklären und Ergebniskomponenten einordnen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Vier zentrale Bilanzkennzahlen (EK-Quote, Anlagendeckung I/II, Current Ratio) berechnen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Kennzahlen eines KMU-Kunden interpretieren und Jahresabweichungen beschreiben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§ 18 KWG-Pflicht erläutern und Handlungsschritte für das Kundengespräch ableiten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4.1 Theorie-Input: Aufbau des HGB-Jahresabschlusses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Was ist ein Jahresabschluss?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Bilanz (§ 266 HGB): </a:t>
            </a:r>
            <a:r>
              <a:rPr sz="1700">
                <a:solidFill>
                  <a:srgbClr val="1A1A1A"/>
                </a:solidFill>
                <a:latin typeface="Arial"/>
              </a:rPr>
              <a:t>Stichtagsbezogene Gegenüberstellung von Vermögen (Aktiva) und Kapital (Passiva). Die Bilanz zeigt, was ein Unternehmen besitzt und wie es finanziert ist.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Gewinn- und Verlustrechnung (§ 275 HGB): </a:t>
            </a:r>
            <a:r>
              <a:rPr sz="1700">
                <a:solidFill>
                  <a:srgbClr val="1A1A1A"/>
                </a:solidFill>
                <a:latin typeface="Arial"/>
              </a:rPr>
              <a:t>Zeitraumbezogene Darstellung von Erträgen und Aufwendungen eines Geschäftsjahres. Sie zeigt, wie ein Unternehmen Geld verdient (oder verliert).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Anhang (§ 284 HGB): </a:t>
            </a:r>
            <a:r>
              <a:rPr sz="1700">
                <a:solidFill>
                  <a:srgbClr val="1A1A1A"/>
                </a:solidFill>
                <a:latin typeface="Arial"/>
              </a:rPr>
              <a:t>Erläuterungen und Ergänzungen zu Bilanz und GuV (z.B. Bilanzierungsmethoden, Haftungsverhältnisse). Für den Kreditgeber oft wertvoller als die nackten Zahlen.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Lagebericht (§ 289 HGB): </a:t>
            </a:r>
            <a:r>
              <a:rPr sz="1700">
                <a:solidFill>
                  <a:srgbClr val="1A1A1A"/>
                </a:solidFill>
                <a:latin typeface="Arial"/>
              </a:rPr>
              <a:t>Lageeinschätzung des Managements, Risikobericht, Ausblick. Nur für mittelgroße und große Unternehmen verpflichtend.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Offenlegungspflichten und Größenklassen (§ 267 HGB)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Größenklasse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Bilanzsumme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Umsatz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Mitarbeiter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Offenlegungspflicht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Klein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≤ 6 Mio. 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≤ 12 Mio. 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≤ 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Verkürzte Bilanz, keine GuV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Mittel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≤ 20 Mio. EUR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≤ 40 Mio. EUR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≤ 250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Bilanz + GuV + Anhang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Groß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&gt; 20 Mio. 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&gt; 40 Mio. 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&gt; 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Vollständig + Lagebericht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Bilanzstruktur: Mittelherkunft und -verwendung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 Goldene Bilanzregel lautet: Langfristig gebundenes Vermögen sollte durch langfristiges Kapital finanziert sein (Fristenkongruenz). Eine Verletzung – z.B.…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Bilanzierungswahlrechte und ihre Wirkung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Wahlrecht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Wirkung defensiv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Wirkung aggressiv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Herstellungskosten (§ 255 HGB)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Niedrige Vorräte, niedrige Gewinne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Hohe Vorräte, hohe Gewinne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GWG-Sofortabschreibung (§ 6 Abs. 2 EStG)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Höhere AfA, niedrigerer Gewinn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Geringere AfA, höherer Gewinn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Rückstellungen (§ 249 HGB)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Höhere Rückstellungen, niedrigerer Gewinn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Niedrigere Rückstellungen, höherer Gewinn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Forderungsbewertung (§ 253 HGB)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Strenge Abwertung bei Zweifeln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Beibehaltung zweifelhafter Forderungen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4.2 Praxisfall: Musterbilanz „Bauer GmbH"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931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6575"/>
                </a:solidFill>
                <a:latin typeface="Arial"/>
              </a:rPr>
              <a:t>Praxisfall &amp; Fallanalyse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M01 · Modulinhalte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228600"/>
            <a:ext cx="11750040" cy="6858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5603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PRAXISFALL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56032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Arial"/>
              </a:rPr>
              <a:t>4.2 Praxisfall: Musterbilanz „Bauer GmbH"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5623560" cy="51206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56575"/>
                </a:solidFill>
                <a:latin typeface="Arial"/>
              </a:rPr>
              <a:t>UNTERNEHMENSPORTRAIT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50876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Arial"/>
              </a:rPr>
              <a:t>Die Bauer GmbH ist ein mittelständischer Maschinenbauer aus Süddeutschland mit ca. 65 Mitarbeitern. Das Unternehmen produziert Sondermaschinen für die Lebensmittelbranche (Einzelfertigung und Kleinserie). Der Gesellschafter-Geschäftsführer führt das Unternehmen seit 18 Jahren. Die VR-Bank ist Hausbank mit einem bestehenden Investitionsdarlehen (Restschuld 780.000 EUR) und einem Kontokorrentrahmen von 400.000 EUR, der in den letzten 12 Monaten dauerhaft zu 85 % ausgelastet war.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005840"/>
            <a:ext cx="5989320" cy="512064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89320" y="1005840"/>
            <a:ext cx="54864" cy="512064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05B00"/>
                </a:solidFill>
                <a:latin typeface="Arial"/>
              </a:rPr>
              <a:t>SITUATION &amp; AUFTRAG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508760"/>
            <a:ext cx="5623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Arial"/>
              </a:rPr>
              <a:t>Der Kunde beantragt ein neues Investitionsdarlehen über 650.000 EUR für eine neue CNC-Fräsmaschine. Sie bereiten die Kreditvorlage vor und lesen den Jahresabschluss 2023.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4.3 Reflexionsfragen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M01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4.3 Reflexionsfragen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457200" cy="41148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1887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Arial"/>
              </a:rPr>
              <a:t>Welche der sechs Kennzahlen war Ihnen vor diesem Modul noch unklar?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20240"/>
            <a:ext cx="457200" cy="41148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9202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9202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Arial"/>
              </a:rPr>
              <a:t>Was ist der kritischste Befund in der Bauer GmbH-Analyse? Wie würden Sie ihn im Kundengespräch ansprechen?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51760"/>
            <a:ext cx="457200" cy="41148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65176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51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Arial"/>
              </a:rPr>
              <a:t>Welcher Kunde in Ihrem Portfolio kommt Ihnen beim Blick auf die Bauer-Bilanz spontan in den Sinn?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83280"/>
            <a:ext cx="457200" cy="41148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3832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3832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Arial"/>
              </a:rPr>
              <a:t>Was werden Sie konkret in den nächsten 30 Tagen anders machen, wenn ein Jahresabschluss auf Ihrem Tisch liegt?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47472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D6F0"/>
                </a:solidFill>
                <a:latin typeface="Arial"/>
              </a:rPr>
              <a:t>PRAXISTRANSFER &amp; NÄCHSTE SCHRITTE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Bewerten Sie Ihre Fortschritte ehrlich.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Nächste Module: M02, M04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M01 · Bilanzlesen für Praktiker  ·  v0.4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