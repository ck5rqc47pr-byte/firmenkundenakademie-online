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M01  ·  v0.4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94000"/>
            <a:ext cx="10972800" cy="20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Bilanzlesen für Praktiker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89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016500"/>
            <a:ext cx="5207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4D5270"/>
                </a:solidFill>
                <a:latin typeface="Georgia"/>
              </a:rPr>
              <a:t>Jahresabschlüsse sicher lesen und für das Kundengespräch nutzen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5016500"/>
            <a:ext cx="254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ZIELSTUFE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500" y="5207000"/>
            <a:ext cx="2540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Berater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0" y="5016500"/>
            <a:ext cx="2667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DAUER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5207000"/>
            <a:ext cx="2667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90 Min.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00 — 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3175000" cy="165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800" b="0" i="1">
                <a:solidFill>
                  <a:srgbClr val="1F2B56"/>
                </a:solidFill>
                <a:latin typeface="Georgia"/>
              </a:rPr>
              <a:t>Inhalt.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0" y="889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4000" y="939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952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HGB-Bilanzstruktur (Aktiv-/Passivseite) benennen und Positionen zuordnen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0" y="1587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4000" y="1638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1651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GuV-Grundstruktur erklären und Ergebniskomponenten einordnen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4000" y="2286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4000" y="23368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349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Vier zentrale Bilanzkennzahlen (EK-Quote, Anlagendeckung I/II, Current Ratio) berechnen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4000" y="2984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4000" y="3035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3048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Kennzahlen eines KMU-Kunden interpretieren und Jahresabweichungen beschreiben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4000" y="3683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4000" y="3733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3746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§ 18 KWG-Pflicht erläutern und Handlungsschritte für das Kundengespräch ableiten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Modulinhalte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4.1 Theorie-Input: Aufbau des HGB-Jahresabschlusses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4.1 Theorie-Input: Aufbau des HGB-Jahresabschlusses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Was ist ein Jahresabschluss?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/>
                <a:gridCol w="1173480"/>
                <a:gridCol w="1173480"/>
                <a:gridCol w="1173480"/>
                <a:gridCol w="117348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Größenklasse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Bilanzsumme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Umsatz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Mitarbeiter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Offenlegungspflicht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Klein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≤ 6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≤ 12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≤ 50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Verkürzte Bilanz, keine GuV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Mittel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≤ 20 Mio.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≤ 40 Mio. EUR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≤ 250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Bilanz + GuV + Anhang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Groß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20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40 Mio. EUR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250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Vollständig + Lagebericht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Wahlrecht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Wirkung defensiv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Wirkung aggressiv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Herstellungskosten (§ 255 HGB)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Niedrige Vorräte, niedrige Gewinne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Hohe Vorräte, hohe Gewinne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GWG-Sofortabschreibung (§ 6 Abs. 2 EStG)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Höhere AfA, niedrigerer Gewinn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Geringere AfA, höherer Gewinn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Rückstellungen (§ 249 HGB)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Höhere Rückstellungen, niedrigerer Gewinn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Niedrigere Rückstellungen, höherer Gewinn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Forderungsbewertung (§ 253 HGB)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Strenge Abwertung bei Zweifeln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Beibehaltung zweifelhafter Forderungen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Was ist ein Jahresabschluss?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Der Jahresabschluss ist die jährliche Zusammenfassung der wirtschaftlichen Lage eines Unternehmens. Für Kapitalgesellschaften (GmbH, AG) schreibt das HGB in §§ 264 ff. folgende Bestandteile vor: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Bilanz (§ 266 HGB): Stichtagsbezogene Gegenüberstellung von Vermögen (Aktiva) und Kapital (Passiva). Die Bilanz zeigt, was ein Unternehmen besitzt und wie es finanziert ist.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Gewinn- und Verlustrechnung (§ 275 HGB): Zeitraumbezogene Darstellung von Erträgen und Aufwendungen eines Geschäftsjahres. Sie zeigt, wie ein Unternehmen Geld verdient (oder verliert).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Anhang (§ 284 HGB): Erläuterungen und Ergänzungen zu Bilanz und GuV (z.B. Bilanzierungsmethoden, Haftungsverhältnisse). Für den Kreditgeber oft wertvoller als die nackten Zahlen.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Lagebericht (§ 289 HGB): Lageeinschätzung des Managements, Risikobericht, Ausblick. Nur für mittelgroße und große Unternehmen verpflichtend.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Offenlegungspflichten und Größenklassen (§ 267 HGB)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Praxishinweis: Viele Ihrer KMU-Kunden sind „kleine" GmbHs – sie legen keine GuV offen. In diesen Fällen müssen Sie die GuV-Daten im Rahmen der Kreditwürdigkeitsprüfung nach § 18 KWG direkt beim Kunden anfordern.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Bilanzstruktur: Mittelherkunft und -verwendung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Die Goldene Bilanzregel lautet: Langfristig gebundenes Vermögen sollte durch langfristiges Kapital finanziert sein (Fristenkongruenz). Eine Verletzung – z.B. kurzfristige Bankdarlehen zur Finanzierung von Maschinen –…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45000" cy="6858000"/>
          </a:xfrm>
          <a:prstGeom prst="rect">
            <a:avLst/>
          </a:prstGeom>
          <a:solidFill>
            <a:srgbClr val="C8A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81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08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762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889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016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143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270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39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52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651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778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905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032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159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413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540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66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79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2921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048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175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3302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3429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3556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683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810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393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406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190999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318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445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572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699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4826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4953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5080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520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533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5461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5588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5715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842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969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096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23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350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47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60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731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2400" y="6477000"/>
            <a:ext cx="419099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3A2A0A"/>
                </a:solidFill>
                <a:latin typeface="Courier New"/>
              </a:rPr>
              <a:t>Praxisfall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 · MODULINHALTE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26000" y="1016000"/>
            <a:ext cx="6731000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Praxisfall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26000" y="1244600"/>
            <a:ext cx="6731000" cy="165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4.2 Praxisfall: Musterbilanz „Bauer GmbH"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26000" y="2984500"/>
            <a:ext cx="6731000" cy="3429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Unternehmensportrait (anonymisiert, branchentypisch) Die Bauer GmbH ist ein mittelständischer Maschinenbauer aus Süddeutschland mit ca. 65 Mitarbeitern. Das Unternehmen produziert Sondermaschinen für die Lebensmittelbranche (Einzelfertigung und Kleinserie). Der Gesellschafter-Geschäftsführer führt das Unternehmen seit 18 Jahren. Die VR-Bank 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4.3 Reflexionsfragen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Welche der sechs Kennzahlen war Ihnen vor diesem Modul noch unklar?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Was ist der kritischste Befund in der Bauer GmbH-Analyse? Wie würden Sie ihn im Kundengespräch ansprechen?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Welcher Kunde in Ihrem Portfolio kommt Ihnen beim Blick auf die Bauer-Bilanz spontan in den Sinn?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Was werden Sie konkret in den nächsten 30 Tagen anders machen, wenn ein Jahresabschluss auf Ihrem Tisch liegt?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Praxistransfer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5.1 Transferaufgabe (30 Tage nach dem Seminar)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5.1 Transferaufgabe (30 Tage nach dem Seminar)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Auftrag: Analysieren Sie in den nächsten 30 Tagen den Jahresabschluss eines Kunden aus Ihrem Portfolio (anonymisiert). Füllen Sie das nachstehende Beobachtungsraster vollständig au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/>
                <a:gridCol w="293370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Feld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Ihre Antwort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Branche des Kunden (keine Eigennamen)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Größe: Umsatz (ca.), Bilanzsumme (ca.)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Verwendeter Abschluss: Jahr, Rechtsform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EK-Quote =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Verschuldungsgrad =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EBIT-Marge =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KDCG =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Liquidität II =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%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Auffälligkeit identifiziert?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Ja / Nein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Falls Ja: Welche Auffälligkeit?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Im Kundengespräch angesprochen?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Ja / Nein / noch nicht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Reaktion des Kunden (kurze Notiz)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Im CRM dokumentiert (§ 18 KWG)?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Ja / Nein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Feedback Teamleiter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/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48260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5.2 Selbstcheck nach 4 Wochen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825750"/>
            <a:ext cx="4826000" cy="101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Skala: 4 = trifft voll zu, 1 = trifft nicht zu | Auswertung: 17–20 Punkte: Transfer gelungen · 12–16: Einzelne Lücken · &lt; 12: Modul wiederholen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15000" y="920750"/>
          <a:ext cx="5867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/>
                <a:gridCol w="1173480"/>
                <a:gridCol w="1173480"/>
                <a:gridCol w="1173480"/>
                <a:gridCol w="117348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Aussage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8F8FA"/>
                          </a:solidFill>
                          <a:latin typeface="Courier New"/>
                        </a:rPr>
                        <a:t>1</a:t>
                      </a:r>
                    </a:p>
                  </a:txBody>
                  <a:tcPr>
                    <a:solidFill>
                      <a:srgbClr val="1F2B56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Ich berechne bei jedem neuen Jahresabschluss mindestens EK-Quote und EBIT-Marge.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Ich nutze das Kennzahlen-Referenzblatt als Hilfsmittel.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Ich habe die 7-Schritte-Checkliste mindestens einmal vollständig angewendet.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Ich kann kritische Kennzahlen im Kundengespräch sachlich ansprechen.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Ich habe meine Bilanzanalyse vollständig im CRM dokumentiert.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91D2E"/>
                          </a:solidFill>
                          <a:latin typeface="Courier New"/>
                        </a:rPr>
                        <a:t>☐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 · 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5.3 Empfohlene Vertiefungsliteratur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Coenenberg, A. G., Haller, A. &amp; Schultze, W. (2021). Jahresabschluss und Jahresabschlussanalyse (26. Aufl.). Schäffer-Poeschel. — Kap. 27–32 für Kennzahlenanalyse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Schierenbeck, H., Lister, M. &amp; Kirmsse, S. (2014). Ertragsorientiertes Bankmanagement (9. Aufl., Bd. 2). Springer Gabler. — Kap. 6 zu Kreditanalyse und Kapitaldienstfähigkeit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KfW Bankengruppe (2023). KfW-Mittelstandspanel 2023. KfW Research. — Aktuelle Benchmarkdaten für KMU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QUELLENAPPARAT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63600"/>
            <a:ext cx="5080000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A0AACC"/>
                </a:solidFill>
                <a:latin typeface="Courier New"/>
              </a:rPr>
              <a:t>Quellenapparat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F8F8FA"/>
                </a:solidFill>
                <a:latin typeface="Georgia"/>
              </a:rPr>
              <a:t>Quellen.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54250"/>
            <a:ext cx="10972800" cy="6350"/>
          </a:xfrm>
          <a:prstGeom prst="rect">
            <a:avLst/>
          </a:prstGeom>
          <a:solidFill>
            <a:srgbClr val="3A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3177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Anderson, L. W. &amp; Krathwohl, D. R. (Hrsg.). (2001). A taxonomy for learning, teaching, and assessing: A revision of Bloom's taxonomy of…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003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Barrows, H. S. (1986). A taxonomy of problem-based learning methods. Medical Education, 20(6), 481–486.…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2829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Bundesanstalt für Finanzdienstleistungsaufsicht (BaFin). (2021). Mindestanforderungen an das Risikomanagement (MaRisk). BaFin.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655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Coenenberg, A. G., Haller, A. &amp; Schultze, W. (2021). Jahresabschluss und Jahresabschlussanalyse: Betriebswirtschaftliche,…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481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Creditreform. (2023). Wirtschaftsreport Deutschland 2023: Branchenanalyse Maschinenbau. Creditreform Wirtschaftsforschung.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7307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Dreyfus, S. E. &amp; Dreyfus, H. L. (1980). A five-stage model of the mental activities involved in directed skill acquisition. University of…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23177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KfW Bankengruppe. (2023). KfW-Mittelstandspanel 2023: Mittelstand im Wandel. KfW Research.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28003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Kirkpatrick, D. L. (1994). Evaluating training programs: The four levels. Berrett-Koehler.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32829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Knowles, M. S. (1975). Self-directed learning: A guide for learners and teachers. Association Press.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7655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Kolb, D. A. (1984). Experiential learning: Experience as the source of learning and development. Prentice-Hall.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2481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Schierenbeck, H., Lister, M. &amp; Kirmsse, S. (2014). Ertragsorientiertes Bankmanagement (9. Aufl., Bd. 2): Risiko-Controlling und integrierte…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Ende · v0.4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0972800" cy="355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600" b="0" i="0">
                <a:solidFill>
                  <a:srgbClr val="191D2E"/>
                </a:solidFill>
                <a:latin typeface="Georgia"/>
              </a:rPr>
              <a:t>Danke.
Fragen?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2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953000"/>
            <a:ext cx="5715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Modul «Bilanzlesen für Praktiker» auf FKB Campus — 5 Lernziele, Praxisfall und Quellenapparat.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4953000"/>
            <a:ext cx="2413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Kontakt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0" y="5156200"/>
            <a:ext cx="24130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info@benedikt-zoller.de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4953000"/>
            <a:ext cx="2184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0" y="5156200"/>
            <a:ext cx="21844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M01 · Berater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