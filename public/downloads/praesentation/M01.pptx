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M01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Bilanzlesen für Praktiker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Jahresabschlüsse sicher lesen und für das Kundengespräch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HGB-Bilanzstruktur (Aktiv-/Passivseite) benennen und Positionen zuordnen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GuV-Grundstruktur erklären und Ergebniskomponenten einordnen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Vier zentrale Bilanzkennzahlen (EK-Quote, Anlagendeckung I/II, Current Ratio) berechnen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Kennzahlen eines KMU-Kunden interpretieren und Jahresabweichungen beschreiben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§ 18 KWG-Pflicht erläutern und Handlungsschritte für das Kundengespräch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Aufbau des HGB-Jahresabschlusses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Aufbau des HGB-Jahresabschlusses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Was ist ein Jahresabschluss?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Größenklasse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Offenlegungspflicht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6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Verkürzte Bilanz, keine GuV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 + GuV + Anhang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40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&gt;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Vollständig + Lagebericht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Wahlrecht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Wirkung defensiv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Wirkung aggressiv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Herstellungskosten (§ 255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Vorräte, niedrige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Vorräte, hohe Gewinne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GWG-Sofortabschreibung (§ 6 Abs. 2 EStG)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AfA, niedrigerer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Geringere AfA, höherer 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 (§ 249 HGB)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Höhere Rückstellungen, niedrigerer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Niedrigere Rückstellungen, höherer 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Forderungsbewertung (§ 253 HGB)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Strenge Abwertung bei Zweifeln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Beibehaltung zweifelhafter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ist ein Jahresabschluss?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Der Jahresabschluss ist die jährliche Zusammenfassung der wirtschaftlichen Lage eines Unternehmens. Für Kapitalgesellschaften (GmbH, AG) schreibt das HGB in §§ 264 ff. folgende Bestandteile vor: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Bilanz (§ 266 HGB): Stichtagsbezogene Gegenüberstellung von Vermögen (Aktiva) und Kapital (Passiva). Die Bilanz zeigt, was ein Unternehmen besitzt und wie es finanziert ist.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Gewinn- und Verlustrechnung (§ 275 HGB): Zeitraumbezogene Darstellung von Erträgen und Aufwendungen eines Geschäftsjahres. Sie zeigt, wie ein Unternehmen Geld verdient (oder verliert).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Anhang (§ 284 HGB): Erläuterungen und Ergänzungen zu Bilanz und GuV (z.B. Bilanzierungsmethoden, Haftungsverhältnisse). Für den Kreditgeber oft wertvoller als die nackten Zahlen.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Lagebericht (§ 289 HGB): Lageeinschätzung des Managements, Risikobericht, Ausblick. Nur für mittelgroße und große Unternehmen verpflichtend.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Offenlegungspflichten und Größenklassen (§ 267 HGB)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Praxishinweis: Viele Ihrer KMU-Kunden sind „kleine" GmbHs – sie legen keine GuV offen. In diesen Fällen müssen Sie die GuV-Daten im Rahmen der Kreditwürdigkeitsprüfung nach § 18 KWG direkt beim Kunden anfordern.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Bilanzstruktur: Mittelherkunft und -verwendung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Goldene Bilanzregel lautet: Langfristig gebundenes Vermögen sollte durch langfristiges Kapital finanziert sein (Fristenkongruenz). Eine Verletzung – z.B. kurzfristige Bankdarlehen zur Finanzierung von Maschinen –…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Praxisfall: Musterbilanz „Bauer GmbH"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04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Unternehmensportrait (anonymisiert, branchentypisch) Die Bauer GmbH ist ein mittelständischer Maschinenbauer aus Süddeutschland mit ca. 65 Mitarbeitern. Das Unternehmen produziert Sondermaschinen für die Lebensmittelbranche (Einzelfertigung und Kleinserie). Der Gesellschafter-Geschäftsführer führt das Unternehmen seit 18 Jahren. Die VR-Bank 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der sechs Kennzahlen war Ihnen vor diesem Modul noch unklar?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ist der kritischste Befund in der Bauer GmbH-Analyse? Wie würden Sie ihn im Kundengespräch ansprechen?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Welcher Kunde in Ihrem Portfolio kommt Ihnen beim Blick auf die Bauer-Bilanz spontan in den Sinn?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werden Sie konkret in den nächsten 30 Tagen anders machen, wenn ein Jahresabschluss auf Ihrem Tisch liegt?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(30 Tage nach dem Seminar)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(30 Tage nach dem Seminar)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Auftrag: Analysieren Sie in den nächsten 30 Tagen den Jahresabschluss eines Kunden aus Ihrem Portfolio (anonymisiert). Füllen Sie das nachstehende Beobachtungsraster vollständig au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71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des Kunden (keine Eigennamen)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Größe: Umsatz (ca.), Bilanzsumme (ca.)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Verwendeter Abschluss: Jahr, Rechtsform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EK-Quote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Verschuldungsgrad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KDCG =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Liquidität II =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Auffälligkeit identifiziert?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Falls Ja: Welche Auffälligkeit?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Kundengespräch angesprochen?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 / noch nicht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Reaktion des Kunden (kurze Notiz)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Im CRM dokumentiert (§ 18 KWG)?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 / Nein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Feedback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Skala: 4 = trifft voll zu, 1 = trifft nicht zu | Auswertung: 17–20 Punkte: Transfer gelungen · 12–16: Einzelne Lücken · &lt; 12: Modul wiederholen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Coenenberg, A. G., Haller, A. &amp; Schultze, W. (2021). Jahresabschluss und Jahresabschlussanalyse (26. Aufl.). Schäffer-Poeschel. — Kap. 27–32 für Kennzahlenanalyse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 &amp; Kirmsse, S. (2014). Ertragsorientiertes Bankmanagement (9. Aufl., Bd. 2). Springer Gabler. — Kap. 6 zu Kreditanalyse und Kapitaldienstfähigkeit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 Bankengruppe (2023). KfW-Mittelstandspanel 2023. KfW Research. — Aktuelle Benchmarkdaten für KMU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«Bilanzlesen für Praktiker»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M01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