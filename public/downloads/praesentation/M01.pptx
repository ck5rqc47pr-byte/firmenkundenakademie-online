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M01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Bilanzlesen für Praktiker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HGB-Bilanzstruktur (Aktiv-/Passivseite) benennen und Positionen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GuV-Grundstruktur erklären und Ergebniskomponenten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zentrale Bilanzkennzahlen (EK-Quote, Anlagendeckung I/II, Current Ratio) berechnen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eines KMU-Kunden interpretieren und Jahresabweichungen beschreiben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Bilanzen wirklich zeigen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Und was sie verschweigen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Dokumente — eine Geschichte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Bilanz: Was besitzt das Unternehmen, wer hat es finanziert?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GuV: Wie verdient es sein Geld — oder verliert es?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Anhang: Was steckt hinter den Zahlen? (Oft wertvoller als die Bilanz)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Lagebericht: Wie schätzt das Management die Zukunft ein?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Viele KMU legen keine GuV offen — Sie müssen sie anfordern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Kleine GmbHs (Bilanzsumme ≤ 6 Mio., Umsatz ≤ 12 Mio., ≤ 50 MA) müssen nur eine verkürzte Bilanz einreichen. GuV und Anhang entfallen. Für die Kreditwürdigkeitsprüfung nach § 18 KWG reicht das nicht.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Konsequenz für den Berater: Immer GuV direkt beim Kunden anfordern — nicht auf den Bundesanzeiger warten.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Wer muss was offenlegen? (§ 267 HGB)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Größenklasse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Offenlegung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12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Nur verkürzte Bilanz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20 Mio.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40 Mio.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BILANZEN KÖNNEN TÄUSCHEN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Bilanzen können täuschen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Wahlrechte als Steuerungsinstrument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BILANZEN KÖNNEN TÄUSCHEN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Defensiv oder aggressiv — der Unternehmer entscheidet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Wahlrecht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Defensiv (niedrigerer Gewinn)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Aggressiv (höherer Gewinn)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Herstellungskosten §255 HGB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GWG-Sofortabschreibung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AfA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Geringere AfA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 §249 HGB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Rückstellungen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Rückstellungen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Forderungsbewertung §253 HGB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Strenge Abwertung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BILANZEN KÖNNEN TÄUSCHEN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62000"/>
            <a:ext cx="2032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0" b="0" i="1">
                <a:solidFill>
                  <a:srgbClr val="D9BF7A"/>
                </a:solidFill>
                <a:latin typeface="Georgia"/>
              </a:rPr>
              <a:t>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286000"/>
            <a:ext cx="10972800" cy="241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1">
                <a:solidFill>
                  <a:srgbClr val="F8F8FA"/>
                </a:solidFill>
                <a:latin typeface="Georgia"/>
              </a:rPr>
              <a:t>Bilanzen lügen nicht. Aber wer sie schreibt, entscheidet, wie viel Wahrheit darin steckt.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4826000"/>
            <a:ext cx="43180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4953000"/>
            <a:ext cx="406400" cy="406400"/>
          </a:xfrm>
          <a:prstGeom prst="rect">
            <a:avLst/>
          </a:prstGeom>
          <a:solidFill>
            <a:srgbClr val="D9B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5003800"/>
            <a:ext cx="406400" cy="30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3A2A0A"/>
                </a:solidFill>
                <a:latin typeface="Courier New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4953000"/>
            <a:ext cx="4064000" cy="241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8F8FA"/>
                </a:solidFill>
                <a:latin typeface="Georgia"/>
              </a:rPr>
              <a:t>Roland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5207000"/>
            <a:ext cx="4064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FKB Campus Trainer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SECHS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Sechs Kennzahlen, die entscheiden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ein Berater auf einen Blick sehen muss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SECHS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Basis-Set: Stabilität, Ertrag, Liquidität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EK-Quote = EK ÷ Bilanzsumme → Benchmark: ≥ 30 % (Mittelstand)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Verschuldungsgrad = FK ÷ EK → Je niedriger, desto stabiler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EBIT-Marge = EBIT ÷ Umsatz → Benchmark Maschinenbau: 6,1 %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KDCG = (JÜ + AfA + Zinsen) ÷ (Tilgung + Zinsen) → Mindest: ≥ 1,20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Liquidität II = (Ford. + Kasse) ÷ kurzfristige Verbindlichk. → ≥ 100 %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Anlagendeckung II = (EK + langfr. FK) ÷ Anlagevermögen → ≥ 100 %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SECHS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KDCG unter 1,0: Warnsignal — nicht erst beim nächsten Jahresabschluss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Kapitaldienstdeckungsgrad zeigt, ob das Unternehmen seinen Schuldendienst aus dem laufenden Cashflow decken kann. Ein KDCG &lt; 1,0 bedeutet: Der Kredit wird aus der Substanz bedient.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Handlungspflicht: MaRisk verlangt strukturierte Dokumentation und Reaktion. Nicht abwarten — ansprechen.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JETZT AM KONKRETEN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Jetzt am konkreten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Bauer GmbH — Kreditentscheidung vorbereiten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IV · JETZT AM KONKRETEN FALL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Bauer GmbH — 650.000 EUR Investitionsdarlehen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Maschinenbauer, 65 MA, Hausbank seit Jahren. KK-Linie (400 TEUR) dauerhaft zu 85 % ausgelastet. Jetzt Antrag für neue CNC-Fräsmaschine. Sie bereiten die Kreditvorlage vor — der Jahresabschluss 2023 liegt auf dem Tisch.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NEHMEN SIE MIT?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nehmen Sie mit?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für die nächsten 30 Tage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 · WAS NEHMEN SIE MIT?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 für die nächsten 30 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Nehmen Sie einen Kunden aus Ihrem Portfolio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Berechnen Sie alle sechs Kennzahlen systematisch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Identifizieren Sie eine Auffälligkeit — sprechen Sie sie an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Dokumentieren Sie das Ergebnis im CRM (§ 18 KWG)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Besprechen Sie den Befund mit Ihrem Teamleiter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 (BaFin). (2021). Mindestanforderungen an das Risikomanagement (MaRisk). BaFin.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Coenenberg, A. G., Haller, A. &amp; Schultze, W. (2021). Jahresabschluss und Jahresabschlussanalyse: Betriebswirtschaftliche,…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Creditreform. (2023). Wirtschaftsreport Deutschland 2023: Branchenanalyse Maschinenbau. Creditreform Wirtschaftsforschung.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 involved in directed skill acquisition. University of…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KfW Bankengruppe. (2023). KfW-Mittelstandspanel 2023: Mittelstand im Wandel. KfW Research.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Knowles, M. S. (1975). Self-directed learning: A guide for learners and teachers. Association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Schierenbeck, H., Lister, M. &amp; Kirmsse, S. (2014). Ertragsorientiertes Bankmanagement (9. Aufl., Bd. 2): Risiko-Controlling und integrierte…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«Bilanzlesen für Praktiker»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M01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