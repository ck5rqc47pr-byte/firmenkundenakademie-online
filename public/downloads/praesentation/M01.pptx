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M01  · 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Bilanzlesen für Praktiker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Jahresabschlüsse sicher lesen und für das Kundengespräch nutzen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Berater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90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HGB-Bilanzstruktur (Aktiv-/Passivseite) benennen und Positionen zuordnen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GuV-Grundstruktur erklären und Ergebniskomponenten einordnen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Vier zentrale Bilanzkennzahlen (EK-Quote, Anlagendeckung I/II, Current Ratio) berechnen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Kennzahlen eines KMU-Kunden interpretieren und Jahresabweichungen beschreiben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83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733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746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§ 18 KWG-Pflicht erläutern und Handlungsschritte für das Kundengespräch ableiten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4.1 Theorie-Input: Aufbau des HGB-Jahresabschlusses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 Theorie-Input: Aufbau des HGB-Jahresabschlusses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Was ist ein Jahresabschluss?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480"/>
                <a:gridCol w="1173480"/>
                <a:gridCol w="1173480"/>
                <a:gridCol w="1173480"/>
                <a:gridCol w="117348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Größenklasse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Bilanzsumme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Umsatz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Mitarbeiter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Offenlegungspflicht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Klein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6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12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50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Verkürzte Bilanz, keine GuV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Mittel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20 Mio.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40 Mio.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250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Bilanz + GuV + Anhang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Groß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20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40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250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Vollständig + Lagebericht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Wahlrecht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Wirkung defensiv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Wirkung aggressiv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Herstellungskosten (§ 255 HGB)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Niedrige Vorräte, niedrige Gewinne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Hohe Vorräte, hohe Gewinne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GWG-Sofortabschreibung (§ 6 Abs. 2 EStG)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Höhere AfA, niedrigerer Gewinn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Geringere AfA, höherer Gewinn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Rückstellungen (§ 249 HGB)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Höhere Rückstellungen, niedrigerer Gewinn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Niedrigere Rückstellungen, höherer Gewinn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Forderungsbewertung (§ 253 HGB)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Strenge Abwertung bei Zweifeln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Beibehaltung zweifelhafter Forderungen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Was ist ein Jahresabschluss?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Der Jahresabschluss ist die jährliche Zusammenfassung der wirtschaftlichen Lage eines Unternehmens. Für Kapitalgesellschaften (GmbH, AG) schreibt das HGB in §§ 264 ff. folgende Bestandteile vor: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Bilanz (§ 266 HGB): Stichtagsbezogene Gegenüberstellung von Vermögen (Aktiva) und Kapital (Passiva). Die Bilanz zeigt, was ein Unternehmen besitzt und wie es finanziert ist.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Gewinn- und Verlustrechnung (§ 275 HGB): Zeitraumbezogene Darstellung von Erträgen und Aufwendungen eines Geschäftsjahres. Sie zeigt, wie ein Unternehmen Geld verdient (oder verliert).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Anhang (§ 284 HGB): Erläuterungen und Ergänzungen zu Bilanz und GuV (z.B. Bilanzierungsmethoden, Haftungsverhältnisse). Für den Kreditgeber oft wertvoller als die nackten Zahlen.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Lagebericht (§ 289 HGB): Lageeinschätzung des Managements, Risikobericht, Ausblick. Nur für mittelgroße und große Unternehmen verpflichtend.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Offenlegungspflichten und Größenklassen (§ 267 HGB)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&gt; Praxishinweis: Viele Ihrer KMU-Kunden sind „kleine" GmbHs – sie legen keine GuV offen. In diesen Fällen müssen Sie die GuV-Daten im Rahmen der Kreditwürdigkeitsprüfung nach § 18 KWG direkt beim Kunden anfordern.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Bilanzstruktur: Mittelherkunft und -verwendung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Goldene Bilanzregel lautet: Langfristig gebundenes Vermögen sollte durch langfristiges Kapital finanziert sein (Fristenkongruenz). Eine Verletzung – z.B. kurzfristige Bankdarlehen zur Finanzierung von Maschinen –…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445000" cy="6858000"/>
          </a:xfrm>
          <a:prstGeom prst="rect">
            <a:avLst/>
          </a:prstGeom>
          <a:solidFill>
            <a:srgbClr val="C8A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5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8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0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3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76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88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101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114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127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39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152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165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77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90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03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215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228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41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54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266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79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292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04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317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330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342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55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68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381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93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406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90999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31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444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457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469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482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495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508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520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533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546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558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571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84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596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09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22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0" y="635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647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660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73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52400" y="6477000"/>
            <a:ext cx="4190999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3A2A0A"/>
                </a:solidFill>
                <a:latin typeface="Courier New"/>
              </a:rPr>
              <a:t>Praxisfall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26000" y="1016000"/>
            <a:ext cx="6731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Praxisfall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26000" y="1244600"/>
            <a:ext cx="6731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4.2 Praxisfall: Musterbilanz „Bauer GmbH"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26000" y="2984500"/>
            <a:ext cx="6731000" cy="3429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Unternehmensportrait (anonymisiert, branchentypisch) Die Bauer GmbH ist ein mittelständischer Maschinenbauer aus Süddeutschland mit ca. 65 Mitarbeitern. Das Unternehmen produziert Sondermaschinen für die Lebensmittelbranche (Einzelfertigung und Kleinserie). Der Gesellschafter-Geschäftsführer führt das Unternehmen seit 18 Jahren. Die VR-Bank 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4.3 Reflexionsfragen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Welche der sechs Kennzahlen war Ihnen vor diesem Modul noch unklar?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Was ist der kritischste Befund in der Bauer GmbH-Analyse? Wie würden Sie ihn im Kundengespräch ansprechen?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Welcher Kunde in Ihrem Portfolio kommt Ihnen beim Blick auf die Bauer-Bilanz spontan in den Sinn?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Was werden Sie konkret in den nächsten 30 Tagen anders machen, wenn ein Jahresabschluss auf Ihrem Tisch liegt?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5.1 Transferaufgabe (30 Tage nach dem Seminar)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5.1 Transferaufgabe (30 Tage nach dem Seminar)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Auftrag: Analysieren Sie in den nächsten 30 Tagen den Jahresabschluss eines Kunden aus Ihrem Portfolio (anonymisiert). Füllen Sie das nachstehende Beobachtungsraster vollständig au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571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700"/>
                <a:gridCol w="29337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Feld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Ihre Antwort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Branche des Kunden (keine Eigennamen)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Größe: Umsatz (ca.), Bilanzsumme (ca.)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Verwendeter Abschluss: Jahr, Rechtsform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EK-Quote =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Verschuldungsgrad =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EBIT-Marge =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KDCG =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Liquidität II =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Auffälligkeit identifiziert?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 / Nein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Falls Ja: Welche Auffälligkeit?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Im Kundengespräch angesprochen?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 / Nein / noch nicht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Reaktion des Kunden (kurze Notiz)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Im CRM dokumentiert (§ 18 KWG)?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 / Nein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Feedback Teamleiter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5.2 Selbstcheck nach 4 Wochen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Skala: 4 = trifft voll zu, 1 = trifft nicht zu | Auswertung: 17–20 Punkte: Transfer gelungen · 12–16: Einzelne Lücken · &lt; 12: Modul wiederholen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480"/>
                <a:gridCol w="1173480"/>
                <a:gridCol w="1173480"/>
                <a:gridCol w="1173480"/>
                <a:gridCol w="117348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Aussage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4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3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2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berechne bei jedem neuen Jahresabschluss mindestens EK-Quote und EBIT-Marge.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nutze das Kennzahlen-Referenzblatt als Hilfsmittel.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habe die 7-Schritte-Checkliste mindestens einmal vollständig angewendet.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kann kritische Kennzahlen im Kundengespräch sachlich ansprechen.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habe meine Bilanzanalyse vollständig im CRM dokumentiert.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5.3 Empfohlene Vertiefungsliteratur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Coenenberg, A. G., Haller, A. &amp; Schultze, W. (2021). Jahresabschluss und Jahresabschlussanalyse (26. Aufl.). Schäffer-Poeschel. — Kap. 27–32 für Kennzahlenanalyse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Schierenbeck, H., Lister, M. &amp; Kirmsse, S. (2014). Ertragsorientiertes Bankmanagement (9. Aufl., Bd. 2). Springer Gabler. — Kap. 6 zu Kreditanalyse und Kapitaldienstfähigkeit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KfW Bankengruppe (2023). KfW-Mittelstandspanel 2023. KfW Research. — Aktuelle Benchmarkdaten für KMU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Quellen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«Bilanzlesen für Praktiker» auf FKB Campus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M01 · Berater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