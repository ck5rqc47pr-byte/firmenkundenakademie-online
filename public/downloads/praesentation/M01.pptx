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M01  · 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3048000"/>
            <a:ext cx="10972800" cy="215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Bilanzlesen für Praktiker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334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461000"/>
            <a:ext cx="52070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4D5270"/>
                </a:solidFill>
                <a:latin typeface="Georgia"/>
              </a:rPr>
              <a:t>Jahresabschlüsse sicher lesen und für das Kundengespräch nutzen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461000"/>
            <a:ext cx="2286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spc="10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664200"/>
            <a:ext cx="2286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Berater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0" y="5461000"/>
            <a:ext cx="2540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spc="10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0" y="5664200"/>
            <a:ext cx="2540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90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350000"/>
            <a:ext cx="508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B7FA0"/>
                </a:solidFill>
                <a:latin typeface="Courier New"/>
              </a:rPr>
              <a:t>v0.4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02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270000"/>
            <a:ext cx="368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333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0" y="1333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384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70500" y="1409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HGB-Bilanzstruktur (Aktiv-/Passivseite) benennen und Positionen zuordnen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95499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146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0500" y="2171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GuV-Grundstruktur erklären und Ergebniskomponenten einordnen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2857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908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III.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0500" y="2933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Vier zentrale Bilanzkennzahlen (EK-Quote, Anlagendeckung I/II, Current Ratio) berechnen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3619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3670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IV.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0500" y="3695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Kennzahlen eines KMU-Kunden interpretieren und Jahresabweichungen beschreiben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4381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432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V.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0500" y="4457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§ 18 KWG-Pflicht erläutern und Handlungsschritte für das Kundengespräch ableiten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4.1 Theorie-Input: Aufbau des HGB-Jahresabschlusses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4.1 Theorie-Input: Aufbau des HGB-Jahresabschlusses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Was ist ein Jahresabschluss?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480"/>
                <a:gridCol w="1300480"/>
                <a:gridCol w="1300480"/>
                <a:gridCol w="1300480"/>
                <a:gridCol w="1300480"/>
              </a:tblGrid>
              <a:tr h="423333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Größenklasse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Bilanzsumme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Umsatz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Mitarbeiter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Offenlegungspflicht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233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Klein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≤ 6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≤ 12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≤ 50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Verkürzte Bilanz, keine GuV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233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Mittel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≤ 20 Mio.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≤ 40 Mio.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≤ 250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Bilanz + GuV + Anhang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233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Groß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&gt; 20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&gt; 40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&gt; 250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Vollständig + Lagebericht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233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Wahlrecht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Wirkung defensiv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Wirkung aggressiv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233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Herstellungskosten (§ 255 HGB)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Niedrige Vorräte, niedrige Gewinne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Hohe Vorräte, hohe Gewinne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233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GWG-Sofortabschreibung (§ 6 Abs. 2 EStG)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Höhere AfA, niedrigerer Gewinn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Geringere AfA, höherer Gewinn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233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Rückstellungen (§ 249 HGB)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Höhere Rückstellungen, niedrigerer Gewinn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Niedrigere Rückstellungen, höherer Gewinn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2333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Forderungsbewertung (§ 253 HGB)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Strenge Abwertung bei Zweifeln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Beibehaltung zweifelhafter Forderungen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Was ist ein Jahresabschluss?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Der Jahresabschluss ist die jährliche Zusammenfassung der wirtschaftlichen Lage eines Unternehmens. Für Kapitalgesellschaften (GmbH, AG) schreibt das HGB in §§ 264 ff. folgende Bestandteile vor: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Bilanz (§ 266 HGB): Stichtagsbezogene Gegenüberstellung von Vermögen (Aktiva) und Kapital (Passiva). Die Bilanz zeigt, was ein Unternehmen besitzt und wie es finanziert ist.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Gewinn- und Verlustrechnung (§ 275 HGB): Zeitraumbezogene Darstellung von Erträgen und Aufwendungen eines Geschäftsjahres. Sie zeigt, wie ein Unternehmen Geld verdient (oder verliert).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Anhang (§ 284 HGB): Erläuterungen und Ergänzungen zu Bilanz und GuV (z.B. Bilanzierungsmethoden, Haftungsverhältnisse). Für den Kreditgeber oft wertvoller als die nackten Zahlen.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97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6000" y="495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Lagebericht (§ 289 HGB): Lageeinschätzung des Managements, Risikobericht, Ausblick. Nur für mittelgroße und große Unternehmen verpflichtend.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Offenlegungspflichten und Größenklassen (§ 267 HGB)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&gt; Praxishinweis: Viele Ihrer KMU-Kunden sind „kleine" GmbHs – sie legen keine GuV offen. In diesen Fällen müssen Sie die GuV-Daten im Rahmen der Kreditwürdigkeitsprüfung nach § 18 KWG direkt beim…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Bilanzstruktur: Mittelherkunft und -verwendung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Die Goldene Bilanzregel lautet: Langfristig gebundenes Vermögen sollte durch langfristiges Kapital finanziert sein (Fristenkongruenz). Eine Verletzung – z.B. kurzfristige Bankdarlehen zur…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08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699000" cy="6858000"/>
          </a:xfrm>
          <a:prstGeom prst="rect">
            <a:avLst/>
          </a:prstGeom>
          <a:solidFill>
            <a:srgbClr val="CAB0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1524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3048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4572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096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7620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9144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10668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2192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13716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15240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6764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8288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981199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21336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22860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4384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5908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27432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8956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30480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2004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33528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35052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36576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8100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962399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41148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42672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44196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5720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7244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48768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0292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1816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53340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54864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56388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57912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59436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0960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62484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64008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65532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67056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52400" y="6477000"/>
            <a:ext cx="444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spc="100">
                <a:solidFill>
                  <a:srgbClr val="3A2A0A"/>
                </a:solidFill>
                <a:latin typeface="Courier New"/>
              </a:rPr>
              <a:t>4.2 PRAXISFALL: MUSTERBILANZ „BAUER GMBH"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54600" y="1270000"/>
            <a:ext cx="6527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PRAXISFALL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54600" y="1524000"/>
            <a:ext cx="65278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 i="0">
                <a:solidFill>
                  <a:srgbClr val="191D2E"/>
                </a:solidFill>
                <a:latin typeface="Georgia"/>
              </a:rPr>
              <a:t>4.2 Praxisfall: Musterbilanz „Bauer GmbH"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54600" y="3683000"/>
            <a:ext cx="6527800" cy="190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4D5270"/>
                </a:solidFill>
                <a:latin typeface="Georgia"/>
              </a:rPr>
              <a:t>Unternehmensportrait (anonymisiert, branchentypisch) Die Bauer GmbH ist ein mittelständischer Maschinenbauer aus Süddeutschland mit ca. 65 Mitarbeitern. Das Unternehmen produziert Sondermaschinen für die Lebensmittelbranche (Einzelfertigung und Kleinserie). Der Gesellschafter-Geschäftsführer führt das Unternehmen seit 18 Jahren. Die VR-Bank ist Hausbank mit einem bestehenden Investitionsdarle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4.3 Reflexionsfragen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Beantworten Sie diese Fragen am Ende des Moduls schriftlich (5 Minuten):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1. Welche der sechs Kennzahlen war Ihnen vor diesem Modul noch unklar? 2. Was ist der kritischste Befund in der Bauer GmbH-Analyse? Wie würden Sie ihn im Kundengespräch ansprechen? 3. Welcher Kunde…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5.1 Transferaufgabe (30 Tage nach dem Seminar)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5.1 Transferaufgabe (30 Tage nach dem Seminar)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Auftrag: Analysieren Sie in den nächsten 30 Tagen den Jahresabschluss eines Kunden aus Ihrem Portfolio (anonymisiert). Füllen Sie das nachstehende Beobachtungsraster vollständig aus und besprechen Sie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1200"/>
                <a:gridCol w="3251200"/>
              </a:tblGrid>
              <a:tr h="2540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Feld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Ihre Antwort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Branche des Kunden (keine Eigennamen)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Größe: Umsatz (ca.), Bilanzsumme (ca.)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Verwendeter Abschluss: Jahr, Rechtsform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EK-Quote =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Verschuldungsgrad =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EBIT-Marge =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KDCG =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Liquidität II =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Auffälligkeit identifiziert?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Ja / Nein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Falls Ja: Welche Auffälligkeit?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Im Kundengespräch angesprochen?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Ja / Nein / noch nicht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Reaktion des Kunden (kurze Notiz)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Im CRM dokumentiert (§ 18 KWG)?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Ja / Nein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Feedback Teamleiter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5.2 Selbstcheck nach 4 Wochen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Skala: 4 = trifft voll zu, 1 = trifft nicht zu | Auswertung: 17–20 Punkte: Transfer gelungen · 12–16: Einzelne Lücken · &lt; 12: Modul wiederholen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480"/>
                <a:gridCol w="1300480"/>
                <a:gridCol w="1300480"/>
                <a:gridCol w="1300480"/>
                <a:gridCol w="1300480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Aussage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4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3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2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berechne bei jedem neuen Jahresabschluss mindestens EK-Quote und EBIT-Marge.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nutze das Kennzahlen-Referenzblatt als Hilfsmittel.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habe die 7-Schritte-Checkliste mindestens einmal vollständig angewendet.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kann kritische Kennzahlen im Kundengespräch sachlich ansprechen.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habe meine Bilanzanalyse vollständig im CRM dokumentiert.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5.3 Empfohlene Vertiefungsliteratur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Coenenberg, A. G., Haller, A. &amp; Schultze, W. (2021). Jahresabschluss und Jahresabschlussanalyse (26. Aufl.). Schäffer-Poeschel. — Kap. 27–32 für Kennzahlenanalyse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Schierenbeck, H., Lister, M. &amp; Kirmsse, S. (2014). Ertragsorientiertes Bankmanagement (9. Aufl., Bd. 2). Springer Gabler. — Kap. 6 zu Kreditanalyse und Kapitaldienstfähigkeit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KfW Bankengruppe (2023). KfW-Mittelstandspanel 2023. KfW Research. — Aktuelle Benchmarkdaten für KMU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QUELLENAPPARAT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508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spc="100">
                <a:solidFill>
                  <a:srgbClr val="7B7FA0"/>
                </a:solidFill>
                <a:latin typeface="Courier New"/>
              </a:rPr>
              <a:t>QUELLENAPPARAT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74750"/>
            <a:ext cx="109728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F8F8FA"/>
                </a:solidFill>
                <a:latin typeface="Georgia"/>
              </a:rPr>
              <a:t>Quellen­apparat.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404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41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Anderson, L. W. &amp; Krathwohl, D. R. (Hrsg.). (2001). A taxonomy for learning, teaching, and assessing: A revision of Bloom's taxonomy of educational objectives. Longman.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921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Barrows, H. S. (1986). A taxonomy of problem-based learning methods. Medical Education, 20(6), 481–486. https://doi.org/10.1111/j.1365-2923.1986.tb01386.x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429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Bundesanstalt für Finanzdienstleistungsaufsicht (BaFin). (2021). Mindestanforderungen an das Risikomanagement (MaRisk). BaFin.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937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Coenenberg, A. G., Haller, A. &amp; Schultze, W. (2021). Jahresabschluss und Jahresabschlussanalyse: Betriebswirtschaftliche, handelsrechtliche, steuerrechtliche und internationale Grundsätze – HGB, IFRS, US-GAAP (26. Aufl.). Schäffer-Poeschel.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445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Creditreform. (2023). Wirtschaftsreport Deutschland 2023: Branchenanalyse Maschinenbau. Creditreform Wirtschaftsforschung.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95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Dreyfus, S. E. &amp; Dreyfus, H. L. (1980). A five-stage model of the mental activities involved in directed skill acquisition. University of California, Berkeley, Operations Research Center.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241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KfW Bankengruppe. (2023). KfW-Mittelstandspanel 2023: Mittelstand im Wandel. KfW Research.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2921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Kirkpatrick, D. L. (1994). Evaluating training programs: The four levels. Berrett-Koehler.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0" y="3429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Knowles, M. S. (1975). Self-directed learning: A guide for learners and teachers. Association Press.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0" y="3937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Kolb, D. A. (1984). Experiential learning: Experience as the source of learning and development. Prentice-Hall.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4445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Schierenbeck, H., Lister, M. &amp; Kirmsse, S. (2014). Ertragsorientiertes Bankmanagement (9. Aufl., Bd. 2): Risiko-Controlling und integrierte Rendite-/Risikosteuerung. Springer Gabler.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508000"/>
            <a:ext cx="317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46100"/>
            <a:ext cx="11582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Ende ·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68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143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270500"/>
            <a:ext cx="57150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191D2E"/>
                </a:solidFill>
                <a:latin typeface="Georgia"/>
              </a:rPr>
              <a:t>Das vollständige Modul «Bilanzlesen für Praktiker» ist auf FKB Campus verfügbar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5270500"/>
            <a:ext cx="2413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0" y="5499100"/>
            <a:ext cx="2413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5270500"/>
            <a:ext cx="218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499100"/>
            <a:ext cx="2184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M01 · Berater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