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28600"/>
            <a:ext cx="1090879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0">
                <a:solidFill>
                  <a:srgbClr val="C8D2E6"/>
                </a:solidFill>
                <a:latin typeface="JetBrains Mono"/>
              </a:rPr>
              <a:t>FKB CAMPUS  ·  FIRMENKUNDENAKADEMIE  ·  M01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11680"/>
            <a:ext cx="10908792" cy="18288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4800" b="1" i="0">
                <a:solidFill>
                  <a:srgbClr val="FFFFFF"/>
                </a:solidFill>
                <a:latin typeface="Source Serif 4"/>
              </a:rPr>
              <a:t>Bilanzlesen für Praktiker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023360"/>
            <a:ext cx="10908792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000" b="0" i="1">
                <a:solidFill>
                  <a:srgbClr val="BECDE6"/>
                </a:solidFill>
                <a:latin typeface="Source Serif 4"/>
              </a:rPr>
              <a:t>Jahresabschlüsse sicher lesen, verstehen und interpretieren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029200"/>
            <a:ext cx="10908792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212080"/>
            <a:ext cx="363626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A0B4D2"/>
                </a:solidFill>
                <a:latin typeface="JetBrains Mono"/>
              </a:rPr>
              <a:t>KOMPETENZFELD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413248"/>
            <a:ext cx="3636264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K-01 Finanzanalyse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76344" y="5212080"/>
            <a:ext cx="363626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A0B4D2"/>
                </a:solidFill>
                <a:latin typeface="JetBrains Mono"/>
              </a:rPr>
              <a:t>KOMPETENZSTUFE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76344" y="5413248"/>
            <a:ext cx="3636264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Berater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12608" y="5212080"/>
            <a:ext cx="363626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A0B4D2"/>
                </a:solidFill>
                <a:latin typeface="JetBrains Mono"/>
              </a:rPr>
              <a:t>VERSION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12608" y="5413248"/>
            <a:ext cx="3636264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v0.4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6565392"/>
            <a:ext cx="545439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96A5BE"/>
                </a:solidFill>
                <a:latin typeface="JetBrains Mono"/>
              </a:rPr>
              <a:t>Benedikt Zoller Coaching  ·  FKB Campus  · 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4476" y="6565392"/>
            <a:ext cx="545439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 b="0">
                <a:solidFill>
                  <a:srgbClr val="96A5BE"/>
                </a:solidFill>
                <a:latin typeface="JetBrains Mono"/>
              </a:rPr>
              <a:t>Trainer-Präsentation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8016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28600"/>
            <a:ext cx="1090879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0">
                <a:solidFill>
                  <a:srgbClr val="78808C"/>
                </a:solidFill>
                <a:latin typeface="JetBrains Mono"/>
              </a:rPr>
              <a:t>LERNZIELE · M01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08792" cy="6858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 i="0">
                <a:solidFill>
                  <a:srgbClr val="1F2C56"/>
                </a:solidFill>
                <a:latin typeface="Source Serif 4"/>
              </a:rPr>
              <a:t>Was Sie heute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90879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Bestandteile eines HGB-Jahresabschlusses (Bilanz, GuV, Anhang) benennen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Den Zusammenhang zwischen Bilanzstruktur und wirtschaftlicher Lage eines Unternehmens erklären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Zentrale Bilanzkennzahlen (EK-Quote, Verschuldungsgrad, EBIT-Marge, KDCG, Liquidität II) anhand eines Praxisfalls berechnen und einordnen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Häufige Bilanzierungswahlrechte nach HGB identifizieren und deren Auswirkung auf Kennzahlen benennen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82880"/>
            <a:ext cx="1090879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 b="0">
                <a:solidFill>
                  <a:srgbClr val="78808C"/>
                </a:solidFill>
                <a:latin typeface="JetBrains Mono"/>
              </a:rPr>
              <a:t>M01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57200"/>
            <a:ext cx="10908792" cy="5943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200" b="1" i="0">
                <a:solidFill>
                  <a:srgbClr val="1F2C56"/>
                </a:solidFill>
                <a:latin typeface="Source Serif 4"/>
              </a:rPr>
              <a:t>Bilanzstruktur T-Konto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097280"/>
            <a:ext cx="10908792" cy="127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6565" y="1371600"/>
            <a:ext cx="9095822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82880"/>
            <a:ext cx="1090879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 b="0">
                <a:solidFill>
                  <a:srgbClr val="78808C"/>
                </a:solidFill>
                <a:latin typeface="JetBrains Mono"/>
              </a:rPr>
              <a:t>M01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57200"/>
            <a:ext cx="10908792" cy="5943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200" b="1" i="0">
                <a:solidFill>
                  <a:srgbClr val="1F2C56"/>
                </a:solidFill>
                <a:latin typeface="Source Serif 4"/>
              </a:rPr>
              <a:t>Bilanzkennzahlen-Karte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097280"/>
            <a:ext cx="10908792" cy="127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9980" y="1371600"/>
            <a:ext cx="8588991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82880"/>
            <a:ext cx="1090879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 b="0">
                <a:solidFill>
                  <a:srgbClr val="78808C"/>
                </a:solidFill>
                <a:latin typeface="JetBrains Mono"/>
              </a:rPr>
              <a:t>M01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57200"/>
            <a:ext cx="10908792" cy="5943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200" b="1" i="0">
                <a:solidFill>
                  <a:srgbClr val="1F2C56"/>
                </a:solidFill>
                <a:latin typeface="Source Serif 4"/>
              </a:rPr>
              <a:t>Analyseprozess 4 Schritte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097280"/>
            <a:ext cx="10908792" cy="127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1365" y="1371600"/>
            <a:ext cx="9666221" cy="53949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