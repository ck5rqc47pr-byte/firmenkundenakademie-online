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3175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3048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M10  ·  v1.0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2794000"/>
            <a:ext cx="10972800" cy="2032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6000" b="0" i="0">
                <a:solidFill>
                  <a:srgbClr val="191D2E"/>
                </a:solidFill>
                <a:latin typeface="Georgia"/>
              </a:rPr>
              <a:t>Strukturierte Bedarfsanalyse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4889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5016500"/>
            <a:ext cx="5207000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1">
                <a:solidFill>
                  <a:srgbClr val="4D5270"/>
                </a:solidFill>
                <a:latin typeface="Georgia"/>
              </a:rPr>
              <a:t>Vom Jahresgespräch zum echten Bedarf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2500" y="5016500"/>
            <a:ext cx="2540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ZIELSTUFE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2500" y="5207000"/>
            <a:ext cx="25400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Sparring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90000" y="5016500"/>
            <a:ext cx="2667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DAUER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90000" y="5207000"/>
            <a:ext cx="26670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90 Min.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00 — LERNZIELE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3175000" cy="165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4800" b="0" i="1">
                <a:solidFill>
                  <a:srgbClr val="1F2B56"/>
                </a:solidFill>
                <a:latin typeface="Georgia"/>
              </a:rPr>
              <a:t>Inhalt.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064000" y="8890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64000" y="939799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53000" y="9525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Den UnternehmerDialog als strukturiertes Gesprächsführungsinstrument situationsgerecht einsetzen und alle relevanten Bedarfsdimensionen systematisch erschließen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64000" y="15875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64000" y="1638300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II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53000" y="16510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Kundensignale auf den vier Kommunikationsebenen nach Schulz von Thun differenziert erkennen und den Bedeutungsrahmen hinter sachlichen Aussagen entschlüsseln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64000" y="22860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064000" y="2336800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III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53000" y="23495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Den Vollständigkeitsgrad einer Bedarfsanalyse bewerten, offene Dimensionen benennen und die nächsten Gesprächsschritte priorisieren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VOM JAHRESGESPRÄCH ZUM ECHTEN BEDARF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Vom Jahresgespräch zum echten Bedarf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Warum Kunden nicht sagen, was sie wirklich brauchen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I · VOM JAHRESGESPRÄCH ZUM ECHTEN BEDARF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889000"/>
            <a:ext cx="3810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Kernaussage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Was gesagt wird — und was gemeint ist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9600" y="2825750"/>
            <a:ext cx="5207000" cy="2857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Kunden formulieren Bedarfe selten direkt. 'Wir brauchen eine neue Maschine' bedeutet oft: 'Ich habe Angst, den Anschluss zu verlieren.' Das Vier-Ohren-Modell (Schulz von Thun) hilft, den richtigen Kanal zu öffnen.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0" y="2825750"/>
            <a:ext cx="48514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1F2B56"/>
                </a:solidFill>
                <a:latin typeface="Courier New"/>
              </a:rPr>
              <a:t>Mitnahme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0" y="3041650"/>
            <a:ext cx="4851400" cy="2667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1">
                <a:solidFill>
                  <a:srgbClr val="191D2E"/>
                </a:solidFill>
                <a:latin typeface="Georgia"/>
              </a:rPr>
              <a:t>Beziehungsebene zuerst. Wer nur die Sachebene hört, verpasst den eigentlichen Bedarf — und die Beratungschance.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SPIN: FRAGEN, DIE BEDARFE ERZEUGEN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SPIN: Fragen, die Bedarfe erzeugen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Das meistbewährte Fragenmodell im B2B-Vertrieb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II · SPIN: FRAGEN, DIE BEDARFE ERZEUGEN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06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Vier Fragetypen — eine Gesprächslogik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51150"/>
            <a:ext cx="10972800" cy="344805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Situation: 'Wie läuft das Geschäft aktuell?' (Kontext verstehen)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Problem: 'Was beschäftigt Sie im Moment am meisten?' (Schmerz aufdecken)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Implikation: 'Was passiert, wenn sich das nicht ändert?' (Dringlichkeit erzeugen)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Nutzen: 'Was würde es bedeuten, wenn das gelöst wäre?' (Kaufmotiv aktivieren)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II · SPIN: FRAGEN, DIE BEDARFE ERZEUGEN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762000"/>
            <a:ext cx="2032000" cy="165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0000" b="0" i="1">
                <a:solidFill>
                  <a:srgbClr val="D9BF7A"/>
                </a:solidFill>
                <a:latin typeface="Georgia"/>
              </a:rPr>
              <a:t>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2286000"/>
            <a:ext cx="10972800" cy="241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1">
                <a:solidFill>
                  <a:srgbClr val="F8F8FA"/>
                </a:solidFill>
                <a:latin typeface="Georgia"/>
              </a:rPr>
              <a:t>Die beste Bedarfsanalyse ist die, bei der der Kunde am Ende glaubt, er habe selbst die Lösung gefunden.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4826000"/>
            <a:ext cx="4318000" cy="6350"/>
          </a:xfrm>
          <a:prstGeom prst="rect">
            <a:avLst/>
          </a:prstGeom>
          <a:solidFill>
            <a:srgbClr val="4048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9600" y="4953000"/>
            <a:ext cx="406400" cy="406400"/>
          </a:xfrm>
          <a:prstGeom prst="rect">
            <a:avLst/>
          </a:prstGeom>
          <a:solidFill>
            <a:srgbClr val="D9B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9600" y="5003800"/>
            <a:ext cx="406400" cy="304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1" i="0">
                <a:solidFill>
                  <a:srgbClr val="3A2A0A"/>
                </a:solidFill>
                <a:latin typeface="Courier New"/>
              </a:rPr>
              <a:t>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7600" y="4953000"/>
            <a:ext cx="4064000" cy="2413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1" i="0">
                <a:solidFill>
                  <a:srgbClr val="F8F8FA"/>
                </a:solidFill>
                <a:latin typeface="Georgia"/>
              </a:rPr>
              <a:t>Roland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7600" y="5207000"/>
            <a:ext cx="4064000" cy="203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FKB Campus Trainer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SICHTBARE UND LATENTE BEDARFE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Sichtbare und latente Bedarfe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Der Eisberg im Kundengespräch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III · SICHTBARE UND LATENTE BEDARFE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09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Was sichtbar ist — und was darunter liegt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51150"/>
            <a:ext cx="10972800" cy="344805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Sichtbar: Kreditwunsch, Kontokorrentrahmen, Garantien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Latent: Nachfolgesorge, Fachkräftemangel, Wachstumsängste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Latent: Absicherungslücken (BU, Rente, Schlüsselperson)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Latent: Gesellschafterkonflikt, Ertragssorge, Marktveränderung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Zugang über: Stille, Nachfragen, 'Was beschäftigt Sie sonst noch?'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445000" cy="6858000"/>
          </a:xfrm>
          <a:prstGeom prst="rect">
            <a:avLst/>
          </a:prstGeom>
          <a:solidFill>
            <a:srgbClr val="C8AE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7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254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381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508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35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762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889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1016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1143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1270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1397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1524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1651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1778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1905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2032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2159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2286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2413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2540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0" y="2667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2794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0" y="2921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3048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3175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3302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3429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3556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0" y="3683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3810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3937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4064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4190999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4318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4445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4572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0" y="4699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0" y="4826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0" y="4953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0" y="5080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0" y="5207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0" y="5334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0" y="5461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0" y="5588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0" y="5715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0" y="5842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0" y="5969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096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0" y="6223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0" y="6350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0" y="6477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0" y="6604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0" y="6731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52400" y="6477000"/>
            <a:ext cx="4190999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3A2A0A"/>
                </a:solidFill>
                <a:latin typeface="Courier New"/>
              </a:rPr>
              <a:t>Praxisfall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III · SICHTBARE UND LATENTE BEDARFE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26000" y="1016000"/>
            <a:ext cx="6731000" cy="203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Praxisfall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826000" y="1244600"/>
            <a:ext cx="6731000" cy="165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Florian Maurer, Metallbau GmbH &amp; Co. KG — UnternehmerDialog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26000" y="2984500"/>
            <a:ext cx="6731000" cy="3429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Jahresgespräch, Kunde kommt 'wegen des Kontokorrentrahmens'. Tatsächlich: Sohn kommt nicht in die Firma, Konkurrenz aus Polen wächst, ein Großkunde hat gekündigt. Ihre Aufgabe: SPIN-Fragensequenz durchführen und latente Bedarfe aufdecken.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III · SICHTBARE UND LATENTE BEDARFE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Ihr Auftrag: Nächstes Gespräch anders vorbereiten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51150"/>
            <a:ext cx="10972800" cy="344805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Einen Kunden auswählen, den Sie nur 'reaktiv' kennen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Je eine Frage für jede SPIN-Stufe vorbereiten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Nach dem Gespräch: Welche latenten Bedarfe sind aufgetaucht?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Bedarfsdiagnose im CRM dokumentieren (UnternehmerDialog)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QUELLENAPPARAT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63600"/>
            <a:ext cx="5080000" cy="203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A0AACC"/>
                </a:solidFill>
                <a:latin typeface="Courier New"/>
              </a:rPr>
              <a:t>Quellenapparat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27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F8F8FA"/>
                </a:solidFill>
                <a:latin typeface="Georgia"/>
              </a:rPr>
              <a:t>Quellen.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254250"/>
            <a:ext cx="10972800" cy="6350"/>
          </a:xfrm>
          <a:prstGeom prst="rect">
            <a:avLst/>
          </a:prstGeom>
          <a:solidFill>
            <a:srgbClr val="3A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317750"/>
            <a:ext cx="52070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Alle Quellen sind im zentralen Quellenverzeichnis (quellen/Quellenverzeichnis.md) unter den angegebenen IDs vollständig im APA-7-Format…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457200"/>
            <a:ext cx="3175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4572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Ende · v1.0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1143000"/>
            <a:ext cx="10972800" cy="355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600" b="0" i="0">
                <a:solidFill>
                  <a:srgbClr val="191D2E"/>
                </a:solidFill>
                <a:latin typeface="Georgia"/>
              </a:rPr>
              <a:t>Danke.
Fragen?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482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4953000"/>
            <a:ext cx="5715000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1">
                <a:solidFill>
                  <a:srgbClr val="191D2E"/>
                </a:solidFill>
                <a:latin typeface="Georgia"/>
              </a:rPr>
              <a:t>Modul «Strukturierte Bedarfsanalyse» auf FKB Campus — 3 Lernziele, Praxisfall und Quellenapparat.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4953000"/>
            <a:ext cx="2413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Trainer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31000" y="5156200"/>
            <a:ext cx="2413000" cy="38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[Name · Kontakt]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8000" y="4953000"/>
            <a:ext cx="21844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Modul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98000" y="5156200"/>
            <a:ext cx="2184400" cy="38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M10 · Sparring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