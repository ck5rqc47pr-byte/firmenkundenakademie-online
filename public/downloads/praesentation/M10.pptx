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M10  · 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Strukturierte Bedarfsanalyse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Vom Jahresgespräch zum echten Bedarf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271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99000" y="9525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UnternehmerDialog als strukturiertes Gesprächsführungsinstrument situationsgerecht einsetzen und alle relevanten Bedarfsdimensionen systematisch erschließen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748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129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9000" y="16383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Kundensignale auf den vier Kommunikationsebenen nach Schulz von Thun differenziert erkennen und den Bedeutungsrahmen hinter sachlichen Aussagen entschlüsseln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606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298700"/>
            <a:ext cx="508000" cy="6477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6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9000" y="2324100"/>
            <a:ext cx="6858000" cy="6223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Vollständigkeitsgrad einer Bedarfsanalyse bewerten, offene Dimensionen benennen und die nächsten Gesprächsschritte priorisieren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Theorie-Input: Das Vier-Ohren-Modell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Theorie-Input: Das Vier-Ohren-Modell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Jede Aussage Ihres Unternehmerkunden enthält gleichzeitig vier Botschaften: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Kommunikationsebene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Was der Unternehmer sagt/meint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Was der Berater hören sollte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① Sachinhalt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Die explizite Information (Zahlen, Fakten, Daten)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Korrekt aufnehmen, aber nicht stehenbleiben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② Selbstoffenbarung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er über sich, seine Situation, seine Sorgen preisgibt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Zwischentöne, Zögern, Formulierungswahl beachten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③ Beziehungsaspekt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er Sie als Berater wahrnimmt; Vertrauen oder Skepsis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Gesprächsklima aktiv gestalten; Vertrauen voraussetzen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④ Appell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er von Ihnen erwartet oder erhofft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Explizit nachfragen: „Was erwarten Sie von uns?"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Theorie-Input: Das SPIN-Fragenmodell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Zusammenspiel der beiden Modelle: SPIN und das Vier-Ohren-Modell sind keine getrennten Werkzeuge – sie laufen im Gespräch parallel. SPIN ist die Gesprächsarchitektur (Was frage 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Fragetyp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Zweck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Wann einsetzen?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Beispiele im Firmenkunden-Jahresgespräch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 – 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IST-Stand erheben; Kontext verstehen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 Beginn; sparsam – bekannte Fakten nicht abfragen, sondern kommentieren und ergänzen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Richtig: „Sie hatten letztes Jahr +10 % Umsatz – was war der Haupttreiber?" (zeigt Vorbereitung, öffnet Gespräch) · „Welche Märkte haben Sie seitdem neu erschlossen?" · Falsch im Jahresgespräch: „Wie hat sich Ihr Umsatz im letzten Jahr entwickelt?" (der Berater hat die Bilanz vor sich – wirkt unvorbereitet)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 – Problem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Herausforderungen identifizieren; Schmerzen sichtbar machen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 dem IST-Stand; aktiv suchen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„Wo haben Sie die größten Planungsunsicherheiten?" „Was bereitet Ihnen im Tagesgeschäft am meisten Sorgen?"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 – Implication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Konsequenzen und Bedeutung der Probleme verdeutlichen; Problemdruck erhöhen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Wenn Problem benannt; vor Lösungspräsentation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würde das für Ihre Mitarbeiter bedeuten, wenn …?" „Welche Auswirkungen hat das auf Ihre Investitionspläne?"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 – Need-Payoff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Nutzenwunsch des Kunden aktivieren; er formuliert die Lösung selbst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Wenn Problemdruck spürbar ist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wäre für Sie der Wert einer verbindlichen Liquiditätslinie?" „Wie wichtig wäre es, das bis Jahresende geregelt zu haben?"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Praxiscase: Florian Maurer, Metallbau GmbH &amp; Co. KG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Unternehmensprofil (Berater-Information)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Detail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Maurer Metallbau GmbH &amp; Co. KG, Süddeutschland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Metallverarbeitung / Lohnfertigung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3,2 Mio. EUR (Vorjahr 2,9 Mio. EUR)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14 Personen (davon 10 gewerblich)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Geschäftsführer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Florian Maurer, 54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Bankverbindung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VR-Bank Musterregion eG, Kontokorrentlinie 250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Aktuelle 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 nach Bilanzeinreichung 2024. Eigenkapitalquote 24 %. Umsatzanstieg +10 % durch neuen Großkunden (Automotive Tier 2).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Bekannte Bedarfe (sichtbar)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Maschinenerneuerung: Zwei Drehmaschinen (Investitionsvolumen ca. 180 TEUR) geplant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Erweiterung der Kontokorrentlinie auf 400 TEUR für Auftragsvorfinanzierung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Latente Bedarfe (nur dem Unternehmer bekannt – für Rollenspieler)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Nachfolge ungeklärt (echter latenter Bedarf): Sohn (26) zeigt kein Interesse; Maurer hat kein Testament, keinen Gesellschaftervertrag für den Todesfall. Maurer spricht nicht darüber, weil er das Thema mit sich selbst…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Stille Beteiligung läuft aus (echter latenter Bedarf): Ein Schwager ist seit 2012 stiller Gesellschafter (80 TEUR). Die Beteiligung hat eine Kündigungsfrist bis Ende 2025; Maurer hat noch keine Anschlussfinanzierung. Er…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Liquiditätsengpass (bekannt, aber nicht priorisiert): Der neue Großkunde zahlt mit 60 Tagen Ziel; bei Großaufträgen (&gt; 80 TEUR) entsteht Vorlauffinanzierungsbedarf. Maurer hält das für ein temporäres Problem und hat KK…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Private Absicherung (latent): Florian Maurer hat seit Jahren keine BU-Versicherung mehr; private Krankenversicherung läuft als Einzelvertrag ohne Unternehmensbezug.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Optionale Rollenspielvarianten (für erfahrene Gruppen oder zweite Runde)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Variante A – Der wortkarger Unternehmer Rollenkarte für Unternehmer-Spieler: Sie sind grundsätzlich zufrieden mit Ihrer Bank und sehen keinen Handlungsbedarf. Auf Fragen antworten Sie kurz: „läuft", „passt so", „haben…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Variante B – Zwei Gesellschafter am Tisch (GbR-Situation) Rollenkarten für zwei Unternehmer-Spieler: Sie sind gemeinsam GF einer GmbH &amp; Co. KG. Gesellschafter 1 (Florian Maurer) will investieren und wachsen.…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Transferaufgabe (bis zum nächsten Termin in 4 Wochen)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Transferaufgabe (bis zum nächsten Termin in 4 Wochen)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Führen Sie in den nächsten 4 Wochen mindestens zwei strukturierte Kundengespräche (Jahresgespräch oder gleichwertiger Gesprächsanlass: Investitionsfinanzierung, Kreditverlängerung, Erstgespräch Neukunde) mit dem…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Reflexionsfragen nach jedem 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Wie viele Implikationsfragen habe ich gestellt? (Schätzen Sie die Anzahl.)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Welchen Bedarf hat der Unternehmer selbst formuliert – ohne dass ich ihn präsentiert habe?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 welchem der vier Ohren habe ich primär gehört? Was habe ich möglicherweise verpasst?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Welcher Bereich des UnternehmerDialogs blieb offen? Warum?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nehme ich mir für das nächste Gespräch mit diesem Kunden konkret vor?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(1988). SPIN Selling. McGraw-Hill. [Klassiker der Beratungsgesprächsforschung]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Schulz von Thun, F. (1981). Miteinander Reden: Störungen und Klärungen. Rowohlt. [Vier-Ohren-Modell, leicht zugänglich]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Cialdini, R. B. (2001). Influence: The Psychology of Persuasion. HarperCollins. [Psychologie des Überzeugens]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Kommunikation &amp; Gesprächsführung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Kommunikation &amp; Gesprächsführung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Schulz von Thun, F. (1981). Miteinander Reden: Störungen und Klärungen – Allgemeine Psychologie der Kommunikation. Rowohlt.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Schulz von Thun, F., Ruppel, J. &amp; Stratmann, R. (2000). Miteinander Reden: Kommunikationspsychologie für Führungskräfte. Rowohlt.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Watzlawick, P., Beavin, J. H. &amp; Jackson, D. D. (1967). Pragmatics of Human Communication: A Study of Interactional Patterns, Pathologies and Paradoxes. Norton. (Dt.: Menschliche Kommunikation. Huber, 2017.)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Bedarfsanalyse &amp; Consultative Selling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(1988). SPIN Selling. McGraw-Hill.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Hanan, M. (1970). Consultative Selling. AMACOM.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Cialdini, R. B. (2001). Influence: The Psychology of Persuasion (Rev. ed.). HarperCollins.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Bankfachlich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Heim, G. (2007). Handbuch Firmenkundengeschäft: Kreditentscheidung – Risikomanagement – Eigenkapitalunterlegung nach Basel II. Bankakademie-Verlag.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consulting. (2020). Firmenkundenstudie 8.0.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Berger. (2024). KMU-Banking: Firmenkundenberater 2.0.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Didaktik &amp; Kompetenzmodell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Anderson, L. W. &amp; Krathwohl, D. R. (Hrsg.). (2001). A Taxonomy for Learning, Teaching, and Assessing. Addison Wesley Longman.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Dreyfus, H. L. &amp; Dreyfus, S. E. (1980). A Five-Stage Model of the Mental Activities Involved in Directed Skill Acquisition.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Kirkpatrick, D. L. (1994). Evaluating Training Programs: The Four Levels. Berrett-Koehler.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Kolb, D. A. (1984). Experiential Learning: Experience as the Source of Learning and Development. Prentice Hall.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«Strukturierte Bedarfsanalyse» auf FKB Campus — 3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M10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