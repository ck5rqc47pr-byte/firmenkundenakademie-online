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304800"/>
            <a:ext cx="31750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1" i="0">
                <a:solidFill>
                  <a:srgbClr val="191D2E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304800"/>
            <a:ext cx="109728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M10  ·  v1.0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2794000"/>
            <a:ext cx="10972800" cy="2032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6000" b="0" i="0">
                <a:solidFill>
                  <a:srgbClr val="191D2E"/>
                </a:solidFill>
                <a:latin typeface="Georgia"/>
              </a:rPr>
              <a:t>Strukturierte Bedarfsanalyse</a:t>
            </a:r>
          </a:p>
        </p:txBody>
      </p:sp>
      <p:sp>
        <p:nvSpPr>
          <p:cNvPr id="5" name="Rectangle 4"/>
          <p:cNvSpPr/>
          <p:nvPr/>
        </p:nvSpPr>
        <p:spPr>
          <a:xfrm>
            <a:off x="609600" y="4889500"/>
            <a:ext cx="10972800" cy="6350"/>
          </a:xfrm>
          <a:prstGeom prst="rect">
            <a:avLst/>
          </a:prstGeom>
          <a:solidFill>
            <a:srgbClr val="19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09600" y="5016500"/>
            <a:ext cx="5207000" cy="1143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1">
                <a:solidFill>
                  <a:srgbClr val="4D5270"/>
                </a:solidFill>
                <a:latin typeface="Georgia"/>
              </a:rPr>
              <a:t>Vom Jahresgespräch zum echten Bedarf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032500" y="5016500"/>
            <a:ext cx="2540000" cy="1778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900" b="0" i="0">
                <a:solidFill>
                  <a:srgbClr val="7B7FA0"/>
                </a:solidFill>
                <a:latin typeface="Courier New"/>
              </a:rPr>
              <a:t>ZIELSTUFE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032500" y="5207000"/>
            <a:ext cx="2540000" cy="50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Sparring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90000" y="5016500"/>
            <a:ext cx="2667000" cy="1778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900" b="0" i="0">
                <a:solidFill>
                  <a:srgbClr val="7B7FA0"/>
                </a:solidFill>
                <a:latin typeface="Courier New"/>
              </a:rPr>
              <a:t>DAUER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890000" y="5207000"/>
            <a:ext cx="2667000" cy="50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90 Min.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279400"/>
            <a:ext cx="25400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1" i="0">
                <a:solidFill>
                  <a:srgbClr val="191D2E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279400"/>
            <a:ext cx="109728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§ 00 — LERNZIELE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6426200"/>
            <a:ext cx="1097280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02</a:t>
            </a:r>
          </a:p>
        </p:txBody>
      </p:sp>
      <p:sp>
        <p:nvSpPr>
          <p:cNvPr id="5" name="Rectangle 4"/>
          <p:cNvSpPr/>
          <p:nvPr/>
        </p:nvSpPr>
        <p:spPr>
          <a:xfrm>
            <a:off x="609600" y="825500"/>
            <a:ext cx="10972800" cy="6350"/>
          </a:xfrm>
          <a:prstGeom prst="rect">
            <a:avLst/>
          </a:prstGeom>
          <a:solidFill>
            <a:srgbClr val="19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09600" y="920750"/>
            <a:ext cx="3175000" cy="1651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4800" b="0" i="1">
                <a:solidFill>
                  <a:srgbClr val="1F2B56"/>
                </a:solidFill>
                <a:latin typeface="Georgia"/>
              </a:rPr>
              <a:t>Inhalt.</a:t>
            </a:r>
          </a:p>
        </p:txBody>
      </p:sp>
      <p:sp>
        <p:nvSpPr>
          <p:cNvPr id="7" name="Rectangle 6"/>
          <p:cNvSpPr/>
          <p:nvPr/>
        </p:nvSpPr>
        <p:spPr>
          <a:xfrm>
            <a:off x="4064000" y="889000"/>
            <a:ext cx="7518399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064000" y="939799"/>
            <a:ext cx="762000" cy="647700"/>
          </a:xfrm>
          <a:prstGeom prst="rect">
            <a:avLst/>
          </a:prstGeom>
          <a:noFill/>
        </p:spPr>
        <p:txBody>
          <a:bodyPr wrap="none">
            <a:normAutofit/>
          </a:bodyPr>
          <a:lstStyle/>
          <a:p>
            <a:pPr algn="l"/>
            <a:r>
              <a:rPr sz="2400" b="0" i="1">
                <a:solidFill>
                  <a:srgbClr val="1F2B56"/>
                </a:solidFill>
                <a:latin typeface="Georgia"/>
              </a:rPr>
              <a:t>I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953000" y="952500"/>
            <a:ext cx="6629400" cy="635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Den UnternehmerDialog als strukturiertes Gesprächsführungsinstrument situationsgerecht einsetzen und alle relevanten Bedarfsdimensionen systematisch erschließen</a:t>
            </a:r>
          </a:p>
        </p:txBody>
      </p:sp>
      <p:sp>
        <p:nvSpPr>
          <p:cNvPr id="10" name="Rectangle 9"/>
          <p:cNvSpPr/>
          <p:nvPr/>
        </p:nvSpPr>
        <p:spPr>
          <a:xfrm>
            <a:off x="4064000" y="1587500"/>
            <a:ext cx="7518399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064000" y="1638300"/>
            <a:ext cx="762000" cy="647700"/>
          </a:xfrm>
          <a:prstGeom prst="rect">
            <a:avLst/>
          </a:prstGeom>
          <a:noFill/>
        </p:spPr>
        <p:txBody>
          <a:bodyPr wrap="none">
            <a:normAutofit/>
          </a:bodyPr>
          <a:lstStyle/>
          <a:p>
            <a:pPr algn="l"/>
            <a:r>
              <a:rPr sz="2400" b="0" i="1">
                <a:solidFill>
                  <a:srgbClr val="1F2B56"/>
                </a:solidFill>
                <a:latin typeface="Georgia"/>
              </a:rPr>
              <a:t>II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953000" y="1651000"/>
            <a:ext cx="6629400" cy="635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Kundensignale auf den vier Kommunikationsebenen nach Schulz von Thun differenziert erkennen und den Bedeutungsrahmen hinter sachlichen Aussagen entschlüsseln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064000" y="2286000"/>
            <a:ext cx="7518399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064000" y="2336800"/>
            <a:ext cx="762000" cy="647700"/>
          </a:xfrm>
          <a:prstGeom prst="rect">
            <a:avLst/>
          </a:prstGeom>
          <a:noFill/>
        </p:spPr>
        <p:txBody>
          <a:bodyPr wrap="none">
            <a:normAutofit/>
          </a:bodyPr>
          <a:lstStyle/>
          <a:p>
            <a:pPr algn="l"/>
            <a:r>
              <a:rPr sz="2400" b="0" i="1">
                <a:solidFill>
                  <a:srgbClr val="1F2B56"/>
                </a:solidFill>
                <a:latin typeface="Georgia"/>
              </a:rPr>
              <a:t>III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953000" y="2349500"/>
            <a:ext cx="6629400" cy="635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Den Vollständigkeitsgrad einer Bedarfsanalyse bewerten, offene Dimensionen benennen und die nächsten Gesprächsschritte priorisieren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B5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279400"/>
            <a:ext cx="25400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1" i="0">
                <a:solidFill>
                  <a:srgbClr val="F8F8FA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279400"/>
            <a:ext cx="109728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MODULINHALTE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6426200"/>
            <a:ext cx="1097280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03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9600" y="635000"/>
            <a:ext cx="5461000" cy="5461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8000" b="0" i="1">
                <a:solidFill>
                  <a:srgbClr val="D9BF7A"/>
                </a:solidFill>
                <a:latin typeface="Georgia"/>
              </a:rPr>
              <a:t>I.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731000" y="4064000"/>
            <a:ext cx="4851400" cy="177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3800" b="0" i="0">
                <a:solidFill>
                  <a:srgbClr val="F8F8FA"/>
                </a:solidFill>
                <a:latin typeface="Georgia"/>
              </a:rPr>
              <a:t>Modulinhalte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31000" y="5842000"/>
            <a:ext cx="4851400" cy="635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1400" b="0" i="1">
                <a:solidFill>
                  <a:srgbClr val="7B7FA0"/>
                </a:solidFill>
                <a:latin typeface="Georgia"/>
              </a:rPr>
              <a:t>4.1 Theorie-Input: Das Vier-Ohren-Modell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279400"/>
            <a:ext cx="25400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1" i="0">
                <a:solidFill>
                  <a:srgbClr val="191D2E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279400"/>
            <a:ext cx="109728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§ I · MODULINHALTE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6426200"/>
            <a:ext cx="1097280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04</a:t>
            </a:r>
          </a:p>
        </p:txBody>
      </p:sp>
      <p:sp>
        <p:nvSpPr>
          <p:cNvPr id="5" name="Rectangle 4"/>
          <p:cNvSpPr/>
          <p:nvPr/>
        </p:nvSpPr>
        <p:spPr>
          <a:xfrm>
            <a:off x="609600" y="825500"/>
            <a:ext cx="10972800" cy="6350"/>
          </a:xfrm>
          <a:prstGeom prst="rect">
            <a:avLst/>
          </a:prstGeom>
          <a:solidFill>
            <a:srgbClr val="19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09600" y="920750"/>
            <a:ext cx="4826000" cy="177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3800" b="0" i="0">
                <a:solidFill>
                  <a:srgbClr val="191D2E"/>
                </a:solidFill>
                <a:latin typeface="Georgia"/>
              </a:rPr>
              <a:t>4.1 Theorie-Input: Das Vier-Ohren-Modell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09600" y="2825750"/>
            <a:ext cx="4826000" cy="1016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4D5270"/>
                </a:solidFill>
                <a:latin typeface="Georgia"/>
              </a:rPr>
              <a:t>Jede Aussage Ihres Unternehmerkunden enthält gleichzeitig vier Botschaften: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715000" y="920750"/>
          <a:ext cx="5867400" cy="1905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55800"/>
                <a:gridCol w="1955800"/>
                <a:gridCol w="1955800"/>
              </a:tblGrid>
              <a:tr h="381000"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8F8FA"/>
                          </a:solidFill>
                          <a:latin typeface="Courier New"/>
                        </a:rPr>
                        <a:t>Kommunikationsebene</a:t>
                      </a:r>
                    </a:p>
                  </a:txBody>
                  <a:tcPr>
                    <a:solidFill>
                      <a:srgbClr val="1F2B5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8F8FA"/>
                          </a:solidFill>
                          <a:latin typeface="Courier New"/>
                        </a:rPr>
                        <a:t>Was der Unternehmer sagt/meint</a:t>
                      </a:r>
                    </a:p>
                  </a:txBody>
                  <a:tcPr>
                    <a:solidFill>
                      <a:srgbClr val="1F2B5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8F8FA"/>
                          </a:solidFill>
                          <a:latin typeface="Courier New"/>
                        </a:rPr>
                        <a:t>Was der Berater hören sollte</a:t>
                      </a:r>
                    </a:p>
                  </a:txBody>
                  <a:tcPr>
                    <a:solidFill>
                      <a:srgbClr val="1F2B56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① Sachinhalt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Die explizite Information (Zahlen, Fakten, Daten)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Korrekt aufnehmen, aber nicht stehenbleiben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② Selbstoffenbarung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Was er über sich, seine Situation, seine Sorgen preisgibt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Zwischentöne, Zögern, Formulierungswahl beachten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③ Beziehungsaspekt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Wie er Sie als Berater wahrnimmt; Vertrauen oder Skepsis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Gesprächsklima aktiv gestalten; Vertrauen voraussetzen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④ Appell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Was er von Ihnen erwartet oder erhofft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Explizit nachfragen: „Was erwarten Sie von uns?"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279400"/>
            <a:ext cx="25400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1" i="0">
                <a:solidFill>
                  <a:srgbClr val="191D2E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279400"/>
            <a:ext cx="109728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§ I · MODULINHALTE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6426200"/>
            <a:ext cx="1097280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05</a:t>
            </a:r>
          </a:p>
        </p:txBody>
      </p:sp>
      <p:sp>
        <p:nvSpPr>
          <p:cNvPr id="5" name="Rectangle 4"/>
          <p:cNvSpPr/>
          <p:nvPr/>
        </p:nvSpPr>
        <p:spPr>
          <a:xfrm>
            <a:off x="609600" y="825500"/>
            <a:ext cx="10972800" cy="6350"/>
          </a:xfrm>
          <a:prstGeom prst="rect">
            <a:avLst/>
          </a:prstGeom>
          <a:solidFill>
            <a:srgbClr val="19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09600" y="920750"/>
            <a:ext cx="4826000" cy="177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3800" b="0" i="0">
                <a:solidFill>
                  <a:srgbClr val="191D2E"/>
                </a:solidFill>
                <a:latin typeface="Georgia"/>
              </a:rPr>
              <a:t>4.2 Theorie-Input: Das SPIN-Fragenmodell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09600" y="2825750"/>
            <a:ext cx="4826000" cy="1016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4D5270"/>
                </a:solidFill>
                <a:latin typeface="Georgia"/>
              </a:rPr>
              <a:t>&gt; Zusammenspiel der beiden Modelle: SPIN und das Vier-Ohren-Modell sind keine getrennten Werkzeuge – sie laufen im Gespräch parallel. SPIN ist die Gesprächsarchitektur (Was frage i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715000" y="920750"/>
          <a:ext cx="5867400" cy="1905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66850"/>
                <a:gridCol w="1466850"/>
                <a:gridCol w="1466850"/>
                <a:gridCol w="1466850"/>
              </a:tblGrid>
              <a:tr h="381000"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8F8FA"/>
                          </a:solidFill>
                          <a:latin typeface="Courier New"/>
                        </a:rPr>
                        <a:t>Fragetyp</a:t>
                      </a:r>
                    </a:p>
                  </a:txBody>
                  <a:tcPr>
                    <a:solidFill>
                      <a:srgbClr val="1F2B5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8F8FA"/>
                          </a:solidFill>
                          <a:latin typeface="Courier New"/>
                        </a:rPr>
                        <a:t>Zweck</a:t>
                      </a:r>
                    </a:p>
                  </a:txBody>
                  <a:tcPr>
                    <a:solidFill>
                      <a:srgbClr val="1F2B5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8F8FA"/>
                          </a:solidFill>
                          <a:latin typeface="Courier New"/>
                        </a:rPr>
                        <a:t>Wann einsetzen?</a:t>
                      </a:r>
                    </a:p>
                  </a:txBody>
                  <a:tcPr>
                    <a:solidFill>
                      <a:srgbClr val="1F2B5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8F8FA"/>
                          </a:solidFill>
                          <a:latin typeface="Courier New"/>
                        </a:rPr>
                        <a:t>Beispiele im Firmenkunden-Jahresgespräch</a:t>
                      </a:r>
                    </a:p>
                  </a:txBody>
                  <a:tcPr>
                    <a:solidFill>
                      <a:srgbClr val="1F2B56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S – Situation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IST-Stand erheben; Kontext verstehen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Zu Beginn; sparsam – bekannte Fakten nicht abfragen, sondern kommentieren und ergänzen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Richtig: „Sie hatten letztes Jahr +10 % Umsatz – was war der Haupttreiber?" (zeigt Vorbereitung, öffnet Gespräch) · „Welche Märkte haben Sie seitdem neu erschlossen?" · Falsch im Jahresgespräch: „Wie hat sich Ihr Umsatz im letzten Jahr entwickelt?" (der Berater hat die Bilanz vor sich – wirkt unvorbereitet)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P – Problem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Herausforderungen identifizieren; Schmerzen sichtbar machen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Nach dem IST-Stand; aktiv suchen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„Wo haben Sie die größten Planungsunsicherheiten?" „Was bereitet Ihnen im Tagesgeschäft am meisten Sorgen?"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I – Implication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Konsequenzen und Bedeutung der Probleme verdeutlichen; Problemdruck erhöhen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Wenn Problem benannt; vor Lösungspräsentation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„Was würde das für Ihre Mitarbeiter bedeuten, wenn …?" „Welche Auswirkungen hat das auf Ihre Investitionspläne?"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N – Need-Payoff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Nutzenwunsch des Kunden aktivieren; er formuliert die Lösung selbst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Wenn Problemdruck spürbar ist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„Was wäre für Sie der Wert einer verbindlichen Liquiditätslinie?" „Wie wichtig wäre es, das bis Jahresende geregelt zu haben?"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279400"/>
            <a:ext cx="25400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1" i="0">
                <a:solidFill>
                  <a:srgbClr val="191D2E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279400"/>
            <a:ext cx="109728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§ I · MODULINHALTE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6426200"/>
            <a:ext cx="1097280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06</a:t>
            </a:r>
          </a:p>
        </p:txBody>
      </p:sp>
      <p:sp>
        <p:nvSpPr>
          <p:cNvPr id="5" name="Rectangle 4"/>
          <p:cNvSpPr/>
          <p:nvPr/>
        </p:nvSpPr>
        <p:spPr>
          <a:xfrm>
            <a:off x="609600" y="825500"/>
            <a:ext cx="10972800" cy="6350"/>
          </a:xfrm>
          <a:prstGeom prst="rect">
            <a:avLst/>
          </a:prstGeom>
          <a:solidFill>
            <a:srgbClr val="19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09600" y="920750"/>
            <a:ext cx="4826000" cy="177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3800" b="0" i="0">
                <a:solidFill>
                  <a:srgbClr val="191D2E"/>
                </a:solidFill>
                <a:latin typeface="Georgia"/>
              </a:rPr>
              <a:t>4.3 Praxiscase: Florian Maurer, Metallbau GmbH &amp; Co. KG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09600" y="2825750"/>
            <a:ext cx="4826000" cy="1016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4D5270"/>
                </a:solidFill>
                <a:latin typeface="Georgia"/>
              </a:rPr>
              <a:t>Unternehmensprofil (Berater-Information)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715000" y="920750"/>
          <a:ext cx="5867400" cy="3048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33700"/>
                <a:gridCol w="2933700"/>
              </a:tblGrid>
              <a:tr h="381000"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8F8FA"/>
                          </a:solidFill>
                          <a:latin typeface="Courier New"/>
                        </a:rPr>
                        <a:t>Merkmal</a:t>
                      </a:r>
                    </a:p>
                  </a:txBody>
                  <a:tcPr>
                    <a:solidFill>
                      <a:srgbClr val="1F2B5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8F8FA"/>
                          </a:solidFill>
                          <a:latin typeface="Courier New"/>
                        </a:rPr>
                        <a:t>Detail</a:t>
                      </a:r>
                    </a:p>
                  </a:txBody>
                  <a:tcPr>
                    <a:solidFill>
                      <a:srgbClr val="1F2B56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Unternehmen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Maurer Metallbau GmbH &amp; Co. KG, Süddeutschland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Branche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Metallverarbeitung / Lohnfertigung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Umsatz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3,2 Mio. EUR (Vorjahr 2,9 Mio. EUR)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Mitarbeiter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14 Personen (davon 10 gewerblich)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Geschäftsführer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Florian Maurer, 54 Jahre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Bankverbindung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VR-Bank Musterregion eG, Kontokorrentlinie 250 TEUR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Aktuelle Situation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Jahresgespräch nach Bilanzeinreichung 2024. Eigenkapitalquote 24 %. Umsatzanstieg +10 % durch neuen Großkunden (Automotive Tier 2).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279400"/>
            <a:ext cx="25400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1" i="0">
                <a:solidFill>
                  <a:srgbClr val="191D2E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279400"/>
            <a:ext cx="109728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§ I · MODULINHALTE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6426200"/>
            <a:ext cx="1097280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07</a:t>
            </a:r>
          </a:p>
        </p:txBody>
      </p:sp>
      <p:sp>
        <p:nvSpPr>
          <p:cNvPr id="5" name="Rectangle 4"/>
          <p:cNvSpPr/>
          <p:nvPr/>
        </p:nvSpPr>
        <p:spPr>
          <a:xfrm>
            <a:off x="609600" y="825500"/>
            <a:ext cx="10972800" cy="6350"/>
          </a:xfrm>
          <a:prstGeom prst="rect">
            <a:avLst/>
          </a:prstGeom>
          <a:solidFill>
            <a:srgbClr val="19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09600" y="920750"/>
            <a:ext cx="10972800" cy="177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3800" b="0" i="0">
                <a:solidFill>
                  <a:srgbClr val="191D2E"/>
                </a:solidFill>
                <a:latin typeface="Georgia"/>
              </a:rPr>
              <a:t>Bekannte Bedarfe (sichtbar)</a:t>
            </a:r>
          </a:p>
        </p:txBody>
      </p:sp>
      <p:sp>
        <p:nvSpPr>
          <p:cNvPr id="7" name="Rectangle 6"/>
          <p:cNvSpPr/>
          <p:nvPr/>
        </p:nvSpPr>
        <p:spPr>
          <a:xfrm>
            <a:off x="609600" y="2762250"/>
            <a:ext cx="109728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9600" y="2876550"/>
            <a:ext cx="254000" cy="355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200" b="0" i="0">
                <a:solidFill>
                  <a:srgbClr val="1F2B56"/>
                </a:solidFill>
                <a:latin typeface="Georgia"/>
              </a:rPr>
              <a:t>–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9799" y="2851150"/>
            <a:ext cx="10642600" cy="50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Maschinenerneuerung: Zwei Drehmaschinen (Investitionsvolumen ca. 180 TEUR) geplant</a:t>
            </a:r>
          </a:p>
        </p:txBody>
      </p:sp>
      <p:sp>
        <p:nvSpPr>
          <p:cNvPr id="10" name="Rectangle 9"/>
          <p:cNvSpPr/>
          <p:nvPr/>
        </p:nvSpPr>
        <p:spPr>
          <a:xfrm>
            <a:off x="939799" y="3333750"/>
            <a:ext cx="106426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09600" y="3409950"/>
            <a:ext cx="254000" cy="355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200" b="0" i="0">
                <a:solidFill>
                  <a:srgbClr val="1F2B56"/>
                </a:solidFill>
                <a:latin typeface="Georgia"/>
              </a:rPr>
              <a:t>–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39799" y="3384550"/>
            <a:ext cx="10642600" cy="50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Erweiterung der Kontokorrentlinie auf 400 TEUR für Auftragsvorfinanzierung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39799" y="3867150"/>
            <a:ext cx="106426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279400"/>
            <a:ext cx="25400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1" i="0">
                <a:solidFill>
                  <a:srgbClr val="191D2E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279400"/>
            <a:ext cx="109728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§ I · MODULINHALTE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6426200"/>
            <a:ext cx="1097280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08</a:t>
            </a:r>
          </a:p>
        </p:txBody>
      </p:sp>
      <p:sp>
        <p:nvSpPr>
          <p:cNvPr id="5" name="Rectangle 4"/>
          <p:cNvSpPr/>
          <p:nvPr/>
        </p:nvSpPr>
        <p:spPr>
          <a:xfrm>
            <a:off x="609600" y="825500"/>
            <a:ext cx="10972800" cy="6350"/>
          </a:xfrm>
          <a:prstGeom prst="rect">
            <a:avLst/>
          </a:prstGeom>
          <a:solidFill>
            <a:srgbClr val="19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09600" y="920750"/>
            <a:ext cx="10972800" cy="177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3800" b="0" i="0">
                <a:solidFill>
                  <a:srgbClr val="191D2E"/>
                </a:solidFill>
                <a:latin typeface="Georgia"/>
              </a:rPr>
              <a:t>Latente Bedarfe (nur dem Unternehmer bekannt – für Rollenspieler)</a:t>
            </a:r>
          </a:p>
        </p:txBody>
      </p:sp>
      <p:sp>
        <p:nvSpPr>
          <p:cNvPr id="7" name="Rectangle 6"/>
          <p:cNvSpPr/>
          <p:nvPr/>
        </p:nvSpPr>
        <p:spPr>
          <a:xfrm>
            <a:off x="609600" y="2762250"/>
            <a:ext cx="109728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9600" y="2876550"/>
            <a:ext cx="254000" cy="355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200" b="0" i="0">
                <a:solidFill>
                  <a:srgbClr val="1F2B56"/>
                </a:solidFill>
                <a:latin typeface="Georgia"/>
              </a:rPr>
              <a:t>–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9799" y="2851150"/>
            <a:ext cx="10642600" cy="50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Nachfolge ungeklärt (echter latenter Bedarf): Sohn (26) zeigt kein Interesse; Maurer hat kein Testament, keinen Gesellschaftervertrag für den Todesfall. Maurer spricht nicht darüber, weil er das Thema mit sich selbst…</a:t>
            </a:r>
          </a:p>
        </p:txBody>
      </p:sp>
      <p:sp>
        <p:nvSpPr>
          <p:cNvPr id="10" name="Rectangle 9"/>
          <p:cNvSpPr/>
          <p:nvPr/>
        </p:nvSpPr>
        <p:spPr>
          <a:xfrm>
            <a:off x="939799" y="3333750"/>
            <a:ext cx="106426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09600" y="3409950"/>
            <a:ext cx="254000" cy="355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200" b="0" i="0">
                <a:solidFill>
                  <a:srgbClr val="1F2B56"/>
                </a:solidFill>
                <a:latin typeface="Georgia"/>
              </a:rPr>
              <a:t>–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39799" y="3384550"/>
            <a:ext cx="10642600" cy="50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Stille Beteiligung läuft aus (echter latenter Bedarf): Ein Schwager ist seit 2012 stiller Gesellschafter (80 TEUR). Die Beteiligung hat eine Kündigungsfrist bis Ende 2025; Maurer hat noch keine Anschlussfinanzierung. Er…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39799" y="3867150"/>
            <a:ext cx="106426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09600" y="3943350"/>
            <a:ext cx="254000" cy="355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200" b="0" i="0">
                <a:solidFill>
                  <a:srgbClr val="1F2B56"/>
                </a:solidFill>
                <a:latin typeface="Georgia"/>
              </a:rPr>
              <a:t>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39799" y="3917950"/>
            <a:ext cx="10642600" cy="50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Liquiditätsengpass (bekannt, aber nicht priorisiert): Der neue Großkunde zahlt mit 60 Tagen Ziel; bei Großaufträgen (&gt; 80 TEUR) entsteht Vorlauffinanzierungsbedarf. Maurer hält das für ein temporäres Problem und hat KK…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39799" y="4400550"/>
            <a:ext cx="106426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09600" y="4476750"/>
            <a:ext cx="254000" cy="355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200" b="0" i="0">
                <a:solidFill>
                  <a:srgbClr val="1F2B56"/>
                </a:solidFill>
                <a:latin typeface="Georgia"/>
              </a:rPr>
              <a:t>–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39799" y="4451350"/>
            <a:ext cx="10642600" cy="50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Private Absicherung (latent): Florian Maurer hat seit Jahren keine BU-Versicherung mehr; private Krankenversicherung läuft als Einzelvertrag ohne Unternehmensbezug.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39799" y="4933950"/>
            <a:ext cx="106426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279400"/>
            <a:ext cx="25400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1" i="0">
                <a:solidFill>
                  <a:srgbClr val="191D2E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279400"/>
            <a:ext cx="109728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§ I · MODULINHALTE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6426200"/>
            <a:ext cx="1097280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09</a:t>
            </a:r>
          </a:p>
        </p:txBody>
      </p:sp>
      <p:sp>
        <p:nvSpPr>
          <p:cNvPr id="5" name="Rectangle 4"/>
          <p:cNvSpPr/>
          <p:nvPr/>
        </p:nvSpPr>
        <p:spPr>
          <a:xfrm>
            <a:off x="609600" y="825500"/>
            <a:ext cx="10972800" cy="6350"/>
          </a:xfrm>
          <a:prstGeom prst="rect">
            <a:avLst/>
          </a:prstGeom>
          <a:solidFill>
            <a:srgbClr val="19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09600" y="920750"/>
            <a:ext cx="10972800" cy="177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3800" b="0" i="0">
                <a:solidFill>
                  <a:srgbClr val="191D2E"/>
                </a:solidFill>
                <a:latin typeface="Georgia"/>
              </a:rPr>
              <a:t>Optionale Rollenspielvarianten (für erfahrene Gruppen oder zweite Runde)</a:t>
            </a:r>
          </a:p>
        </p:txBody>
      </p:sp>
      <p:sp>
        <p:nvSpPr>
          <p:cNvPr id="7" name="Rectangle 6"/>
          <p:cNvSpPr/>
          <p:nvPr/>
        </p:nvSpPr>
        <p:spPr>
          <a:xfrm>
            <a:off x="609600" y="2762250"/>
            <a:ext cx="109728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9600" y="2876550"/>
            <a:ext cx="254000" cy="355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200" b="0" i="0">
                <a:solidFill>
                  <a:srgbClr val="1F2B56"/>
                </a:solidFill>
                <a:latin typeface="Georgia"/>
              </a:rPr>
              <a:t>–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9799" y="2851150"/>
            <a:ext cx="10642600" cy="50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Variante A – Der wortkarger Unternehmer Rollenkarte für Unternehmer-Spieler: Sie sind grundsätzlich zufrieden mit Ihrer Bank und sehen keinen Handlungsbedarf. Auf Fragen antworten Sie kurz: „läuft", „passt so", „haben…</a:t>
            </a:r>
          </a:p>
        </p:txBody>
      </p:sp>
      <p:sp>
        <p:nvSpPr>
          <p:cNvPr id="10" name="Rectangle 9"/>
          <p:cNvSpPr/>
          <p:nvPr/>
        </p:nvSpPr>
        <p:spPr>
          <a:xfrm>
            <a:off x="939799" y="3333750"/>
            <a:ext cx="106426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09600" y="3409950"/>
            <a:ext cx="254000" cy="355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200" b="0" i="0">
                <a:solidFill>
                  <a:srgbClr val="1F2B56"/>
                </a:solidFill>
                <a:latin typeface="Georgia"/>
              </a:rPr>
              <a:t>–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39799" y="3384550"/>
            <a:ext cx="10642600" cy="50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Variante B – Zwei Gesellschafter am Tisch (GbR-Situation) Rollenkarten für zwei Unternehmer-Spieler: Sie sind gemeinsam GF einer GmbH &amp; Co. KG. Gesellschafter 1 (Florian Maurer) will investieren und wachsen.…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39799" y="3867150"/>
            <a:ext cx="106426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B5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279400"/>
            <a:ext cx="25400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1" i="0">
                <a:solidFill>
                  <a:srgbClr val="F8F8FA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279400"/>
            <a:ext cx="109728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PRAXISTRANSFER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6426200"/>
            <a:ext cx="1097280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9600" y="635000"/>
            <a:ext cx="5461000" cy="5461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8000" b="0" i="1">
                <a:solidFill>
                  <a:srgbClr val="D9BF7A"/>
                </a:solidFill>
                <a:latin typeface="Georgia"/>
              </a:rPr>
              <a:t>II.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731000" y="4064000"/>
            <a:ext cx="4851400" cy="177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3800" b="0" i="0">
                <a:solidFill>
                  <a:srgbClr val="F8F8FA"/>
                </a:solidFill>
                <a:latin typeface="Georgia"/>
              </a:rPr>
              <a:t>Praxistransfer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31000" y="5842000"/>
            <a:ext cx="4851400" cy="635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1400" b="0" i="1">
                <a:solidFill>
                  <a:srgbClr val="7B7FA0"/>
                </a:solidFill>
                <a:latin typeface="Georgia"/>
              </a:rPr>
              <a:t>Transferaufgabe (bis zum nächsten Termin in 4 Wochen)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279400"/>
            <a:ext cx="25400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1" i="0">
                <a:solidFill>
                  <a:srgbClr val="191D2E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279400"/>
            <a:ext cx="109728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§ II · PRAXISTRANSFER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6426200"/>
            <a:ext cx="1097280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11</a:t>
            </a:r>
          </a:p>
        </p:txBody>
      </p:sp>
      <p:sp>
        <p:nvSpPr>
          <p:cNvPr id="5" name="Rectangle 4"/>
          <p:cNvSpPr/>
          <p:nvPr/>
        </p:nvSpPr>
        <p:spPr>
          <a:xfrm>
            <a:off x="609600" y="825500"/>
            <a:ext cx="10972800" cy="6350"/>
          </a:xfrm>
          <a:prstGeom prst="rect">
            <a:avLst/>
          </a:prstGeom>
          <a:solidFill>
            <a:srgbClr val="19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09600" y="889000"/>
            <a:ext cx="3810000" cy="1778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900" b="0" i="0">
                <a:solidFill>
                  <a:srgbClr val="7B7FA0"/>
                </a:solidFill>
                <a:latin typeface="Courier New"/>
              </a:rPr>
              <a:t>Kernaussage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09600" y="920750"/>
            <a:ext cx="10972800" cy="177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3800" b="0" i="0">
                <a:solidFill>
                  <a:srgbClr val="191D2E"/>
                </a:solidFill>
                <a:latin typeface="Georgia"/>
              </a:rPr>
              <a:t>Transferaufgabe (bis zum nächsten Termin in 4 Wochen)</a:t>
            </a:r>
          </a:p>
        </p:txBody>
      </p:sp>
      <p:sp>
        <p:nvSpPr>
          <p:cNvPr id="8" name="Rectangle 7"/>
          <p:cNvSpPr/>
          <p:nvPr/>
        </p:nvSpPr>
        <p:spPr>
          <a:xfrm>
            <a:off x="609600" y="2762250"/>
            <a:ext cx="10972800" cy="6350"/>
          </a:xfrm>
          <a:prstGeom prst="rect">
            <a:avLst/>
          </a:prstGeom>
          <a:solidFill>
            <a:srgbClr val="19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09600" y="2825750"/>
            <a:ext cx="5207000" cy="28575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Führen Sie in den nächsten 4 Wochen mindestens zwei strukturierte Kundengespräche (Jahresgespräch oder gleichwertiger Gesprächsanlass: Investitionsfinanzierung, Kreditverlängerung, Erstgespräch Neukunde) mit dem…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279400"/>
            <a:ext cx="25400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1" i="0">
                <a:solidFill>
                  <a:srgbClr val="191D2E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279400"/>
            <a:ext cx="109728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§ II · PRAXISTRANSFER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6426200"/>
            <a:ext cx="1097280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12</a:t>
            </a:r>
          </a:p>
        </p:txBody>
      </p:sp>
      <p:sp>
        <p:nvSpPr>
          <p:cNvPr id="5" name="Rectangle 4"/>
          <p:cNvSpPr/>
          <p:nvPr/>
        </p:nvSpPr>
        <p:spPr>
          <a:xfrm>
            <a:off x="609600" y="825500"/>
            <a:ext cx="10972800" cy="6350"/>
          </a:xfrm>
          <a:prstGeom prst="rect">
            <a:avLst/>
          </a:prstGeom>
          <a:solidFill>
            <a:srgbClr val="19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09600" y="920750"/>
            <a:ext cx="10972800" cy="177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3800" b="0" i="0">
                <a:solidFill>
                  <a:srgbClr val="191D2E"/>
                </a:solidFill>
                <a:latin typeface="Georgia"/>
              </a:rPr>
              <a:t>Reflexionsfragen nach jedem Gespräch</a:t>
            </a:r>
          </a:p>
        </p:txBody>
      </p:sp>
      <p:sp>
        <p:nvSpPr>
          <p:cNvPr id="7" name="Rectangle 6"/>
          <p:cNvSpPr/>
          <p:nvPr/>
        </p:nvSpPr>
        <p:spPr>
          <a:xfrm>
            <a:off x="609600" y="2762250"/>
            <a:ext cx="109728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9600" y="2876550"/>
            <a:ext cx="254000" cy="355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200" b="0" i="0">
                <a:solidFill>
                  <a:srgbClr val="1F2B56"/>
                </a:solidFill>
                <a:latin typeface="Georgia"/>
              </a:rPr>
              <a:t>–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9799" y="2851150"/>
            <a:ext cx="10642600" cy="50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Wie viele Implikationsfragen habe ich gestellt? (Schätzen Sie die Anzahl.)</a:t>
            </a:r>
          </a:p>
        </p:txBody>
      </p:sp>
      <p:sp>
        <p:nvSpPr>
          <p:cNvPr id="10" name="Rectangle 9"/>
          <p:cNvSpPr/>
          <p:nvPr/>
        </p:nvSpPr>
        <p:spPr>
          <a:xfrm>
            <a:off x="939799" y="3333750"/>
            <a:ext cx="106426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09600" y="3409950"/>
            <a:ext cx="254000" cy="355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200" b="0" i="0">
                <a:solidFill>
                  <a:srgbClr val="1F2B56"/>
                </a:solidFill>
                <a:latin typeface="Georgia"/>
              </a:rPr>
              <a:t>–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39799" y="3384550"/>
            <a:ext cx="10642600" cy="50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Welchen Bedarf hat der Unternehmer selbst formuliert – ohne dass ich ihn präsentiert habe?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39799" y="3867150"/>
            <a:ext cx="106426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09600" y="3943350"/>
            <a:ext cx="254000" cy="355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200" b="0" i="0">
                <a:solidFill>
                  <a:srgbClr val="1F2B56"/>
                </a:solidFill>
                <a:latin typeface="Georgia"/>
              </a:rPr>
              <a:t>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39799" y="3917950"/>
            <a:ext cx="10642600" cy="50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Auf welchem der vier Ohren habe ich primär gehört? Was habe ich möglicherweise verpasst?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39799" y="4400550"/>
            <a:ext cx="106426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09600" y="4476750"/>
            <a:ext cx="254000" cy="355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200" b="0" i="0">
                <a:solidFill>
                  <a:srgbClr val="1F2B56"/>
                </a:solidFill>
                <a:latin typeface="Georgia"/>
              </a:rPr>
              <a:t>–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39799" y="4451350"/>
            <a:ext cx="10642600" cy="50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Welcher Bereich des UnternehmerDialogs blieb offen? Warum?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39799" y="4933950"/>
            <a:ext cx="106426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09600" y="5010150"/>
            <a:ext cx="254000" cy="355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200" b="0" i="0">
                <a:solidFill>
                  <a:srgbClr val="1F2B56"/>
                </a:solidFill>
                <a:latin typeface="Georgia"/>
              </a:rPr>
              <a:t>–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39799" y="4984750"/>
            <a:ext cx="10642600" cy="50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Was nehme ich mir für das nächste Gespräch mit diesem Kunden konkret vor?</a:t>
            </a:r>
          </a:p>
        </p:txBody>
      </p:sp>
      <p:sp>
        <p:nvSpPr>
          <p:cNvPr id="22" name="Rectangle 21"/>
          <p:cNvSpPr/>
          <p:nvPr/>
        </p:nvSpPr>
        <p:spPr>
          <a:xfrm>
            <a:off x="939799" y="5467350"/>
            <a:ext cx="106426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279400"/>
            <a:ext cx="25400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1" i="0">
                <a:solidFill>
                  <a:srgbClr val="191D2E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279400"/>
            <a:ext cx="109728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§ II · PRAXISTRANSFER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6426200"/>
            <a:ext cx="1097280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13</a:t>
            </a:r>
          </a:p>
        </p:txBody>
      </p:sp>
      <p:sp>
        <p:nvSpPr>
          <p:cNvPr id="5" name="Rectangle 4"/>
          <p:cNvSpPr/>
          <p:nvPr/>
        </p:nvSpPr>
        <p:spPr>
          <a:xfrm>
            <a:off x="609600" y="825500"/>
            <a:ext cx="10972800" cy="6350"/>
          </a:xfrm>
          <a:prstGeom prst="rect">
            <a:avLst/>
          </a:prstGeom>
          <a:solidFill>
            <a:srgbClr val="19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09600" y="920750"/>
            <a:ext cx="4826000" cy="177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3800" b="0" i="0">
                <a:solidFill>
                  <a:srgbClr val="191D2E"/>
                </a:solidFill>
                <a:latin typeface="Georgia"/>
              </a:rPr>
              <a:t>Selbstcheck nach 4 Wochen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715000" y="920750"/>
          <a:ext cx="5867400" cy="2667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55800"/>
                <a:gridCol w="1955800"/>
                <a:gridCol w="1955800"/>
              </a:tblGrid>
              <a:tr h="381000"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8F8FA"/>
                          </a:solidFill>
                          <a:latin typeface="Courier New"/>
                        </a:rPr>
                        <a:t>Aussage</a:t>
                      </a:r>
                    </a:p>
                  </a:txBody>
                  <a:tcPr>
                    <a:solidFill>
                      <a:srgbClr val="1F2B5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8F8FA"/>
                          </a:solidFill>
                          <a:latin typeface="Courier New"/>
                        </a:rPr>
                        <a:t>Stimmt</a:t>
                      </a:r>
                    </a:p>
                  </a:txBody>
                  <a:tcPr>
                    <a:solidFill>
                      <a:srgbClr val="1F2B5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8F8FA"/>
                          </a:solidFill>
                          <a:latin typeface="Courier New"/>
                        </a:rPr>
                        <a:t>Noch nicht</a:t>
                      </a:r>
                    </a:p>
                  </a:txBody>
                  <a:tcPr>
                    <a:solidFill>
                      <a:srgbClr val="1F2B56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Ich setze Situationsfragen gezielt ein, ohne sie zu übergewichten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☐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☐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Ich stelle mindestens 2 Implikationsfragen pro Gespräch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☐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☐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Ich lasse den Kunden Bedarf selbst formulieren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☐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☐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Ich erkenne non-verbale Signale und spreche sie an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☐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☐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Ich schließe jedes Gespräch mit schriftlichen Vereinbarungen ab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☐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☐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Ich nutze alle relevanten Abschnitte des UnternehmerDialogs aktiv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☐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91D2E"/>
                          </a:solidFill>
                          <a:latin typeface="Courier New"/>
                        </a:rPr>
                        <a:t>☐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279400"/>
            <a:ext cx="25400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1" i="0">
                <a:solidFill>
                  <a:srgbClr val="191D2E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279400"/>
            <a:ext cx="109728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§ II · PRAXISTRANSFER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6426200"/>
            <a:ext cx="1097280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14</a:t>
            </a:r>
          </a:p>
        </p:txBody>
      </p:sp>
      <p:sp>
        <p:nvSpPr>
          <p:cNvPr id="5" name="Rectangle 4"/>
          <p:cNvSpPr/>
          <p:nvPr/>
        </p:nvSpPr>
        <p:spPr>
          <a:xfrm>
            <a:off x="609600" y="825500"/>
            <a:ext cx="10972800" cy="6350"/>
          </a:xfrm>
          <a:prstGeom prst="rect">
            <a:avLst/>
          </a:prstGeom>
          <a:solidFill>
            <a:srgbClr val="19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09600" y="920750"/>
            <a:ext cx="10972800" cy="177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3800" b="0" i="0">
                <a:solidFill>
                  <a:srgbClr val="191D2E"/>
                </a:solidFill>
                <a:latin typeface="Georgia"/>
              </a:rPr>
              <a:t>Empfohlene Vertiefungsliteratur</a:t>
            </a:r>
          </a:p>
        </p:txBody>
      </p:sp>
      <p:sp>
        <p:nvSpPr>
          <p:cNvPr id="7" name="Rectangle 6"/>
          <p:cNvSpPr/>
          <p:nvPr/>
        </p:nvSpPr>
        <p:spPr>
          <a:xfrm>
            <a:off x="609600" y="2762250"/>
            <a:ext cx="109728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9600" y="2876550"/>
            <a:ext cx="254000" cy="355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200" b="0" i="0">
                <a:solidFill>
                  <a:srgbClr val="1F2B56"/>
                </a:solidFill>
                <a:latin typeface="Georgia"/>
              </a:rPr>
              <a:t>–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9799" y="2851150"/>
            <a:ext cx="10642600" cy="50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Rackham, N. (1988). SPIN Selling. McGraw-Hill. [Klassiker der Beratungsgesprächsforschung]</a:t>
            </a:r>
          </a:p>
        </p:txBody>
      </p:sp>
      <p:sp>
        <p:nvSpPr>
          <p:cNvPr id="10" name="Rectangle 9"/>
          <p:cNvSpPr/>
          <p:nvPr/>
        </p:nvSpPr>
        <p:spPr>
          <a:xfrm>
            <a:off x="939799" y="3333750"/>
            <a:ext cx="106426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09600" y="3409950"/>
            <a:ext cx="254000" cy="355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200" b="0" i="0">
                <a:solidFill>
                  <a:srgbClr val="1F2B56"/>
                </a:solidFill>
                <a:latin typeface="Georgia"/>
              </a:rPr>
              <a:t>–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39799" y="3384550"/>
            <a:ext cx="10642600" cy="50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Schulz von Thun, F. (1981). Miteinander Reden: Störungen und Klärungen. Rowohlt. [Vier-Ohren-Modell, leicht zugänglich]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39799" y="3867150"/>
            <a:ext cx="106426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09600" y="3943350"/>
            <a:ext cx="254000" cy="355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200" b="0" i="0">
                <a:solidFill>
                  <a:srgbClr val="1F2B56"/>
                </a:solidFill>
                <a:latin typeface="Georgia"/>
              </a:rPr>
              <a:t>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39799" y="3917950"/>
            <a:ext cx="10642600" cy="50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Cialdini, R. B. (2001). Influence: The Psychology of Persuasion. HarperCollins. [Psychologie des Überzeugens]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39799" y="4400550"/>
            <a:ext cx="106426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B5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279400"/>
            <a:ext cx="25400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1" i="0">
                <a:solidFill>
                  <a:srgbClr val="F8F8FA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279400"/>
            <a:ext cx="109728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QUELLEN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6426200"/>
            <a:ext cx="1097280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15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9600" y="635000"/>
            <a:ext cx="5461000" cy="5461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8000" b="0" i="1">
                <a:solidFill>
                  <a:srgbClr val="D9BF7A"/>
                </a:solidFill>
                <a:latin typeface="Georgia"/>
              </a:rPr>
              <a:t>III.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731000" y="4064000"/>
            <a:ext cx="4851400" cy="177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3800" b="0" i="0">
                <a:solidFill>
                  <a:srgbClr val="F8F8FA"/>
                </a:solidFill>
                <a:latin typeface="Georgia"/>
              </a:rPr>
              <a:t>Quellen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31000" y="5842000"/>
            <a:ext cx="4851400" cy="635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1400" b="0" i="1">
                <a:solidFill>
                  <a:srgbClr val="7B7FA0"/>
                </a:solidFill>
                <a:latin typeface="Georgia"/>
              </a:rPr>
              <a:t>Kommunikation &amp; Gesprächsführung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279400"/>
            <a:ext cx="25400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1" i="0">
                <a:solidFill>
                  <a:srgbClr val="191D2E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279400"/>
            <a:ext cx="109728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§ III · QUELLEN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6426200"/>
            <a:ext cx="1097280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16</a:t>
            </a:r>
          </a:p>
        </p:txBody>
      </p:sp>
      <p:sp>
        <p:nvSpPr>
          <p:cNvPr id="5" name="Rectangle 4"/>
          <p:cNvSpPr/>
          <p:nvPr/>
        </p:nvSpPr>
        <p:spPr>
          <a:xfrm>
            <a:off x="609600" y="825500"/>
            <a:ext cx="10972800" cy="6350"/>
          </a:xfrm>
          <a:prstGeom prst="rect">
            <a:avLst/>
          </a:prstGeom>
          <a:solidFill>
            <a:srgbClr val="19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09600" y="920750"/>
            <a:ext cx="10972800" cy="177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3800" b="0" i="0">
                <a:solidFill>
                  <a:srgbClr val="191D2E"/>
                </a:solidFill>
                <a:latin typeface="Georgia"/>
              </a:rPr>
              <a:t>Kommunikation &amp; Gesprächsführung</a:t>
            </a:r>
          </a:p>
        </p:txBody>
      </p:sp>
      <p:sp>
        <p:nvSpPr>
          <p:cNvPr id="7" name="Rectangle 6"/>
          <p:cNvSpPr/>
          <p:nvPr/>
        </p:nvSpPr>
        <p:spPr>
          <a:xfrm>
            <a:off x="609600" y="2762250"/>
            <a:ext cx="109728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9600" y="2876550"/>
            <a:ext cx="254000" cy="355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200" b="0" i="0">
                <a:solidFill>
                  <a:srgbClr val="1F2B56"/>
                </a:solidFill>
                <a:latin typeface="Georgia"/>
              </a:rPr>
              <a:t>–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9799" y="2851150"/>
            <a:ext cx="10642600" cy="50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Schulz von Thun, F. (1981). Miteinander Reden: Störungen und Klärungen – Allgemeine Psychologie der Kommunikation. Rowohlt.</a:t>
            </a:r>
          </a:p>
        </p:txBody>
      </p:sp>
      <p:sp>
        <p:nvSpPr>
          <p:cNvPr id="10" name="Rectangle 9"/>
          <p:cNvSpPr/>
          <p:nvPr/>
        </p:nvSpPr>
        <p:spPr>
          <a:xfrm>
            <a:off x="939799" y="3333750"/>
            <a:ext cx="106426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09600" y="3409950"/>
            <a:ext cx="254000" cy="355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200" b="0" i="0">
                <a:solidFill>
                  <a:srgbClr val="1F2B56"/>
                </a:solidFill>
                <a:latin typeface="Georgia"/>
              </a:rPr>
              <a:t>–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39799" y="3384550"/>
            <a:ext cx="10642600" cy="50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Schulz von Thun, F., Ruppel, J. &amp; Stratmann, R. (2000). Miteinander Reden: Kommunikationspsychologie für Führungskräfte. Rowohlt.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39799" y="3867150"/>
            <a:ext cx="106426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09600" y="3943350"/>
            <a:ext cx="254000" cy="355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200" b="0" i="0">
                <a:solidFill>
                  <a:srgbClr val="1F2B56"/>
                </a:solidFill>
                <a:latin typeface="Georgia"/>
              </a:rPr>
              <a:t>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39799" y="3917950"/>
            <a:ext cx="10642600" cy="50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Watzlawick, P., Beavin, J. H. &amp; Jackson, D. D. (1967). Pragmatics of Human Communication: A Study of Interactional Patterns, Pathologies and Paradoxes. Norton. (Dt.: Menschliche Kommunikation. Huber, 2017.)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39799" y="4400550"/>
            <a:ext cx="106426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279400"/>
            <a:ext cx="25400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1" i="0">
                <a:solidFill>
                  <a:srgbClr val="191D2E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279400"/>
            <a:ext cx="109728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§ III · QUELLEN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6426200"/>
            <a:ext cx="1097280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17</a:t>
            </a:r>
          </a:p>
        </p:txBody>
      </p:sp>
      <p:sp>
        <p:nvSpPr>
          <p:cNvPr id="5" name="Rectangle 4"/>
          <p:cNvSpPr/>
          <p:nvPr/>
        </p:nvSpPr>
        <p:spPr>
          <a:xfrm>
            <a:off x="609600" y="825500"/>
            <a:ext cx="10972800" cy="6350"/>
          </a:xfrm>
          <a:prstGeom prst="rect">
            <a:avLst/>
          </a:prstGeom>
          <a:solidFill>
            <a:srgbClr val="19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09600" y="920750"/>
            <a:ext cx="10972800" cy="177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3800" b="0" i="0">
                <a:solidFill>
                  <a:srgbClr val="191D2E"/>
                </a:solidFill>
                <a:latin typeface="Georgia"/>
              </a:rPr>
              <a:t>Bedarfsanalyse &amp; Consultative Selling</a:t>
            </a:r>
          </a:p>
        </p:txBody>
      </p:sp>
      <p:sp>
        <p:nvSpPr>
          <p:cNvPr id="7" name="Rectangle 6"/>
          <p:cNvSpPr/>
          <p:nvPr/>
        </p:nvSpPr>
        <p:spPr>
          <a:xfrm>
            <a:off x="609600" y="2762250"/>
            <a:ext cx="109728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9600" y="2876550"/>
            <a:ext cx="254000" cy="355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200" b="0" i="0">
                <a:solidFill>
                  <a:srgbClr val="1F2B56"/>
                </a:solidFill>
                <a:latin typeface="Georgia"/>
              </a:rPr>
              <a:t>–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9799" y="2851150"/>
            <a:ext cx="10642600" cy="50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Rackham, N. (1988). SPIN Selling. McGraw-Hill.</a:t>
            </a:r>
          </a:p>
        </p:txBody>
      </p:sp>
      <p:sp>
        <p:nvSpPr>
          <p:cNvPr id="10" name="Rectangle 9"/>
          <p:cNvSpPr/>
          <p:nvPr/>
        </p:nvSpPr>
        <p:spPr>
          <a:xfrm>
            <a:off x="939799" y="3333750"/>
            <a:ext cx="106426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09600" y="3409950"/>
            <a:ext cx="254000" cy="355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200" b="0" i="0">
                <a:solidFill>
                  <a:srgbClr val="1F2B56"/>
                </a:solidFill>
                <a:latin typeface="Georgia"/>
              </a:rPr>
              <a:t>–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39799" y="3384550"/>
            <a:ext cx="10642600" cy="50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Hanan, M. (1970). Consultative Selling. AMACOM.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39799" y="3867150"/>
            <a:ext cx="106426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09600" y="3943350"/>
            <a:ext cx="254000" cy="355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200" b="0" i="0">
                <a:solidFill>
                  <a:srgbClr val="1F2B56"/>
                </a:solidFill>
                <a:latin typeface="Georgia"/>
              </a:rPr>
              <a:t>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39799" y="3917950"/>
            <a:ext cx="10642600" cy="50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Cialdini, R. B. (2001). Influence: The Psychology of Persuasion (Rev. ed.). HarperCollins.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39799" y="4400550"/>
            <a:ext cx="106426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279400"/>
            <a:ext cx="25400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1" i="0">
                <a:solidFill>
                  <a:srgbClr val="191D2E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279400"/>
            <a:ext cx="109728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§ III · QUELLEN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6426200"/>
            <a:ext cx="1097280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18</a:t>
            </a:r>
          </a:p>
        </p:txBody>
      </p:sp>
      <p:sp>
        <p:nvSpPr>
          <p:cNvPr id="5" name="Rectangle 4"/>
          <p:cNvSpPr/>
          <p:nvPr/>
        </p:nvSpPr>
        <p:spPr>
          <a:xfrm>
            <a:off x="609600" y="825500"/>
            <a:ext cx="10972800" cy="6350"/>
          </a:xfrm>
          <a:prstGeom prst="rect">
            <a:avLst/>
          </a:prstGeom>
          <a:solidFill>
            <a:srgbClr val="19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09600" y="920750"/>
            <a:ext cx="10972800" cy="177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3800" b="0" i="0">
                <a:solidFill>
                  <a:srgbClr val="191D2E"/>
                </a:solidFill>
                <a:latin typeface="Georgia"/>
              </a:rPr>
              <a:t>Bankfachlich</a:t>
            </a:r>
          </a:p>
        </p:txBody>
      </p:sp>
      <p:sp>
        <p:nvSpPr>
          <p:cNvPr id="7" name="Rectangle 6"/>
          <p:cNvSpPr/>
          <p:nvPr/>
        </p:nvSpPr>
        <p:spPr>
          <a:xfrm>
            <a:off x="609600" y="2762250"/>
            <a:ext cx="109728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9600" y="2876550"/>
            <a:ext cx="254000" cy="355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200" b="0" i="0">
                <a:solidFill>
                  <a:srgbClr val="1F2B56"/>
                </a:solidFill>
                <a:latin typeface="Georgia"/>
              </a:rPr>
              <a:t>–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9799" y="2851150"/>
            <a:ext cx="10642600" cy="50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Heim, G. (2007). Handbuch Firmenkundengeschäft: Kreditentscheidung – Risikomanagement – Eigenkapitalunterlegung nach Basel II. Bankakademie-Verlag.</a:t>
            </a:r>
          </a:p>
        </p:txBody>
      </p:sp>
      <p:sp>
        <p:nvSpPr>
          <p:cNvPr id="10" name="Rectangle 9"/>
          <p:cNvSpPr/>
          <p:nvPr/>
        </p:nvSpPr>
        <p:spPr>
          <a:xfrm>
            <a:off x="939799" y="3333750"/>
            <a:ext cx="106426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09600" y="3409950"/>
            <a:ext cx="254000" cy="355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200" b="0" i="0">
                <a:solidFill>
                  <a:srgbClr val="1F2B56"/>
                </a:solidFill>
                <a:latin typeface="Georgia"/>
              </a:rPr>
              <a:t>–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39799" y="3384550"/>
            <a:ext cx="10642600" cy="50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zeb consulting. (2020). Firmenkundenstudie 8.0.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39799" y="3867150"/>
            <a:ext cx="106426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09600" y="3943350"/>
            <a:ext cx="254000" cy="355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200" b="0" i="0">
                <a:solidFill>
                  <a:srgbClr val="1F2B56"/>
                </a:solidFill>
                <a:latin typeface="Georgia"/>
              </a:rPr>
              <a:t>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39799" y="3917950"/>
            <a:ext cx="10642600" cy="508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Roland Berger. (2024). KMU-Banking: Firmenkundenberater 2.0.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39799" y="4400550"/>
            <a:ext cx="106426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279400"/>
            <a:ext cx="25400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1" i="0">
                <a:solidFill>
                  <a:srgbClr val="191D2E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279400"/>
            <a:ext cx="109728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§ III · QUELLEN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6426200"/>
            <a:ext cx="1097280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19</a:t>
            </a:r>
          </a:p>
        </p:txBody>
      </p:sp>
      <p:sp>
        <p:nvSpPr>
          <p:cNvPr id="5" name="Rectangle 4"/>
          <p:cNvSpPr/>
          <p:nvPr/>
        </p:nvSpPr>
        <p:spPr>
          <a:xfrm>
            <a:off x="609600" y="825500"/>
            <a:ext cx="10972800" cy="6350"/>
          </a:xfrm>
          <a:prstGeom prst="rect">
            <a:avLst/>
          </a:prstGeom>
          <a:solidFill>
            <a:srgbClr val="19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09600" y="920750"/>
            <a:ext cx="10972800" cy="1270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3800" b="0" i="0">
                <a:solidFill>
                  <a:srgbClr val="191D2E"/>
                </a:solidFill>
                <a:latin typeface="Georgia"/>
              </a:rPr>
              <a:t>Didaktik &amp; Kompetenzmodell</a:t>
            </a:r>
          </a:p>
        </p:txBody>
      </p:sp>
      <p:sp>
        <p:nvSpPr>
          <p:cNvPr id="7" name="Rectangle 6"/>
          <p:cNvSpPr/>
          <p:nvPr/>
        </p:nvSpPr>
        <p:spPr>
          <a:xfrm>
            <a:off x="609600" y="2254250"/>
            <a:ext cx="10972800" cy="6350"/>
          </a:xfrm>
          <a:prstGeom prst="rect">
            <a:avLst/>
          </a:prstGeom>
          <a:solidFill>
            <a:srgbClr val="19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9600" y="2343150"/>
            <a:ext cx="304800" cy="254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0" i="0">
                <a:solidFill>
                  <a:srgbClr val="1F2B56"/>
                </a:solidFill>
                <a:latin typeface="Courier New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90599" y="2317750"/>
            <a:ext cx="4699000" cy="5588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Anderson, L. W. &amp; Krathwohl, D. R. (Hrsg.). (2001). A Taxonomy for Learning, Teaching, and Assessing. Addison Wesley Longman.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09600" y="2889250"/>
            <a:ext cx="50800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09600" y="2952750"/>
            <a:ext cx="304800" cy="254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0" i="0">
                <a:solidFill>
                  <a:srgbClr val="1F2B56"/>
                </a:solidFill>
                <a:latin typeface="Courier New"/>
              </a:rPr>
              <a:t>02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90599" y="2927350"/>
            <a:ext cx="4699000" cy="5588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Dreyfus, H. L. &amp; Dreyfus, S. E. (1980). A Five-Stage Model of the Mental Activities Involved in Directed Skill Acquisition.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09600" y="3498850"/>
            <a:ext cx="50800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02400" y="2343150"/>
            <a:ext cx="304800" cy="254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0" i="0">
                <a:solidFill>
                  <a:srgbClr val="1F2B56"/>
                </a:solidFill>
                <a:latin typeface="Courier New"/>
              </a:rPr>
              <a:t>01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83400" y="2317750"/>
            <a:ext cx="4699000" cy="5588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Kirkpatrick, D. L. (1994). Evaluating Training Programs: The Four Levels. Berrett-Koehler.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502400" y="2889250"/>
            <a:ext cx="50800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02400" y="2952750"/>
            <a:ext cx="304800" cy="254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0" i="0">
                <a:solidFill>
                  <a:srgbClr val="1F2B56"/>
                </a:solidFill>
                <a:latin typeface="Courier New"/>
              </a:rPr>
              <a:t>02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83400" y="2927350"/>
            <a:ext cx="4699000" cy="5588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Kolb, D. A. (1984). Experiential Learning: Experience as the Source of Learning and Development. Prentice Hall.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502400" y="3498850"/>
            <a:ext cx="50800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457200"/>
            <a:ext cx="31750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1" i="0">
                <a:solidFill>
                  <a:srgbClr val="191D2E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600" y="457200"/>
            <a:ext cx="10972800" cy="2794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900" b="0" i="0">
                <a:solidFill>
                  <a:srgbClr val="7B7FA0"/>
                </a:solidFill>
                <a:latin typeface="Courier New"/>
              </a:rPr>
              <a:t>Ende · v1.0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1143000"/>
            <a:ext cx="10972800" cy="3556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9600" b="0" i="0">
                <a:solidFill>
                  <a:srgbClr val="191D2E"/>
                </a:solidFill>
                <a:latin typeface="Georgia"/>
              </a:rPr>
              <a:t>Danke.
Fragen?</a:t>
            </a:r>
          </a:p>
        </p:txBody>
      </p:sp>
      <p:sp>
        <p:nvSpPr>
          <p:cNvPr id="5" name="Rectangle 4"/>
          <p:cNvSpPr/>
          <p:nvPr/>
        </p:nvSpPr>
        <p:spPr>
          <a:xfrm>
            <a:off x="609600" y="4826000"/>
            <a:ext cx="10972800" cy="6350"/>
          </a:xfrm>
          <a:prstGeom prst="rect">
            <a:avLst/>
          </a:prstGeom>
          <a:solidFill>
            <a:srgbClr val="19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09600" y="4953000"/>
            <a:ext cx="5715000" cy="1143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1">
                <a:solidFill>
                  <a:srgbClr val="191D2E"/>
                </a:solidFill>
                <a:latin typeface="Georgia"/>
              </a:rPr>
              <a:t>Modul «Strukturierte Bedarfsanalyse» auf FKB Campus — 3 Lernziele, Praxisfall und Quellenapparat.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31000" y="4953000"/>
            <a:ext cx="2413000" cy="1778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900" b="0" i="0">
                <a:solidFill>
                  <a:srgbClr val="7B7FA0"/>
                </a:solidFill>
                <a:latin typeface="Courier New"/>
              </a:rPr>
              <a:t>Kontakt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731000" y="5156200"/>
            <a:ext cx="2413000" cy="381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info@benedikt-zoller.de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98000" y="4953000"/>
            <a:ext cx="2184400" cy="1778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900" b="0" i="0">
                <a:solidFill>
                  <a:srgbClr val="7B7FA0"/>
                </a:solidFill>
                <a:latin typeface="Courier New"/>
              </a:rPr>
              <a:t>Modul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98000" y="5156200"/>
            <a:ext cx="2184400" cy="381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0" i="0">
                <a:solidFill>
                  <a:srgbClr val="191D2E"/>
                </a:solidFill>
                <a:latin typeface="Georgia"/>
              </a:rPr>
              <a:t>M10 · Sparring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