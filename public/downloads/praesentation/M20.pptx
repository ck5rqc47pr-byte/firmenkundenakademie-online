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M20  ·  v0.4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94000"/>
            <a:ext cx="10972800" cy="20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Netzwerk &amp; Sichtbarkeit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89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016500"/>
            <a:ext cx="5207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4D5270"/>
                </a:solidFill>
                <a:latin typeface="Georgia"/>
              </a:rPr>
              <a:t>Strategisches Beziehungskapital aufbauen und Fachexpertise im Markt positionieren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016500"/>
            <a:ext cx="254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207000"/>
            <a:ext cx="2540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Stratege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0" y="5016500"/>
            <a:ext cx="2667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07000"/>
            <a:ext cx="2667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90 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3175000" cy="165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0" y="889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4000" y="939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952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Eigenes Netzwerk nach Stärke, Brücken und Lücken analysieren und Erweiterungsstrategie ableiten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0" y="1587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4000" y="1638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1651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Verschiedene Netzwerk-Kanäle nach strategischer Eignung bewerten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4000" y="2286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4000" y="23368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349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Persönliche Sichtbarkeitsstrategie entwickeln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4000" y="2984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4000" y="3035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3048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90-Tage-Netzwerkstrategie mit konkreten Aktivitäten gestalten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4000" y="3683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4000" y="3733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746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Operative Netzwerkpflege von strategischem Beziehungsaufbau unterscheiden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Modulinhalte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4.2 DIE DREI NETZWERKDIMENSIONEN EINES FK-BERATERS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4.2 Die drei Netzwerkdimensionen eines FK-Beraters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Dimension 1: Internes Netzwerk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II · 4.2 DIE DREI NETZWERKDIMENSIONEN EINES FK-BERATERS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Dimension 1: Internes Netzwerk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Interne Empfehlungen aus Privatkundenbereichen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Frühzeitige Informationen über anstehende Regulierungen oder Strategieänderungen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9433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799" y="39179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Unterstützung bei komplexen Fällen durch Spezialisten (Immobilien, Strukturierte Finanzierung, Ausland)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799" y="44005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II · 4.2 DIE DREI NETZWERKDIMENSIONEN EINES FK-BERATERS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Dimension 2: Verbundpartner-Netzwerk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Gemeinsame Kundenveranstaltungen mit R+V oder Union Investment: Der FK-Berater tritt als Co-Moderator auf und gewinnt Sichtbarkeit bei Kunden anderer Berater.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Monatlicher Jour fixe (30 Min.) mit dem R+V-Gebietsleiter oder UIN-Regionalbetreuer: Leads gegenseitig teilen, aktuelle Cross-Selling-Opportunitäten besprechen.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9433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799" y="39179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Internes Cross-Selling-Meeting: Privatkundenberater mit Unternehmerkunden systematisch ansprechen – das ist im Alltag oft der schnellste Weg zu Neukunden, wird aber selten als aktives Format geführt.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799" y="44005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II · 4.2 DIE DREI NETZWERKDIMENSIONEN EINES FK-BERATERS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Dimension 3: Markt-Netzwerk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Hier entsteht langfristig die stärkste Wirkung: Steuerberater, Wirtschaftsprüfer, Rechtsanwälte, Unternehmensberater, Branchenverbände, Handwerkskammern, IHK-Gremien. Diese Multiplikatoren entscheiden über Empfehlungen,…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Cross &amp; Parker (2004): Formelle Netzwerke (Organigramme, Mitgliedschaften) sind sichtbar, aber oft weniger wirksam als informelle Netzwerke. Entscheidend ist, wer sich bei Problemen an wen wendet – nicht wer formell…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4.3 NETZWERKANALYSE: DEN EIGENEN STATUS REALISTISCH EINSCHÄTZEN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4.3 Netzwerkanalyse: Den eigenen Status realistisch einschätzen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Das Netzwerk-Audit (3 Fragen)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III · 4.3 NETZWERKANALYSE: DEN EIGENEN STATUS REALISTISCH EINSCHÄTZEN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Das Netzwerk-Audit (3 Fragen)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Frage 1: Stärke meiner bestehenden Verbindungen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850"/>
                <a:gridCol w="1466850"/>
                <a:gridCol w="1466850"/>
                <a:gridCol w="146685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Kontakttyp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Anzahl (ca.)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Qualität (1–5)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Zuletzt aktiv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Interne Kollegen (FK-Team)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Verbundpartner-Kontakte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Steuerberater / WP in der Region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Branchenverband-Kontakte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Formelle Kammermitgliedschaften / Ausschüsse (IHK, HWK)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Persönliche Unternehmerclubs / Runde Tische (Rotary, Lions, WJ, BNI, Maschinenring, BDS)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Digitale Kontakte (LinkedIn – nur nach Compliance-Freigabe)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4.4 SICHTBARKEIT: EXPERTISE SICHTBAR MACHEN OHNE EIGENWERBUNG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4.4 Sichtbarkeit: Expertise sichtbar machen ohne Eigenwerbung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Format 1: Fachbeiträge und Impulse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IV · 4.4 SICHTBARKEIT: EXPERTISE SICHTBAR MACHEN OHNE EIGENWERBUNG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Format 1: Fachbeiträge und Impulse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Monatliche E-Mail an 5–10 Steuerberater mit einem aktuellen Branchenhinweis: „Für Ihre Mandanten in der Landwirtschaft: GAP-Änderungen ab Q3 2026 – was das für Investitionsfinanzierungen bedeutet" (Hinweis: Regelmäßige…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Kurzer Vortrag (15 Min.) bei IHK-Frühstück zu einem konkreten Finanzierungsthema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9433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799" y="39179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LinkedIn-Post mit einer praxisnahen Erkenntnis aus einem anonymisierten Kundengespräch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799" y="44005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IV · 4.4 SICHTBARKEIT: EXPERTISE SICHTBAR MACHEN OHNE EIGENWERBUNG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Format 2: Empfehlungen geben, bevor man welche bekommt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765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99" y="28511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Das Prinzip des Vorlaufs (Cialdini, 2001, Reziprozität): Wer zuerst gibt, erhält. Ein Berater, der seinem Steuerberater-Netzwerk aktiv Unternehmerkunden empfiehlt (sofern geeignet und im Kundeninteresse), wird selbst…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9799" y="33337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409950"/>
            <a:ext cx="254000" cy="355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99" y="3384550"/>
            <a:ext cx="106426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Praxisregel: „Ein guter Netzwerkpartner merkt, dass er zu mir gehört, bevor er das erste Mal mit mir gearbeitet hat."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799" y="3867150"/>
            <a:ext cx="106426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IV · 4.4 SICHTBARKEIT: EXPERTISE SICHTBAR MACHEN OHNE EIGENWERBUNG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Format 3: Präsenz in Gremien und Verbänden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Strategisch wählen: Nicht jede Mitgliedschaft lohnt sich. Kriterien: - Sind meine Zielkunden oder ihre Berater dort aktiv? - Gibt es eine Möglichkeit, sich inhaltlich einzubringen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850"/>
                <a:gridCol w="1466850"/>
                <a:gridCol w="1466850"/>
                <a:gridCol w="146685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Format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Zielgruppe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Zeitaufwand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Zugangshürde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Wirtschaftsjunioren (WJ)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Junge Unternehmer, Nachfolger (&lt; 40 J.)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4–6 h/Monat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Niedrig – offen für Bewerber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IHK-Ausschüsse (Kreditwirtschaft, Unternehmensfinanzierung)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Etablierte Unternehmer, Berater, Verbandsvertreter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4–8 Sitzungen/Jahr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Mittel – Bewerbung erforderlich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Handwerkskammer-Netzwerke / HWK-Ausschüsse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Handwerksmeister, Innungen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3–5 Veranstaltungen/Jahr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Niedrig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Maschinenringe (v.a. Allgäu, Oberbayern, Schwaben)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Landwirte, Forstbetriebe – Schlüsselmultiplikatoren im Agrar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2–4 Events/Jahr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Niedrig – Empfehlung durch Bestandskunde ideal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BDS (Bund der Selbständigen)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Kleinstunternehmer, Freiberufler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4–6 Treffen/Jahr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Niedrig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Rotary / Lions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Etablierte Unternehmer 50+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gering (monatlich)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Hoch – nur durch Empfehlung; Gästeabende als Einstieg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BNI (Business Network International)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Alle Branchen, Empfehlungsnetzwerk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Hoch (wöchentlich!)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Mittel – Aufwand vorab prüfen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IV · 4.4 SICHTBARKEIT: EXPERTISE SICHTBAR MACHEN OHNE EIGENWERBUNG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Format 4: Digitale Sichtbarkeit (nachrangig, selektiv)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5425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3431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99" y="23177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LinkedIn ist für FK-Berater bei regionalen VR-Banken in Süddeutschland kein primärer Akquise-Kanal – Handwerker, Landwirte und klassische Mittelständler suchen Bankberater nicht…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8892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9527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99" y="29273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Sinnvoller Einsatz von LinkedIn: Nachbereitung und Pflege von Kontakten, die bereits persönlich entstanden sind – nicht als eigenständiger Erstkontakt-Kanal. LinkedIn eignet sich…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4988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2400" y="23431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3400" y="23177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&gt; Compliance-Pflicht: Vor dem Start jeglicher LinkedIn-Aktivität (Posts, Kommentare, Beiträge mit Bankbezug) ist die Freigabe durch die Compliance-Abteilung der eigenen Bank…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2400" y="28892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0" y="2952750"/>
            <a:ext cx="304800" cy="254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3400" y="2927350"/>
            <a:ext cx="4699000" cy="55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Minimalstandard (nach Compliance-Freigabe): Vollständiges Profil mit klarem Beratungsfeld, Verbindungen mit bestehenden Netzwerkkontakten pflegen – Posts als optionale Ergänzung,…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2400" y="349885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4.5 DER 90-TAGE-NETZWERKPLAN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4.5 Der 90-Tage-Netzwerkplan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4.6 PRAXISCASE: STEFAN KÖHLER – VOM GEHEIMTIPP ZUR AUTORITÄT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VI.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4.6 Praxiscase: Stefan Köhler – vom Geheimtipp zur Autorität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4.7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VII.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4.7 Arbeitsblätter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Arbeitsblatt 1: Persönliche Netzwerkkarte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VII · 4.7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Arbeitsblatt 1: Persönliche Netzwerkkarte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(Zeichnen oder tabellarisch ausfüllen)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/>
                <a:gridCol w="1173480"/>
                <a:gridCol w="1173480"/>
                <a:gridCol w="1173480"/>
                <a:gridCol w="117348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Bereich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Meine wichtigsten Kontakte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Qualität (1–5)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Letzte Interaktion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Nächster Schritt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Internes FK-Team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Interne Spezialisten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Verbundpartner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Steuerberater / WP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Rechtsanwälte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Branchenverbände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Unternehmerclubs / Gremien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Digitale Kontakte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VII · 4.7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Arbeitsblatt 2: Lückenanalyse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0" y="920750"/>
          <a:ext cx="58674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29337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Frage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Meine Antwort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In welchen Branchen fehlen mir externe Multiplikatoren?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Welche 3 Personen hätte ich gerne in meinem Netzwerk?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Welche interne Vernetzung würde meine Arbeit am meisten erleichtern?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Wo könnte ich als Broker Mehrwert stiften?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VII · 4.7 ARBEITSBLÄTTER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Arbeitsblatt 3: 90-Tage-Aktionsplan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---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/>
                <a:gridCol w="1173480"/>
                <a:gridCol w="1173480"/>
                <a:gridCol w="1173480"/>
                <a:gridCol w="117348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Zeitraum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Aktivität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Zielkontakt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Ziel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Erledigt?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Woche 1–2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Woche 3–4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Monat 2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Monat 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VIII.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Praxistransfer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5.2 SELBSTCHECK NACH 4 WOCHEN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5.2 Selbstcheck nach 4 Wochen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5.3 VERTIEFUNGSLITERATUR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5.3 Vertiefungsliteratur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Quellen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Ende · v0.4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5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2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953000"/>
            <a:ext cx="5715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Modul «Netzwerk &amp; Sichtbarkeit» auf FKB Campus — 5 Lernziele,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4953000"/>
            <a:ext cx="2413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Kontakt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0" y="5156200"/>
            <a:ext cx="24130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info@benedikt-zoller.de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4953000"/>
            <a:ext cx="2184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156200"/>
            <a:ext cx="21844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M20 · Stratege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