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Rectangle 5"/>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193792"/>
            <a:ext cx="5408676"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8" name="TextBox 7"/>
          <p:cNvSpPr txBox="1"/>
          <p:nvPr/>
        </p:nvSpPr>
        <p:spPr>
          <a:xfrm>
            <a:off x="685800" y="5394960"/>
            <a:ext cx="5408676" cy="320040"/>
          </a:xfrm>
          <a:prstGeom prst="rect">
            <a:avLst/>
          </a:prstGeom>
          <a:noFill/>
        </p:spPr>
        <p:txBody>
          <a:bodyPr wrap="square">
            <a:spAutoFit/>
          </a:bodyPr>
          <a:lstStyle/>
          <a:p>
            <a:pPr algn="l"/>
            <a:r>
              <a:rPr sz="1100" b="0" i="0">
                <a:solidFill>
                  <a:srgbClr val="FFFFFF"/>
                </a:solidFill>
                <a:latin typeface="Arial"/>
              </a:rPr>
              <a:t>Stratege</a:t>
            </a:r>
          </a:p>
        </p:txBody>
      </p:sp>
      <p:sp>
        <p:nvSpPr>
          <p:cNvPr id="9" name="TextBox 8"/>
          <p:cNvSpPr txBox="1"/>
          <p:nvPr/>
        </p:nvSpPr>
        <p:spPr>
          <a:xfrm>
            <a:off x="6094476" y="5193792"/>
            <a:ext cx="5408676" cy="201168"/>
          </a:xfrm>
          <a:prstGeom prst="rect">
            <a:avLst/>
          </a:prstGeom>
          <a:noFill/>
        </p:spPr>
        <p:txBody>
          <a:bodyPr wrap="none">
            <a:spAutoFit/>
          </a:bodyPr>
          <a:lstStyle/>
          <a:p>
            <a:pPr algn="l"/>
            <a:r>
              <a:rPr sz="700">
                <a:solidFill>
                  <a:srgbClr val="A0B4D2"/>
                </a:solidFill>
                <a:latin typeface="JetBrains Mono"/>
              </a:rPr>
              <a:t>VERSION</a:t>
            </a:r>
          </a:p>
        </p:txBody>
      </p:sp>
      <p:sp>
        <p:nvSpPr>
          <p:cNvPr id="10" name="TextBox 9"/>
          <p:cNvSpPr txBox="1"/>
          <p:nvPr/>
        </p:nvSpPr>
        <p:spPr>
          <a:xfrm>
            <a:off x="6094476" y="5394960"/>
            <a:ext cx="5408676" cy="320040"/>
          </a:xfrm>
          <a:prstGeom prst="rect">
            <a:avLst/>
          </a:prstGeom>
          <a:noFill/>
        </p:spPr>
        <p:txBody>
          <a:bodyPr wrap="square">
            <a:spAutoFit/>
          </a:bodyPr>
          <a:lstStyle/>
          <a:p>
            <a:pPr algn="l"/>
            <a:r>
              <a:rPr sz="1100" b="0" i="0">
                <a:solidFill>
                  <a:srgbClr val="FFFFFF"/>
                </a:solidFill>
                <a:latin typeface="Arial"/>
              </a:rPr>
              <a:t>v0.4</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3" name="TextBox 12"/>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200">
                <a:solidFill>
                  <a:srgbClr val="3D5466"/>
                </a:solidFill>
                <a:latin typeface="Arial"/>
              </a:rPr>
              <a:t>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Strategischer Nutzen: Verbundpartner können den Berater bei ihren eigenen Kundenkontakten empfehlen; der Berater positioniert sich als Koordinator der gesamten Verbundleistung.</a:t>
            </a:r>
          </a:p>
          <a:p>
            <a:pPr>
              <a:spcBef>
                <a:spcPts val="400"/>
              </a:spcBef>
              <a:spcAft>
                <a:spcPts val="200"/>
              </a:spcAft>
            </a:pPr>
            <a:r>
              <a:rPr sz="1200">
                <a:solidFill>
                  <a:srgbClr val="3D5466"/>
                </a:solidFill>
                <a:latin typeface="Arial"/>
              </a:rPr>
              <a:t>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4.3 Netzwerkanalyse: Den eigenen Status realistisch einschätzen</a:t>
            </a:r>
          </a:p>
          <a:p>
            <a:pPr>
              <a:spcBef>
                <a:spcPts val="400"/>
              </a:spcBef>
              <a:spcAft>
                <a:spcPts val="200"/>
              </a:spcAft>
            </a:pPr>
            <a:r>
              <a:rPr sz="1200">
                <a:solidFill>
                  <a:srgbClr val="3D5466"/>
                </a:solidFill>
                <a:latin typeface="Arial"/>
              </a:rPr>
              <a:t>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Frage 1: Stärke meiner bestehenden Verbindungen</a:t>
            </a:r>
          </a:p>
          <a:p>
            <a:pPr>
              <a:spcBef>
                <a:spcPts val="400"/>
              </a:spcBef>
              <a:spcAft>
                <a:spcPts val="200"/>
              </a:spcAft>
            </a:pPr>
            <a:r>
              <a:rPr sz="1200">
                <a:solidFill>
                  <a:srgbClr val="3D5466"/>
                </a:solidFill>
                <a:latin typeface="Arial"/>
              </a:rPr>
              <a:t>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200">
                <a:solidFill>
                  <a:srgbClr val="3D5466"/>
                </a:solidFill>
                <a:latin typeface="Arial"/>
              </a:rPr>
              <a:t>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200">
                <a:solidFill>
                  <a:srgbClr val="3D5466"/>
                </a:solidFill>
                <a:latin typeface="Arial"/>
              </a:rPr>
              <a:t>## 4.4 Sichtbarkeit: Expertise sichtbar machen ohne Eigenwerbung</a:t>
            </a:r>
          </a:p>
          <a:p>
            <a:pPr>
              <a:spcBef>
                <a:spcPts val="400"/>
              </a:spcBef>
              <a:spcAft>
                <a:spcPts val="200"/>
              </a:spcAft>
            </a:pPr>
            <a:r>
              <a:rPr sz="1200">
                <a:solidFill>
                  <a:srgbClr val="3D5466"/>
                </a:solidFill>
                <a:latin typeface="Arial"/>
              </a:rPr>
              <a:t>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Was: Kurze, prägnante Wissensimpulse – nicht als Werbung, sondern als echten Mehrwert für Netzwerkkontakte.</a:t>
            </a:r>
          </a:p>
          <a:p>
            <a:pPr>
              <a:spcBef>
                <a:spcPts val="400"/>
              </a:spcBef>
              <a:spcAft>
                <a:spcPts val="200"/>
              </a:spcAft>
            </a:pPr>
            <a:r>
              <a:rPr sz="1200">
                <a:solidFill>
                  <a:srgbClr val="3D5466"/>
                </a:solidFill>
                <a:latin typeface="Arial"/>
              </a:rPr>
              <a:t>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200">
                <a:solidFill>
                  <a:srgbClr val="3D5466"/>
                </a:solidFill>
                <a:latin typeface="Arial"/>
              </a:rPr>
              <a:t>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4.5 Der 90-Tage-Netzwerkplan</a:t>
            </a:r>
          </a:p>
          <a:p>
            <a:pPr>
              <a:spcBef>
                <a:spcPts val="400"/>
              </a:spcBef>
              <a:spcAft>
                <a:spcPts val="200"/>
              </a:spcAft>
            </a:pPr>
            <a:r>
              <a:rPr sz="1200">
                <a:solidFill>
                  <a:srgbClr val="3D5466"/>
                </a:solidFill>
                <a:latin typeface="Arial"/>
              </a:rPr>
              <a:t>Ein Netzwerk entsteht nicht durch einmalige Aktionen. Es braucht ein System – klein, aber regelmäßig.</a:t>
            </a:r>
          </a:p>
          <a:p>
            <a:pPr>
              <a:spcBef>
                <a:spcPts val="400"/>
              </a:spcBef>
              <a:spcAft>
                <a:spcPts val="200"/>
              </a:spcAft>
            </a:pPr>
            <a:r>
              <a:rPr sz="1200">
                <a:solidFill>
                  <a:srgbClr val="3D5466"/>
                </a:solidFill>
                <a:latin typeface="Arial"/>
              </a:rPr>
              <a:t>## 4.6 Praxiscase: Stefan Köhler – vom Geheimtipp zur Autorität</a:t>
            </a:r>
          </a:p>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Stefan arbeitet hart, berät gut – aber er ist unsichtbar.</a:t>
            </a:r>
          </a:p>
          <a:p>
            <a:pPr>
              <a:spcBef>
                <a:spcPts val="400"/>
              </a:spcBef>
              <a:spcAft>
                <a:spcPts val="200"/>
              </a:spcAft>
            </a:pPr>
            <a:r>
              <a:rPr sz="1200">
                <a:solidFill>
                  <a:srgbClr val="3D5466"/>
                </a:solidFill>
                <a:latin typeface="Arial"/>
              </a:rPr>
              <a:t>Was Stefan verändert (in 90 Tagen)</a:t>
            </a:r>
          </a:p>
          <a:p>
            <a:pPr>
              <a:spcBef>
                <a:spcPts val="400"/>
              </a:spcBef>
              <a:spcAft>
                <a:spcPts val="200"/>
              </a:spcAft>
            </a:pPr>
            <a:r>
              <a:rPr sz="1200">
                <a:solidFill>
                  <a:srgbClr val="3D5466"/>
                </a:solidFill>
                <a:latin typeface="Arial"/>
              </a:rPr>
              <a:t>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200">
                <a:solidFill>
                  <a:srgbClr val="3D5466"/>
                </a:solidFill>
                <a:latin typeface="Arial"/>
              </a:rPr>
              <a:t>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2: Lückenanalyse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3: 90-Tage-Aktionsplan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5. PRAXISTRANSFER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