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M20  ·  K-06 Führung &amp; Entwicklung  ·  Zielstufe: Stratege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Netzwerk &amp; Sichtbarkeit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Strategisches Beziehungskapital aufbauen und Fachexpertise im Markt positionieren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Eigenes Netzwerk nach Stärke, Brücken und Lücken analysieren und Erweiterungsstrategie ableiten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Verschiedene Netzwerk-Kanäle nach strategischer Eignung bewerten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Persönliche Sichtbarkeitsstrategie entwickeln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90-Tage-Netzwerkstrategie mit konkreten Aktivitäten gestalten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Operative Netzwerkpflege von strategischem Beziehungsaufbau unterscheiden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Dimension 1: Internes Netzwerk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M20 · 4.2 Die drei Netzwerkdimensionen eines FK-Beraters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Dimension 1: Internes Netzwerk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häufig unterschätzte Dimension. Wer im eigenen Haus als kompetenter Ansprechpartner bekannt ist, bekommt: - Interne Empfehlungen aus Privatkundenbereichen…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Netzwerkanker intern: Bereichsleiter FK, Kreditspezialisten, Risikomanager, Privatkundenberater mit Unternehmerkunden, Verbundpartner-Spezialisten (R+V, Union…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Dimension 2: Verbundpartner-Netzwerk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M20 · 4.2 Die drei Netzwerkdimensionen eines FK-Beraters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Dimension 2: Verbundpartner-Netzwerk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Strategischer Nutzen: </a:t>
            </a:r>
            <a:r>
              <a:rPr sz="1700">
                <a:solidFill>
                  <a:srgbClr val="1A1A1A"/>
                </a:solidFill>
                <a:latin typeface="Arial"/>
              </a:rPr>
              <a:t>Verbundpartner können den Berater bei ihren eigenen Kundenkontakten empfehlen; der Berater positioniert sich als Koordinator der gesamten Verbundleistung.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Gemeinsame Kundenveranstaltungen: </a:t>
            </a:r>
            <a:r>
              <a:rPr sz="1700">
                <a:solidFill>
                  <a:srgbClr val="1A1A1A"/>
                </a:solidFill>
                <a:latin typeface="Arial"/>
              </a:rPr>
              <a:t>mit R+V oder Union Investment: Der FK-Berater tritt als Co-Moderator auf und gewinnt Sichtbarkeit bei Kunden anderer Berater.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Monatlicher Jour fixe: </a:t>
            </a:r>
            <a:r>
              <a:rPr sz="1700">
                <a:solidFill>
                  <a:srgbClr val="1A1A1A"/>
                </a:solidFill>
                <a:latin typeface="Arial"/>
              </a:rPr>
              <a:t>(30 Min.) mit dem R+V-Gebietsleiter oder UIN-Regionalbetreuer: Leads gegenseitig teilen, aktuelle Cross-Selling-Opportunitäten besprechen. -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Internes Cross-Selling-Meeting: </a:t>
            </a:r>
            <a:r>
              <a:rPr sz="1700">
                <a:solidFill>
                  <a:srgbClr val="1A1A1A"/>
                </a:solidFill>
                <a:latin typeface="Arial"/>
              </a:rPr>
              <a:t>Privatkundenberater mit Unternehmerkunden systematisch ansprechen – das ist im Alltag oft der schnellste Weg zu Neukunden, wird aber selten als aktives Format geführt.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Dimension 3: Markt-Netzwerk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M20 · 4.2 Die drei Netzwerkdimensionen eines FK-Beraters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Dimension 3: Markt-Netzwerk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Hier entsteht langfristig die stärkste Wirkung: Steuerberater, Wirtschaftsprüfer, Rechtsanwälte, Unternehmensberater, Branchenverbände, Handwerkskammern, IHK-…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Cross &amp; Parker (2004): Formelle Netzwerke (Organigramme, Mitgliedschaften) sind sichtbar, aber oft weniger wirksam als informelle Netzwerke. Entscheidend ist,…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Das Netzwerk-Audit (3 Fragen)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M20 · 4.3 Netzwerkanalyse: Den eigenen Status realistisch einschätzen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Das Netzwerk-Audit (3 Fragen)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Kontakttyp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Anzahl (ca.)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Qualität (1–5)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Zuletzt aktiv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Interne Kollegen (FK-Team)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Verbundpartner-Kontakte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Steuerberater / WP in der Region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Branchenverband-Kontakte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Formelle Kammermitgliedschaften / Ausschüsse (IHK, HWK)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Persönliche Unternehmerclubs / Runde Tische (Rotary, Lions, WJ, BNI, Maschinenring, BDS)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Digitale Kontakte (LinkedIn – nur nach Compliance-Freigabe)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Format 1: Fachbeiträge und Impulse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M20 · 4.4 Sichtbarkeit: Expertise sichtbar machen ohne Eigenwerbung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Format 1: Fachbeiträge und Impulse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Was: </a:t>
            </a:r>
            <a:r>
              <a:rPr sz="1700">
                <a:solidFill>
                  <a:srgbClr val="1A1A1A"/>
                </a:solidFill>
                <a:latin typeface="Arial"/>
              </a:rPr>
              <a:t>Kurze, prägnante Wissensimpulse – nicht als Werbung, sondern als echten Mehrwert für Netzwerkkontakte.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Beispiele: </a:t>
            </a:r>
            <a:r>
              <a:rPr sz="1700">
                <a:solidFill>
                  <a:srgbClr val="1A1A1A"/>
                </a:solidFill>
                <a:latin typeface="Arial"/>
              </a:rPr>
              <a:t>- Monatliche E-Mail an 5–10 Steuerberater mit einem aktuellen Branchenhinweis: „Für Ihre Mandanten in der Landwirtschaft: GAP-Änderungen ab Q3 2026 – was das für…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Format 2: Empfehlungen geben, bevor man welche bekommt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M20 · 4.4 Sichtbarkeit: Expertise sichtbar machen ohne Eigenwerbung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Format 2: Empfehlungen geben, bevor man welche bekommt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Das Prinzip des Vorlaufs (Cialdini, 2001, Reziprozität): Wer zuerst gibt, erhält. Ein Berater, der seinem Steuerberater-Netzwerk aktiv Unternehmerkunden…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Praxisregel: „Ein guter Netzwerkpartner merkt, dass er zu mir gehört, bevor er das erste Mal mit mir gearbeitet hat."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Format 3: Präsenz in Gremien und Verbänden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M20 · 4.4 Sichtbarkeit: Expertise sichtbar machen ohne Eigenwerbung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Format 3: Präsenz in Gremien und Verbänden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Zielgruppe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Zeitaufwand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Zugangshürde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Wirtschaftsjunioren (WJ)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Junge Unternehmer, Nachfolger (&lt; 40 J.)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4–6 h/Monat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Niedrig – offen für Bewerber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IHK-Ausschüsse (Kreditwirtschaft, Unternehmensfinanzierung)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Etablierte Unternehmer, Berater, Verbandsvertreter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4–8 Sitzungen/Jahr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Mittel – Bewerbung erforderlich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Handwerkskammer-Netzwerke / HWK-Ausschüsse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Handwerksmeister, Innungen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3–5 Veranstaltungen/Jahr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Niedrig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Maschinenringe (v.a. Allgäu, Oberbayern, Schwaben)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Landwirte, Forstbetriebe – Schlüsselmultiplikatoren im Agrar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2–4 Events/Jahr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Niedrig – Empfehlung durch Bestandskunde ideal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BDS (Bund der Selbständigen)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Kleinstunternehmer, Freiberufler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4–6 Treffen/Jahr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Niedrig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Rotary / Lions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Etablierte Unternehmer 50+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gering (monatlich)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Hoch – nur durch Empfehlung; Gästeabende als Einstieg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BNI (Business Network International)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Alle Branchen, Empfehlungsnetzwerk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Hoch (wöchentlich!)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Mittel – Aufwand vorab prüfen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Format 4: Digitale Sichtbarkeit (nachrangig, selektiv)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M20 · 4.4 Sichtbarkeit: Expertise sichtbar machen ohne Eigenwerbung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Format 4: Digitale Sichtbarkeit (nachrangig, selektiv)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kein primärer Akquise-Kanal: </a:t>
            </a:r>
            <a:r>
              <a:rPr sz="1700">
                <a:solidFill>
                  <a:srgbClr val="1A1A1A"/>
                </a:solidFill>
                <a:latin typeface="Arial"/>
              </a:rPr>
              <a:t>– Handwerker, Landwirte und klassische Mittelständler suchen Bankberater nicht über LinkedIn. Die Energie ist beim persönlichen Kontakt (Kammerfrühstück, Verbandstreffen) deutlich…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Sinnvoller Einsatz von LinkedIn: </a:t>
            </a:r>
            <a:r>
              <a:rPr sz="1700">
                <a:solidFill>
                  <a:srgbClr val="1A1A1A"/>
                </a:solidFill>
                <a:latin typeface="Arial"/>
              </a:rPr>
              <a:t>Nachbereitung und Pflege von Kontakten, die bereits persönlich entstanden sind – nicht als eigenständiger Erstkontakt-Kanal. LinkedIn eignet sich auch für Verbundpartner-…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Compliance-Pflicht: </a:t>
            </a:r>
            <a:r>
              <a:rPr sz="1700">
                <a:solidFill>
                  <a:srgbClr val="1A1A1A"/>
                </a:solidFill>
                <a:latin typeface="Arial"/>
              </a:rPr>
              <a:t>Vor dem Start jeglicher LinkedIn-Aktivität (Posts, Kommentare, Beiträge mit Bankbezug) ist die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Freigabe durch die Compliance-Abteilung der eigenen Bank: </a:t>
            </a:r>
            <a:r>
              <a:rPr sz="1700">
                <a:solidFill>
                  <a:srgbClr val="1A1A1A"/>
                </a:solidFill>
                <a:latin typeface="Arial"/>
              </a:rPr>
              <a:t>einzuholen. Viele VR-Banken haben dafür eigene Social-Media-Richtlinien – holen Sie diese vorab ein. Ungeklärte LinkedIn-Aktivitäten können regulatorische und reputationsbezogene…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Minimalstandard (nach Compliance-Freigabe): </a:t>
            </a:r>
            <a:r>
              <a:rPr sz="1700">
                <a:solidFill>
                  <a:srgbClr val="1A1A1A"/>
                </a:solidFill>
                <a:latin typeface="Arial"/>
              </a:rPr>
              <a:t>Vollständiges Profil mit klarem Beratungsfeld, Verbindungen mit bestehenden Netzwerkkontakten pflegen – Posts als optionale Ergänzung, nicht als Pflicht.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1: Persönliche Netzwerkkarte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M20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1: Persönliche Netzwerkkarte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Bereich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wichtigsten Kontakte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Qualität (1–5)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Letzte Interaktion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Nächster Schritt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Internes FK-Team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Interne Spezialisten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Verbundpartner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Steuerberater / WP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Rechtsanwälte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Branchenverbände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Unternehmerclubs / Gremien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Digitale Kontakte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2: Lückenanalyse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M20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2: Lückenanalyse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Antwort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 welchen Branchen fehlen mir externe Multiplikatoren?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Welche 3 Personen hätte ich gerne in meinem Netzwerk?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Welche interne Vernetzung würde meine Arbeit am meisten erleichtern?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Wo könnte ich als Broker Mehrwert stiften?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Arbeitsblatt 3: 90-Tage-Aktionsplan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M20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Arbeitsblatt 3: 90-Tage-Aktionsplan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Zeitraum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Aktivität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Zielkontakt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Erledigt?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Woche 1–2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Woche 3–4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Monat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Monat 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M20 · Netzwerk &amp; Sichtbarkeit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