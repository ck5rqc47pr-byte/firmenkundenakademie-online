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nvGrpSpPr>
        <p:cNvPr id="11" name="Shape_dup_11_1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04800"/>
            <a:ext cx="3175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3048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M22  ·  v0.2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794000"/>
            <a:ext cx="10972800" cy="2032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6000" b="0" i="0">
                <a:solidFill>
                  <a:srgbClr val="191D2E"/>
                </a:solidFill>
                <a:latin typeface="Georgia"/>
              </a:rPr>
              <a:t>Geschäftsmodell &amp; Strategie bewerten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48895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5016500"/>
            <a:ext cx="5207000" cy="1143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1">
                <a:solidFill>
                  <a:srgbClr val="4D5270"/>
                </a:solidFill>
                <a:latin typeface="Georgia"/>
              </a:rPr>
              <a:t>Strategische Unternehmensanalyse als Kern der Kreditwürdigkeitsbeurteilung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2500" y="5016500"/>
            <a:ext cx="2540000" cy="177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0">
                <a:solidFill>
                  <a:srgbClr val="7B7FA0"/>
                </a:solidFill>
                <a:latin typeface="Courier New"/>
              </a:rPr>
              <a:t>ZIELSTUFE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2500" y="5207000"/>
            <a:ext cx="2540000" cy="50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Sparringspartner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90000" y="5016500"/>
            <a:ext cx="2667000" cy="177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0">
                <a:solidFill>
                  <a:srgbClr val="7B7FA0"/>
                </a:solidFill>
                <a:latin typeface="Courier New"/>
              </a:rPr>
              <a:t>DAUER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90000" y="5207000"/>
            <a:ext cx="2667000" cy="50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120 Minuten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nvGrpSpPr>
        <p:cNvPr id="19" name="Shape_dup_19_1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§ 00 — LERNZIELE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8255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920750"/>
            <a:ext cx="3175000" cy="1651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4800" b="0" i="1">
                <a:solidFill>
                  <a:srgbClr val="1F2B56"/>
                </a:solidFill>
                <a:latin typeface="Georgia"/>
              </a:rPr>
              <a:t>Inhalt.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4000" y="889000"/>
            <a:ext cx="7518399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4000" y="939799"/>
            <a:ext cx="762000" cy="6477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2400" b="0" i="1">
                <a:solidFill>
                  <a:srgbClr val="1F2B56"/>
                </a:solidFill>
                <a:latin typeface="Georgia"/>
              </a:rPr>
              <a:t>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53000" y="952500"/>
            <a:ext cx="6629400" cy="635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Strategische Analyseinstrumente (Five Forces, SWOT, Generische Strategien) auf ein KMU-Fallbeispiel anwenden (Bloom 3)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64000" y="1587500"/>
            <a:ext cx="7518399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64000" y="1638300"/>
            <a:ext cx="762000" cy="6477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2400" b="0" i="1">
                <a:solidFill>
                  <a:srgbClr val="1F2B56"/>
                </a:solidFill>
                <a:latin typeface="Georgia"/>
              </a:rPr>
              <a:t>II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53000" y="1651000"/>
            <a:ext cx="6629400" cy="635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Stärken, Schwächen und strategische Abhängigkeiten eines Unternehmens analysieren (Bloom 4)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64000" y="2286000"/>
            <a:ext cx="7518399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64000" y="2336800"/>
            <a:ext cx="762000" cy="6477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2400" b="0" i="1">
                <a:solidFill>
                  <a:srgbClr val="1F2B56"/>
                </a:solidFill>
                <a:latin typeface="Georgia"/>
              </a:rPr>
              <a:t>III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53000" y="2349500"/>
            <a:ext cx="6629400" cy="635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Qualitative Risikofaktoren (Klumpenrisiken, Nachfolge, Wettbewerbsdruck) von Stabilitätssignalen unterscheiden (Bloom 4)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64000" y="2984500"/>
            <a:ext cx="7518399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64000" y="3035300"/>
            <a:ext cx="762000" cy="6477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2400" b="0" i="1">
                <a:solidFill>
                  <a:srgbClr val="1F2B56"/>
                </a:solidFill>
                <a:latin typeface="Georgia"/>
              </a:rPr>
              <a:t>IV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53000" y="3048000"/>
            <a:ext cx="6629400" cy="635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Porters generische Wettbewerbsstrategien identifizieren und das Stuck-in-the-Middle-Risiko eines KMU beurteilen (Bloom 4)</a:t>
            </a:r>
          </a:p>
        </p:txBody>
      </p:sp>
      <p:sp>
        <p:nvSpPr>
          <p:cNvPr id="20" name="TextBox 16_dup1"/>
          <p:cNvSpPr txBox="1"/>
          <p:nvPr/>
        </p:nvSpPr>
        <p:spPr>
          <a:xfrm>
            <a:off x="4064000" y="3733000"/>
            <a:ext cx="762000" cy="6477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2400" b="0" i="1">
                <a:solidFill>
                  <a:srgbClr val="1F2B56"/>
                </a:solidFill>
                <a:latin typeface="Georgia"/>
              </a:rPr>
              <a:t>V</a:t>
            </a:r>
          </a:p>
        </p:txBody>
      </p:sp>
      <p:sp>
        <p:nvSpPr>
          <p:cNvPr id="22" name="TextBox 17_dup1"/>
          <p:cNvSpPr txBox="1"/>
          <p:nvPr/>
        </p:nvSpPr>
        <p:spPr>
          <a:xfrm>
            <a:off x="4953000" y="3745700"/>
            <a:ext cx="6629400" cy="635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Die strategische Position eines Unternehmens hinsichtlich seiner mittelfristigen Kreditwürdigkeit beurteilen (Bloom 5)</a:t>
            </a:r>
          </a:p>
        </p:txBody>
      </p:sp>
      <p:sp>
        <p:nvSpPr>
          <p:cNvPr id="21" name="TextBox 16_dup2"/>
          <p:cNvSpPr txBox="1"/>
          <p:nvPr/>
        </p:nvSpPr>
        <p:spPr>
          <a:xfrm>
            <a:off x="4064000" y="4430700"/>
            <a:ext cx="762000" cy="647700"/>
          </a:xfrm>
          <a:prstGeom prst="rect">
            <a:avLst/>
          </a:prstGeom>
          <a:noFill/>
        </p:spPr>
        <p:txBody>
          <a:bodyPr wrap="none">
            <a:normAutofit/>
          </a:bodyPr>
          <a:lstStyle/>
          <a:p>
            <a:pPr algn="l"/>
            <a:r>
              <a:rPr sz="2400" b="0" i="1">
                <a:solidFill>
                  <a:srgbClr val="1F2B56"/>
                </a:solidFill>
                <a:latin typeface="Georgia"/>
              </a:rPr>
              <a:t>VI</a:t>
            </a:r>
          </a:p>
        </p:txBody>
      </p:sp>
      <p:sp>
        <p:nvSpPr>
          <p:cNvPr id="23" name="TextBox 17_dup2"/>
          <p:cNvSpPr txBox="1"/>
          <p:nvPr/>
        </p:nvSpPr>
        <p:spPr>
          <a:xfrm>
            <a:off x="4953000" y="4443400"/>
            <a:ext cx="6629400" cy="635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Qualitative Befunde strukturiert in einer Kreditvorlage formulieren (Bloom 5)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nvGrpSpPr>
        <p:cNvPr id="8" name="Shape_dup_8_1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F8F8FA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BILANZZAHLEN ZEIGEN DIE VERGANGENHEIT — STRATEGIE ZEIGT DIE ZUKUNFT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5000"/>
            <a:ext cx="5461000" cy="5461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0" b="0" i="1">
                <a:solidFill>
                  <a:srgbClr val="D9BF7A"/>
                </a:solidFill>
                <a:latin typeface="Georgia"/>
              </a:rPr>
              <a:t>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31000" y="4064000"/>
            <a:ext cx="4851400" cy="177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3800" b="0" i="0">
                <a:solidFill>
                  <a:srgbClr val="F8F8FA"/>
                </a:solidFill>
                <a:latin typeface="Georgia"/>
              </a:rPr>
              <a:t>Warum qualitative Analyse zur Kreditwürdigkeitsbeurteilung gehört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1000" y="5842000"/>
            <a:ext cx="4851400" cy="635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400" b="0" i="1">
                <a:solidFill>
                  <a:srgbClr val="7B7FA0"/>
                </a:solidFill>
                <a:latin typeface="Georgia"/>
              </a:rPr>
              <a:t>Das Drei-Ebenen-Modell als qualitative Analyseplattform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nvGrpSpPr>
        <p:cNvPr id="9" name="Shape_dup_9_1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I · DAS DREI-EBENEN-MODELL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8255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920750"/>
            <a:ext cx="10972800" cy="177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800" b="0" i="0">
                <a:solidFill>
                  <a:srgbClr val="191D2E"/>
                </a:solidFill>
                <a:latin typeface="Georgia"/>
              </a:rPr>
              <a:t>Drei Ebenen der qualitativen Kreditwürdigkeitsanalyse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762250"/>
            <a:ext cx="109728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2851150"/>
            <a:ext cx="10972800" cy="344805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400">
                <a:solidFill>
                  <a:srgbClr val="191D2E"/>
                </a:solidFill>
                <a:latin typeface="Georgia"/>
              </a:rPr>
              <a:t>–  Ebene 1: Markt &amp; Branche — Ist das Marktumfeld des Kunden tragfähig? (Five Forces)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400">
                <a:solidFill>
                  <a:srgbClr val="191D2E"/>
                </a:solidFill>
                <a:latin typeface="Georgia"/>
              </a:rPr>
              <a:t>–  Ebene 2: Geschäftsmodell — Wie verdient das Unternehmen sein Geld, wie stabil ist das?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400">
                <a:solidFill>
                  <a:srgbClr val="191D2E"/>
                </a:solidFill>
                <a:latin typeface="Georgia"/>
              </a:rPr>
              <a:t>–  Ebene 3: Management &amp; Nachfolge — Kann die Führung das Unternehmen durch schwierige Phasen tragen?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400">
                <a:solidFill>
                  <a:srgbClr val="191D2E"/>
                </a:solidFill>
                <a:latin typeface="Georgia"/>
              </a:rPr>
              <a:t/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400">
                <a:solidFill>
                  <a:srgbClr val="191D2E"/>
                </a:solidFill>
                <a:latin typeface="Georgia"/>
              </a:rPr>
              <a:t>–  Regulatorischer Anker: § 18 KWG + MaRisk AT 2.2 verpflichten zur qualitativen Analyse ab 750 TEUR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400">
                <a:solidFill>
                  <a:srgbClr val="191D2E"/>
                </a:solidFill>
                <a:latin typeface="Georgia"/>
              </a:rPr>
              <a:t>–  Grant (2016): Nachhaltige Kreditwürdigkeit entsteht wo finanzielle Stabilität und strategische Stärke zusammentreffen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400">
                <a:solidFill>
                  <a:srgbClr val="191D2E"/>
                </a:solidFill>
                <a:latin typeface="Georgia"/>
              </a:rPr>
              <a:t>–  Macharzina &amp; Wolf (2018): Qualitative Faktoren stehen gleichwertig neben quantitativen Kennzahlen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nvGrpSpPr>
        <p:cNvPr id="8" name="Shape_dup_8_1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F8F8FA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FÜNF KRÄFTE. EINE STRATEGISCHE ENTSCHEIDUNG. KEIN MITTELWEG.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5000"/>
            <a:ext cx="5461000" cy="5461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0" b="0" i="1">
                <a:solidFill>
                  <a:srgbClr val="D9BF7A"/>
                </a:solidFill>
                <a:latin typeface="Georgia"/>
              </a:rPr>
              <a:t>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31000" y="4064000"/>
            <a:ext cx="4851400" cy="177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3800" b="0" i="0">
                <a:solidFill>
                  <a:srgbClr val="F8F8FA"/>
                </a:solidFill>
                <a:latin typeface="Georgia"/>
              </a:rPr>
              <a:t>Porter's Five Forces &amp; das Stuck-in-the-Middle-Problem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1000" y="5842000"/>
            <a:ext cx="4851400" cy="635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400" b="0" i="1">
                <a:solidFill>
                  <a:srgbClr val="7B7FA0"/>
                </a:solidFill>
                <a:latin typeface="Georgia"/>
              </a:rPr>
              <a:t>Wettbewerbsstruktur als Kreditrisiko-Indikator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nvGrpSpPr>
        <p:cNvPr id="12" name="Shape_dup_12_1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II · FIVE FORCES &amp; GENERISCHE STRATEGIEN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8255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889000"/>
            <a:ext cx="3810000" cy="177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0">
                <a:solidFill>
                  <a:srgbClr val="7B7FA0"/>
                </a:solidFill>
                <a:latin typeface="Courier New"/>
              </a:rPr>
              <a:t>Kernaussage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920750"/>
            <a:ext cx="10972800" cy="177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800" b="0" i="0">
                <a:solidFill>
                  <a:srgbClr val="191D2E"/>
                </a:solidFill>
                <a:latin typeface="Georgia"/>
              </a:rPr>
              <a:t>Fünf Kräfte + drei Strategien + eine Falle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276225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600" y="2825750"/>
            <a:ext cx="5207000" cy="28575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Five Forces nach Porter (1979): Was bestimmt ob eine Branche dauerhaft Geld abwirft?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0" y="2825750"/>
            <a:ext cx="4851400" cy="177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0">
                <a:solidFill>
                  <a:srgbClr val="1F2B56"/>
                </a:solidFill>
                <a:latin typeface="Courier New"/>
              </a:rPr>
              <a:t>Mitnahme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0" y="3041650"/>
            <a:ext cx="4851400" cy="2667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1">
                <a:solidFill>
                  <a:srgbClr val="191D2E"/>
                </a:solidFill>
                <a:latin typeface="Georgia"/>
              </a:rPr>
              <a:t>Stuck in the Middle (Porter, 1980, S. 41): Weder günstig noch differenziert → strukturelle Ertragsschwäche → mittelfristiges Kreditrisiko. Warnsignal: GF kann nicht klar sagen, wofür Kunden mehr zahlen.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nvGrpSpPr>
        <p:cNvPr id="8" name="Shape_dup_8_1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F8F8FA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VOM FRAMEWORK ZUM KREDITURTEIL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35000"/>
            <a:ext cx="5461000" cy="5461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0" b="0" i="1">
                <a:solidFill>
                  <a:srgbClr val="D9BF7A"/>
                </a:solidFill>
                <a:latin typeface="Georgia"/>
              </a:rPr>
              <a:t>III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31000" y="4064000"/>
            <a:ext cx="4851400" cy="177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3800" b="0" i="0">
                <a:solidFill>
                  <a:srgbClr val="F8F8FA"/>
                </a:solidFill>
                <a:latin typeface="Georgia"/>
              </a:rPr>
              <a:t>SWOT als Kreditrisikofilter &amp; qualitatives Krediturteil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1000" y="5842000"/>
            <a:ext cx="4851400" cy="635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400" b="0" i="1">
                <a:solidFill>
                  <a:srgbClr val="7B7FA0"/>
                </a:solidFill>
                <a:latin typeface="Georgia"/>
              </a:rPr>
              <a:t>Strategische Risiken sichtbar machen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nvGrpSpPr>
        <p:cNvPr id="9" name="Shape_dup_9_1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III · SWOT ALS KREDITRISIKOFILTER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8255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920750"/>
            <a:ext cx="10972800" cy="177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800" b="0" i="0">
                <a:solidFill>
                  <a:srgbClr val="191D2E"/>
                </a:solidFill>
                <a:latin typeface="Georgia"/>
              </a:rPr>
              <a:t>SWOT im Kreditkontext — andere Lesart als in der Strategieberatung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762250"/>
            <a:ext cx="109728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2851150"/>
            <a:ext cx="10972800" cy="344805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400">
                <a:solidFill>
                  <a:srgbClr val="191D2E"/>
                </a:solidFill>
                <a:latin typeface="Georgia"/>
              </a:rPr>
              <a:t>–  Stärken: Stabilisatoren der Rückzahlungsfähigkeit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400">
                <a:solidFill>
                  <a:srgbClr val="191D2E"/>
                </a:solidFill>
                <a:latin typeface="Georgia"/>
              </a:rPr>
              <a:t>–  Schwächen: Interne Risiken; bei Kumulation erhöhte Ausfallwahrscheinlichkeit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400">
                <a:solidFill>
                  <a:srgbClr val="191D2E"/>
                </a:solidFill>
                <a:latin typeface="Georgia"/>
              </a:rPr>
              <a:t>–  Chancen: Nur relevant wenn Wachstum finanziert werden soll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400">
                <a:solidFill>
                  <a:srgbClr val="191D2E"/>
                </a:solidFill>
                <a:latin typeface="Georgia"/>
              </a:rPr>
              <a:t>–  Risiken: Externe Bedrohungen für die künftige Ertragslage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400">
                <a:solidFill>
                  <a:srgbClr val="191D2E"/>
                </a:solidFill>
                <a:latin typeface="Georgia"/>
              </a:rPr>
              <a:t/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nvGrpSpPr>
        <p:cNvPr id="9" name="Shape_dup_9_1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III · VOM FRAMEWORK ZUM KUNDENGESPRÄCH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8255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920750"/>
            <a:ext cx="10972800" cy="1778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800" b="0" i="0">
                <a:solidFill>
                  <a:srgbClr val="191D2E"/>
                </a:solidFill>
                <a:latin typeface="Georgia"/>
              </a:rPr>
              <a:t>Frameworks → Unternehmersprache: Kein Jargon im Kundengespräch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762250"/>
            <a:ext cx="10972800" cy="6350"/>
          </a:xfrm>
          <a:prstGeom prst="rect">
            <a:avLst/>
          </a:prstGeom>
          <a:solidFill>
            <a:srgbClr val="E0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2851150"/>
            <a:ext cx="10972800" cy="344805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400">
                <a:solidFill>
                  <a:srgbClr val="191D2E"/>
                </a:solidFill>
                <a:latin typeface="Georgia"/>
              </a:rPr>
              <a:t>–  Klumpenrisiko: 'Wie wäre das, wenn Ihr größter Kunde wegbrechen würde? Haben Sie das schon durchgespielt?'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400">
                <a:solidFill>
                  <a:srgbClr val="191D2E"/>
                </a:solidFill>
                <a:latin typeface="Georgia"/>
              </a:rPr>
              <a:t>–  Stuck in the Middle: 'Wofür zahlen Ihre Kunden gerne mehr als beim günstigsten Wettbewerber?'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400">
                <a:solidFill>
                  <a:srgbClr val="191D2E"/>
                </a:solidFill>
                <a:latin typeface="Georgia"/>
              </a:rPr>
              <a:t>–  Nachfolge: 'Haben Sie konkrete Gedanken gemacht, wie das nach Ihnen weitergeht?'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400">
                <a:solidFill>
                  <a:srgbClr val="191D2E"/>
                </a:solidFill>
                <a:latin typeface="Georgia"/>
              </a:rPr>
              <a:t>–  Investitionsstau: 'Was ist Ihre Planung für den Maschinenpark in den nächsten 3–5 Jahren?'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nvGrpSpPr>
        <p:cNvPr id="64" name="Shape_dup_64_1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45000" cy="6858000"/>
          </a:xfrm>
          <a:prstGeom prst="rect">
            <a:avLst/>
          </a:prstGeom>
          <a:solidFill>
            <a:srgbClr val="C8A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445000" cy="6350"/>
          </a:xfrm>
          <a:prstGeom prst="rect">
            <a:avLst/>
          </a:prstGeom>
          <a:solidFill>
            <a:srgbClr val="BEA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27000"/>
            <a:ext cx="4445000" cy="6350"/>
          </a:xfrm>
          <a:prstGeom prst="rect">
            <a:avLst/>
          </a:prstGeom>
          <a:solidFill>
            <a:srgbClr val="BEA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54000"/>
            <a:ext cx="4445000" cy="6350"/>
          </a:xfrm>
          <a:prstGeom prst="rect">
            <a:avLst/>
          </a:prstGeom>
          <a:solidFill>
            <a:srgbClr val="BEA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381000"/>
            <a:ext cx="4445000" cy="6350"/>
          </a:xfrm>
          <a:prstGeom prst="rect">
            <a:avLst/>
          </a:prstGeom>
          <a:solidFill>
            <a:srgbClr val="BEA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508000"/>
            <a:ext cx="4445000" cy="6350"/>
          </a:xfrm>
          <a:prstGeom prst="rect">
            <a:avLst/>
          </a:prstGeom>
          <a:solidFill>
            <a:srgbClr val="BEA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35000"/>
            <a:ext cx="4445000" cy="6350"/>
          </a:xfrm>
          <a:prstGeom prst="rect">
            <a:avLst/>
          </a:prstGeom>
          <a:solidFill>
            <a:srgbClr val="BEA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762000"/>
            <a:ext cx="4445000" cy="6350"/>
          </a:xfrm>
          <a:prstGeom prst="rect">
            <a:avLst/>
          </a:prstGeom>
          <a:solidFill>
            <a:srgbClr val="BEA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889000"/>
            <a:ext cx="4445000" cy="6350"/>
          </a:xfrm>
          <a:prstGeom prst="rect">
            <a:avLst/>
          </a:prstGeom>
          <a:solidFill>
            <a:srgbClr val="BEA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1016000"/>
            <a:ext cx="4445000" cy="6350"/>
          </a:xfrm>
          <a:prstGeom prst="rect">
            <a:avLst/>
          </a:prstGeom>
          <a:solidFill>
            <a:srgbClr val="BEA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1143000"/>
            <a:ext cx="4445000" cy="6350"/>
          </a:xfrm>
          <a:prstGeom prst="rect">
            <a:avLst/>
          </a:prstGeom>
          <a:solidFill>
            <a:srgbClr val="BEA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1270000"/>
            <a:ext cx="4445000" cy="6350"/>
          </a:xfrm>
          <a:prstGeom prst="rect">
            <a:avLst/>
          </a:prstGeom>
          <a:solidFill>
            <a:srgbClr val="BEA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1397000"/>
            <a:ext cx="4445000" cy="6350"/>
          </a:xfrm>
          <a:prstGeom prst="rect">
            <a:avLst/>
          </a:prstGeom>
          <a:solidFill>
            <a:srgbClr val="BEA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1524000"/>
            <a:ext cx="4445000" cy="6350"/>
          </a:xfrm>
          <a:prstGeom prst="rect">
            <a:avLst/>
          </a:prstGeom>
          <a:solidFill>
            <a:srgbClr val="BEA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1651000"/>
            <a:ext cx="4445000" cy="6350"/>
          </a:xfrm>
          <a:prstGeom prst="rect">
            <a:avLst/>
          </a:prstGeom>
          <a:solidFill>
            <a:srgbClr val="BEA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1778000"/>
            <a:ext cx="4445000" cy="6350"/>
          </a:xfrm>
          <a:prstGeom prst="rect">
            <a:avLst/>
          </a:prstGeom>
          <a:solidFill>
            <a:srgbClr val="BEA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1905000"/>
            <a:ext cx="4445000" cy="6350"/>
          </a:xfrm>
          <a:prstGeom prst="rect">
            <a:avLst/>
          </a:prstGeom>
          <a:solidFill>
            <a:srgbClr val="BEA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032000"/>
            <a:ext cx="4445000" cy="6350"/>
          </a:xfrm>
          <a:prstGeom prst="rect">
            <a:avLst/>
          </a:prstGeom>
          <a:solidFill>
            <a:srgbClr val="BEA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2159000"/>
            <a:ext cx="4445000" cy="6350"/>
          </a:xfrm>
          <a:prstGeom prst="rect">
            <a:avLst/>
          </a:prstGeom>
          <a:solidFill>
            <a:srgbClr val="BEA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2286000"/>
            <a:ext cx="4445000" cy="6350"/>
          </a:xfrm>
          <a:prstGeom prst="rect">
            <a:avLst/>
          </a:prstGeom>
          <a:solidFill>
            <a:srgbClr val="BEA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2413000"/>
            <a:ext cx="4445000" cy="6350"/>
          </a:xfrm>
          <a:prstGeom prst="rect">
            <a:avLst/>
          </a:prstGeom>
          <a:solidFill>
            <a:srgbClr val="BEA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2540000"/>
            <a:ext cx="4445000" cy="6350"/>
          </a:xfrm>
          <a:prstGeom prst="rect">
            <a:avLst/>
          </a:prstGeom>
          <a:solidFill>
            <a:srgbClr val="BEA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2667000"/>
            <a:ext cx="4445000" cy="6350"/>
          </a:xfrm>
          <a:prstGeom prst="rect">
            <a:avLst/>
          </a:prstGeom>
          <a:solidFill>
            <a:srgbClr val="BEA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2794000"/>
            <a:ext cx="4445000" cy="6350"/>
          </a:xfrm>
          <a:prstGeom prst="rect">
            <a:avLst/>
          </a:prstGeom>
          <a:solidFill>
            <a:srgbClr val="BEA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2921000"/>
            <a:ext cx="4445000" cy="6350"/>
          </a:xfrm>
          <a:prstGeom prst="rect">
            <a:avLst/>
          </a:prstGeom>
          <a:solidFill>
            <a:srgbClr val="BEA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3048000"/>
            <a:ext cx="4445000" cy="6350"/>
          </a:xfrm>
          <a:prstGeom prst="rect">
            <a:avLst/>
          </a:prstGeom>
          <a:solidFill>
            <a:srgbClr val="BEA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3175000"/>
            <a:ext cx="4445000" cy="6350"/>
          </a:xfrm>
          <a:prstGeom prst="rect">
            <a:avLst/>
          </a:prstGeom>
          <a:solidFill>
            <a:srgbClr val="BEA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3302000"/>
            <a:ext cx="4445000" cy="6350"/>
          </a:xfrm>
          <a:prstGeom prst="rect">
            <a:avLst/>
          </a:prstGeom>
          <a:solidFill>
            <a:srgbClr val="BEA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3429000"/>
            <a:ext cx="4445000" cy="6350"/>
          </a:xfrm>
          <a:prstGeom prst="rect">
            <a:avLst/>
          </a:prstGeom>
          <a:solidFill>
            <a:srgbClr val="BEA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3556000"/>
            <a:ext cx="4445000" cy="6350"/>
          </a:xfrm>
          <a:prstGeom prst="rect">
            <a:avLst/>
          </a:prstGeom>
          <a:solidFill>
            <a:srgbClr val="BEA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3683000"/>
            <a:ext cx="4445000" cy="6350"/>
          </a:xfrm>
          <a:prstGeom prst="rect">
            <a:avLst/>
          </a:prstGeom>
          <a:solidFill>
            <a:srgbClr val="BEA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3810000"/>
            <a:ext cx="4445000" cy="6350"/>
          </a:xfrm>
          <a:prstGeom prst="rect">
            <a:avLst/>
          </a:prstGeom>
          <a:solidFill>
            <a:srgbClr val="BEA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3937000"/>
            <a:ext cx="4445000" cy="6350"/>
          </a:xfrm>
          <a:prstGeom prst="rect">
            <a:avLst/>
          </a:prstGeom>
          <a:solidFill>
            <a:srgbClr val="BEA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4064000"/>
            <a:ext cx="4445000" cy="6350"/>
          </a:xfrm>
          <a:prstGeom prst="rect">
            <a:avLst/>
          </a:prstGeom>
          <a:solidFill>
            <a:srgbClr val="BEA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4190999"/>
            <a:ext cx="4445000" cy="6350"/>
          </a:xfrm>
          <a:prstGeom prst="rect">
            <a:avLst/>
          </a:prstGeom>
          <a:solidFill>
            <a:srgbClr val="BEA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4318000"/>
            <a:ext cx="4445000" cy="6350"/>
          </a:xfrm>
          <a:prstGeom prst="rect">
            <a:avLst/>
          </a:prstGeom>
          <a:solidFill>
            <a:srgbClr val="BEA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4445000"/>
            <a:ext cx="4445000" cy="6350"/>
          </a:xfrm>
          <a:prstGeom prst="rect">
            <a:avLst/>
          </a:prstGeom>
          <a:solidFill>
            <a:srgbClr val="BEA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4572000"/>
            <a:ext cx="4445000" cy="6350"/>
          </a:xfrm>
          <a:prstGeom prst="rect">
            <a:avLst/>
          </a:prstGeom>
          <a:solidFill>
            <a:srgbClr val="BEA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4699000"/>
            <a:ext cx="4445000" cy="6350"/>
          </a:xfrm>
          <a:prstGeom prst="rect">
            <a:avLst/>
          </a:prstGeom>
          <a:solidFill>
            <a:srgbClr val="BEA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4826000"/>
            <a:ext cx="4445000" cy="6350"/>
          </a:xfrm>
          <a:prstGeom prst="rect">
            <a:avLst/>
          </a:prstGeom>
          <a:solidFill>
            <a:srgbClr val="BEA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4953000"/>
            <a:ext cx="4445000" cy="6350"/>
          </a:xfrm>
          <a:prstGeom prst="rect">
            <a:avLst/>
          </a:prstGeom>
          <a:solidFill>
            <a:srgbClr val="BEA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0" y="5080000"/>
            <a:ext cx="4445000" cy="6350"/>
          </a:xfrm>
          <a:prstGeom prst="rect">
            <a:avLst/>
          </a:prstGeom>
          <a:solidFill>
            <a:srgbClr val="BEA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0" y="5207000"/>
            <a:ext cx="4445000" cy="6350"/>
          </a:xfrm>
          <a:prstGeom prst="rect">
            <a:avLst/>
          </a:prstGeom>
          <a:solidFill>
            <a:srgbClr val="BEA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0" y="5334000"/>
            <a:ext cx="4445000" cy="6350"/>
          </a:xfrm>
          <a:prstGeom prst="rect">
            <a:avLst/>
          </a:prstGeom>
          <a:solidFill>
            <a:srgbClr val="BEA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0" y="5461000"/>
            <a:ext cx="4445000" cy="6350"/>
          </a:xfrm>
          <a:prstGeom prst="rect">
            <a:avLst/>
          </a:prstGeom>
          <a:solidFill>
            <a:srgbClr val="BEA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5588000"/>
            <a:ext cx="4445000" cy="6350"/>
          </a:xfrm>
          <a:prstGeom prst="rect">
            <a:avLst/>
          </a:prstGeom>
          <a:solidFill>
            <a:srgbClr val="BEA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0" y="5715000"/>
            <a:ext cx="4445000" cy="6350"/>
          </a:xfrm>
          <a:prstGeom prst="rect">
            <a:avLst/>
          </a:prstGeom>
          <a:solidFill>
            <a:srgbClr val="BEA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0" y="5842000"/>
            <a:ext cx="4445000" cy="6350"/>
          </a:xfrm>
          <a:prstGeom prst="rect">
            <a:avLst/>
          </a:prstGeom>
          <a:solidFill>
            <a:srgbClr val="BEA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0" y="5969000"/>
            <a:ext cx="4445000" cy="6350"/>
          </a:xfrm>
          <a:prstGeom prst="rect">
            <a:avLst/>
          </a:prstGeom>
          <a:solidFill>
            <a:srgbClr val="BEA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0" y="6096000"/>
            <a:ext cx="4445000" cy="6350"/>
          </a:xfrm>
          <a:prstGeom prst="rect">
            <a:avLst/>
          </a:prstGeom>
          <a:solidFill>
            <a:srgbClr val="BEA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0" y="6223000"/>
            <a:ext cx="4445000" cy="6350"/>
          </a:xfrm>
          <a:prstGeom prst="rect">
            <a:avLst/>
          </a:prstGeom>
          <a:solidFill>
            <a:srgbClr val="BEA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0" y="6350000"/>
            <a:ext cx="4445000" cy="6350"/>
          </a:xfrm>
          <a:prstGeom prst="rect">
            <a:avLst/>
          </a:prstGeom>
          <a:solidFill>
            <a:srgbClr val="BEA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0" y="6477000"/>
            <a:ext cx="4445000" cy="6350"/>
          </a:xfrm>
          <a:prstGeom prst="rect">
            <a:avLst/>
          </a:prstGeom>
          <a:solidFill>
            <a:srgbClr val="BEA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0" y="6604000"/>
            <a:ext cx="4445000" cy="6350"/>
          </a:xfrm>
          <a:prstGeom prst="rect">
            <a:avLst/>
          </a:prstGeom>
          <a:solidFill>
            <a:srgbClr val="BEA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0" y="6731000"/>
            <a:ext cx="4445000" cy="6350"/>
          </a:xfrm>
          <a:prstGeom prst="rect">
            <a:avLst/>
          </a:prstGeom>
          <a:solidFill>
            <a:srgbClr val="BEA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52400" y="6477000"/>
            <a:ext cx="4190999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0">
                <a:solidFill>
                  <a:srgbClr val="3A2A0A"/>
                </a:solidFill>
                <a:latin typeface="Courier New"/>
              </a:rPr>
              <a:t>Praxisfall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III · VOM FRAMEWORK ZUM KREDITURTEIL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10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826000" y="1016000"/>
            <a:ext cx="6731000" cy="203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0">
                <a:solidFill>
                  <a:srgbClr val="7B7FA0"/>
                </a:solidFill>
                <a:latin typeface="Courier New"/>
              </a:rPr>
              <a:t>Praxisfall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826000" y="1244600"/>
            <a:ext cx="6731000" cy="1651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800" b="0" i="0">
                <a:solidFill>
                  <a:srgbClr val="191D2E"/>
                </a:solidFill>
                <a:latin typeface="Georgia"/>
              </a:rPr>
              <a:t>Präzisionswerk Haller GmbH, Ravensburg — Betriebsmittelkredit 800 TEUR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826000" y="2984500"/>
            <a:ext cx="6731000" cy="3429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4D5270"/>
                </a:solidFill>
                <a:latin typeface="Georgia"/>
              </a:rPr>
              <a:t>CNC-Präzisionsfertigung · 48 Mitarbeiter · 7,2 Mio. EUR Umsatz 2024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nvGrpSpPr>
        <p:cNvPr id="23" name="Shape_dup_23_1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9400"/>
            <a:ext cx="2540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F8F8FA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2794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QUELLENAPPARAT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426200"/>
            <a:ext cx="10972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863600"/>
            <a:ext cx="5080000" cy="203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0">
                <a:solidFill>
                  <a:srgbClr val="A0AACC"/>
                </a:solidFill>
                <a:latin typeface="Courier New"/>
              </a:rPr>
              <a:t>Quellenapparat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920750"/>
            <a:ext cx="10972800" cy="127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800" b="0" i="0">
                <a:solidFill>
                  <a:srgbClr val="F8F8FA"/>
                </a:solidFill>
                <a:latin typeface="Georgia"/>
              </a:rPr>
              <a:t>Quellen.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254250"/>
            <a:ext cx="10972800" cy="6350"/>
          </a:xfrm>
          <a:prstGeom prst="rect">
            <a:avLst/>
          </a:prstGeom>
          <a:solidFill>
            <a:srgbClr val="3A4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2317750"/>
            <a:ext cx="5207000" cy="4445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F8F8FA"/>
                </a:solidFill>
                <a:latin typeface="Courier New"/>
              </a:rPr>
              <a:t>Anderson, L. W. &amp; Krathwohl, D. R. (2001). A taxonomy for learning, teaching, and assessing. Longman.</a:t>
            </a:r>
          </a:p>
          <a:p>
            <a:pPr algn="l"/>
            <a:r>
              <a:rPr sz="1000" b="0" i="0">
                <a:solidFill>
                  <a:srgbClr val="F8F8FA"/>
                </a:solidFill>
                <a:latin typeface="Courier New"/>
              </a:rPr>
              <a:t>Kirkpatrick, D. L. (1994). Evaluating training programs: The four levels. Berrett-Koehler.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2800350"/>
            <a:ext cx="5207000" cy="4445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F8F8FA"/>
                </a:solidFill>
                <a:latin typeface="Courier New"/>
              </a:rPr>
              <a:t>Barney, J. (1991). Firm resources and sustained competitive advantage. Journal of Management, 17(1), 99–120.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3282950"/>
            <a:ext cx="5207000" cy="4445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F8F8FA"/>
                </a:solidFill>
                <a:latin typeface="Courier New"/>
              </a:rPr>
              <a:t>Barrows, H. S. (1986). A taxonomy of problem-based learning methods. Medical Education, 20(6), 481–486.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5213350"/>
            <a:ext cx="5207000" cy="4445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F8F8FA"/>
                </a:solidFill>
                <a:latin typeface="Courier New"/>
              </a:rPr>
              <a:t>BVR. (2024). Jahrbuch der deutschen Volksbanken und Raiffeisenbanken 2024. BVR.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5695950"/>
            <a:ext cx="5207000" cy="4445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F8F8FA"/>
                </a:solidFill>
                <a:latin typeface="Courier New"/>
              </a:rPr>
              <a:t>Dreyfus, S. E. &amp; Dreyfus, H. L. (1980). A five-stage model of the mental activities. UC Berkeley.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6178550"/>
            <a:ext cx="5207000" cy="4445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F8F8FA"/>
                </a:solidFill>
                <a:latin typeface="Courier New"/>
              </a:rPr>
              <a:t>Grant, R. M. (2016). Contemporary Strategy Analysis (9. Aufl.). Wiley.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0" y="2317750"/>
            <a:ext cx="5232400" cy="4445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F8F8FA"/>
                </a:solidFill>
                <a:latin typeface="Courier New"/>
              </a:rPr>
              <a:t>Macharzina, K. &amp; Wolf, J. (2018). Unternehmensführung (9. Aufl.). Springer Gabler.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0" y="2800350"/>
            <a:ext cx="5232400" cy="4445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F8F8FA"/>
                </a:solidFill>
                <a:latin typeface="Courier New"/>
              </a:rPr>
              <a:t>Osterwalder, A. &amp; Pigneur, Y. (2010). Business Model Generation. Wiley.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0" y="3282950"/>
            <a:ext cx="5232400" cy="4445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F8F8FA"/>
                </a:solidFill>
                <a:latin typeface="Courier New"/>
              </a:rPr>
              <a:t>Porter, M. E. (1979). How competitive forces shape strategy. Harvard Business Review, 57(2), 137–145.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0" y="3765550"/>
            <a:ext cx="5232400" cy="4445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F8F8FA"/>
                </a:solidFill>
                <a:latin typeface="Courier New"/>
              </a:rPr>
              <a:t>Porter, M. E. (1980). Competitive Strategy: Techniques for Analyzing Industries. Free Press.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0" y="4248150"/>
            <a:ext cx="5232400" cy="4445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F8F8FA"/>
                </a:solidFill>
                <a:latin typeface="Courier New"/>
              </a:rPr>
              <a:t>Welge, M. K. &amp; Al-Laham, A. (2012). Strategisches Management (6. Aufl.). Springer Gabler.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0" y="4730750"/>
            <a:ext cx="5232400" cy="4445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0" i="0">
                <a:solidFill>
                  <a:srgbClr val="F8F8FA"/>
                </a:solidFill>
                <a:latin typeface="Courier New"/>
              </a:rPr>
              <a:t>Wernerfelt, B. (1984). A resource-based view of the firm. Strategic Management Journal, 5(2), 171–180.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nvGrpSpPr>
        <p:cNvPr id="11" name="Shape_dup_11_1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457200"/>
            <a:ext cx="31750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000" b="1" i="0">
                <a:solidFill>
                  <a:srgbClr val="191D2E"/>
                </a:solidFill>
                <a:latin typeface="Arial"/>
              </a:rPr>
              <a:t>FKB  Campus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0972800" cy="279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7B7FA0"/>
                </a:solidFill>
                <a:latin typeface="Courier New"/>
              </a:rPr>
              <a:t>Ende  ·  v0.2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143000"/>
            <a:ext cx="10972800" cy="3556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600" b="0" i="0">
                <a:solidFill>
                  <a:srgbClr val="191D2E"/>
                </a:solidFill>
                <a:latin typeface="Georgia"/>
              </a:rPr>
              <a:t>Danke.
Fragen?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4826000"/>
            <a:ext cx="10972800" cy="6350"/>
          </a:xfrm>
          <a:prstGeom prst="rect">
            <a:avLst/>
          </a:prstGeom>
          <a:solidFill>
            <a:srgbClr val="19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953000"/>
            <a:ext cx="5715000" cy="1143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1">
                <a:solidFill>
                  <a:srgbClr val="191D2E"/>
                </a:solidFill>
                <a:latin typeface="Georgia"/>
              </a:rPr>
              <a:t>Modul «Geschäftsmodell &amp; Strategie bewerten» auf FKB Campus — 6 Lernziele, 120 Minuten, Sparringspartner-Niveauele, Praxisfall und Quellenapparat.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1000" y="4953000"/>
            <a:ext cx="2413000" cy="177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0">
                <a:solidFill>
                  <a:srgbClr val="7B7FA0"/>
                </a:solidFill>
                <a:latin typeface="Courier New"/>
              </a:rPr>
              <a:t>Trainer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31000" y="5156200"/>
            <a:ext cx="2413000" cy="381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4D5270"/>
                </a:solidFill>
                <a:latin typeface="Georgia"/>
              </a:rPr>
              <a:t>[Name · Kontakt]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98000" y="4953000"/>
            <a:ext cx="2184400" cy="177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0">
                <a:solidFill>
                  <a:srgbClr val="7B7FA0"/>
                </a:solidFill>
                <a:latin typeface="Courier New"/>
              </a:rPr>
              <a:t>Modul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98000" y="5156200"/>
            <a:ext cx="2184400" cy="381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 i="0">
                <a:solidFill>
                  <a:srgbClr val="191D2E"/>
                </a:solidFill>
                <a:latin typeface="Georgia"/>
              </a:rPr>
              <a:t>M22  ·  Sparringspartner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