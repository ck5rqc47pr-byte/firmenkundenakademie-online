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Geschäftsmodell &amp; Strategie bewerten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Strategische Unternehmensanalyse als Kern der Kreditwürdigkeitsbeurteilungrlage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120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 Analyseinstrumente (Five Forces, SWOT, Generische Strategien) auf ein KMU-Fallbeispiel anwenden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Stärken, Schwächen und strategische Abhängigkeiten eines Unternehmens analysieren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Risikofaktoren (Klumpenrisiken, Nachfolge, Wettbewerbsdruck) von Stabilitätssignalen unterscheiden (Bloom 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Porters generische Wettbewerbsstrategien identifizieren und das Stuck-in-the-Middle-Risiko eines KMU beurteilen (Bloom 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BILANZZAHLEN ZEIGEN DIE VERGANGENHEIT — STRATEGIE ZEIGT DIE ZUKUNFT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Warum qualitative Analyse zur Kreditwürdigkeitsbeurteilung gehört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Three Levels — ein strukturierter Blick auf das Geschäftsmodell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DREI-EBENEN-MODELL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Ebenen der qualitativen Kreditwürdigkeitsanalyse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1: Markt &amp; Branche — Ist das Marktumfeld des Kunden tragfähig? (Five Forces)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2: Geschäftsmodell — Wie verdient das Unternehmen sein Geld, wie stabil ist das?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3: Management &amp; Nachfolge — Kann die Führung das Unternehmen durch schwierige Phasen tragen?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Regulatorischer Anker: § 18 KWG + MaRisk AT 2.2 verpflichten zur qualitativen Analyse ab 750 TEUR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Grant (2016): Nachhaltige Kreditwürdigkeit entsteht wo finanzielle Stabilität und strategische Stärke zusammentreffen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Macharzina &amp; Wolf (2018): Qualitative Faktoren stehen gleichwertig neben quantitativen Kennzahlen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FÜNF KRÄFTE. EINE STRATEGISCHE ENTSCHEIDUNG. KEIN MITTELWEG.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Porter's Five Forces &amp; das Stuck-in-the-Middle-Problem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Wettbewerbsstruktur als Kreditrisiko-Indikator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FIVE FORCES &amp; GENERISCHE STRATEGIEN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Kräfte + drei Strategien + eine Falle Frage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Five Forces nach Porter (1979): Was bestimmt ob eine Branche dauerhaft Geld abwirft?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Stuck in the Middle (Porter, 1980, S. 41): Weder günstig noch differenziert → strukturelle Ertragsschwäche → mittelfristiges Kreditrisiko. Warnsignal: GF kann nicht klar sagen, wofür Kunden mehr zahlen.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FRAMEWORK ZUM KREDITURTEIL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SWOT als Kreditrisikofilter &amp; qualitatives Krediturteil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Strategische Risiken sichtbar machen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SWOT ALS KREDITRISIKOFILTER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SWOT im Kreditkontext — andere Lesart als in der Strategieberatung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Stärken: Stabilisatoren der Rückzahlungsfähigkeit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Schwächen: Interne Risiken; bei Kumulation erhöhte Ausfallwahrscheinlichkeit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Chancen: Nur relevant wenn Wachstum finanziert werden soll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Risiken: Externe Bedrohungen für die künftige Ertragslage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KUNDENGESPRÄCH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Frameworks → Unternehmersprache: Kein Jargon im Kundengesprächidet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Klumpenrisiko: 'Wie wäre das, wenn Ihr größter Kunde wegbrechen würde? Haben Sie das schon durchgespielt?'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Stuck in the Middle: 'Wofür zahlen Ihre Kunden gerne mehr als beim günstigsten Wettbewerber?'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Nachfolge: 'Haben Sie konkrete Gedanken gemacht, wie das nach Ihnen weitergeht?'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Investitionsstau: 'Was ist Ihre Planung für den Maschinenpark in den nächsten 3–5 Jahren?'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Präzisionswerk Haller GmbH, Ravensburg — Betriebsmittelkredit 800 TEUR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CNC-Präzisionsfertigung · 48 Mitarbeiter · 7,2 Mio. EUR Umsatz 2024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(2001). A taxonomy for learning, teaching, and assessing.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Barney, J. (1991). Firm resources and sustained competitive advantage. Journal of Management, 17(1), 99–120.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Bundesanstalt für Finanzdienstleistungsaufsicht. (2023). Mindestanforderungen an das Risikomanagement (MaRisk): Rundschreiben 10/2012 (BA)…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Bundesministerium der Justiz. (2006). Beleihungswertermittlungsverordnung (BelWertV) vom 12. Mai 2006. BGBl. I, 1335.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H. L., &amp; Dreyfus, S. E. (1980). A five-stage model of the mental activities involved in directed skill acquisition. Operations…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BVR. (2024). Jahrbuch der deutschen Volksbanken und Raiffeisenbanken 2024. BVR.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activities. UC Berkeley.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Grant, R. M. (2016). Contemporary Strategy Analysis (9. Aufl.). Wiley.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Macharzina, K. &amp; Wolf, J. (2018). Unternehmensführung (9. Aufl.). Springer Gabler.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Osterwalder, A. &amp; Pigneur, Y. (2010). Business Model Generation.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(1979). How competitive forces shape strategy. Harvard Business Review, 57(2), 137–145.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Industries. Free Press.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Welge, M. K. &amp; Al-Laham, A. (2012). Strategisches Management (6. Aufl.). Springer Gabler.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Wernerfelt, B. (1984). A resource-based view of the firm. Strategic Management Journal, 5(2), 171–180.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zeb. (2022). KMU-Lending Report: Herausforderungen und Chancen im deutschen Mittelstandskreditgeschäft. zeb/rolfes.schierenbeck.associates.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«Geschäftsmodell &amp; Strategie bewerten» auf FKB Campus — 6 Lernziele, 120 Minuten, Sparringspartner-Niveauele,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M22  · 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