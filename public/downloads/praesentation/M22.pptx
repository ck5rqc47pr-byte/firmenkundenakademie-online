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M22  · 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Geschäftsmodell &amp; Strategie bewerten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Strategische Unternehmensanalyse als Kern der Kreditwürdigkeitsbeurteilung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120 Minuten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9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Strategische Analyseinstrumente (Five Forces, SWOT, Generische Strategien) auf ein KMU-Fallbeispiel anwenden (Bloom 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Stärken, Schwächen und strategische Abhängigkeiten eines Unternehmens analysieren (Bloom 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Qualitative Risikofaktoren (Klumpenrisiken, Nachfolge, Wettbewerbsdruck) von Stabilitätssignalen unterscheiden (Bloom 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Porters generische Wettbewerbsstrategien identifizieren und das Stuck-in-the-Middle-Risiko eines KMU beurteilen (Bloom 4)</a:t>
            </a:r>
          </a:p>
        </p:txBody>
      </p:sp>
      <p:sp>
        <p:nvSpPr>
          <p:cNvPr id="20" name="TextBox 16"/>
          <p:cNvSpPr txBox="1"/>
          <p:nvPr/>
        </p:nvSpPr>
        <p:spPr>
          <a:xfrm>
            <a:off x="4064000" y="37330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2" name="TextBox 17"/>
          <p:cNvSpPr txBox="1"/>
          <p:nvPr/>
        </p:nvSpPr>
        <p:spPr>
          <a:xfrm>
            <a:off x="4953000" y="37457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strategische Position eines Unternehmens hinsichtlich seiner mittelfristigen Kreditwürdigkeit beurteilen (Bloom 5)</a:t>
            </a:r>
          </a:p>
        </p:txBody>
      </p:sp>
      <p:sp>
        <p:nvSpPr>
          <p:cNvPr id="21" name="TextBox 16"/>
          <p:cNvSpPr txBox="1"/>
          <p:nvPr/>
        </p:nvSpPr>
        <p:spPr>
          <a:xfrm>
            <a:off x="4064000" y="44307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VI</a:t>
            </a:r>
          </a:p>
        </p:txBody>
      </p:sp>
      <p:sp>
        <p:nvSpPr>
          <p:cNvPr id="23" name="TextBox 17"/>
          <p:cNvSpPr txBox="1"/>
          <p:nvPr/>
        </p:nvSpPr>
        <p:spPr>
          <a:xfrm>
            <a:off x="4953000" y="44434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Qualitative Befunde strukturiert in einer Kreditvorlage formulieren (Bloom 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8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BILANZZAHLEN ZEIGEN DIE VERGANGENHEIT — STRATEGIE ZEIGT DIE ZUKUNFT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Warum qualitative Analyse zur Kreditwürdigkeitsbeurteilung gehört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Das Drei-Ebenen-Modell als qualitative Analyseplattform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9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DAS DREI-EBENEN-MODELL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Drei Ebenen der qualitativen Kreditwürdigkeitsanalyse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Ebene 1: Markt &amp; Branche — Ist das Marktumfeld des Kunden tragfähig? (Five Forces)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Ebene 2: Geschäftsmodell — Wie verdient das Unternehmen sein Geld, wie stabil ist das?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Ebene 3: Management &amp; Nachfolge — Kann die Führung das Unternehmen durch schwierige Phasen tragen?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/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Regulatorischer Anker: § 18 KWG + MaRisk AT 2.2 verpflichten zur qualitativen Analyse ab 750 TEUR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Grant (2016): Nachhaltige Kreditwürdigkeit entsteht wo finanzielle Stabilität und strategische Stärke zusammentreffen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Macharzina &amp; Wolf (2018): Qualitative Faktoren stehen gleichwertig neben quantitativen Kennzahlen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8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FÜNF KRÄFTE. EINE STRATEGISCHE ENTSCHEIDUNG. KEIN MITTELWEG.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Porter's Five Forces &amp; das Stuck-in-the-Middle-Problem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Wettbewerbsstruktur als Kreditrisiko-Indikator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2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FIVE FORCES &amp; GENERISCHE STRATEGIEN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Fünf Kräfte + drei Strategien + eine Falle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Five Forces nach Porter (1979): Was bestimmt ob eine Branche dauerhaft Geld abwirft?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Stuck in the Middle (Porter, 1980, S. 41): Weder günstig noch differenziert → strukturelle Ertragsschwäche → mittelfristiges Kreditrisiko. Warnsignal: GF kann nicht klar sagen, wofür Kunden mehr zahlen.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8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VOM FRAMEWORK ZUM KREDITURTEIL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SWOT als Kreditrisikofilter &amp; qualitatives Krediturteil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Strategische Risiken sichtbar machen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9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SWOT ALS KREDITRISIKOFILTER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SWOT im Kreditkontext — andere Lesart als in der Strategieberatung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Stärken: Stabilisatoren der Rückzahlungsfähigkeit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Schwächen: Interne Risiken; bei Kumulation erhöhte Ausfallwahrscheinlichkeit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Chancen: Nur relevant wenn Wachstum finanziert werden soll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Risiken: Externe Bedrohungen für die künftige Ertragslage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9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VOM FRAMEWORK ZUM KUNDENGESPRÄCH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Frameworks → Unternehmersprache: Kein Jargon im Kundengespräch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Klumpenrisiko: 'Wie wäre das, wenn Ihr größter Kunde wegbrechen würde? Haben Sie das schon durchgespielt?'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Stuck in the Middle: 'Wofür zahlen Ihre Kunden gerne mehr als beim günstigsten Wettbewerber?'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Nachfolge: 'Haben Sie konkrete Gedanken gemacht, wie das nach Ihnen weitergeht?'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Investitionsstau: 'Was ist Ihre Planung für den Maschinenpark in den nächsten 3–5 Jahren?'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64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VOM FRAMEWORK ZUM KREDITURTEIL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Präzisionswerk Haller GmbH, Ravensburg — Betriebsmittelkredit 800 TEUR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CNC-Präzisionsfertigung · 48 Mitarbeiter · 7,2 Mio. EUR Umsatz 2024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23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63600"/>
            <a:ext cx="5080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A0AACC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F8F8FA"/>
                </a:solidFill>
                <a:latin typeface="Georgia"/>
              </a:rPr>
              <a:t>Quellen.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3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17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Anderson, L. W. &amp; Krathwohl, D. R. (2001). A taxonomy for learning, teaching, and assessing. Longman.</a:t>
            </a:r>
          </a:p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Kirkpatrick, D. L. (1994). Evaluating training programs: The four levels. Berrett-Koehler.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00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Barney, J. (1991). Firm resources and sustained competitive advantage. Journal of Management, 17(1), 99–120.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282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Barrows, H. S. (1986). A taxonomy of problem-based learning methods. Medical Education, 20(6), 481–486.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213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BVR. (2024). Jahrbuch der deutschen Volksbanken und Raiffeisenbanken 2024. BVR.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695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Dreyfus, S. E. &amp; Dreyfus, H. L. (1980). A five-stage model of the mental activities. UC Berkeley.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78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Grant, R. M. (2016). Contemporary Strategy Analysis (9. Aufl.). Wiley.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2317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Macharzina, K. &amp; Wolf, J. (2018). Unternehmensführung (9. Aufl.). Springer Gabler.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2800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Osterwalder, A. &amp; Pigneur, Y. (2010). Business Model Generation. Wiley.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32829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Porter, M. E. (1979). How competitive forces shape strategy. Harvard Business Review, 57(2), 137–145.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37655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Porter, M. E. (1980). Competitive Strategy: Techniques for Analyzing Industries. Free Press.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2481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Welge, M. K. &amp; Al-Laham, A. (2012). Strategisches Management (6. Aufl.). Springer Gabler.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0" y="4730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Wernerfelt, B. (1984). A resource-based view of the firm. Strategic Management Journal, 5(2), 171–180.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 · 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«Geschäftsmodell &amp; Strategie bewerten» auf FKB Campus — 6 Lernziele, 120 Minuten, Sparringspartner-Niveauele,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M22  · 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