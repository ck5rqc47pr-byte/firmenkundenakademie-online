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M21  ·  K-01 Finanzanalyse &amp; Kreditexpertise  ·  Sparringspartner  ·  Halbtag (4 Stunden)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strukturierte Kreditanalyse anhand des 8-Felder-Frameworks selbstständig durchführen und MaRisk-konform dokumentieren (Bloom 3)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Quantitative und qualitative Risikofaktoren eines Kreditantrags systematisch analysieren und nach Relevanz gewichten (Bloom 4)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begründete Kreditempfehlung bewerten, entscheiden und vor dem Kreditausschuss vertreten (Bloom 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4.1.1 Konzeptioneller Rahmen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Kreditentscheidung ist eine strukturierte Risikoabwägung – keine Intuitionsentscheidung. Das 8-Felder-Framework…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Übersicht der 8 Felder: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4.1.2 Feld 1 – Zweck und Verwendung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Dient er der Substanzerhaltung (Ersatz) oder Substanzverbesserung (Wachstum, Rationalisierung)?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Passt der Zweck zur wirtschaftlichen Lage des Unternehmens?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Ist die Amortisationszeit realistisch für die gewählte Laufzeit?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4.1.3 Feld 2 – Rückzahlungsquelle (Cashflow-Analyse)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Überoptimistische Umsatzwachstum-Annahmen ohne Marktbeleg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Verwechslung von buchhalterischem Gewinn und verfügbarem Cashflow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Ignorieren notwendiger Reinvestitionen (CapEx-Bindung)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Keine Szenarioanalyse (Was passiert bei −10 % Umsatz?)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4.1.4 Feld 3 – Kapitalstruktur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Definition: Wie ist das Unternehmen finanziert? Hat es ausreichend Eigenkapital als Verlustpuffer?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Kernkennzahlen: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Wichtig: Kennzahl-Schwellenwerte sind branchenspezifisch (s. Modul M05). Ein Einzelhändler mit 18 % EK-Quote ist anders…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Pro-forma-Analyse: EK-Quote und Verschuldungsgrad müssen stets nach Kredit berechnet werden – nicht nur auf Basis des…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4.1.5 Feld 4 – Managementqualität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Fachliche Kompetenz: Ausbildung, Branchenerfahrung, Netzwerk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Unternehmerisches Urteil: Strategische Entscheidungen reflektiert oder impulsiv? (Kahneman, 2011)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Track-Record: Bisherige Krisen und Erfolge; wie wurde mit Problemen umgegangen?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Nachfolgeplanung: Ist eine Nachfolge bei inhabergeführten Unternehmen definiert?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Transparenz: Werden kritische Punkte offengelegt oder verschleiert?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Halo-Effekt: Positive Ersteindrücke überstrahlen Schwachstellen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4.1.6 Feld 5 – Branchenpositionierung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Branchenwachstum: positiv / stabil / rückläufig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Marktposition des KMU: Nischenführer / Standard / Follower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Technologischer Disruptionsdruck: hoch / mittel / niedrig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Regulierungsdruck: steigend / stabil / sinkend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4.1.7 Feld 6 – Sicherheiten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Rang der Grundschuld (Rang 1 vs. 2/3 – letztere erheblich schwächer)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Verwertungsdauer realistisch einschätzen (Immobilie: 6–12 Monate; Maschinen: 2–6 Monate)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Persönliche Bürgschaften: Bonität des Bürgen eigenständig prüfen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4.1.8 Feld 7 – Konditionen und Vertraggestaltung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Zinssatz: EURIBOR + Spread (typisch 1,5–2,5 % für KMU-Standardrisiken)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Laufzeit: Passt zur finanzierten Investition (Maschinen 5–7 Jahre, Immobilien 10–20 Jahre)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Tilgung: Annuitätisch (gleichmäßige Belastung) oder linear (fallende Zinslast)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4.1.9 Feld 8 – Exit-Szenarien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Definition: Was passiert, wenn die primäre Rückzahlungsquelle wegfällt? Gibt es realistische Szenarien für Sanierung,…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Warum relevant: MaRisk BTO 2.1 (BaFin, 2023) verlangt von Kreditinstituten ein Früherkennungs- und…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Vier Szenarien (Wahrscheinlichkeiten sind fallspezifisch):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Verwertungsrealismus: Die Erlöse aus Sicherheitenverwertung sind fast immer niedriger als der Beleihungswert…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4.2.1 Struktur einer Kreditvorlage nach MaRisk BTO 1.1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bankinterne Kreditvorlage muss nach MaRisk BTO 1.1 (Bundesanstalt für Finanzdienstleistungsaufsicht, 2023)…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Gesamtumfang: 12–20 Seiten (je nach Komplexität)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4.2.2 Die drei Entscheidungsergebnisse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Alle 8 Felder positiv oder neutral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Keine einschränkenden Bedingungen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Dokumentation: Kreditausschuss-Beschluss, Krediturkunde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Einzelne Felder mit Risiken, die durch Auflagen mitigierbar sind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Auflagen müssen SMART formuliert sein (Spezifisch, Messbar, Akzeptabel, Realistisch, Terminiert)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Beispiel: „EK-Quote muss innerhalb von 24 Monaten auf ≥ 23 % steigen; Nachweis quartalsweise."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4.2.4 Der Votierungsprozess: Markt und Marktfolge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divergierende Votum muss dokumentiert und an den nächsthöheren Kompetenzträger eskaliert werden.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Berater darf nicht den Kunden über den internen Votums-Dissens informieren.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Häufige Ursache: Markt sieht das Managementpotenzial, Marktfolge bewertet nur die Zahlen – beides ist legitim. Die Entscheidung trifft der zuständige Kompetenzträger.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4.2.5 Entscheidungspsychologie in der Kreditvergabe (Kahneman, 2011)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Ankereffekt: Die erste genannte Zahl prägt unbewusst alle Folgeabschätzungen (Kahneman, 2011). Mitigation: eigene…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Confirmation Bias (Bestätigungsfehler): Man sucht unbewusst Informationen, die die eigene Ersteinschätzung bestätigen…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Overconfidence: Insolvenzwahrscheinlichkeit wird systematisch unterschätzt. Mitigation: Vergleich mit…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4.3 Theorie-Input: Sicherheitenbewertung nach BelWertV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4.3a Sicherheitenbewertung im Alltag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4.3b Betriebsmittelkredite und Kontokorrent: Kurzfall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4.3c Checkliste: Bestandskredit in der Krise – erste Schritte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4.4.1 Unternehmensprofil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Art: Investitionskredit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Betrag: 420.000 €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Laufzeit: 7 Jahre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4.4.2 Finanzlage: 3-Jahresvergleich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Bilanzauszüge (in T€):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Gewinn- und Verlustrechnung (in T€):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Kennzahlenanalyse: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Interpretation: Positiv: Umsatz wächst, Zinsdeckung komfortabel. Kritisch: EBIT-Marge sinkt kontinuierlich…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4.4.3 8-Felder-Analyse: Metallbau Schnell GmbH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Feld 1 – Zweck &amp; Verwendung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CNC-Maschine (280.000 €): Angebote von drei Lieferanten vorhanden, Amortisation 4–5 Jahre realistisch, entspricht…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Feld 2 – Rückzahlungsquelle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EBITDA 2024: 382 T€ (= 272 EBIT + 110 AfA). Verfügbarer Cashflow nach Steuern (73 T€) und CapEx-Bindung (110 T€): ca.…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Feld 3 – Kapitalstruktur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Aktuelle EK-Quote 25,1 % – an der unteren Grenze. Nach Kreditaufnahme (Bilanzsumme +420 T€ auf 1.995 T€, EK bleibt 395…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4.4.4 Gesprächsverlauf: Kreditanalyse in der Praxis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Berater K. Maier (VR-Bank Heilbronn)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K. Maier: „Herr Schnell, Frau Schnell-Müller, Sie haben einen Investitionskredit über 420.000 € beantragt. Bevor ich…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Klaus Schnell: „Die alte Drehmaschine ist 15 Jahre alt und hat eine Achse weniger. Komplexere Teile müssen wir momentan…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K. Maier: „Und wie kommen Sie auf 280.000 €?"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K. Schnell: „Ich habe drei Angebote eingeholt. Heidenhain ist teurer, aber Qualität und Service sind überlegen. Die…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(Feld 1 geklärt.)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4.5 Arbeitsblatt: 8-Felder-Kreditanalyse-Template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M21 · Kreditentscheidung treffen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