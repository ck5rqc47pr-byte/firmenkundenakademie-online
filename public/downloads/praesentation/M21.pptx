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M21  ·  K-01 Finanzanalyse &amp; Kreditexpertise  ·  Zielstufe: Sparringspartner  ·  Halbtag (4 Stunden)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strukturierte Kreditanalyse anhand des 8-Felder-Frameworks selbstständig durchführen und MaRisk-konform dokumentieren (Bloom 3)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Quantitative und qualitative Risikofaktoren eines Kreditantrags systematisch analysieren und nach Relevanz gewichten (Bloom 4)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begründete Kreditempfehlung bewerten, entscheiden und vor dem Kreditausschuss vertreten (Bloom 5)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4.1 Theorie-Input: Das 8-Felder-Framework für KMU-Kreditentscheidungen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4.1.1 Konzeptioneller Rahmen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Feld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Leitfrage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Primäre Datenquelle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 Zweck &amp; Verwendung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Wofür wird der Kredit genutzt? Ist der Zweck transparent?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Kreditantrag, Angebote, Businessplan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 Rückzahlungsquelle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Kann das Unternehmen Zins und Tilgung aus laufendem Cashflow decken?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GuV, Kapitalflussrechnung (3 Jahre)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Kapitalstruktur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Wie ist das Unternehmen finanziert? Ist die Verschuldung tragbar?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Bilanz (3 Jahre), pro-forma nach Kredit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 Managementqualität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Ist die Geschäftsführung kompetent, erfahren und langfristig gebunden?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Gespräch, Lebenslauf, Track-Record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5. Branchenpositionierung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Wie positioniert sich das Unternehmen im Markt? Ist die Branche stabil?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Branchenberichte, Porter's Five Forces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6. Sicherheiten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Welche Sicherheiten gibt es? Wie verwertbar sind diese im Ernstfall?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BelWertV, Gutachten, Bürgschaften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Sind Zins, Laufzeit und Vertragsbedingungen angemessen zum Risiko?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Marktvergleich, Rating-Modell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8. Exit-Szenarien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passiert, wenn die primäre Rückzahlungsquelle wegfällt?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Szenarioanalyse, Sicherheitenverwertung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4.1.2 Feld 1 – Zweck und Verwendung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Definition: </a:t>
            </a:r>
            <a:r>
              <a:rPr sz="1700">
                <a:solidFill>
                  <a:srgbClr val="1A1A1A"/>
                </a:solidFill>
                <a:latin typeface="Arial"/>
              </a:rPr>
              <a:t>Wozu wird der Kredit konkret verwendet? Ist die Verwendung wirtschaftlich sinnvoll und bankseits nachvollziehbar?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Kreditrelevanz: </a:t>
            </a:r>
            <a:r>
              <a:rPr sz="1700">
                <a:solidFill>
                  <a:srgbClr val="1A1A1A"/>
                </a:solidFill>
                <a:latin typeface="Arial"/>
              </a:rPr>
              <a:t>Ein schlecht definierter Kredittzweck ist ein Warnsignal für fehlende Planung oder versteckte Verwendungen (Sanierungsfinanzierung ohne Nennung, verdeckte Ausschüttungen). Die…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Analysefragen: </a:t>
            </a:r>
            <a:r>
              <a:rPr sz="1700">
                <a:solidFill>
                  <a:srgbClr val="1A1A1A"/>
                </a:solidFill>
                <a:latin typeface="Arial"/>
              </a:rPr>
              <a:t>- Ist der Zweck konkret und überprüfbar? (Nicht „Betriebsmittel", sondern „5-Achs-CNC-Drehmaschine Heidenhain TNC 640 für Werkstatt Gebäude 2") - Dient er der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Substanzerhaltung: </a:t>
            </a:r>
            <a:r>
              <a:rPr sz="1700">
                <a:solidFill>
                  <a:srgbClr val="1A1A1A"/>
                </a:solidFill>
                <a:latin typeface="Arial"/>
              </a:rPr>
              <a:t>(Ersatz) oder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Substanzverbesserung: </a:t>
            </a:r>
            <a:r>
              <a:rPr sz="1700">
                <a:solidFill>
                  <a:srgbClr val="1A1A1A"/>
                </a:solidFill>
                <a:latin typeface="Arial"/>
              </a:rPr>
              <a:t>(Wachstum, Rationalisierung)? - Passt der Zweck zur wirtschaftlichen Lage des Unternehmens? - Ist die Amortisationszeit realistisch für die gewählte Laufzeit?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4.1.2 Feld 1 – Zweck und Verwendung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Typische Risiken: </a:t>
            </a:r>
            <a:r>
              <a:rPr sz="1700">
                <a:solidFill>
                  <a:srgbClr val="1A1A1A"/>
                </a:solidFill>
                <a:latin typeface="Arial"/>
              </a:rPr>
              <a:t>Mehrfachzweck ohne Aufteilung, Verwendung für Schuldenumschuldung ohne explizite Nennung, fehlende Kostenaufstellungen.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4.1.3 Feld 2 – Rückzahlungsquelle (Cashflow-Analyse)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Kritisch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Zinsdeckungsquote (ZDQ)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 ÷ Zinskosten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3,0x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2,0–3,0x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Cashflow-Deckungsquote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(EBITDA − Steuern − CapEx) ÷ Kreditrate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1,5x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1,0–1,5x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1,0x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Dynamischer Verschuldungsgrad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Netto-Fremdkapital ÷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4.1.4 Feld 3 – Kapitalstruktur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 ÷ Bilanzsumme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30 %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Verschuldungsgrad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Fremdkapital ÷ EK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2,5x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Dynamischer 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Netto-FK ÷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4.1.5 Feld 4 – Managementqualität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Definition: </a:t>
            </a:r>
            <a:r>
              <a:rPr sz="1700">
                <a:solidFill>
                  <a:srgbClr val="1A1A1A"/>
                </a:solidFill>
                <a:latin typeface="Arial"/>
              </a:rPr>
              <a:t>Ist die Geschäftsführung kompetent, erfahren, ehrlich und langfristig am Unternehmen gebunden?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Warum entscheidend: </a:t>
            </a:r>
            <a:r>
              <a:rPr sz="1700">
                <a:solidFill>
                  <a:srgbClr val="1A1A1A"/>
                </a:solidFill>
                <a:latin typeface="Arial"/>
              </a:rPr>
              <a:t>Branchenbeobachtungen zufolge gehen ein Großteil der KMU-Kreditausfälle auf Managementfehler zurück – nicht auf externe Schocks (vgl. zeb, 2022). Ein Zahlenwerk allein reicht…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Fachliche Kompetenz: </a:t>
            </a:r>
            <a:r>
              <a:rPr sz="1700">
                <a:solidFill>
                  <a:srgbClr val="1A1A1A"/>
                </a:solidFill>
                <a:latin typeface="Arial"/>
              </a:rPr>
              <a:t>Ausbildung, Branchenerfahrung, Netzwerk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Unternehmerisches Urteil: </a:t>
            </a:r>
            <a:r>
              <a:rPr sz="1700">
                <a:solidFill>
                  <a:srgbClr val="1A1A1A"/>
                </a:solidFill>
                <a:latin typeface="Arial"/>
              </a:rPr>
              <a:t>Strategische Entscheidungen reflektiert oder impulsiv? (Kahneman, 2011)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Track-Record: </a:t>
            </a:r>
            <a:r>
              <a:rPr sz="1700">
                <a:solidFill>
                  <a:srgbClr val="1A1A1A"/>
                </a:solidFill>
                <a:latin typeface="Arial"/>
              </a:rPr>
              <a:t>Bisherige Krisen und Erfolge; wie wurde mit Problemen umgegangen? -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4.1.5 Feld 4 – Managementqualität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Nachfolgeplanung: </a:t>
            </a:r>
            <a:r>
              <a:rPr sz="1700">
                <a:solidFill>
                  <a:srgbClr val="1A1A1A"/>
                </a:solidFill>
                <a:latin typeface="Arial"/>
              </a:rPr>
              <a:t>Ist eine Nachfolge bei inhabergeführten Unternehmen definiert?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Transparenz: </a:t>
            </a:r>
            <a:r>
              <a:rPr sz="1700">
                <a:solidFill>
                  <a:srgbClr val="1A1A1A"/>
                </a:solidFill>
                <a:latin typeface="Arial"/>
              </a:rPr>
              <a:t>Werden kritische Punkte offengelegt oder verschleiert?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Praxishinweis Nachfolgethema: </a:t>
            </a:r>
            <a:r>
              <a:rPr sz="1700">
                <a:solidFill>
                  <a:srgbClr val="1A1A1A"/>
                </a:solidFill>
                <a:latin typeface="Arial"/>
              </a:rPr>
              <a:t>Viele Berater sprechen das Nachfolgethema bei inhabergeführten KMU zu spät oder gar nicht an – obwohl es bei Gesellschaftern über 60 das größte Kreditrisiko darstellt. Empfehlung:…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im ersten oder zweiten Gespräch: </a:t>
            </a:r>
            <a:r>
              <a:rPr sz="1700">
                <a:solidFill>
                  <a:srgbClr val="1A1A1A"/>
                </a:solidFill>
                <a:latin typeface="Arial"/>
              </a:rPr>
              <a:t>ansprechen, nicht erst im dritten. Formulierungsvorschlag: „Herr/Frau [Name], darf ich Sie eine Frage stellen, die viele Unternehmer überraschend offen beantworten: Wie sieht Ihr…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Kognitive Verzerrungen im Berater-Urteil (Kahneman, 2011): </a:t>
            </a:r>
            <a:r>
              <a:rPr sz="1700">
                <a:solidFill>
                  <a:srgbClr val="1A1A1A"/>
                </a:solidFill>
                <a:latin typeface="Arial"/>
              </a:rPr>
              <a:t>- Halo-Effekt: Positive Ersteindrücke überstrahlen Schwachstellen - Confirmation Bias: Berater sucht Belege für bereits geformte Meinung - Availability Bias: Letzte Begegnung…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4.1.5 Feld 4 – Managementqualität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Mitigation: </a:t>
            </a:r>
            <a:r>
              <a:rPr sz="1700">
                <a:solidFill>
                  <a:srgbClr val="1A1A1A"/>
                </a:solidFill>
                <a:latin typeface="Arial"/>
              </a:rPr>
              <a:t>Strukturierte Checkliste statt Freitext, Devil's Advocate-Runde im Kreditausschuss.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4.1.6 Feld 5 – Branchenpositionierung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Kreditrelevante 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Neue Konkurrenten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Sind Markteintrittsbarrieren hoch genug für stabile Margen?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Können Rohstoffpreisschwankungen die Marge gefährden?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Kundenmacht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Besteht Konzentrationsrisiko (wenige Großkunden)?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Substitute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Droht digitale Disruption das Geschäftsmodell zu entwerten?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Rivalität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Wie stark drückt Preiswettbewerb die Marge?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4.1.7 Feld 6 – Sicherheiten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Anmerkungen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Grundpfandrecht (Wohnimmobilie, Rang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60–70 % Verkehrswert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Abhängig von Lage und Markt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Grundpfandrecht (Gewerbeimmobilie, Rang 1)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50–60 % Verkehrswert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Eingeschränkte Verwertbarkeit bei Spezialgebäuden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Sicherungsübereignung Maschinen/Anlagen – Standardmaschinen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30–50 % Buchwert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Branchenübliche Maschinen mit breitem Zweitmarkt (z. B. Standard-Drehbänke, Gabelstapler)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Sicherungsübereignung Maschinen/Anlagen – Spezialmaschinen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max. 20–30 % Buchwert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Branchenspezifische Maschinen mit engem Abnehmermarkt; Einzelanfertigungen nahe null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Forderungsabtretung (Debitoren)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50–80 % 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Abhängig von Schuldner-Bonität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Warenbestand / Lager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30–50 % Buchwert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Saisonalität, Lagerverluste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Selbstschuldnerische Bürgschaft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bis 100 % 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Qualität abhängig von Bürgen-EK und Einkommen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4.1.8 Feld 7 – Konditionen und Vertraggestaltung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Covenant-Typ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Beispiel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Finanzcovenants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EK-Quote ≥ 22 %, Zinsdeckungsquote ≥ 2,0x, freier Cashflow ≥ X 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Informationscovenants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Monatliche Umsatzmeldung, Quartal-GuV, Jahresabschluss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Operationscovenants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wesentlichen Akquisitionen ohne Zustimmung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Kündigungscovenants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Kündigung bei Covenant-Verstoß, Inhaberwechsel ohne Zustimmung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4.1.9 Feld 8 – Exit-Szenarien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Szenario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Beschreibung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 der Bank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 – Normalverlauf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 zahlt planmäßig zurück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Routine-Monitoring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 – Temporäre Anspannung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Umsatzrückgang 1–2 Quartale, dann Recovery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Stundung, ggf. Laufzeitverlängerung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 – Strukturelle Krise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Nachhaltige Umsatzeinbuße &gt;20 %, Restrukturierung nötig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Umschuldung, externe Berater, Asset-Verkauf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 – Insolvenz/Liquidation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Rettung nicht möglich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Sicherheitenverwertung (Zeitraum: 6–18 Monate)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4.2 Theorie-Input: Von der Analyse zur Entscheidungsvorlage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4.2.1 Struktur einer Kreditvorlage nach MaRisk BTO 1.1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Abschnitt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Inhalt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Pflichtumfang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 Kreditnehmer-Identifikation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Name, Rechtsform, Adresse, Branche, Geschäftsführung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1–2 Seiten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 Kreditantrag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Art, Betrag, Verwendung, Laufzeit, gewünschte Konditionen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 Seite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Historische Finanzlage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Bilanzen/GuV 3 Jahre, Kennzahlen, Trendanalyse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2–4 Seiten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 8-Felder-Analyse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Strukturierte Risikoanalyse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3–5 Seiten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5. Rating-Ergebnis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Internes Rating, Risikokategorie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1–2 Seiten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6. Sicherheitenpaket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Arten, Beleihungswerte, Verwertungsszenarien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1–2 Seiten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Zinssatz, Laufzeit, Tilgung, Vertragsbedingungen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 Seite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8. Empfehlung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Zusage / Ablehnung / Auflagen mit Begründung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1–2 Seiten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4.2.2 Die drei Entscheidungsergebnisse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Entscheidung 1: ZUSAGE: </a:t>
            </a:r>
            <a:r>
              <a:rPr sz="1700">
                <a:solidFill>
                  <a:srgbClr val="1A1A1A"/>
                </a:solidFill>
                <a:latin typeface="Arial"/>
              </a:rPr>
              <a:t>- Alle 8 Felder positiv oder neutral - Keine einschränkenden Bedingungen - Dokumentation: Kreditausschuss-Beschluss, Krediturkunde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Entscheidung 2: ZUSAGE MIT AUFLAGEN: </a:t>
            </a:r>
            <a:r>
              <a:rPr sz="1700">
                <a:solidFill>
                  <a:srgbClr val="1A1A1A"/>
                </a:solidFill>
                <a:latin typeface="Arial"/>
              </a:rPr>
              <a:t>- Einzelne Felder mit Risiken, die durch Auflagen mitigierbar sind - Auflagen müssen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SMART: </a:t>
            </a:r>
            <a:r>
              <a:rPr sz="1700">
                <a:solidFill>
                  <a:srgbClr val="1A1A1A"/>
                </a:solidFill>
                <a:latin typeface="Arial"/>
              </a:rPr>
              <a:t>formuliert sein (Spezifisch, Messbar, Akzeptabel, Realistisch, Terminiert) - Beispiel: „EK-Quote muss innerhalb von 24 Monaten auf ≥ 23 % steigen; Nachweis quartalsweise." 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Entscheidung 3: ABLEHNUNG: </a:t>
            </a:r>
            <a:r>
              <a:rPr sz="1700">
                <a:solidFill>
                  <a:srgbClr val="1A1A1A"/>
                </a:solidFill>
                <a:latin typeface="Arial"/>
              </a:rPr>
              <a:t>- Kritische Faktoren in mehreren Feldern, keine Mitigation möglich - Begründung: sachlich, professionell, ohne unnötige Kritik am Unternehmer - Auch Ablehnung ist eine…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Praxisbeispiel: Das Ablehnungsgespräch – Formulierungshilfen: </a:t>
            </a:r>
            <a:r>
              <a:rPr sz="1700">
                <a:solidFill>
                  <a:srgbClr val="1A1A1A"/>
                </a:solidFill>
                <a:latin typeface="Arial"/>
              </a:rPr>
              <a:t>&gt; &gt; Das Ablehnungsgespräch ist die emotional schwierigste Situation in der Kreditberatung – besonders bei langjährigen Kunden. Ziel ist: Beziehung erhalten, Klarheit herstellen,…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4.2.2 Die drei Entscheidungsergebnisse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Gesprächseinstieg: </a:t>
            </a:r>
            <a:r>
              <a:rPr sz="1700">
                <a:solidFill>
                  <a:srgbClr val="1A1A1A"/>
                </a:solidFill>
                <a:latin typeface="Arial"/>
              </a:rPr>
              <a:t>&gt; „Herr/Frau [Name], ich habe Ihren Antrag sorgfältig geprüft und möchte heute offen mit Ihnen sprechen. Meine Analyse zeigt, dass ich Ihnen den Kredit in der beantragten Form zum…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Begründung ohne Schuldzuweisung: </a:t>
            </a:r>
            <a:r>
              <a:rPr sz="1700">
                <a:solidFill>
                  <a:srgbClr val="1A1A1A"/>
                </a:solidFill>
                <a:latin typeface="Arial"/>
              </a:rPr>
              <a:t>&gt; „Das ist keine Kritik an Ihrem Unternehmen oder Ihrer Arbeit. Es ist eine Momentaufnahme: Die Eigenkapitalquote liegt nach Kreditaufnahme unter unserem Mindestschwellenwert, und…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Alternativen aktiv ansprechen (nicht passiv erwähnen): </a:t>
            </a:r>
            <a:r>
              <a:rPr sz="1700">
                <a:solidFill>
                  <a:srgbClr val="1A1A1A"/>
                </a:solidFill>
                <a:latin typeface="Arial"/>
              </a:rPr>
              <a:t>&gt; - „Ich würde gerne gemeinsam schauen, was möglich ist: Ein kleinerer Kreditbetrag – könnten Sie die Investition in zwei Stufen aufteilen?" &gt; - „Haben Sie bereits KfW- oder…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 Sie vermeiden sollten: </a:t>
            </a:r>
            <a:r>
              <a:rPr sz="1700">
                <a:solidFill>
                  <a:srgbClr val="1A1A1A"/>
                </a:solidFill>
                <a:latin typeface="Arial"/>
              </a:rPr>
              <a:t>&gt; - Formulierungen wie „Es tut mir leid, aber..." – sie wirken unentschlossen &gt; - „Wir werden das nochmal intern prüfen" als Hinhaltetaktik, wenn die Entscheidung bereits…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4.2.3 Häufige Fehler in Kreditvorlagen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Fehler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Erkennungsmerkmal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Folge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Unklare Zweckangabe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„Betriebsmittel" ohne Konkretisierung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Zweckbindung nicht durchsetzbar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Überoptimistische Planung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Planwachstum 15–20 % p. a. ohne Marktbeleg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Risiko systematisch unterschätzt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Sicherheiten als Kreditgrund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„Immobilie reicht aus" ohne Cashflow-Analyse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Unterschätztes Rückzahlungsrisiko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Schwache Management-Analyse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„10 Jahre Unternehmer = ok" ohne kritische Hinterfragung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Nachfolge-, Kompetenz- und Bias-Risiken übersehen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Exit-Szenarien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Vorlage endet ohne Plan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 unvorbereitet bei Krise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Widerspruch Text vs. Zahlen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Text: „stabil", aber Verschuldungsgrad steigt auf 3,5x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Entscheidung auf Bias statt Analyse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Fehlende oder lasche Covenants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 Reporting-Pflicht, keine Finanzschwellen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Früherkennung von Schieflage unmöglich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4.2.4 Der Votierungsprozess: Markt und Marktfolge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 Kreditvorlage erstellen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Berater (Markt)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8-Felder-Analyse, Empfehlung, Auflagenentwurf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 Marktvotum abgeben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Berater / Teamleiter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Positives, negatives oder bedingtes Votum mit Begründung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Unabhängige Prüfung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Marktfolge / Kreditrisiko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Separate Analyse, eigenes Votum – ohne Einflussnahme durch Markt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 Entscheidung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Kompetenzträger (s.u.)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Abhängig von Betragsgröße und Risikoklasse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Kreditbetrag (Richtwert)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Entscheidungskompetenz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bis ca. 50–100 T€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Berater eigenständig (Markt allein, im Rahmen erteilter Einzelkompetenz)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bis ca. 250–500 T€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Teamleiter / FK-Leiter mit Marktvotum + Marktfolge-Votum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 ca. 500 T€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Kreditausschuss (Vorstand, Kreditrisiko, FK-Leiter)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Großkredite / Sonderfälle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Vorstandsbeschluss oder übergeordnete Gremien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4.2.5 Entscheidungspsychologie in der Kreditvergabe (Kahneman, 2011)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Ankereffekt: </a:t>
            </a:r>
            <a:r>
              <a:rPr sz="1700">
                <a:solidFill>
                  <a:srgbClr val="1A1A1A"/>
                </a:solidFill>
                <a:latin typeface="Arial"/>
              </a:rPr>
              <a:t>Die erste genannte Zahl prägt unbewusst alle Folgeabschätzungen (Kahneman, 2011). Mitigation: eigene unabhängige Schätzung vor Kundentermin erstellen.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Confirmation Bias (Bestätigungsfehler): </a:t>
            </a:r>
            <a:r>
              <a:rPr sz="1700">
                <a:solidFill>
                  <a:srgbClr val="1A1A1A"/>
                </a:solidFill>
                <a:latin typeface="Arial"/>
              </a:rPr>
              <a:t>Man sucht unbewusst Informationen, die die eigene Ersteinschätzung bestätigen (Kahneman, 2011). Mitigation: strukturierte 8-Felder-Analyse mit expliziter „Was könnte…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Overconfidence: </a:t>
            </a:r>
            <a:r>
              <a:rPr sz="1700">
                <a:solidFill>
                  <a:srgbClr val="1A1A1A"/>
                </a:solidFill>
                <a:latin typeface="Arial"/>
              </a:rPr>
              <a:t>Insolvenzwahrscheinlichkeit wird systematisch unterschätzt. Mitigation: Vergleich mit branchenspezifischen Ausfallquoten aus Creditreform-Daten.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 Theorie-Input: Sicherheitenbewertung nach BelWertV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 Theorie-Input: Sicherheitenbewertung nach BelWertV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Beleihungswertermittlungsverordnung (BelWertV): </a:t>
            </a:r>
            <a:r>
              <a:rPr sz="1700">
                <a:solidFill>
                  <a:srgbClr val="1A1A1A"/>
                </a:solidFill>
                <a:latin typeface="Arial"/>
              </a:rPr>
              <a:t>(Bundesministerium der Justiz, 2006) schreibt vor, wie Banken Sicherheiten konservativ – also unterhalb des Marktwertes – bewerten müssen.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Grundpfandrechte auf Immobilien: </a:t>
            </a:r>
            <a:r>
              <a:rPr sz="1700">
                <a:solidFill>
                  <a:srgbClr val="1A1A1A"/>
                </a:solidFill>
                <a:latin typeface="Arial"/>
              </a:rPr>
              <a:t>1. Verkehrswert ermitteln (Gutachter oder Vergleichswerte) 2. Abschlag von 20–30 % anwenden (je nach Marktvolatilität und Verwertbarkeit) 3. Beleihungswert = ca. 60–70 % des…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Rangfolge: </a:t>
            </a:r>
            <a:r>
              <a:rPr sz="1700">
                <a:solidFill>
                  <a:srgbClr val="1A1A1A"/>
                </a:solidFill>
                <a:latin typeface="Arial"/>
              </a:rPr>
              <a:t>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Bewegliche Sicherheiten: </a:t>
            </a:r>
            <a:r>
              <a:rPr sz="1700">
                <a:solidFill>
                  <a:srgbClr val="1A1A1A"/>
                </a:solidFill>
                <a:latin typeface="Arial"/>
              </a:rPr>
              <a:t>Maschinen und Anlagen verlieren durch Spezialisierung, Betrieb und Marktlage schnell an Wert. Beleihungssatz 30–50 % des Buchwerts ist konservativ, aber realistisch.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Bürgschaften: </a:t>
            </a:r>
            <a:r>
              <a:rPr sz="1700">
                <a:solidFill>
                  <a:srgbClr val="1A1A1A"/>
                </a:solidFill>
                <a:latin typeface="Arial"/>
              </a:rPr>
              <a:t>Qualität hängt ausschließlich von der Bonität des Bürgen ab. Eine Bürgschaft eines vermögenslosen Geschäftsführers ist wertlos – eine selbstschuldnerische Bürgschaft eines…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4.3a Sicherheitenbewertung im Alltag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4.3a Sicherheitenbewertung im Alltag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Erstverpfändung einer Immobilie: </a:t>
            </a:r>
            <a:r>
              <a:rPr sz="1700">
                <a:solidFill>
                  <a:srgbClr val="1A1A1A"/>
                </a:solidFill>
                <a:latin typeface="Arial"/>
              </a:rPr>
              <a:t>und Krediten typischerweise ab 150.000–300 T€ (bankindividuell – Grenze mit Marktfolge klären) - Bei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wesentlicher Wertveränderung: </a:t>
            </a:r>
            <a:r>
              <a:rPr sz="1700">
                <a:solidFill>
                  <a:srgbClr val="1A1A1A"/>
                </a:solidFill>
                <a:latin typeface="Arial"/>
              </a:rPr>
              <a:t>(Umbau, Schaden, Marktveränderung) - Bei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Verlängerung mit mehr als 5 Jahren: </a:t>
            </a:r>
            <a:r>
              <a:rPr sz="1700">
                <a:solidFill>
                  <a:srgbClr val="1A1A1A"/>
                </a:solidFill>
                <a:latin typeface="Arial"/>
              </a:rPr>
              <a:t>ohne zwischenzeitliches Update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Wann reicht eine Plausibilisierung?: </a:t>
            </a:r>
            <a:r>
              <a:rPr sz="1700">
                <a:solidFill>
                  <a:srgbClr val="1A1A1A"/>
                </a:solidFill>
                <a:latin typeface="Arial"/>
              </a:rPr>
              <a:t>- Bei kleinen Beträgen und gut bekannten Objekten kann der Berater eine Marktplausibilisierung vornehmen (Vergleichspreise Onlineportale, Gespräch mit lokalem Makler) - Diese…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Alte Gutachten – Faustregel: </a:t>
            </a:r>
            <a:r>
              <a:rPr sz="1700">
                <a:solidFill>
                  <a:srgbClr val="1A1A1A"/>
                </a:solidFill>
                <a:latin typeface="Arial"/>
              </a:rPr>
              <a:t>- Gutachten älter als 3 Jahre: Abschlag von 10–20 % auf den damaligen Wert je nach Marktentwicklung - Gutachten älter als 5 Jahre: Neugutachten oder erheblicher konservativer…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Praxistipp: </a:t>
            </a:r>
            <a:r>
              <a:rPr sz="1700">
                <a:solidFill>
                  <a:srgbClr val="1A1A1A"/>
                </a:solidFill>
                <a:latin typeface="Arial"/>
              </a:rPr>
              <a:t>Im Zweifel lieber ein aktuelles Kurzgutachten beauftragen als mit einem alten Wert in die Vorlage zu gehen. Eine Marktfolge, die das beanstandet, kostet mehr Zeit als das…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4.3b Betriebsmittelkredite und Kontokorrent: Kurzfall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4.3b Betriebsmittelkredite und Kontokorrent: Kurzfall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Bedeutung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Seit wann läuft der Überzug?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2 Wochen: möglicherweise temporal; &gt; 6 Wochen: strukturelles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Ist die Auslastung saisonal?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Bäckerei: Vorweihnachten typisch höher – ist die Saison erklärbar?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Ist der Umsatz stabil?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Einbruch im KK-Umsatz bei gleichbleibender Linie = Warnsignal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Gibt es andere Warnsignale?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Rating, offene Raten, Lieferanten-Verbindlichkeiten gestiegen?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Situation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Dauer Überzug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Weitere Signale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Saisonaler Spitzenbedarf, Bonität unverändert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&lt; 4 Wochen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Warnsignale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Dulden + Aktennotiz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Strukturelle Überauslastung, Bonität stabil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4–8 Wochen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Warnsignale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Kundengespräch + Linienerhöhungsprüfung (neue Vorlage)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Dauerüberzug, Rating verschlechtert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6 Wochen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Rating-Warnsignal oder Zahlungsverzögerungen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Pflicht zur neuen Kreditvorlage + Frühwarnmeldung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Überzug über Meldeschwelle nach § 18 KWG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Unabhängig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Engagementvolumen ≥ Meldegrenze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§ 18 KWG-Offenlegung erneuern, interne Eskalation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4.3c Checkliste: Bestandskredit in der Krise – erste Schritte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4.3c Checkliste: Bestandskredit in der Krise – erste Schritte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Was konkret tun?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 Warnsignale ernst nehmen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Frühwarnbericht, Überzüge, späte Abschlüsse → sofort persönliches Gespräch vereinbaren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 Situationsanalyse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Aktuellen Jahresabschluss / BWA einfordern; Liquiditätsplan für 6 Monate; Ursache der Schieflage verstehen (temporär vs. strukturell)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Intern eskalieren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Teamleiter und Marktfolge informieren – kein Alleingang. Exit-Entscheidungen sind grundsätzlich Chefsache (Bereichsleitung).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 Optionen abwägen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A) Stundung (temporäre Anspannung) B) Restrukturierung (strukturelle Krise, Sanierungskonzept) C) Geordnete Abwicklung (wenn Sanierung nicht realistisch)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5. Dokumentieren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Jede Maßnahme, jedes Gespräch, jede Entscheidung dokumentieren – Insolvenzanfechtungsrisiken minimieren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6. Sicherheiten prüfen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Sind die Sicherheiten noch valide? Aktualität der Gutachten; Rang überprüfen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4.4 Praxisfall: Metallbau Schnell GmbH (Heilbronn, fiktiv)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5"/>
                </a:solidFill>
                <a:latin typeface="Arial"/>
              </a:rPr>
              <a:t>Praxisfall &amp; Fallanalyse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228600"/>
            <a:ext cx="11750040" cy="6858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PRAXISFALL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5603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Arial"/>
              </a:rPr>
              <a:t>4.4 Praxisfall: Metallbau Schnell GmbH (Heilbronn, fiktiv)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623560" cy="51206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56575"/>
                </a:solidFill>
                <a:latin typeface="Arial"/>
              </a:rPr>
              <a:t>UNTERNEHMENSPORTRAIT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4.4.1 Unternehmensprofil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05840"/>
            <a:ext cx="5989320" cy="5120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1005840"/>
            <a:ext cx="54864" cy="512064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5B00"/>
                </a:solidFill>
                <a:latin typeface="Arial"/>
              </a:rPr>
              <a:t>SITUATION &amp; AUFTRAG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50876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Arial"/>
              </a:rPr>
              <a:t>Kreditantrag:
- Art: Investitionskredit
- Betrag: 420.000 €
- Verwendung: 5-Achs-CNC-Drehmaschine Heidenhain TNC 640 (280.000 €) + Hallenerweiterung (140.000 €)
- Laufzeit: 7 Jahre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Arbeitsaufgabe – 4.4 Praxisfall: Metallbau Schnell GmbH (Heilbronn, fiktiv)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111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Ausprägung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Metallbau Schnell GmbH (fiktiv)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Gründung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1989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Rechtsform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GmbH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Klaus Schnell 75 % (Gründer, Dipl.-Ing., 75 J.), Sabine Schnell-Müller 25 % (Tochter)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Standort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Heilbronn, Baden-Württemberg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28 (3 Meister, 12 Facharbeiter, 13 Hilfsarbeiter)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4.510.000 €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Metallbau (Stahlkonstruktionen, Fertigungstechnik, Anlagenbau)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Kundensegmente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Automotive 30 %, Maschinenbau 40 %, Food &amp; Packaging 25 %, Sonstiges 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Immobilien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Maschinen/Ausstattung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Forderungen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Bestände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Kasse/Bank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1.537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1.561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1.575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Bankdarlehen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Lieferantenverbindlichkeiten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Trend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Materialkosten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−1.200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−1.280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−1.320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−1.920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−2.010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▲▲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Abschreibungen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Sonstige Kosten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−455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−29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Netto-Gewinn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8,9 %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7,3 %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6,0 %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▼ rückläufig – kritische Entwicklung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24,7 %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25,1 %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→ knapp, aber leicht verbessernd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2,74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2,67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2,61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→ erhöht, über Komfortschwelle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10,4x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9,4x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▼ sehr gut, aber fallend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Dyn. Verschuldungsgrad (NK/EBITDA)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1,68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1,93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2,29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▲ steigt – Achtung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Punkte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 Zweck &amp; Verwendung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 Rückzahlungsquelle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Kapitalstruktur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0,30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5. 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0,30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6. Sicherheiten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7. Konditionen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8. 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0,15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1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3,30/5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4.5 Arbeitsblatt: 8-Felder-Kreditanalyse-Template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4.5 Arbeitsblatt: 8-Felder-Kreditanalyse-Template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2958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Gesamt-Beleihungswert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Kreditbetrag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Deckungsgrad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Punkte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1. Zweck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2. Cashflow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3. Kapitalstruktur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4.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5. 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6. Sicherheiten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7. Konditionen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958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8. 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8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/5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M21 · Kreditentscheidung treffen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