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M21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Kreditentscheidung treffen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Strukturierte Kreditanalyse und überzeugende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Halbtag (4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strukturierte Kreditanalyse anhand des 8-Felder-Frameworks selbstständig durchführen und MaRisk-konform dokumentieren (Bloom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Quantitative und qualitative Risikofaktoren eines Kreditantrags systematisch analysieren und nach Relevanz gewichten (Bloom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begründete Kreditempfehlung bewerten, entscheiden und vor dem Kreditausschuss vertreten (Bloom 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Kreditvorlagen Dritter kritisch prüfen und Verbesserungspotenziale benennen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Das 8-Felder-Framework für KMU-Kreditentscheidungen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Das 8-Felder-Framework für KMU-Kreditentscheidungen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4.1.1 Konzeptioneller Rahmen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62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Leitfrage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Primäre Datenquelle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Zweck &amp; Verwendung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Wofür wird der Kredit genutzt? Ist der Zweck transparent?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Kreditantrag, Angebote, Businessplan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Rückzahlungsquelle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Kann das Unternehmen Zins und Tilgung aus laufendem Cashflow decken?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GuV, Kapitalflussrechnung (3 Jahre)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Kapitalstruktur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ist das Unternehmen finanziert? Ist die Verschuldung tragbar?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(3 Jahre), pro-forma nach 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Managementqualität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Ist die Geschäftsführung kompetent, erfahren und langfristig gebunden?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Gespräch, Lebenslauf, Track-Record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Branchenpositionierung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positioniert sich das Unternehmen im Markt? Ist die Branche stabil?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Branchenberichte, Porter's Five Forces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Welche Sicherheiten gibt es? Wie verwertbar sind diese im Ernstfall?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BelWertV, Gutachten, Bürgschaften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 &amp; 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Sind Zins, Laufzeit und Vertragsbedingungen angemessen zum Risiko?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Marktvergleich, Rating-Modell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8. Exit-Szenarien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passiert, wenn die primäre Rückzahlungsquelle wegfällt?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Szenarioanalyse, Sicherheitenverwertung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Komfortzone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Warnschwelle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Kritisch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 (ZDQ)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 ÷ Zinskosten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2,0–3,0x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1,5x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Cashflow-Deckungsquote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(EBITDA − Steuern − CapEx) ÷ Kreditrate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1,0–1,5x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1,0x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Dynamischer Verschuldungsgrad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Netto-Fremdkapital ÷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3,0–4,0x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Komfortzone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Warnschwelle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 ÷ Bilanzsumme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Fremdkapital ÷ EK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Dynamischer VG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Netto-FK ÷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Kreditrelevante 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Neue Konkurrenten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Sind Markteintrittsbarrieren hoch genug für stabile Margen?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Lieferantenmacht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Können Rohstoffpreisschwankungen die Marge gefährden?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Kundenmacht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Besteht Konzentrationsrisiko (wenige Großkunden)?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Substitute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Droht digitale Disruption das Geschäftsmodell zu entwerten?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stark drückt Preiswettbewerb die Marge?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Beleihungswert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Anmerkungen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Grundpfandrecht (Wohnimmobilie, Rang 1)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60–70 % Verkehrswert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Lage und Markt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Grundpfandrecht (Gewerbeimmobilie, Rang 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50–60 % Verkehrswert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Verwertbarkeit bei Spezialgebäuden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Sicherungsübereignung Maschinen/Anlagen – Standardmaschinen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30–50 % Buchwert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Branchenübliche Maschinen mit breitem Zweitmarkt (z. B. Standard-Drehbänke, Gabelstapler)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Sicherungsübereignung Maschinen/Anlagen – Spezialmaschinen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max. 20–30 % Buchwert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Branchenspezifische Maschinen mit engem Abnehmermarkt; Einzelanfertigungen nahe null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Forderungsabtretung (Debitoren)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50–80 % nominal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Schuldner-Bonität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Warenbestand / Lager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30–50 % Buchwert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Saisonalität, Lagerverluste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Selbstschuldnerische Bürgschaft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100 % nominal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Qualität abhängig von Bürgen-EK und Einkommen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Covenant-Typ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Beispiel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 ≥ 22 %, Zinsdeckungsquote ≥ 2,0x, freier Cashflow ≥ X 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Monatliche Umsatzmeldung, Quartal-GuV, Jahresabschluss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Operationscovenants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wesentlichen Akquisitionen ohne Zustimmung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Kündigungscovenants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Kündigung bei Covenant-Verstoß, Inhaberwechsel ohne Zustimmung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Szenario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Maßnahme der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 – Normalverlauf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zahlt planmäßig zurück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Routine-Monitoring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 – Temporäre Anspannung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Umsatzrückgang 1–2 Quartale, dann Recovery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Stundung, ggf. Laufzeitverlängerung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C – Strukturelle 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Nachhaltige Umsatzeinbuße &gt;20 %, Restrukturierung nötig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Umschuldung, externe Berater, Asset-Verkauf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3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 – Insolvenz/Liquidation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Rettung nicht möglich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Sicherheitenverwertung (Zeitraum: 6–18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4.1.1 Konzeptioneller Rahmen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Kreditentscheidung ist eine strukturierte Risikoabwägung – keine Intuitionsentscheidung. Das 8-Felder-Framework gibt jedem Analysebereich eine eindeutige Rolle und macht die Entscheidungslogik transparent,…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Übersicht der 8 Felder: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4.1.2 Feld 1 – Zweck und Verwendung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Ist der Zweck konkret und überprüfbar? (Nicht „Betriebsmittel", sondern „5-Achs-CNC-Drehmaschine Heidenhain TNC 640 für Werkstatt Gebäude 2")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Dient er der Substanzerhaltung (Ersatz) oder Substanzverbesserung (Wachstum, Rationalisierung)?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Passt der Zweck zur wirtschaftlichen Lage des Unternehmens?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Ist die Amortisationszeit realistisch für die gewählte Laufzeit?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4.1.3 Feld 2 – Rückzahlungsquelle (Cashflow-Analyse)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Überoptimistische Umsatzwachstum-Annahmen ohne Marktbeleg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Verwechslung von buchhalterischem Gewinn und verfügbarem Cashflow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Ignorieren notwendiger Reinvestitionen (CapEx-Bindung)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Szenarioanalyse (Was passiert bei −10 % Umsatz?)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4.1.4 Feld 3 – Kapitalstruktur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Definition: Wie ist das Unternehmen finanziert? Hat es ausreichend Eigenkapital als Verlustpuffer?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Wichtig: Kennzahl-Schwellenwerte sind branchenspezifisch (s. Modul M05). Ein Einzelhändler mit 18 % EK-Quote ist anders zu beurteilen als ein Maschinenbauer mit identischem Wert.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Pro-forma-Analyse: EK-Quote und Verschuldungsgrad müssen stets nach Kredit berechnet werden – nicht nur auf Basis des Status quo.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4.1.5 Feld 4 – Managementqualität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Fachliche Kompetenz: Ausbildung, Branchenerfahrung, Netzwerk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Unternehmerisches Urteil: Strategische Entscheidungen reflektiert oder impulsiv? (Kahneman, 2011)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Track-Record: Bisherige Krisen und Erfolge; wie wurde mit Problemen umgegangen?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Nachfolgeplanung: Ist eine Nachfolge bei inhabergeführten Unternehmen definiert?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Transparenz: Werden kritische Punkte offengelegt oder verschleiert?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Halo-Effekt: Positive Ersteindrücke überstrahlen Schwachstellen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4.1.6 Feld 5 – Branchenpositionierung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Branchenwachstum: positiv / stabil / rückläufig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Marktposition des KMU: Nischenführer / Standard / Follower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Technologischer Disruptionsdruck: hoch / mittel / niedrig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Regulierungsdruck: steigend / stabil / sinkend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4.1.7 Feld 6 – Sicherheiten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Rang der Grundschuld (Rang 1 vs. 2/3 – letztere erheblich schwächer)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Verwertungsdauer realistisch einschätzen (Immobilie: 6–12 Monate; Maschinen: 2–6 Monate)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Persönliche Bürgschaften: Bonität des Bürgen eigenständig prüfen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4.1.8 Feld 7 – Konditionen und Vertraggestaltung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Zinssatz: EURIBOR + Spread (typisch 1,5–2,5 % für KMU-Standardrisiken)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Laufzeit: Passt zur finanzierten Investition (Maschinen 5–7 Jahre, Immobilien 10–20 Jahre)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Tilgung: Annuitätisch (gleichmäßige Belastung) oder linear (fallende Zinslast)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4.1.9 Feld 8 – Exit-Szenarien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Definition: Was passiert, wenn die primäre Rückzahlungsquelle wegfällt? Gibt es realistische Szenarien für Sanierung, Umstrukturierung oder Liquidation?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Warum relevant: MaRisk BTO 2.1 (BaFin, 2023) verlangt von Kreditinstituten ein Früherkennungs- und Sanierungsmanagement. Die Bank braucht einen Plan B, bevor der Ernstfall eintritt.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Vier Szenarien (Wahrscheinlichkeiten sind fallspezifisch):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Verwertungsrealismus: Die Erlöse aus Sicherheitenverwertung sind fast immer niedriger als der Beleihungswert (Zeitdruck, Verkaufskosten, Marktlage). Bank muss realistisch kalkulieren, nicht optimistisch.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Theorie-Input: Von der Analyse zur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4.2.1 Struktur einer Kreditvorlage nach MaRisk BTO 1.1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028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Abschnitt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Pflichtumfang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Kreditnehmer-Identifikation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Name, Rechtsform, Adresse, Branche, Geschäftsführung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Kreditantrag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Art, Betrag, Verwendung, Laufzeit, gewünschte Konditionen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 Seite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Historische Finanzlage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Bilanzen/GuV 3 Jahre, Kennzahlen, Trendanalyse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2–4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8-Felder-Analyse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Strukturierte Risikoanalyse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3–5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Rating-Ergebnis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Internes Rating, Risikokategorie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Sicherheitenpaket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Arten, Beleihungswerte, Verwertungsszenarien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 &amp; 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Zinssatz, Laufzeit, Tilgung, Vertragsbedingungen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 Seite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8. Empfehlung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Zusage / Ablehnung / Auflagen mit 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Fehler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Erkennungsmerkmal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Unklare Zweckangabe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„Betriebsmittel" ohne Konkretisierung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Zweckbindung nicht durchsetzbar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Überoptimistische 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Planwachstum 15–20 % p. a. ohne Marktbeleg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Risiko systematisch unterschätzt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 als Kreditgrund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„Immobilie reicht aus" ohne Cashflow-Analyse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Unterschätztes Rückzahlungsrisiko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Schwache Management-Analyse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„10 Jahre Unternehmer = ok" ohne kritische Hinterfragung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Nachfolge-, Kompetenz- und Bias-Risiken übersehen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Exit-Szenarien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Vorlage endet ohne Plan 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 unvorbereitet bei Krise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Widerspruch Text vs. Zahlen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Text: „stabil", aber Verschuldungsgrad steigt auf 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Entscheidung auf Bias statt 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Fehlende oder lasche 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 Reporting-Pflicht, keine Finanzschwellen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Früherkennung von Schieflage unmöglich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Kreditvorlage erstellen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Berater (Markt)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8-Felder-Analyse, Empfehlung, Auflagenentwurf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Marktvotum abgeben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Berater / Teamleiter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Positives, negatives oder bedingtes Votum mit Begründung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Unabhängige Prüfung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Marktfolge / Kreditrisiko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Separate Analyse, eigenes Votum – ohne Einflussnahme durch Markt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Entscheidung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Kompetenzträger (s.u.)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Betragsgröße und Risikoklasse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(Richtwert)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Entscheidungskompetenz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ca. 50–100 T€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Berater eigenständig (Markt allein, im Rahmen erteilter Einzelkompetenz)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bis ca. 250–500 T€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/ FK-Leiter mit Marktvotum + Marktfolge-Votum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 ca. 500 T€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Kreditausschuss (Vorstand, Kreditrisiko, FK-Leiter)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Großkredite / Sonderfälle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Vorstandsbeschluss oder übergeordnete Gremien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4.2.1 Struktur einer Kreditvorlage nach MaRisk BTO 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bankinterne Kreditvorlage muss nach MaRisk BTO 1.1 (Bundesanstalt für Finanzdienstleistungsaufsicht, 2023) folgende Elemente enthalten: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Gesamtumfang: 12–20 Seiten (je nach Komplexität)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4.2.2 Die drei Entscheidungsergebnisse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Alle 8 Felder positiv oder neutral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einschränkenden Bedingungen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Dokumentation: Kreditausschuss-Beschluss, Krediturkunde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Einzelne Felder mit Risiken, die durch Auflagen mitigierbar sind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Auflagen müssen SMART formuliert sein (Spezifisch, Messbar, Akzeptabel, Realistisch, Terminiert)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Beispiel: „EK-Quote muss innerhalb von 24 Monaten auf ≥ 23 % steigen; Nachweis quartalsweise."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4.2.4 Der Votierungsprozess: Markt und Marktfolge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divergierende Votum muss dokumentiert und an den nächsthöheren Kompetenzträger eskaliert werden.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Berater darf nicht den Kunden über den internen Votums-Dissens informieren.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Häufige Ursache: Markt sieht das Managementpotenzial, Marktfolge bewertet nur die Zahlen – beides ist legitim. Die Entscheidung trifft der zuständige Kompetenzträger.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4.2.5 Entscheidungspsychologie in der Kreditvergabe (Kahneman, 2011)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Ankereffekt: Die erste genannte Zahl prägt unbewusst alle Folgeabschätzungen (Kahneman, 2011). Mitigation: eigene unabhängige Schätzung vor Kundentermin erstellen.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Confirmation Bias (Bestätigungsfehler): Man sucht unbewusst Informationen, die die eigene Ersteinschätzung bestätigen (Kahneman, 2011). Mitigation: strukturierte 8-Felder-Analyse mit expliziter „Was könnte…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Overconfidence: Insolvenzwahrscheinlichkeit wird systematisch unterschätzt. Mitigation: Vergleich mit branchenspezifischen Ausfallquoten aus Creditreform-Daten.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Theorie-Input: Sicherheitenbewertung nach BelWertV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Beleihungswertermittlungsverordnung (BelWertV) (Bundesministerium der Justiz, 2006) schreibt vor, wie Banken Sicherheiten konservativ – also unterhalb des Marktwertes –…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Grundpfandrechte auf Immobilien: 1. Verkehrswert ermitteln (Gutachter oder Vergleichswerte) 2. Abschlag von 20–30 % anwenden (je nach Marktvolatilität und Verwertbarkeit) 3.…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Rangfolge: Rang 1 hat volle Priorität. Rang 2 und 3 erhalten erst nach vollständiger Bedienung von Rang 1 Erlöse – dies kann im Verwertungsfall zu erheblichen Ausfällen führen.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Bewegliche Sicherheiten: Maschinen und Anlagen verlieren durch Spezialisierung, Betrieb und Marktlage schnell an Wert. Beleihungssatz 30–50 % des Buchwerts ist konservativ, aber…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Bürgschaften: Qualität hängt ausschließlich von der Bonität des Bürgen ab. Eine Bürgschaft eines vermögenslosen Geschäftsführers ist wertlos – eine selbstschuldnerische Bürgschaft…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4.3a Sicherheitenbewertung im Alltag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Erstverpfändung einer Immobilie und Krediten typischerweise ab 150.000–300 T€ (bankindividuell – Grenze mit Marktfolge klären)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wesentlicher Wertveränderung (Umbau, Schaden, Marktveränderung)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Verlängerung mit mehr als 5 Jahren ohne zwischenzeitliches Update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kleinen Beträgen und gut bekannten Objekten kann der Berater eine Marktplausibilisierung vornehmen (Vergleichspreise Onlineportale, Gespräch mit lokalem Makler)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Diese Schätzung muss dokumentiert und dem Kreditbeschluss beigefügt werden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Gutachten älter als 3 Jahre: Abschlag von 10–20 % auf den damaligen Wert je nach Marktentwicklung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4.3b Betriebsmittelkredite und Kontokorrent: Kurzfall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Nicht alle Kreditentscheidungen sind langfristige Investitionskredite. Häufiger Alltag: KK-Linie läuft an ihre Grenze oder wird regelmäßig überzogen.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Seit wann läuft der Überzug?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 Wochen: möglicherweise temporal; &gt; 6 Wochen: strukturelles Signal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Ist die Auslastung saisonal?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Bäckerei: Vorweihnachten typisch höher – ist die Saison erklärbar?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Ist der Umsatz stabil?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Einbruch im KK-Umsatz bei gleichbleibender Linie = Warnsignal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Gibt es andere Warnsignale?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Rating, offene Raten, Lieferanten-Verbindlichkeiten gestiegen?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Dauer Überzug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Weitere Signale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Saisonaler Spitzenbedarf, Bonität unverändert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4 Wochen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Warnsignale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Dulden + Aktennotiz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Strukturelle Überauslastung, Bonität stabil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4–8 Wochen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Warnsignale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 + Linienerhöhungsprüfung (neue Vorlage)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Dauerüberzug, Rating verschlechtert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6 Wochen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Rating-Warnsignal oder Zahlungsverzögerungen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Pflicht zur neuen Kreditvorlage + Frühwarnmeldung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Überzug über Meldeschwelle nach § 18 KWG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Unabhängig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Engagementvolumen ≥ Meldegrenze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§ 18 KWG-Offenlegung erneuern, interne Eskalation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4.3c Checkliste: Bestandskredit in der Krise – erste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schwierigste Kreditentscheidung ist nicht die Neuvergabe, sondern: Was tue ich, wenn ein Bestandskunde in Schieflage gerät?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Was konkret tun?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Warnsignale ernst 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Frühwarnbericht, Überzüge, späte Abschlüsse → sofort persönliches Gespräch vereinbaren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Situationsanalyse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Aktuellen Jahresabschluss / BWA einfordern; Liquiditätsplan für 6 Monate; Ursache der Schieflage verstehen (temporär vs. strukturell)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Intern eskalieren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und Marktfolge informieren – kein Alleingang. Exit-Entscheidungen sind grundsätzlich Chefsache (Bereichsleitung).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Optionen abwägen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A) Stundung (temporäre Anspannung) B) Restrukturierung (strukturelle Krise, Sanierungskonzept) C) Geordnete Abwicklung (wenn Sanierung nicht realistisch)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Jede Maßnahme, jedes Gespräch, jede Entscheidung dokumentieren – Insolvenzanfechtungsrisiken minimieren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Sind die Sicherheiten noch valide? Aktualität der Gutachten; Rang überprüfen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Praxisfall: Metallbau Schnell GmbH (Heilbronn, fiktiv)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4.4.1 Unternehmensprofil | Merkmal | Ausprägung | |---------|-----------| | Unternehmensname | Metallbau Schnell GmbH (fiktiv) | | Gründung | 1989 | | Rechtsform | GmbH | | Gesellschafter | Klaus Schnell 75 % (Gründer, Dipl.-Ing., 75 J.), Sabine Schnell-Müller 25 % (Tochter) | | Standort | Heilbronn, Baden-Württemberg | |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Arbeitsblatt: 8-Felder-Kreditanalyse-Template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KREDIT-ANALYSE FORMULAR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647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Sicherheitentyp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Beleihungswert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Rang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Gesamt-Beleihungswert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Deckungsgrad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Punkte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 Zweck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 Cashflow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Kapitalstruktur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4. Management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 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8. Exit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Lege das ausgefüllte 8-Felder-Template einem Teamkollegen vor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Bitte ihn, das Ergebnis anhand der Kriterien aus Sec 4.2.3 (Häufige Fehler in Kreditvorlagen) kritisch zu prüfen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Konkrete Fragen für das Peer-Review: „Gibt es Felder, die du anders gewichtet hättest? Welche Risiken siehst du, die ich möglicherweise übersehen habe? Würdest du die Empfehlung…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Dokumentiere das Feedback schriftlich (mind. eine halbe Seite) und notiere, was du beim nächsten Antrag anders machen würdest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**Rückzahlungsanalyse (LZ-01/02):** Habe ich den verfügbaren Cashflow korrekt berechnet (nach Steuern, CapEx und bestehenden Schuldendiensten)? Wo war es schwierig?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**Kapitalstruktur pro-forma (LZ-02):** Habe ich die EK-Quote auch nach Kreditaufnahme berechnet – nicht nur den Status quo?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**Management-Analyse (LZ-02):** Habe ich das Nachfolgerisiko explizit adressiert? Oder habe ich es intuitiv übergangen?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**Exit-Szenarien (LZ-03):** Habe ich mindestens ein Szenario B/C durchgespielt? Was waren die realistischen Verwertungserlöse bei Insolvenz?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**Entscheidungsqualität (LZ-03):** War meine Empfehlung durch die 8-Felder-Analyse besser begründet als vorher? Was hätte ich ohne das Framework anders entschieden?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BelWertV: Bundesministerium der Justiz (2006): Beleihungswertermittlungsverordnung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MaRisk: BaFin (2023): MaRisk-Rundschreiben BTO 1.1 und BTO 2.1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Entscheidungspsychologie: Kahneman, D. (2012): Schnelles Denken, langsames Denken. Siedler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KMU-Finanzierung: Perridon, L., Steiner, M., &amp; Rathgeber, A. (2017): Finanzwirtschaft der Unternehmung (17. Aufl.). Vahlen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Bankmanagement &amp; Risiko: Schierenbeck, H., Lister, M., &amp; Kirmße, S. (2014): Ertragsorientiertes Bankmanagement (Bd. 2). Springer Gabler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«Kreditentscheidung treffen»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M21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