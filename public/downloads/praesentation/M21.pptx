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Kreditentscheidung treffen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5193792"/>
            <a:ext cx="1081735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94960"/>
            <a:ext cx="1081735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v0.3_KERN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M21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strukturierte Kreditanalyse anhand des 8-Felder-Frameworks selbstständig durchführen und MaRisk-konform dokumentieren (Bloom 3)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Quantitative und qualitative Risikofaktoren eines Kreditantrags systematisch analysieren und nach Relevanz gewichten (Bloom 4)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Eine begründete Kreditempfehlung bewerten, entscheiden und vor dem Kreditausschuss vertreten (Bloom 5)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Kreditvorlagen Dritter kritisch prüfen und Verbesserungspotenziale benennen (Bloom 5)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Handlungsempfehlung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8-Felder-Framework für KMU-Kreditentscheidungen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4.1.1 KONZEPTIONELLER RAHMEN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Übersicht der 8 Felder: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4.1.2 FELD 1 – ZWECK UND VERWENDUNG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Wozu wird der Kredit konkret verwendet? Ist die Verwendung wirtschaftlich sinnvoll und bankseits nachvollziehbar?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der Zweck konkret und überprüfbar? (Nicht „Betriebsmittel", sondern „5-Achs-CNC-Drehmaschine Heidenhain TNC 640 für Werkstatt Gebäude 2")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Dient er der Substanzerhaltung (Ersatz) oder Substanzverbesserung (Wachstum, Rationalisierung)?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Passt der Zweck zur wirtschaftlichen Lage des Unternehmens?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Ist die Amortisationszeit realistisch für die gewählte Laufzeit?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Typische Risiken: Mehrfachzweck ohne Aufteilung, Verwendung für Schuldenumschuldung ohne explizite Nennung, fehlende Kostenaufstellungen.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4.1.3 FELD 2 – RÜCKZAHLUNGSQUELLE (CASHFLOW-ANALYSE)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Definition: Kann das Unternehmen Zins und Tilgung aus operativem Cashflow decken, oder ist es auf Desinvestitionen oder Dritte angewiesen?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8-Felder-Framework der Kreditentscheidung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Von der Analyse zur Entscheidungsvorlage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4.2.1 STRUKTUR EINER KREDITVORLAGE NACH MARISK BTO 1.1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bankinterne Kreditvorlage muss nach MaRisk BTO 1.1 (Bundesanstalt für Finanzdienstleistungsaufsicht, 2023 ) folgende Elemente enthalten: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Gesamtumfang: 12–20 Seiten (je nach Komplexität)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4.2.2 DIE DREI ENTSCHEIDUNGSERGEBNISSE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1: ZUSAGE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Alle 8 Felder positiv oder neutral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Keine einschränkenden Bedingungen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Dokumentation: Kreditausschuss-Beschluss, Krediturkunde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 2: ZUSAGE MIT AUFLAGEN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Einzelne Felder mit Risiken, die durch Auflagen mitigierbar sind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Auflagen müssen SMART formuliert sein (Spezifisch, Messbar, Akzeptabel, Realistisch, Terminiert)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Beispiel: „EK-Quote muss innerhalb von 24 Monaten auf ≥ 23 % steigen; Nachweis quartalsweise."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Zwei Denksysteme nach Kahneman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Sicherheitenbewertung nach BelWertV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Grundpfandrechte auf Immobilien: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Verkehrswert ermitteln (Gutachter oder Vergleichswerte)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Abschlag von 20–30 % anwenden (je nach Marktvolatilität und Verwertbarkeit)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Beleihungswert = ca. 60–70 % des Verkehrswerts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Rangfolge: Rang 1 hat volle Priorität. Rang 2 und 3 erhalten erst nach vollständiger Bedienung von Rang 1 Erlöse – dies kann im Verwertungsfall zu erheblichen Ausfällen führen.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Bewegliche Sicherheiten: Maschinen und Anlagen verlieren durch Spezialisierung, Betrieb und Marktlage schnell an Wert. Beleihungssatz 30–50 % des Buchwerts ist konservativ, aber realistisch.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4.3a Sicherheitenbewertung im 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BelWertV-Theorie ist eine Sache – der Alltag stellt andere Fragen: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ist ein aktuelles Gutachten Pflicht?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Erstverpfändung einer Immobilie und Krediten typischerweise ab 150.000–300 T€ (bankindividuell – Grenze mit Marktfolge klären)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wesentlicher Wertveränderung (Umbau, Schaden, Marktveränderung)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Verlängerung mit mehr als 5 Jahren ohne zwischenzeitliches Update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Wann reicht eine Plausibilisierung?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kleinen Beträgen und gut bekannten Objekten kann der Berater eine Marktplausibilisierung vornehmen (Vergleichspreise Onlineportale, Gespräch mit lokalem Makler)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Schätzung muss dokumentiert und dem Kreditbeschluss beigefügt werden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 Gutachten – Faustregel: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3 Jahre: Abschlag von 10–20 % auf den damaligen Wert je nach Marktentwicklung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Gutachten älter als 5 Jahre: Neugutachten oder erheblicher konservativer Abschlag empfohlen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Bei Gewerbeimmobilien: Marktentwicklung oft volatiler als bei Wohnimmobilien – früher erneuern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4.3b Betriebsmittelkredite und Kontokorrent: Kurzfall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Nicht alle Kreditentscheidungen sind langfristige Investitionskredite. Häufiger Alltag: KK-Linie läuft an ihre Grenze oder wird regelmäßig überzogen.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Kurzfall: Bäckerei Weber KG, Überzug KK-Linie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Beraterin Schmidt stellt fest: Bäckerei Weber KG, Linie 80.000 €, seit 6 Wochen durchgehend bei 95–100 % ausgelastet, in einer Woche zweimal kurz drüber.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Analysefragen für Kontokorrent: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Mögliche Entscheidungen: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Temporärer saisonaler Überzug, stabile Bonität: Dulden mit Dokumentation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Strukturelle Auslastung, gute Bonität: Linienerhöhung prüfen (mit Analyse Feld 2 und 3)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Überzug + Warnsignale: Sofort persönliches Gespräch, ggf. Frühwarnmeldung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Wichtig: Jede Überzugsduldung – auch eine kurzfristige – muss dokumentiert werden (MaRisk BTO 1.1). Nicht dokumentierte Überzüge sind ein Prüfungsrisiko.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Entscheidungsmatrix: Wann ist eine neue Kreditvorlage Pflicht?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4.3c Checkliste: Bestandskredit in der Krise – erste Schritte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schwierigste Kreditentscheidung ist nicht die Neuvergabe, sondern: Was tue ich, wenn ein Bestandskunde in Schieflage gerät?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Diese Situation ist emotional belastend (langjährige Kundenbeziehung) und rechtlich heikel. Erste Schritte: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Praxistipp: Wer früh eskaliert und dokumentiert, schützt sich selbst und gibt dem Kunden eine echte Chance. Wer zu lange alleine trägt, verliert beides.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Metallbau Schnell GmbH (Heilbronn, fiktiv)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4.4.1 UNTERNEHMENSPROFIL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Kreditantrag: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Art: Investitionskredit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Betrag: 420.000 €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Verwendung: 5-Achs-CNC-Drehmaschine Heidenhain TNC 640 (280.000 €) + Hallenerweiterung (140.000 €)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Laufzeit: 7 Jahre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4.4.2 FINANZLAGE: 3-JAHRESVERGLEICH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Bilanzauszüge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Gewinn- und Verlustrechnung (in T€):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Kennzahlenanalyse: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4.4.3 8-FELDER-ANALYSE: METALLBAU SCHNELL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| Bewertung: 5/5 POSITIV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M21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8-Felder-Kreditanalyse-Template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KREDIT-ANALYSE FORMULAR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Kreditnehmer: _______________ | Kreditnummer: _______________ | Berater/in: _______________ | Datum: ___.____.______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1 – Zweck &amp; Verwendung (Gewichtung: 10 %)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Ist der Verwendungszweck konkret, prüfbar und wirtschaftlich sinnvoll?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(kritisch) ☐ 2 ☐ 3 (ausreichend) ☐ 4 ☐ 5 (sehr gut)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Begründung: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Risiko identifiziert? ☐ Ja ☐ Nein | Mitigation: _______________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Feld 2 – Rückzahlungsquelle (Gewichtung: 25 %)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EBITDA (aktuell): ___ T€ | Verfügbarer Cashflow: ___ T€ | Kreditrate p. a.: ___ T€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Cashflow-Deckungsquote: ___x | Zinsdeckungsquote: ___x | Dyn. Verschuldungsgrad: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Stress-Szenario (−10 % Umsatz): Deckungsquote sinkt auf ___x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Bewertung: ☐ 1 ☐ 2 ☐ 3 ☐ 4 ☐ 5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