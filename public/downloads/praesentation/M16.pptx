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3175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B7FA0"/>
                </a:solidFill>
                <a:latin typeface="Courier New"/>
              </a:rPr>
              <a:t>M16  ·  v0.4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3048000"/>
            <a:ext cx="10972800" cy="215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600" b="0" i="0">
                <a:solidFill>
                  <a:srgbClr val="191D2E"/>
                </a:solidFill>
                <a:latin typeface="Georgia"/>
              </a:rPr>
              <a:t>NMZ-Optimierung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5334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5461000"/>
            <a:ext cx="5207000" cy="88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1">
                <a:solidFill>
                  <a:srgbClr val="4D5270"/>
                </a:solidFill>
                <a:latin typeface="Georgia"/>
              </a:rPr>
              <a:t>Nettomargenziffer im Firmenkundenbestand messen, verstehen und systematisch verbessern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2500" y="5461000"/>
            <a:ext cx="2286000" cy="17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spc="100">
                <a:solidFill>
                  <a:srgbClr val="7B7FA0"/>
                </a:solidFill>
                <a:latin typeface="Courier New"/>
              </a:rPr>
              <a:t>ZIELSTUFE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2500" y="5664200"/>
            <a:ext cx="2286000" cy="5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91D2E"/>
                </a:solidFill>
                <a:latin typeface="Georgia"/>
              </a:rPr>
              <a:t>Berater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63000" y="5461000"/>
            <a:ext cx="2540000" cy="17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spc="100">
                <a:solidFill>
                  <a:srgbClr val="7B7FA0"/>
                </a:solidFill>
                <a:latin typeface="Courier New"/>
              </a:rPr>
              <a:t>DAUER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63000" y="5664200"/>
            <a:ext cx="2540000" cy="5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91D2E"/>
                </a:solidFill>
                <a:latin typeface="Georgia"/>
              </a:rPr>
              <a:t>90 Min.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00 — LERNZIELE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350000"/>
            <a:ext cx="508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7B7FA0"/>
                </a:solidFill>
                <a:latin typeface="Courier New"/>
              </a:rPr>
              <a:t>v0.4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02 / 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270000"/>
            <a:ext cx="3683000" cy="1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0" b="0" i="1">
                <a:solidFill>
                  <a:srgbClr val="1F2B56"/>
                </a:solidFill>
                <a:latin typeface="Georgia"/>
              </a:rPr>
              <a:t>Inhalt.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1333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0" y="1333500"/>
            <a:ext cx="70104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384300"/>
            <a:ext cx="5715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0" i="1">
                <a:solidFill>
                  <a:srgbClr val="1F2B56"/>
                </a:solidFill>
                <a:latin typeface="Georgia"/>
              </a:rPr>
              <a:t>I.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70500" y="1409700"/>
            <a:ext cx="62230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91D2E"/>
                </a:solidFill>
                <a:latin typeface="Georgia"/>
              </a:rPr>
              <a:t>Erklären, was die Nettomargenziffer (NMZ) misst, wie sie berechnet wird und warum sie die zentrale Steuerungsgröße im VR-Firmenkundensegment ist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2095499"/>
            <a:ext cx="70104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2146300"/>
            <a:ext cx="5715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0" i="1">
                <a:solidFill>
                  <a:srgbClr val="1F2B56"/>
                </a:solidFill>
                <a:latin typeface="Georgia"/>
              </a:rPr>
              <a:t>II.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70500" y="2171700"/>
            <a:ext cx="62230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91D2E"/>
                </a:solidFill>
                <a:latin typeface="Georgia"/>
              </a:rPr>
              <a:t>Unterschiede zwischen NMZ auf Einzel-, Segment- und Bestandsebene erläutern und die eigene NMZ in den internen Benchmark einordnen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2857500"/>
            <a:ext cx="70104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0" y="2908300"/>
            <a:ext cx="5715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0" i="1">
                <a:solidFill>
                  <a:srgbClr val="1F2B56"/>
                </a:solidFill>
                <a:latin typeface="Georgia"/>
              </a:rPr>
              <a:t>III.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70500" y="2933700"/>
            <a:ext cx="62230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91D2E"/>
                </a:solidFill>
                <a:latin typeface="Georgia"/>
              </a:rPr>
              <a:t>NMZ-Berichte in agree lesen und die drei Kunden mit dem größten Verbesserungspotenzial im eigenen Bestand identifizieren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0" y="3619500"/>
            <a:ext cx="70104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0" y="3670300"/>
            <a:ext cx="5715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0" i="1">
                <a:solidFill>
                  <a:srgbClr val="1F2B56"/>
                </a:solidFill>
                <a:latin typeface="Georgia"/>
              </a:rPr>
              <a:t>IV.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70500" y="3695700"/>
            <a:ext cx="62230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91D2E"/>
                </a:solidFill>
                <a:latin typeface="Georgia"/>
              </a:rPr>
              <a:t>Für jeden identifizierten Kunden mind. eine konkrete NMZ-Verbesserungsmaßnahme ableiten und den Hebel begründen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0" y="4381500"/>
            <a:ext cx="70104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4432300"/>
            <a:ext cx="5715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0" i="1">
                <a:solidFill>
                  <a:srgbClr val="1F2B56"/>
                </a:solidFill>
                <a:latin typeface="Georgia"/>
              </a:rPr>
              <a:t>V.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70500" y="4457700"/>
            <a:ext cx="62230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91D2E"/>
                </a:solidFill>
                <a:latin typeface="Georgia"/>
              </a:rPr>
              <a:t>Die NMZ-Struktur des Gesamtbestands nach Ertragskomponenten analysieren und das dominante Schwachfeld benennen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F8F8FA"/>
                </a:solidFill>
                <a:latin typeface="Courier New"/>
              </a:rPr>
              <a:t>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606070"/>
                </a:solidFill>
                <a:latin typeface="Courier New"/>
              </a:rPr>
              <a:t>03 / 32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25500"/>
            <a:ext cx="5715000" cy="495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0" b="0" i="1">
                <a:solidFill>
                  <a:srgbClr val="D9BF7A"/>
                </a:solidFill>
                <a:latin typeface="Georgia"/>
              </a:rPr>
              <a:t>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85000" y="3683000"/>
            <a:ext cx="4597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B7FA0"/>
                </a:solidFill>
                <a:latin typeface="Courier New"/>
              </a:rPr>
              <a:t>MODULINHALTE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0" y="4000500"/>
            <a:ext cx="4597400" cy="15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600" b="0" i="0">
                <a:solidFill>
                  <a:srgbClr val="F8F8FA"/>
                </a:solidFill>
                <a:latin typeface="Georgia"/>
              </a:rPr>
              <a:t>Modulinhalte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85000" y="5524500"/>
            <a:ext cx="4597400" cy="63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 i="1">
                <a:solidFill>
                  <a:srgbClr val="7B7FA0"/>
                </a:solidFill>
                <a:latin typeface="Georgia"/>
              </a:rPr>
              <a:t>Definition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04 / 32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1016000"/>
            <a:ext cx="4953000" cy="20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0" i="0">
                <a:solidFill>
                  <a:srgbClr val="191D2E"/>
                </a:solidFill>
                <a:latin typeface="Georgia"/>
              </a:rPr>
              <a:t>Definition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3175000"/>
            <a:ext cx="4953000" cy="1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4D5270"/>
                </a:solidFill>
                <a:latin typeface="Georgia"/>
              </a:rPr>
              <a:t>Die Nettomargenziffer (NMZ) ist die zentrale Ertragskennzahl im VR-Firmenkundencontrolling. Sie misst den bereinigten Nettoertrag einer Kundenbeziehung – oder eines Bestandssegments – als Prozentsatz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096000" y="1016000"/>
          <a:ext cx="6502400" cy="2667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51200"/>
                <a:gridCol w="3251200"/>
              </a:tblGrid>
              <a:tr h="4445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NMZ-Wert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Interpretation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&gt; 1,5 %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Sehr gut – rentable, ertragstarke Beziehung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1,0–1,5 %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Gut – im Zielpfad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0,5–1,0 %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Ausbaufähig – Handlungsbedarf, Hebel prüfen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&lt; 0,5 %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Kritisch – entweder Pricing anpassen, Cross-Selling intensivieren oder Exit prüfen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Negativ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Verlustbringend – sofortiger Handlungsbedarf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05 / 32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10972800" cy="139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0" i="0">
                <a:solidFill>
                  <a:srgbClr val="191D2E"/>
                </a:solidFill>
                <a:latin typeface="Georgia"/>
              </a:rPr>
              <a:t>Warum die NMZ dem DB überlegen ist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228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43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241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Der absolute Deckungsbeitrag sagt: „Dieser Kunde bringt 12.000 EUR." Die NMZ sagt: „Dieser Kunde bringt 1,0 % – bei doppeltem Volumen wäre dasselbe Geld besser angelegt." Erst durch die Volumen-…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307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000" y="304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Rolfes (1999) betont, dass Banken ohne normierte Ertragskennzahlen systematisch Kapital in renditeschwache Engagements lenken, weil die absoluten Beträge groß aussehen.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F8F8FA"/>
                </a:solidFill>
                <a:latin typeface="Courier New"/>
              </a:rPr>
              <a:t>4.2 DIE NMZ-KOMPONENTEN IM DETAIL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606070"/>
                </a:solidFill>
                <a:latin typeface="Courier New"/>
              </a:rPr>
              <a:t>06 / 32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25500"/>
            <a:ext cx="5715000" cy="495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0" b="0" i="1">
                <a:solidFill>
                  <a:srgbClr val="D9BF7A"/>
                </a:solidFill>
                <a:latin typeface="Georgia"/>
              </a:rPr>
              <a:t>II.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85000" y="3683000"/>
            <a:ext cx="4597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B7FA0"/>
                </a:solidFill>
                <a:latin typeface="Courier New"/>
              </a:rPr>
              <a:t>4.2 DIE NMZ-KOMPONENTEN IM DETAIL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0" y="4000500"/>
            <a:ext cx="4597400" cy="15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600" b="0" i="0">
                <a:solidFill>
                  <a:srgbClr val="F8F8FA"/>
                </a:solidFill>
                <a:latin typeface="Georgia"/>
              </a:rPr>
              <a:t>4.2 Die NMZ-Komponenten im Detail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F8F8FA"/>
                </a:solidFill>
                <a:latin typeface="Courier New"/>
              </a:rPr>
              <a:t>4.3 NMZ-BERICHTE IN AGREE LESEN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606070"/>
                </a:solidFill>
                <a:latin typeface="Courier New"/>
              </a:rPr>
              <a:t>07 / 32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25500"/>
            <a:ext cx="5715000" cy="495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0" b="0" i="1">
                <a:solidFill>
                  <a:srgbClr val="D9BF7A"/>
                </a:solidFill>
                <a:latin typeface="Georgia"/>
              </a:rPr>
              <a:t>III.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85000" y="3683000"/>
            <a:ext cx="4597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B7FA0"/>
                </a:solidFill>
                <a:latin typeface="Courier New"/>
              </a:rPr>
              <a:t>4.3 NMZ-BERICHTE IN AGREE LESEN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0" y="4000500"/>
            <a:ext cx="4597400" cy="15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600" b="0" i="0">
                <a:solidFill>
                  <a:srgbClr val="F8F8FA"/>
                </a:solidFill>
                <a:latin typeface="Georgia"/>
              </a:rPr>
              <a:t>4.3 NMZ-Berichte in agree lesen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85000" y="5524500"/>
            <a:ext cx="4597400" cy="63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 i="1">
                <a:solidFill>
                  <a:srgbClr val="7B7FA0"/>
                </a:solidFill>
                <a:latin typeface="Georgia"/>
              </a:rPr>
              <a:t>Wo finde ich meine NMZ-Daten?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III · 4.3 NMZ-BERICHTE IN AGREE LESEN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08 / 32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1016000"/>
            <a:ext cx="4953000" cy="20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0" i="0">
                <a:solidFill>
                  <a:srgbClr val="191D2E"/>
                </a:solidFill>
                <a:latin typeface="Georgia"/>
              </a:rPr>
              <a:t>Wo finde ich meine NMZ-Daten?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3175000"/>
            <a:ext cx="4953000" cy="1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4D5270"/>
                </a:solidFill>
                <a:latin typeface="Georgia"/>
              </a:rPr>
              <a:t>In agree (Atruvia) stehen NMZ-relevante Auswertungen über folgende Einstiegspunkte zur Verfügung: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096000" y="1016000"/>
          <a:ext cx="6502400" cy="2222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7466"/>
                <a:gridCol w="2167466"/>
                <a:gridCol w="2167468"/>
              </a:tblGrid>
              <a:tr h="4445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Auswertung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Pfad in agree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Information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Kundenprofitabilitäts-Cockpit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Firmenkunden → Controlling → Kundenprofitabilität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DB I, DB II, NMZ je Kunde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Bestandsranking nach NMZ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Firmenkunden → Reporting → Ertragskennzahlen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Rangliste aller Kunden nach NMZ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Komponentenanalyse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Firmenkunden → Controlling → Ertragskomponenten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Aufteilung Zins / Provision / Verbund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Verbundpartner-Cockpit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Firmenkunden → Verbund → Cockpit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Verbundabschlüsse und -potenziale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III · 4.3 NMZ-BERICHTE IN AGREE LESEN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09 / 32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1016000"/>
            <a:ext cx="4953000" cy="20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0" i="0">
                <a:solidFill>
                  <a:srgbClr val="191D2E"/>
                </a:solidFill>
                <a:latin typeface="Georgia"/>
              </a:rPr>
              <a:t>Leseübung: NMZ-Ranking interpretieren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3175000"/>
            <a:ext cx="4953000" cy="1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4D5270"/>
                </a:solidFill>
                <a:latin typeface="Georgia"/>
              </a:rPr>
              <a:t>Stellen Sie sich vor, Ihr Bestand zeigt folgendes NMZ-Ranking (Auszug):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096000" y="1016000"/>
          <a:ext cx="6502400" cy="311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3733"/>
                <a:gridCol w="1083733"/>
                <a:gridCol w="1083733"/>
                <a:gridCol w="1083733"/>
                <a:gridCol w="1083733"/>
                <a:gridCol w="1083735"/>
              </a:tblGrid>
              <a:tr h="4445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Rang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Kunde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Kreditvolumen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DB II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NMZ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Hauptschwäche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1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Müller GmbH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800.000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12.600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1,58 %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–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2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Wagner KG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1.200.000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15.200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1,27 %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Kein Verbund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…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…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…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…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…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…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38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Bauer &amp; Söhne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1.200.000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8.040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0,67 %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Niedrige Marge, kein Verbund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44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Huber Bau GmbH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900.000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2.700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0,30 %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Rating C, Marge zu niedrig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45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Fischer Transport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600.000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−1.800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−0,30 %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Negativer DB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F8F8FA"/>
                </a:solidFill>
                <a:latin typeface="Courier New"/>
              </a:rPr>
              <a:t>4.4 DER NMZ-OPTIMIERUNGSPROZESS: 3 SCHRITTE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606070"/>
                </a:solidFill>
                <a:latin typeface="Courier New"/>
              </a:rPr>
              <a:t>10 / 32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25500"/>
            <a:ext cx="5715000" cy="495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0" b="0" i="1">
                <a:solidFill>
                  <a:srgbClr val="D9BF7A"/>
                </a:solidFill>
                <a:latin typeface="Georgia"/>
              </a:rPr>
              <a:t>IV.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85000" y="3683000"/>
            <a:ext cx="4597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B7FA0"/>
                </a:solidFill>
                <a:latin typeface="Courier New"/>
              </a:rPr>
              <a:t>4.4 DER NMZ-OPTIMIERUNGSPROZESS: 3 SCHRITTE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0" y="4000500"/>
            <a:ext cx="4597400" cy="15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600" b="0" i="0">
                <a:solidFill>
                  <a:srgbClr val="F8F8FA"/>
                </a:solidFill>
                <a:latin typeface="Georgia"/>
              </a:rPr>
              <a:t>4.4 Der NMZ-Optimierungsprozess: 3 Schritte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85000" y="5524500"/>
            <a:ext cx="4597400" cy="63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 i="1">
                <a:solidFill>
                  <a:srgbClr val="7B7FA0"/>
                </a:solidFill>
                <a:latin typeface="Georgia"/>
              </a:rPr>
              <a:t>Schritt 1: Identifizieren (monatlich, 30 Minuten)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IV · 4.4 DER NMZ-OPTIMIERUNGSPROZESS: 3 SCHRITTE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11 / 32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10972800" cy="139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0" i="0">
                <a:solidFill>
                  <a:srgbClr val="191D2E"/>
                </a:solidFill>
                <a:latin typeface="Georgia"/>
              </a:rPr>
              <a:t>Schritt 1: Identifizieren (monatlich, 30 Minuten)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228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43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241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Einmal im Monat: agree-NMZ-Ranking aufrufen. Die fünf Kunden mit der niedrigsten NMZ markieren. Für jeden prüfen: Was ist die Hauptursache? (Marge? Kein Verbund? Rating? Betreuungskosten?)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307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000" y="304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&gt; Praxistipp – Datenaktualität: Die NMZ in agree ist kein Echtzeit-Wert. In den meisten VR-Banken wird sie monatlich oder quartalsweise aktualisiert – typischerweise einige Tage nach dem…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IV · 4.4 DER NMZ-OPTIMIERUNGSPROZESS: 3 SCHRITTE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12 / 32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1016000"/>
            <a:ext cx="4953000" cy="20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0" i="0">
                <a:solidFill>
                  <a:srgbClr val="191D2E"/>
                </a:solidFill>
                <a:latin typeface="Georgia"/>
              </a:rPr>
              <a:t>Schritt 2: Priorisieren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3175000"/>
            <a:ext cx="4953000" cy="1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4D5270"/>
                </a:solidFill>
                <a:latin typeface="Georgia"/>
              </a:rPr>
              <a:t>Nicht alle fünf auf einmal angehen. Priorisierung nach zwei Kriterien: - Potenzial der Verbesserung: Wie stark könnte sich die NMZ verbessern? - Hebelverfügbarkeit: Wie schnell und einfach lässt sich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096000" y="1016000"/>
          <a:ext cx="6502400" cy="1333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7466"/>
                <a:gridCol w="2167466"/>
                <a:gridCol w="2167468"/>
              </a:tblGrid>
              <a:tr h="4445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Schnell umsetzbar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Langfristig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Hohes Verbesserungspotenzial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Sofort angehen (Prio 1)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Mittelfristig planen (Prio 2)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Niedriges Verbesserungspotenzial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Opportunistisch (Prio 3)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Deprioritisieren (Prio 4)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IV · 4.4 DER NMZ-OPTIMIERUNGSPROZESS: 3 SCHRITTE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13 / 32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10972800" cy="1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400" b="0" i="0">
                <a:solidFill>
                  <a:srgbClr val="191D2E"/>
                </a:solidFill>
                <a:latin typeface="Georgia"/>
              </a:rPr>
              <a:t>Schritt 3: Handeln und dokumentieren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2159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540000"/>
            <a:ext cx="406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7600" y="2540000"/>
            <a:ext cx="44450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Zinshebel: Konditionengespräch vorbereiten (→ M14)</a:t>
            </a:r>
          </a:p>
        </p:txBody>
      </p:sp>
      <p:sp>
        <p:nvSpPr>
          <p:cNvPr id="9" name="Rectangle 8"/>
          <p:cNvSpPr/>
          <p:nvPr/>
        </p:nvSpPr>
        <p:spPr>
          <a:xfrm>
            <a:off x="609600" y="311150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9600" y="3175000"/>
            <a:ext cx="406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7600" y="3175000"/>
            <a:ext cx="44450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Verbundhebel: Verbundpartner-Termin vereinbaren (→ M13)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9600" y="374650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02400" y="2540000"/>
            <a:ext cx="406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10400" y="2540000"/>
            <a:ext cx="44450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Risikohebel: Rating-Gespräch, Besicherungsoptimierung (gemeinsam mit Marktfolge/Kredit)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02400" y="311150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02400" y="3175000"/>
            <a:ext cx="406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10400" y="3175000"/>
            <a:ext cx="44450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Kostenhebel: Betreuungsintensität überprüfen (Führungsgespräch)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02400" y="374650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F8F8FA"/>
                </a:solidFill>
                <a:latin typeface="Courier New"/>
              </a:rPr>
              <a:t>4.5 PRAXISCASE: FELIX BRAUN OPTIMIERT SEINEN BESTAND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606070"/>
                </a:solidFill>
                <a:latin typeface="Courier New"/>
              </a:rPr>
              <a:t>14 / 32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25500"/>
            <a:ext cx="5715000" cy="495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0" b="0" i="1">
                <a:solidFill>
                  <a:srgbClr val="D9BF7A"/>
                </a:solidFill>
                <a:latin typeface="Georgia"/>
              </a:rPr>
              <a:t>V.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85000" y="3683000"/>
            <a:ext cx="4597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B7FA0"/>
                </a:solidFill>
                <a:latin typeface="Courier New"/>
              </a:rPr>
              <a:t>4.5 PRAXISCASE: FELIX BRAUN OPTIMIERT SEINEN BESTAND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0" y="4000500"/>
            <a:ext cx="4597400" cy="15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600" b="0" i="0">
                <a:solidFill>
                  <a:srgbClr val="F8F8FA"/>
                </a:solidFill>
                <a:latin typeface="Georgia"/>
              </a:rPr>
              <a:t>4.5 Praxiscase: Felix Braun optimiert seinen Bestand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F8F8FA"/>
                </a:solidFill>
                <a:latin typeface="Courier New"/>
              </a:rPr>
              <a:t>4.6 ARBEITSBLÄTTER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606070"/>
                </a:solidFill>
                <a:latin typeface="Courier New"/>
              </a:rPr>
              <a:t>15 / 32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25500"/>
            <a:ext cx="5715000" cy="495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0" b="0" i="1">
                <a:solidFill>
                  <a:srgbClr val="D9BF7A"/>
                </a:solidFill>
                <a:latin typeface="Georgia"/>
              </a:rPr>
              <a:t>VI.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85000" y="3683000"/>
            <a:ext cx="4597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B7FA0"/>
                </a:solidFill>
                <a:latin typeface="Courier New"/>
              </a:rPr>
              <a:t>4.6 ARBEITSBLÄTTER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0" y="4000500"/>
            <a:ext cx="4597400" cy="15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600" b="0" i="0">
                <a:solidFill>
                  <a:srgbClr val="F8F8FA"/>
                </a:solidFill>
                <a:latin typeface="Georgia"/>
              </a:rPr>
              <a:t>4.6 Arbeitsblätter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85000" y="5524500"/>
            <a:ext cx="4597400" cy="63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 i="1">
                <a:solidFill>
                  <a:srgbClr val="7B7FA0"/>
                </a:solidFill>
                <a:latin typeface="Georgia"/>
              </a:rPr>
              <a:t>Arbeitsblatt A: Mein NMZ-Bestandsbild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VI · 4.6 ARBEITSBLÄTTER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16 / 32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1016000"/>
            <a:ext cx="4953000" cy="20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0" i="0">
                <a:solidFill>
                  <a:srgbClr val="191D2E"/>
                </a:solidFill>
                <a:latin typeface="Georgia"/>
              </a:rPr>
              <a:t>Arbeitsblatt A: Mein NMZ-Bestandsbild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3175000"/>
            <a:ext cx="4953000" cy="1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4D5270"/>
                </a:solidFill>
                <a:latin typeface="Georgia"/>
              </a:rPr>
              <a:t>(Daten aus agree-NMZ-Ranking, Stand: _____________)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096000" y="1016000"/>
          <a:ext cx="6502400" cy="2667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00480"/>
                <a:gridCol w="1300480"/>
                <a:gridCol w="1300480"/>
                <a:gridCol w="1300480"/>
                <a:gridCol w="1300480"/>
              </a:tblGrid>
              <a:tr h="4445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Rang (von unten)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Kunde (anonymisiert)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NMZ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Hauptursache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Hebel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1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2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3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4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5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VI · 4.6 ARBEITSBLÄTTER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17 / 32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1016000"/>
            <a:ext cx="4953000" cy="20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0" i="0">
                <a:solidFill>
                  <a:srgbClr val="191D2E"/>
                </a:solidFill>
                <a:latin typeface="Georgia"/>
              </a:rPr>
              <a:t>Arbeitsblatt B: Maßnahmenplan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3175000"/>
            <a:ext cx="4953000" cy="1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4D5270"/>
                </a:solidFill>
                <a:latin typeface="Georgia"/>
              </a:rPr>
              <a:t>Mein Ziel für die nächsten 90 Tage: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096000" y="1016000"/>
          <a:ext cx="6502400" cy="177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3733"/>
                <a:gridCol w="1083733"/>
                <a:gridCol w="1083733"/>
                <a:gridCol w="1083733"/>
                <a:gridCol w="1083733"/>
                <a:gridCol w="1083735"/>
              </a:tblGrid>
              <a:tr h="4445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Kunde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Prio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Maßnahme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Hebel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Termin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Erwartete NMZ-Steigerung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1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1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2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F8F8FA"/>
                </a:solidFill>
                <a:latin typeface="Courier New"/>
              </a:rPr>
              <a:t>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606070"/>
                </a:solidFill>
                <a:latin typeface="Courier New"/>
              </a:rPr>
              <a:t>18 / 32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25500"/>
            <a:ext cx="5715000" cy="495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0" b="0" i="1">
                <a:solidFill>
                  <a:srgbClr val="D9BF7A"/>
                </a:solidFill>
                <a:latin typeface="Georgia"/>
              </a:rPr>
              <a:t>VII.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85000" y="3683000"/>
            <a:ext cx="4597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B7FA0"/>
                </a:solidFill>
                <a:latin typeface="Courier New"/>
              </a:rPr>
              <a:t>PRAXISTRANSFER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0" y="4000500"/>
            <a:ext cx="4597400" cy="15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600" b="0" i="0">
                <a:solidFill>
                  <a:srgbClr val="F8F8FA"/>
                </a:solidFill>
                <a:latin typeface="Georgia"/>
              </a:rPr>
              <a:t>Praxistransfer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F8F8FA"/>
                </a:solidFill>
                <a:latin typeface="Courier New"/>
              </a:rPr>
              <a:t>5.2 SELBSTCHECK NACH 4 WOCHEN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606070"/>
                </a:solidFill>
                <a:latin typeface="Courier New"/>
              </a:rPr>
              <a:t>19 / 32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25500"/>
            <a:ext cx="5715000" cy="495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0" b="0" i="1">
                <a:solidFill>
                  <a:srgbClr val="D9BF7A"/>
                </a:solidFill>
                <a:latin typeface="Georgia"/>
              </a:rPr>
              <a:t>VIII.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85000" y="3683000"/>
            <a:ext cx="4597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B7FA0"/>
                </a:solidFill>
                <a:latin typeface="Courier New"/>
              </a:rPr>
              <a:t>5.2 SELBSTCHECK NACH 4 WOCHEN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0" y="4000500"/>
            <a:ext cx="4597400" cy="15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600" b="0" i="0">
                <a:solidFill>
                  <a:srgbClr val="F8F8FA"/>
                </a:solidFill>
                <a:latin typeface="Georgia"/>
              </a:rPr>
              <a:t>5.2 Selbstcheck nach 4 Wochen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F8F8FA"/>
                </a:solidFill>
                <a:latin typeface="Courier New"/>
              </a:rPr>
              <a:t>5.3 VERTIEFUNGSLITERATUR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606070"/>
                </a:solidFill>
                <a:latin typeface="Courier New"/>
              </a:rPr>
              <a:t>20 / 32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25500"/>
            <a:ext cx="5715000" cy="495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0" b="0" i="1">
                <a:solidFill>
                  <a:srgbClr val="D9BF7A"/>
                </a:solidFill>
                <a:latin typeface="Georgia"/>
              </a:rPr>
              <a:t>IX.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85000" y="3683000"/>
            <a:ext cx="4597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B7FA0"/>
                </a:solidFill>
                <a:latin typeface="Courier New"/>
              </a:rPr>
              <a:t>5.3 VERTIEFUNGSLITERATUR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0" y="4000500"/>
            <a:ext cx="4597400" cy="15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600" b="0" i="0">
                <a:solidFill>
                  <a:srgbClr val="F8F8FA"/>
                </a:solidFill>
                <a:latin typeface="Georgia"/>
              </a:rPr>
              <a:t>5.3 Vertiefungsliteratur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85000" y="5524500"/>
            <a:ext cx="4597400" cy="63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 i="1">
                <a:solidFill>
                  <a:srgbClr val="7B7FA0"/>
                </a:solidFill>
                <a:latin typeface="Georgia"/>
              </a:rPr>
              <a:t>Fachlich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IX · 5.3 VERTIEFUNGSLITERATUR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21 / 32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10972800" cy="139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0" i="0">
                <a:solidFill>
                  <a:srgbClr val="191D2E"/>
                </a:solidFill>
                <a:latin typeface="Georgia"/>
              </a:rPr>
              <a:t>Fachlich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228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43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241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Schierenbeck, H. et al. (2014): Ertragsorientiertes Bankmanagement, Band 1 – Grundlagen der Marktzinsmethode und kundenbezogenen Rentabilitätsrechnung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307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000" y="304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Rolfes, B. (1999): Gesamtbanksteuerung – Konzepte der ertragsbezogenen Steuerung auf Einzelkundenebene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IX · 5.3 VERTIEFUNGSLITERATUR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22 / 32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10972800" cy="139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0" i="0">
                <a:solidFill>
                  <a:srgbClr val="191D2E"/>
                </a:solidFill>
                <a:latin typeface="Georgia"/>
              </a:rPr>
              <a:t>Praxismaterialien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228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43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241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agree Benutzerhandbuch: Kundenprofitabilität (Atruvia Intranet) – NMZ-Auswertungen und Interpretation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307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000" y="304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DZ BANK Vertriebssteuerungs-Leitfaden (Verbund-Intranet) – NMZ-Benchmark, Zielsysteme im Firmenkundengeschäft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370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6000" y="368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Bankinternes Controlling-Handbuch – Ziel-NMZ und Bewertungsrahmen der eigenen Bank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F8F8FA"/>
                </a:solidFill>
                <a:latin typeface="Courier New"/>
              </a:rPr>
              <a:t>DIDAKTIK &amp; KOMPETENZENTWICKLUNG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606070"/>
                </a:solidFill>
                <a:latin typeface="Courier New"/>
              </a:rPr>
              <a:t>23 / 32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25500"/>
            <a:ext cx="5715000" cy="495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0" b="0" i="1">
                <a:solidFill>
                  <a:srgbClr val="D9BF7A"/>
                </a:solidFill>
                <a:latin typeface="Georgia"/>
              </a:rPr>
              <a:t>X.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85000" y="3683000"/>
            <a:ext cx="4597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B7FA0"/>
                </a:solidFill>
                <a:latin typeface="Courier New"/>
              </a:rPr>
              <a:t>DIDAKTIK &amp; KOMPETENZENTWICKLUNG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0" y="4000500"/>
            <a:ext cx="4597400" cy="15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600" b="0" i="0">
                <a:solidFill>
                  <a:srgbClr val="F8F8FA"/>
                </a:solidFill>
                <a:latin typeface="Georgia"/>
              </a:rPr>
              <a:t>Didaktik &amp; Kompetenzentwicklung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F8F8FA"/>
                </a:solidFill>
                <a:latin typeface="Courier New"/>
              </a:rPr>
              <a:t>BANKCONTROLLING &amp; ERTRAGSORIENTIERUNG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606070"/>
                </a:solidFill>
                <a:latin typeface="Courier New"/>
              </a:rPr>
              <a:t>24 / 32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25500"/>
            <a:ext cx="5715000" cy="495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0" b="0" i="1">
                <a:solidFill>
                  <a:srgbClr val="D9BF7A"/>
                </a:solidFill>
                <a:latin typeface="Georgia"/>
              </a:rPr>
              <a:t>11.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85000" y="3683000"/>
            <a:ext cx="4597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B7FA0"/>
                </a:solidFill>
                <a:latin typeface="Courier New"/>
              </a:rPr>
              <a:t>BANKCONTROLLING &amp; ERTRAGSORIENTIERUNG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0" y="4000500"/>
            <a:ext cx="4597400" cy="15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600" b="0" i="0">
                <a:solidFill>
                  <a:srgbClr val="F8F8FA"/>
                </a:solidFill>
                <a:latin typeface="Georgia"/>
              </a:rPr>
              <a:t>Bankcontrolling &amp; Ertragsorientierung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F8F8FA"/>
                </a:solidFill>
                <a:latin typeface="Courier New"/>
              </a:rPr>
              <a:t>QUELLENAPPARAT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606070"/>
                </a:solidFill>
                <a:latin typeface="Courier New"/>
              </a:rPr>
              <a:t>25 / 32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508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spc="100">
                <a:solidFill>
                  <a:srgbClr val="7B7FA0"/>
                </a:solidFill>
                <a:latin typeface="Courier New"/>
              </a:rPr>
              <a:t>QUELLENAPPARAT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174750"/>
            <a:ext cx="10972800" cy="10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0" i="0">
                <a:solidFill>
                  <a:srgbClr val="F8F8FA"/>
                </a:solidFill>
                <a:latin typeface="Georgia"/>
              </a:rPr>
              <a:t>Quellen­apparat.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286000"/>
            <a:ext cx="10972800" cy="6350"/>
          </a:xfrm>
          <a:prstGeom prst="rect">
            <a:avLst/>
          </a:prstGeom>
          <a:solidFill>
            <a:srgbClr val="4048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413000"/>
            <a:ext cx="508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0C4D8"/>
                </a:solidFill>
                <a:latin typeface="Courier New"/>
              </a:rPr>
              <a:t>zeb consulting. (2020). Firmenkundenstudie 8.0. zeb.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508000"/>
            <a:ext cx="3175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546100"/>
            <a:ext cx="11582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B7FA0"/>
                </a:solidFill>
                <a:latin typeface="Courier New"/>
              </a:rPr>
              <a:t>Ende · v0.4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1143000"/>
            <a:ext cx="10972800" cy="368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0" b="0" i="0">
                <a:solidFill>
                  <a:srgbClr val="191D2E"/>
                </a:solidFill>
                <a:latin typeface="Georgia"/>
              </a:rPr>
              <a:t>Danke.
Fragen?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5143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5270500"/>
            <a:ext cx="5715000" cy="10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1">
                <a:solidFill>
                  <a:srgbClr val="191D2E"/>
                </a:solidFill>
                <a:latin typeface="Georgia"/>
              </a:rPr>
              <a:t>Das vollständige Modul «NMZ-Optimierung» ist auf FKB Campus verfügbar — 5 Lernziele, Praxisfall und Quellenapparat.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67500" y="5270500"/>
            <a:ext cx="24130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 spc="100">
                <a:solidFill>
                  <a:srgbClr val="7B7FA0"/>
                </a:solidFill>
                <a:latin typeface="Courier New"/>
              </a:rPr>
              <a:t>Kontakt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67500" y="5499100"/>
            <a:ext cx="2413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info@benedikt-zoller.de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8000" y="5270500"/>
            <a:ext cx="21844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 spc="100">
                <a:solidFill>
                  <a:srgbClr val="7B7FA0"/>
                </a:solidFill>
                <a:latin typeface="Courier New"/>
              </a:rPr>
              <a:t>Modul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98000" y="5499100"/>
            <a:ext cx="21844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M16 · Berater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