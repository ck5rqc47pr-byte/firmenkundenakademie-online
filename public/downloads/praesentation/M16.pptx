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20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EE"/>
                </a:solidFill>
                <a:latin typeface="Arial"/>
              </a:rPr>
              <a:t>M16  ·  K-04 Vertrieb &amp; Ertragsoptimierung  ·  Zielstufe: Berater  ·  90 Min.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"/>
              </a:rPr>
              <a:t>NMZ-Optimierung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832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CCD6F0"/>
                </a:solidFill>
                <a:latin typeface="Arial"/>
              </a:rPr>
              <a:t>Nettomargenziffer im Firmenkundenbestand messen, verstehen und systematisch verbessern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Trainer-Präsentation  ·  v0.4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804672"/>
            <a:ext cx="11612880" cy="2286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3444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Erklären, was die Nettomargenziffer (NMZ) misst, wie sie berechnet wird und warum sie die zentrale Steuerungsgröße im VR-Firmenkundensegment ist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Unterschiede zwischen NMZ auf Einzel-, Segment- und Bestandsebene erläutern und die eigene NMZ in den internen Benchmark einordnen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NMZ-Berichte in agree lesen und die drei Kunden mit dem größten Verbesserungspotenzial im eigenen Bestand identifizieren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Für jeden identifizierten Kunden mind. eine konkrete NMZ-Verbesserungsmaßnahme ableiten und den Hebel begründen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Die NMZ-Struktur des Gesamtbestands nach Ertragskomponenten analysieren und das dominante Schwachfeld benennen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Definition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M16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Definition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NMZ-Wert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Interpretation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&gt; 1,5 %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Sehr gut – rentable, ertragstarke Beziehung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1,0–1,5 %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Gut – im Zielpfad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0,5–1,0 %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Ausbaufähig – Handlungsbedarf, Hebel prüfen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&lt; 0,5 %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Kritisch – entweder Pricing anpassen, Cross-Selling intensivieren oder Exit prüfen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Negativ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Verlustbringend – sofortiger Handlungsbedarf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Warum die NMZ dem DB überlegen ist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M16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Warum die NMZ dem DB überlegen 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Der absolute Deckungsbeitrag sagt: „Dieser Kunde bringt 12.000 EUR." Die NMZ sagt: „Dieser Kunde bringt 1,0 % – bei doppeltem Volumen wäre dasselbe Geld besser…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Rolfes (1999) betont, dass Banken ohne normierte Ertragskennzahlen systematisch Kapital in renditeschwache Engagements lenken, weil die absoluten Beträge groß…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Wo finde ich meine NMZ-Daten?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M16 · 4.3 NMZ-Berichte in agree lesen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Wo finde ich meine NMZ-Daten?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Auswertung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Pfad in agree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Information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Kundenprofitabilitäts-Cockpit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Firmenkunden → Controlling → Kundenprofitabilität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DB I, DB II, NMZ je Kunde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Bestandsranking nach NMZ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Firmenkunden → Reporting → Ertragskennzahlen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Rangliste aller Kunden nach NMZ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Komponentenanalyse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Firmenkunden → Controlling → Ertragskomponenten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Aufteilung Zins / Provision / Verbund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Verbundpartner-Cockpit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Firmenkunden → Verbund → Cockpit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Verbundabschlüsse und -potenziale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Leseübung: NMZ-Ranking interpretieren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M16 · 4.3 NMZ-Berichte in agree lesen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Leseübung: NMZ-Ranking interpretieren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Rang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Kunde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Kreditvolumen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DB II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NMZ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Hauptschwäche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Müller GmbH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800.000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12.600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1,58 %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Wagner KG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1.200.000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15.200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1,27 %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Kein Verbund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Bauer &amp; Söhne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1.200.000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8.040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0,67 %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Niedrige Marge, kein Verbund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Huber Bau GmbH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900.000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2.700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0,30 %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Rating C, Marge zu niedrig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Fischer Transport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600.000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−1.800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−0,30 %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Negativer DB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Schritt 1: Identifizieren (monatlich, 30 Minuten)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M16 · 4.4 Der NMZ-Optimierungsprozess: 3 Schritte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Schritt 1: Identifizieren (monatlich, 30 Minuten)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Einmal im Monat: agree-NMZ-Ranking aufrufen. Die fünf Kunden mit der niedrigsten NMZ markieren. Für jeden prüfen: Was ist die Hauptursache? (Marge? Kein…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&gt; Praxistipp – Datenaktualität: Die NMZ in agree ist kein Echtzeit-Wert. In den meisten VR-Banken wird sie monatlich oder quartalsweise aktualisiert –…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Schritt 2: Priorisieren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M16 · 4.4 Der NMZ-Optimierungsprozess: 3 Schritte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Schritt 2: Priorisieren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Schnell umsetzbar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Langfristig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Hohes Verbesserungspotenzial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Sofort angehen (Prio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Mittelfristig planen (Prio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Niedriges Verbesserungspotenzial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Opportunistisch (Prio 3)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Deprioritisieren (Prio 4)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Schritt 3: Handeln und dokumentieren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M16 · 4.4 Der NMZ-Optimierungsprozess: 3 Schritte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Schritt 3: Handeln und dokumentieren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Zinshebel: </a:t>
            </a:r>
            <a:r>
              <a:rPr sz="1700">
                <a:solidFill>
                  <a:srgbClr val="1A1A1A"/>
                </a:solidFill>
                <a:latin typeface="Arial"/>
              </a:rPr>
              <a:t>Konditionengespräch vorbereiten (→ M14) -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Verbundhebel: </a:t>
            </a:r>
            <a:r>
              <a:rPr sz="1700">
                <a:solidFill>
                  <a:srgbClr val="1A1A1A"/>
                </a:solidFill>
                <a:latin typeface="Arial"/>
              </a:rPr>
              <a:t>Verbundpartner-Termin vereinbaren (→ M13) -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Risikohebel: </a:t>
            </a:r>
            <a:r>
              <a:rPr sz="1700">
                <a:solidFill>
                  <a:srgbClr val="1A1A1A"/>
                </a:solidFill>
                <a:latin typeface="Arial"/>
              </a:rPr>
              <a:t>Rating-Gespräch, Besicherungsoptimierung (gemeinsam mit Marktfolge/Kredit) -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Kostenhebel: </a:t>
            </a:r>
            <a:r>
              <a:rPr sz="1700">
                <a:solidFill>
                  <a:srgbClr val="1A1A1A"/>
                </a:solidFill>
                <a:latin typeface="Arial"/>
              </a:rPr>
              <a:t>Betreuungsintensität überprüfen (Führungsgespräch)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Stichwort-Leitfaden: Margenverteidigung im Konditionsgespräch: </a:t>
            </a:r>
            <a:r>
              <a:rPr sz="1700">
                <a:solidFill>
                  <a:srgbClr val="1A1A1A"/>
                </a:solidFill>
                <a:latin typeface="Arial"/>
              </a:rPr>
              <a:t>&gt; &gt; Das Ablesen der NMZ ist der einfache Teil. Das Gespräch mit dem Kunden über eine Margenanpassung ist der schwierige. Drei praxiserprobte Argumentationslinien: &gt; &gt;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1. Risikogerechtes Pricing: </a:t>
            </a:r>
            <a:r>
              <a:rPr sz="1700">
                <a:solidFill>
                  <a:srgbClr val="1A1A1A"/>
                </a:solidFill>
                <a:latin typeface="Arial"/>
              </a:rPr>
              <a:t>„Ihr aktuelles Rating C erfordert nach unseren MaRisk-konformen Richtlinien eine Mindestmarge von X %. Das ist keine individuelle Entscheidung – das ist unser Steuerungsrahmen." &gt;…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2. Gestiegene Refinanzierungskosten: </a:t>
            </a:r>
            <a:r>
              <a:rPr sz="1700">
                <a:solidFill>
                  <a:srgbClr val="1A1A1A"/>
                </a:solidFill>
                <a:latin typeface="Arial"/>
              </a:rPr>
              <a:t>„Seit unserem letzten Abschluss vor 3 Jahren hat sich das Zinsniveau verändert. Wir müssen das jetzt anpassen, damit wir diese Partnerschaft auf Dauer solide führen können." &gt; &gt;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3. Mehrwert betonen: </a:t>
            </a:r>
            <a:r>
              <a:rPr sz="1700">
                <a:solidFill>
                  <a:srgbClr val="1A1A1A"/>
                </a:solidFill>
                <a:latin typeface="Arial"/>
              </a:rPr>
              <a:t>„Wir haben in den letzten 18 Monaten die R+V-Betriebsunterbrechung eingebunden. Der Mehrwert, den wir Ihnen bieten, ist gewachsen – es ist fair, dass sich das auch in der…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Wenn der Kunde sagt „dann gehe ich zur Sparkasse": </a:t>
            </a:r>
            <a:r>
              <a:rPr sz="1700">
                <a:solidFill>
                  <a:srgbClr val="1A1A1A"/>
                </a:solidFill>
                <a:latin typeface="Arial"/>
              </a:rPr>
              <a:t>Nicht sofort nachgeben. Ruhig antworten: „Das verstehe ich. Wenn Sie das Angebot vorliegen haben, schauen wir es uns gerne gemeinsam an. Ich bin überzeugt, dass wir im Gesamtpaket…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Arbeitsblatt A: Mein NMZ-Bestandsbild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M16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Arbeitsblatt A: Mein NMZ-Bestandsbild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Rang (von unten)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Kunde (anonymisiert)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NMZ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Hauptursache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Hebel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Arbeitsblatt B: Maßnahmenplan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M16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Arbeitsblatt B: Maßnahmenplan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Kunde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Prio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Maßnahme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Hebel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Termin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Erwartete NMZ-Steigerung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47472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D6F0"/>
                </a:solidFill>
                <a:latin typeface="Arial"/>
              </a:rPr>
              <a:t>PRAXISTRANSFER &amp; NÄCHSTE SCHRITTE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031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Bewerten Sie Ihre Fortschritte ehrlich.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Nächste Module: M15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M16 · NMZ-Optimierung  ·  v0.4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