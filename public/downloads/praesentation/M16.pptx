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M16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NMZ-Optimierung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Nettomargenziffer im Firmenkundenbestand messen, verstehen und systematisch verbessern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Erklären, was die Nettomargenziffer (NMZ) misst, wie sie berechnet wird und warum sie die zentrale Steuerungsgröße im VR-Firmenkundensegment ist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Unterschiede zwischen NMZ auf Einzel-, Segment- und Bestandsebene erläutern und die eigene NMZ in den internen Benchmark einordnen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NMZ-Berichte in agree lesen und die drei Kunden mit dem größten Verbesserungspotenzial im eigenen Bestand identifizieren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Für jeden identifizierten Kunden mind. eine konkrete NMZ-Verbesserungsmaßnahme ableiten und den Hebel begründen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NMZ-Struktur des Gesamtbestands nach Ertragskomponenten analysieren und das dominante Schwachfeld benennen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Nettomargenziffer (NMZ) ist die zentrale Ertragskennzahl im VR-Firmenkundencontrolling. Sie misst den bereinigten Nettoertrag einer Kundenbeziehung – oder eines Bestandssegment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NMZ-Wert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Interpretation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1,5 %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Sehr gut – rentable, ertragstarke Beziehung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1,0–1,5 %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Gut – im Zielpfad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0,5–1,0 %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Ausbaufähig – Handlungsbedarf, Hebel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0,5 %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Kritisch – entweder Pricing anpassen, Cross-Selling intensivieren oder Exit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Negativ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Verlustbringend – sofortiger Handlungsbedarf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Warum die NMZ dem DB überlegen 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absolute Deckungsbeitrag sagt: „Dieser Kunde bringt 12.000 EUR." Die NMZ sagt: „Dieser Kunde bringt 1,0 % – bei doppeltem Volumen wäre dasselbe Geld besser angelegt." Erst durch die Volumen-Normierung wird…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Rolfes (1999) betont, dass Banken ohne normierte Ertragskennzahlen systematisch Kapital in renditeschwache Engagements lenken, weil die absoluten Beträge groß aussehen.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DIE NMZ-KOMPONENTEN IM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Die NMZ-Komponenten im Detail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NMZ-BERICHTE IN AGREE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NMZ-Berichte in agree lesen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Wo finde ich meine NMZ-Daten?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NMZ-BERICHTE IN AGREE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Wo finde ich meine NMZ-Daten?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In agree (Atruvia) stehen NMZ-relevante Auswertungen über folgende Einstiegspunkte zur Verfügung: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Auswertung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Pfad in agree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Information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Kundenprofitabilitäts-Cockpit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Firmenkunden → Controlling → Kundenprofitabilität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DB I, DB II, NMZ je Kunde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Bestandsranking nach NMZ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Firmenkunden → Reporting → Ertragskennzahlen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Rangliste aller Kunden nach NMZ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Komponentenanalyse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Firmenkunden → Controlling → Ertragskomponenten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Aufteilung Zins / Provision / Verbund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Firmenkunden → Verbund → Cockpit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Verbundabschlüsse und -potenziale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NMZ-BERICHTE IN AGREE LESEN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Leseübung: NMZ-Ranking interpretieren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Stellen Sie sich vor, Ihr Bestand zeigt folgendes NMZ-Ranking (Auszug):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7900"/>
                <a:gridCol w="977900"/>
                <a:gridCol w="977900"/>
                <a:gridCol w="977900"/>
                <a:gridCol w="977900"/>
                <a:gridCol w="9779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Rang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Kreditvolumen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DB II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NMZ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Hauptschwäche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Müller GmbH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12.600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1,58 %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–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Wagner KG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1.200.000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15.200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1,27 %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 Verbund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38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Bauer &amp; Söhne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1.200.000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8.040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0,67 %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 Marge, kein Verbund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Huber Bau GmbH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900.000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2.700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0,30 %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 C, Marge zu niedrig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Fischer Transport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−1.800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−0,30 %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Negativer DB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DER NMZ-OPTIMIERUNGSPROZESS: 3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Der NMZ-Optimierungsprozess: 3 Schritte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Schritt 1: Identifizieren (monatlich, 30 Minuten)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DER NMZ-OPTIMIERUNGSPROZESS: 3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Schritt 1: Identifizieren (monatlich, 30 Minuten)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Praxistipp – Datenaktualität: Die NMZ in agree ist kein Echtzeit-Wert. In den meisten VR-Banken wird sie monatlich oder quartalsweise aktualisiert – typischerweise einige Tage nach dem Monatsabschluss. Das bedeutet:…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DER NMZ-OPTIMIERUNGSPROZESS: 3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Schritt 2: Priorisieren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Nicht alle fünf auf einmal angehen. Priorisierung nach zwei Kriterien: - Potenzial der Verbesserung: Wie stark könnte sich die NMZ verbessern? - Hebelverfügbarkeit: Wie schnell und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Schnell umsetzbar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Langfristig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Hohes Verbesserungspotenzial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 angehen (Prio 1)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 planen (Prio 2)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Niedriges Verbesserungspotenzial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Opportunistisch (Prio 3)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Deprioritisieren (Prio 4)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DER NMZ-OPTIMIERUNGSPROZESS: 3 SCHRITTE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Schritt 3: Handeln und dokumentieren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Zinshebel: Konditionengespräch vorbereiten (→ M14)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Verbundhebel: Verbundpartner-Termin vereinbaren (→ M13)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Risikohebel: Rating-Gespräch, Besicherungsoptimierung (gemeinsam mit Marktfolge/Kredit)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Kostenhebel: Betreuungsintensität überprüfen (Führungsgespräch)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PRAXISCASE: FELIX BRAUN OPTIMIERT SEINEN BESTAND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Praxiscase: Felix Braun optimiert seinen Bestand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Mein NMZ-Bestandsbild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Mein NMZ-Bestandsbild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(Daten aus agree-NMZ-Ranking, Stand: _____________)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Rang (von unten)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 (anonymisiert)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NMZ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Hauptursache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Hebel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Maßnahmenplan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Mein Ziel für die nächsten 90 Tage: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7900"/>
                <a:gridCol w="977900"/>
                <a:gridCol w="977900"/>
                <a:gridCol w="977900"/>
                <a:gridCol w="977900"/>
                <a:gridCol w="9779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Prio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Maßnahme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Hebel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Termin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Erwartete NMZ-Steigerung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Fachlich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Fachlich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Schierenbeck, H. et al. (2014): Ertragsorientiertes Bankmanagement, Band 1 – Grundlagen der Marktzinsmethode und kundenbezogenen Rentabilitätsrechnung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Rolfes, B. (1999): Gesamtbanksteuerung – Konzepte der ertragsbezogenen Steuerung auf Einzelkundenebene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agree Benutzerhandbuch: Kundenprofitabilität (Atruvia Intranet) – NMZ-Auswertungen und Interpretation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DZ BANK Vertriebssteuerungs-Leitfaden (Verbund-Intranet) – NMZ-Benchmark, Zielsysteme im Firmenkundengeschäft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Bankinternes Controlling-Handbuch – Ziel-NMZ und Bewertungsrahmen der eigenen Bank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BANKCONTROLLING &amp; ERTRAGSORIENTIERUNG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Bankcontrolling &amp; Ertragsorientierung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«NMZ-Optimierung»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M16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