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04800"/>
            <a:ext cx="31750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191D2E"/>
                </a:solidFill>
                <a:latin typeface="Arial"/>
              </a:rPr>
              <a:t>FKB  Campus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304800"/>
            <a:ext cx="109728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M16  ·  v0.4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2794000"/>
            <a:ext cx="10972800" cy="203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6000" b="0" i="0">
                <a:solidFill>
                  <a:srgbClr val="191D2E"/>
                </a:solidFill>
                <a:latin typeface="Georgia"/>
              </a:rPr>
              <a:t>NMZ-Optimierung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4889500"/>
            <a:ext cx="10972800" cy="6350"/>
          </a:xfrm>
          <a:prstGeom prst="rect">
            <a:avLst/>
          </a:prstGeom>
          <a:solidFill>
            <a:srgbClr val="19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5016500"/>
            <a:ext cx="5207000" cy="1143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 i="1">
                <a:solidFill>
                  <a:srgbClr val="4D5270"/>
                </a:solidFill>
                <a:latin typeface="Georgia"/>
              </a:rPr>
              <a:t>Nettomargenziffer im Firmenkundenbestand messen, verstehen und systematisch verbessern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2500" y="5016500"/>
            <a:ext cx="2540000" cy="177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 i="0">
                <a:solidFill>
                  <a:srgbClr val="7B7FA0"/>
                </a:solidFill>
                <a:latin typeface="Courier New"/>
              </a:rPr>
              <a:t>ZIELSTUFE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2500" y="5207000"/>
            <a:ext cx="2540000" cy="50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 i="0">
                <a:solidFill>
                  <a:srgbClr val="191D2E"/>
                </a:solidFill>
                <a:latin typeface="Georgia"/>
              </a:rPr>
              <a:t>Berater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90000" y="5016500"/>
            <a:ext cx="2667000" cy="177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 i="0">
                <a:solidFill>
                  <a:srgbClr val="7B7FA0"/>
                </a:solidFill>
                <a:latin typeface="Courier New"/>
              </a:rPr>
              <a:t>DAUER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90000" y="5207000"/>
            <a:ext cx="2667000" cy="50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 i="0">
                <a:solidFill>
                  <a:srgbClr val="191D2E"/>
                </a:solidFill>
                <a:latin typeface="Georgia"/>
              </a:rPr>
              <a:t>90 Min.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9400"/>
            <a:ext cx="25400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191D2E"/>
                </a:solidFill>
                <a:latin typeface="Arial"/>
              </a:rPr>
              <a:t>FKB  Campus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279400"/>
            <a:ext cx="109728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§ 00 — LERNZIELE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426200"/>
            <a:ext cx="109728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825500"/>
            <a:ext cx="10972800" cy="6350"/>
          </a:xfrm>
          <a:prstGeom prst="rect">
            <a:avLst/>
          </a:prstGeom>
          <a:solidFill>
            <a:srgbClr val="19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920750"/>
            <a:ext cx="3175000" cy="1651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4800" b="0" i="1">
                <a:solidFill>
                  <a:srgbClr val="1F2B56"/>
                </a:solidFill>
                <a:latin typeface="Georgia"/>
              </a:rPr>
              <a:t>Inhalt.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064000" y="889000"/>
            <a:ext cx="7518399" cy="6350"/>
          </a:xfrm>
          <a:prstGeom prst="rect">
            <a:avLst/>
          </a:prstGeom>
          <a:solidFill>
            <a:srgbClr val="E0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64000" y="939799"/>
            <a:ext cx="762000" cy="64770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l"/>
            <a:r>
              <a:rPr sz="2400" b="0" i="1">
                <a:solidFill>
                  <a:srgbClr val="1F2B56"/>
                </a:solidFill>
                <a:latin typeface="Georgia"/>
              </a:rPr>
              <a:t>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53000" y="952500"/>
            <a:ext cx="6629400" cy="635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 i="0">
                <a:solidFill>
                  <a:srgbClr val="191D2E"/>
                </a:solidFill>
                <a:latin typeface="Georgia"/>
              </a:rPr>
              <a:t>Erklären, was die Nettomargenziffer (NMZ) misst, wie sie berechnet wird und warum sie die zentrale Steuerungsgröße im VR-Firmenkundensegment ist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64000" y="1587500"/>
            <a:ext cx="7518399" cy="6350"/>
          </a:xfrm>
          <a:prstGeom prst="rect">
            <a:avLst/>
          </a:prstGeom>
          <a:solidFill>
            <a:srgbClr val="E0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64000" y="1638300"/>
            <a:ext cx="762000" cy="64770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l"/>
            <a:r>
              <a:rPr sz="2400" b="0" i="1">
                <a:solidFill>
                  <a:srgbClr val="1F2B56"/>
                </a:solidFill>
                <a:latin typeface="Georgia"/>
              </a:rPr>
              <a:t>II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3000" y="1651000"/>
            <a:ext cx="6629400" cy="635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 i="0">
                <a:solidFill>
                  <a:srgbClr val="191D2E"/>
                </a:solidFill>
                <a:latin typeface="Georgia"/>
              </a:rPr>
              <a:t>Unterschiede zwischen NMZ auf Einzel-, Segment- und Bestandsebene erläutern und die eigene NMZ in den internen Benchmark einordnen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64000" y="2286000"/>
            <a:ext cx="7518399" cy="6350"/>
          </a:xfrm>
          <a:prstGeom prst="rect">
            <a:avLst/>
          </a:prstGeom>
          <a:solidFill>
            <a:srgbClr val="E0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64000" y="2336800"/>
            <a:ext cx="762000" cy="64770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l"/>
            <a:r>
              <a:rPr sz="2400" b="0" i="1">
                <a:solidFill>
                  <a:srgbClr val="1F2B56"/>
                </a:solidFill>
                <a:latin typeface="Georgia"/>
              </a:rPr>
              <a:t>III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53000" y="2349500"/>
            <a:ext cx="6629400" cy="635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 i="0">
                <a:solidFill>
                  <a:srgbClr val="191D2E"/>
                </a:solidFill>
                <a:latin typeface="Georgia"/>
              </a:rPr>
              <a:t>NMZ-Berichte in agree lesen und die drei Kunden mit dem größten Verbesserungspotenzial im eigenen Bestand identifizieren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064000" y="2984500"/>
            <a:ext cx="7518399" cy="6350"/>
          </a:xfrm>
          <a:prstGeom prst="rect">
            <a:avLst/>
          </a:prstGeom>
          <a:solidFill>
            <a:srgbClr val="E0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64000" y="3035300"/>
            <a:ext cx="762000" cy="64770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l"/>
            <a:r>
              <a:rPr sz="2400" b="0" i="1">
                <a:solidFill>
                  <a:srgbClr val="1F2B56"/>
                </a:solidFill>
                <a:latin typeface="Georgia"/>
              </a:rPr>
              <a:t>IV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53000" y="3048000"/>
            <a:ext cx="6629400" cy="635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 i="0">
                <a:solidFill>
                  <a:srgbClr val="191D2E"/>
                </a:solidFill>
                <a:latin typeface="Georgia"/>
              </a:rPr>
              <a:t>Für jeden identifizierten Kunden mind. eine konkrete NMZ-Verbesserungsmaßnahme ableiten und den Hebel begründen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64000" y="3683000"/>
            <a:ext cx="7518399" cy="6350"/>
          </a:xfrm>
          <a:prstGeom prst="rect">
            <a:avLst/>
          </a:prstGeom>
          <a:solidFill>
            <a:srgbClr val="E0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64000" y="3733799"/>
            <a:ext cx="762000" cy="64770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l"/>
            <a:r>
              <a:rPr sz="2400" b="0" i="1">
                <a:solidFill>
                  <a:srgbClr val="1F2B56"/>
                </a:solidFill>
                <a:latin typeface="Georgia"/>
              </a:rPr>
              <a:t>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53000" y="3746500"/>
            <a:ext cx="6629400" cy="635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 i="0">
                <a:solidFill>
                  <a:srgbClr val="191D2E"/>
                </a:solidFill>
                <a:latin typeface="Georgia"/>
              </a:rPr>
              <a:t>Die NMZ-Struktur des Gesamtbestands nach Ertragskomponenten analysieren und das dominante Schwachfeld benennen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B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9400"/>
            <a:ext cx="25400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F8F8FA"/>
                </a:solidFill>
                <a:latin typeface="Arial"/>
              </a:rPr>
              <a:t>FKB  Campus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279400"/>
            <a:ext cx="109728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MODULINHALTE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426200"/>
            <a:ext cx="109728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35000"/>
            <a:ext cx="5461000" cy="5461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8000" b="0" i="1">
                <a:solidFill>
                  <a:srgbClr val="D9BF7A"/>
                </a:solidFill>
                <a:latin typeface="Georgia"/>
              </a:rPr>
              <a:t>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31000" y="4064000"/>
            <a:ext cx="4851400" cy="177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3800" b="0" i="0">
                <a:solidFill>
                  <a:srgbClr val="F8F8FA"/>
                </a:solidFill>
                <a:latin typeface="Georgia"/>
              </a:rPr>
              <a:t>Modulinhalte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31000" y="5842000"/>
            <a:ext cx="4851400" cy="635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400" b="0" i="1">
                <a:solidFill>
                  <a:srgbClr val="7B7FA0"/>
                </a:solidFill>
                <a:latin typeface="Georgia"/>
              </a:rPr>
              <a:t>Definition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9400"/>
            <a:ext cx="25400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191D2E"/>
                </a:solidFill>
                <a:latin typeface="Arial"/>
              </a:rPr>
              <a:t>FKB  Campus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279400"/>
            <a:ext cx="109728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§ I · MODULINHALTE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426200"/>
            <a:ext cx="109728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825500"/>
            <a:ext cx="10972800" cy="6350"/>
          </a:xfrm>
          <a:prstGeom prst="rect">
            <a:avLst/>
          </a:prstGeom>
          <a:solidFill>
            <a:srgbClr val="19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920750"/>
            <a:ext cx="4826000" cy="177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800" b="0" i="0">
                <a:solidFill>
                  <a:srgbClr val="191D2E"/>
                </a:solidFill>
                <a:latin typeface="Georgia"/>
              </a:rPr>
              <a:t>Definition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2825750"/>
            <a:ext cx="4826000" cy="1016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 i="0">
                <a:solidFill>
                  <a:srgbClr val="4D5270"/>
                </a:solidFill>
                <a:latin typeface="Georgia"/>
              </a:rPr>
              <a:t>Die Nettomargenziffer (NMZ) ist die zentrale Ertragskennzahl im VR-Firmenkundencontrolling. Sie misst den bereinigten Nettoertrag einer Kundenbeziehung – oder eines Bestandssegment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715000" y="920750"/>
          <a:ext cx="58674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3700"/>
                <a:gridCol w="2933700"/>
              </a:tblGrid>
              <a:tr h="3810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8F8FA"/>
                          </a:solidFill>
                          <a:latin typeface="Courier New"/>
                        </a:rPr>
                        <a:t>NMZ-Wert</a:t>
                      </a:r>
                    </a:p>
                  </a:txBody>
                  <a:tcPr>
                    <a:solidFill>
                      <a:srgbClr val="1F2B5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8F8FA"/>
                          </a:solidFill>
                          <a:latin typeface="Courier New"/>
                        </a:rPr>
                        <a:t>Interpretation</a:t>
                      </a:r>
                    </a:p>
                  </a:txBody>
                  <a:tcPr>
                    <a:solidFill>
                      <a:srgbClr val="1F2B56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&gt; 1,5 %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Sehr gut – rentable, ertragstarke Beziehung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1,0–1,5 %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Gut – im Zielpfad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0,5–1,0 %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Ausbaufähig – Handlungsbedarf, Hebel prüfen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&lt; 0,5 %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Kritisch – entweder Pricing anpassen, Cross-Selling intensivieren oder Exit prüfen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Negativ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Verlustbringend – sofortiger Handlungsbedarf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9400"/>
            <a:ext cx="25400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191D2E"/>
                </a:solidFill>
                <a:latin typeface="Arial"/>
              </a:rPr>
              <a:t>FKB  Campus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279400"/>
            <a:ext cx="109728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§ I · MODULINHALTE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426200"/>
            <a:ext cx="109728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05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825500"/>
            <a:ext cx="10972800" cy="6350"/>
          </a:xfrm>
          <a:prstGeom prst="rect">
            <a:avLst/>
          </a:prstGeom>
          <a:solidFill>
            <a:srgbClr val="19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920750"/>
            <a:ext cx="10972800" cy="177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800" b="0" i="0">
                <a:solidFill>
                  <a:srgbClr val="191D2E"/>
                </a:solidFill>
                <a:latin typeface="Georgia"/>
              </a:rPr>
              <a:t>Warum die NMZ dem DB überlegen ist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2762250"/>
            <a:ext cx="10972800" cy="6350"/>
          </a:xfrm>
          <a:prstGeom prst="rect">
            <a:avLst/>
          </a:prstGeom>
          <a:solidFill>
            <a:srgbClr val="E0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2876550"/>
            <a:ext cx="254000" cy="355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200" b="0" i="0">
                <a:solidFill>
                  <a:srgbClr val="1F2B56"/>
                </a:solidFill>
                <a:latin typeface="Georgia"/>
              </a:rPr>
              <a:t>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9799" y="2851150"/>
            <a:ext cx="10642600" cy="50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 i="0">
                <a:solidFill>
                  <a:srgbClr val="191D2E"/>
                </a:solidFill>
                <a:latin typeface="Georgia"/>
              </a:rPr>
              <a:t>Der absolute Deckungsbeitrag sagt: „Dieser Kunde bringt 12.000 EUR." Die NMZ sagt: „Dieser Kunde bringt 1,0 % – bei doppeltem Volumen wäre dasselbe Geld besser angelegt." Erst durch die Volumen-Normierung wird…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9799" y="3333750"/>
            <a:ext cx="10642600" cy="6350"/>
          </a:xfrm>
          <a:prstGeom prst="rect">
            <a:avLst/>
          </a:prstGeom>
          <a:solidFill>
            <a:srgbClr val="E0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9600" y="3409950"/>
            <a:ext cx="254000" cy="355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200" b="0" i="0">
                <a:solidFill>
                  <a:srgbClr val="1F2B56"/>
                </a:solidFill>
                <a:latin typeface="Georgia"/>
              </a:rPr>
              <a:t>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9799" y="3384550"/>
            <a:ext cx="10642600" cy="50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 i="0">
                <a:solidFill>
                  <a:srgbClr val="191D2E"/>
                </a:solidFill>
                <a:latin typeface="Georgia"/>
              </a:rPr>
              <a:t>Rolfes (1999) betont, dass Banken ohne normierte Ertragskennzahlen systematisch Kapital in renditeschwache Engagements lenken, weil die absoluten Beträge groß aussehen.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9799" y="3867150"/>
            <a:ext cx="10642600" cy="6350"/>
          </a:xfrm>
          <a:prstGeom prst="rect">
            <a:avLst/>
          </a:prstGeom>
          <a:solidFill>
            <a:srgbClr val="E0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B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9400"/>
            <a:ext cx="25400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F8F8FA"/>
                </a:solidFill>
                <a:latin typeface="Arial"/>
              </a:rPr>
              <a:t>FKB  Campus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279400"/>
            <a:ext cx="109728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4.2 DIE NMZ-KOMPONENTEN IM DETAIL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426200"/>
            <a:ext cx="109728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35000"/>
            <a:ext cx="5461000" cy="5461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8000" b="0" i="1">
                <a:solidFill>
                  <a:srgbClr val="D9BF7A"/>
                </a:solidFill>
                <a:latin typeface="Georgia"/>
              </a:rPr>
              <a:t>II.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31000" y="4064000"/>
            <a:ext cx="4851400" cy="177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3800" b="0" i="0">
                <a:solidFill>
                  <a:srgbClr val="F8F8FA"/>
                </a:solidFill>
                <a:latin typeface="Georgia"/>
              </a:rPr>
              <a:t>4.2 Die NMZ-Komponenten im Detail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B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9400"/>
            <a:ext cx="25400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F8F8FA"/>
                </a:solidFill>
                <a:latin typeface="Arial"/>
              </a:rPr>
              <a:t>FKB  Campus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279400"/>
            <a:ext cx="109728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4.3 NMZ-BERICHTE IN AGREE LESEN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426200"/>
            <a:ext cx="109728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35000"/>
            <a:ext cx="5461000" cy="5461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8000" b="0" i="1">
                <a:solidFill>
                  <a:srgbClr val="D9BF7A"/>
                </a:solidFill>
                <a:latin typeface="Georgia"/>
              </a:rPr>
              <a:t>III.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31000" y="4064000"/>
            <a:ext cx="4851400" cy="177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3800" b="0" i="0">
                <a:solidFill>
                  <a:srgbClr val="F8F8FA"/>
                </a:solidFill>
                <a:latin typeface="Georgia"/>
              </a:rPr>
              <a:t>4.3 NMZ-Berichte in agree lesen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31000" y="5842000"/>
            <a:ext cx="4851400" cy="635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400" b="0" i="1">
                <a:solidFill>
                  <a:srgbClr val="7B7FA0"/>
                </a:solidFill>
                <a:latin typeface="Georgia"/>
              </a:rPr>
              <a:t>Wo finde ich meine NMZ-Daten?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9400"/>
            <a:ext cx="25400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191D2E"/>
                </a:solidFill>
                <a:latin typeface="Arial"/>
              </a:rPr>
              <a:t>FKB  Campus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279400"/>
            <a:ext cx="109728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§ III · 4.3 NMZ-BERICHTE IN AGREE LESEN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426200"/>
            <a:ext cx="109728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08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825500"/>
            <a:ext cx="10972800" cy="6350"/>
          </a:xfrm>
          <a:prstGeom prst="rect">
            <a:avLst/>
          </a:prstGeom>
          <a:solidFill>
            <a:srgbClr val="19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920750"/>
            <a:ext cx="4826000" cy="177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800" b="0" i="0">
                <a:solidFill>
                  <a:srgbClr val="191D2E"/>
                </a:solidFill>
                <a:latin typeface="Georgia"/>
              </a:rPr>
              <a:t>Wo finde ich meine NMZ-Daten?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2825750"/>
            <a:ext cx="4826000" cy="1016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 i="0">
                <a:solidFill>
                  <a:srgbClr val="4D5270"/>
                </a:solidFill>
                <a:latin typeface="Georgia"/>
              </a:rPr>
              <a:t>In agree (Atruvia) stehen NMZ-relevante Auswertungen über folgende Einstiegspunkte zur Verfügung: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715000" y="920750"/>
          <a:ext cx="5867400" cy="190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5800"/>
                <a:gridCol w="1955800"/>
                <a:gridCol w="1955800"/>
              </a:tblGrid>
              <a:tr h="3810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8F8FA"/>
                          </a:solidFill>
                          <a:latin typeface="Courier New"/>
                        </a:rPr>
                        <a:t>Auswertung</a:t>
                      </a:r>
                    </a:p>
                  </a:txBody>
                  <a:tcPr>
                    <a:solidFill>
                      <a:srgbClr val="1F2B5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8F8FA"/>
                          </a:solidFill>
                          <a:latin typeface="Courier New"/>
                        </a:rPr>
                        <a:t>Pfad in agree</a:t>
                      </a:r>
                    </a:p>
                  </a:txBody>
                  <a:tcPr>
                    <a:solidFill>
                      <a:srgbClr val="1F2B5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8F8FA"/>
                          </a:solidFill>
                          <a:latin typeface="Courier New"/>
                        </a:rPr>
                        <a:t>Information</a:t>
                      </a:r>
                    </a:p>
                  </a:txBody>
                  <a:tcPr>
                    <a:solidFill>
                      <a:srgbClr val="1F2B56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Kundenprofitabilitäts-Cockpit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Firmenkunden → Controlling → Kundenprofitabilität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DB I, DB II, NMZ je Kunde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Bestandsranking nach NMZ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Firmenkunden → Reporting → Ertragskennzahlen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Rangliste aller Kunden nach NMZ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Komponentenanalyse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Firmenkunden → Controlling → Ertragskomponenten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Aufteilung Zins / Provision / Verbund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Verbundpartner-Cockpit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Firmenkunden → Verbund → Cockpit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Verbundabschlüsse und -potenziale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9400"/>
            <a:ext cx="25400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191D2E"/>
                </a:solidFill>
                <a:latin typeface="Arial"/>
              </a:rPr>
              <a:t>FKB  Campus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279400"/>
            <a:ext cx="109728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§ III · 4.3 NMZ-BERICHTE IN AGREE LESEN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426200"/>
            <a:ext cx="109728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09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825500"/>
            <a:ext cx="10972800" cy="6350"/>
          </a:xfrm>
          <a:prstGeom prst="rect">
            <a:avLst/>
          </a:prstGeom>
          <a:solidFill>
            <a:srgbClr val="19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920750"/>
            <a:ext cx="4826000" cy="177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800" b="0" i="0">
                <a:solidFill>
                  <a:srgbClr val="191D2E"/>
                </a:solidFill>
                <a:latin typeface="Georgia"/>
              </a:rPr>
              <a:t>Leseübung: NMZ-Ranking interpretieren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2825750"/>
            <a:ext cx="4826000" cy="1016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 i="0">
                <a:solidFill>
                  <a:srgbClr val="4D5270"/>
                </a:solidFill>
                <a:latin typeface="Georgia"/>
              </a:rPr>
              <a:t>Stellen Sie sich vor, Ihr Bestand zeigt folgendes NMZ-Ranking (Auszug):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715000" y="920750"/>
          <a:ext cx="5867400" cy="266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7900"/>
                <a:gridCol w="977900"/>
                <a:gridCol w="977900"/>
                <a:gridCol w="977900"/>
                <a:gridCol w="977900"/>
                <a:gridCol w="977900"/>
              </a:tblGrid>
              <a:tr h="3810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8F8FA"/>
                          </a:solidFill>
                          <a:latin typeface="Courier New"/>
                        </a:rPr>
                        <a:t>Rang</a:t>
                      </a:r>
                    </a:p>
                  </a:txBody>
                  <a:tcPr>
                    <a:solidFill>
                      <a:srgbClr val="1F2B5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8F8FA"/>
                          </a:solidFill>
                          <a:latin typeface="Courier New"/>
                        </a:rPr>
                        <a:t>Kunde</a:t>
                      </a:r>
                    </a:p>
                  </a:txBody>
                  <a:tcPr>
                    <a:solidFill>
                      <a:srgbClr val="1F2B5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8F8FA"/>
                          </a:solidFill>
                          <a:latin typeface="Courier New"/>
                        </a:rPr>
                        <a:t>Kreditvolumen</a:t>
                      </a:r>
                    </a:p>
                  </a:txBody>
                  <a:tcPr>
                    <a:solidFill>
                      <a:srgbClr val="1F2B5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8F8FA"/>
                          </a:solidFill>
                          <a:latin typeface="Courier New"/>
                        </a:rPr>
                        <a:t>DB II</a:t>
                      </a:r>
                    </a:p>
                  </a:txBody>
                  <a:tcPr>
                    <a:solidFill>
                      <a:srgbClr val="1F2B5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8F8FA"/>
                          </a:solidFill>
                          <a:latin typeface="Courier New"/>
                        </a:rPr>
                        <a:t>NMZ</a:t>
                      </a:r>
                    </a:p>
                  </a:txBody>
                  <a:tcPr>
                    <a:solidFill>
                      <a:srgbClr val="1F2B5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8F8FA"/>
                          </a:solidFill>
                          <a:latin typeface="Courier New"/>
                        </a:rPr>
                        <a:t>Hauptschwäche</a:t>
                      </a:r>
                    </a:p>
                  </a:txBody>
                  <a:tcPr>
                    <a:solidFill>
                      <a:srgbClr val="1F2B56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1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Müller GmbH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800.000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12.600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1,58 %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–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2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Wagner KG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1.200.000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15.200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1,27 %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Kein Verbund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…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…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…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…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…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…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38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Bauer &amp; Söhne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1.200.000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8.040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0,67 %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Niedrige Marge, kein Verbund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44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Huber Bau GmbH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900.000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2.700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0,30 %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Rating C, Marge zu niedrig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45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Fischer Transport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600.000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−1.800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−0,30 %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Negativer DB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B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9400"/>
            <a:ext cx="25400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F8F8FA"/>
                </a:solidFill>
                <a:latin typeface="Arial"/>
              </a:rPr>
              <a:t>FKB  Campus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279400"/>
            <a:ext cx="109728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4.4 DER NMZ-OPTIMIERUNGSPROZESS: 3 SCHRITTE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426200"/>
            <a:ext cx="109728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35000"/>
            <a:ext cx="5461000" cy="5461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8000" b="0" i="1">
                <a:solidFill>
                  <a:srgbClr val="D9BF7A"/>
                </a:solidFill>
                <a:latin typeface="Georgia"/>
              </a:rPr>
              <a:t>IV.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31000" y="4064000"/>
            <a:ext cx="4851400" cy="177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3800" b="0" i="0">
                <a:solidFill>
                  <a:srgbClr val="F8F8FA"/>
                </a:solidFill>
                <a:latin typeface="Georgia"/>
              </a:rPr>
              <a:t>4.4 Der NMZ-Optimierungsprozess: 3 Schritte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31000" y="5842000"/>
            <a:ext cx="4851400" cy="635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400" b="0" i="1">
                <a:solidFill>
                  <a:srgbClr val="7B7FA0"/>
                </a:solidFill>
                <a:latin typeface="Georgia"/>
              </a:rPr>
              <a:t>Schritt 1: Identifizieren (monatlich, 30 Minuten)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9400"/>
            <a:ext cx="25400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191D2E"/>
                </a:solidFill>
                <a:latin typeface="Arial"/>
              </a:rPr>
              <a:t>FKB  Campus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279400"/>
            <a:ext cx="109728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§ IV · 4.4 DER NMZ-OPTIMIERUNGSPROZESS: 3 SCHRITTE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426200"/>
            <a:ext cx="109728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825500"/>
            <a:ext cx="10972800" cy="6350"/>
          </a:xfrm>
          <a:prstGeom prst="rect">
            <a:avLst/>
          </a:prstGeom>
          <a:solidFill>
            <a:srgbClr val="19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920750"/>
            <a:ext cx="10972800" cy="177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800" b="0" i="0">
                <a:solidFill>
                  <a:srgbClr val="191D2E"/>
                </a:solidFill>
                <a:latin typeface="Georgia"/>
              </a:rPr>
              <a:t>Schritt 1: Identifizieren (monatlich, 30 Minuten)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2762250"/>
            <a:ext cx="10972800" cy="6350"/>
          </a:xfrm>
          <a:prstGeom prst="rect">
            <a:avLst/>
          </a:prstGeom>
          <a:solidFill>
            <a:srgbClr val="E0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2876550"/>
            <a:ext cx="254000" cy="355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200" b="0" i="0">
                <a:solidFill>
                  <a:srgbClr val="1F2B56"/>
                </a:solidFill>
                <a:latin typeface="Georgia"/>
              </a:rPr>
              <a:t>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9799" y="2851150"/>
            <a:ext cx="10642600" cy="50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 i="0">
                <a:solidFill>
                  <a:srgbClr val="191D2E"/>
                </a:solidFill>
                <a:latin typeface="Georgia"/>
              </a:rPr>
              <a:t>Einmal im Monat: agree-NMZ-Ranking aufrufen. Die fünf Kunden mit der niedrigsten NMZ markieren. Für jeden prüfen: Was ist die Hauptursache? (Marge? Kein Verbund? Rating? Betreuungskosten?)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9799" y="3333750"/>
            <a:ext cx="10642600" cy="6350"/>
          </a:xfrm>
          <a:prstGeom prst="rect">
            <a:avLst/>
          </a:prstGeom>
          <a:solidFill>
            <a:srgbClr val="E0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9600" y="3409950"/>
            <a:ext cx="254000" cy="355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200" b="0" i="0">
                <a:solidFill>
                  <a:srgbClr val="1F2B56"/>
                </a:solidFill>
                <a:latin typeface="Georgia"/>
              </a:rPr>
              <a:t>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9799" y="3384550"/>
            <a:ext cx="10642600" cy="50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 i="0">
                <a:solidFill>
                  <a:srgbClr val="191D2E"/>
                </a:solidFill>
                <a:latin typeface="Georgia"/>
              </a:rPr>
              <a:t>&gt; Praxistipp – Datenaktualität: Die NMZ in agree ist kein Echtzeit-Wert. In den meisten VR-Banken wird sie monatlich oder quartalsweise aktualisiert – typischerweise einige Tage nach dem Monatsabschluss. Das bedeutet:…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9799" y="3867150"/>
            <a:ext cx="10642600" cy="6350"/>
          </a:xfrm>
          <a:prstGeom prst="rect">
            <a:avLst/>
          </a:prstGeom>
          <a:solidFill>
            <a:srgbClr val="E0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9400"/>
            <a:ext cx="25400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191D2E"/>
                </a:solidFill>
                <a:latin typeface="Arial"/>
              </a:rPr>
              <a:t>FKB  Campus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279400"/>
            <a:ext cx="109728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§ IV · 4.4 DER NMZ-OPTIMIERUNGSPROZESS: 3 SCHRITTE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426200"/>
            <a:ext cx="109728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825500"/>
            <a:ext cx="10972800" cy="6350"/>
          </a:xfrm>
          <a:prstGeom prst="rect">
            <a:avLst/>
          </a:prstGeom>
          <a:solidFill>
            <a:srgbClr val="19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920750"/>
            <a:ext cx="4826000" cy="177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800" b="0" i="0">
                <a:solidFill>
                  <a:srgbClr val="191D2E"/>
                </a:solidFill>
                <a:latin typeface="Georgia"/>
              </a:rPr>
              <a:t>Schritt 2: Priorisieren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2825750"/>
            <a:ext cx="4826000" cy="1016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 i="0">
                <a:solidFill>
                  <a:srgbClr val="4D5270"/>
                </a:solidFill>
                <a:latin typeface="Georgia"/>
              </a:rPr>
              <a:t>Nicht alle fünf auf einmal angehen. Priorisierung nach zwei Kriterien: - Potenzial der Verbesserung: Wie stark könnte sich die NMZ verbessern? - Hebelverfügbarkeit: Wie schnell und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715000" y="920750"/>
          <a:ext cx="5867400" cy="114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5800"/>
                <a:gridCol w="1955800"/>
                <a:gridCol w="1955800"/>
              </a:tblGrid>
              <a:tr h="3810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8F8FA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1F2B5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8F8FA"/>
                          </a:solidFill>
                          <a:latin typeface="Courier New"/>
                        </a:rPr>
                        <a:t>Schnell umsetzbar</a:t>
                      </a:r>
                    </a:p>
                  </a:txBody>
                  <a:tcPr>
                    <a:solidFill>
                      <a:srgbClr val="1F2B5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8F8FA"/>
                          </a:solidFill>
                          <a:latin typeface="Courier New"/>
                        </a:rPr>
                        <a:t>Langfristig</a:t>
                      </a:r>
                    </a:p>
                  </a:txBody>
                  <a:tcPr>
                    <a:solidFill>
                      <a:srgbClr val="1F2B56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Hohes Verbesserungspotenzial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Sofort angehen (Prio 1)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Mittelfristig planen (Prio 2)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Niedriges Verbesserungspotenzial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Opportunistisch (Prio 3)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Deprioritisieren (Prio 4)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9400"/>
            <a:ext cx="25400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191D2E"/>
                </a:solidFill>
                <a:latin typeface="Arial"/>
              </a:rPr>
              <a:t>FKB  Campus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279400"/>
            <a:ext cx="109728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§ IV · 4.4 DER NMZ-OPTIMIERUNGSPROZESS: 3 SCHRITTE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426200"/>
            <a:ext cx="109728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825500"/>
            <a:ext cx="10972800" cy="6350"/>
          </a:xfrm>
          <a:prstGeom prst="rect">
            <a:avLst/>
          </a:prstGeom>
          <a:solidFill>
            <a:srgbClr val="19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920750"/>
            <a:ext cx="10972800" cy="127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800" b="0" i="0">
                <a:solidFill>
                  <a:srgbClr val="191D2E"/>
                </a:solidFill>
                <a:latin typeface="Georgia"/>
              </a:rPr>
              <a:t>Schritt 3: Handeln und dokumentieren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2254250"/>
            <a:ext cx="10972800" cy="6350"/>
          </a:xfrm>
          <a:prstGeom prst="rect">
            <a:avLst/>
          </a:prstGeom>
          <a:solidFill>
            <a:srgbClr val="19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2343150"/>
            <a:ext cx="304800" cy="254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 i="0">
                <a:solidFill>
                  <a:srgbClr val="1F2B56"/>
                </a:solidFill>
                <a:latin typeface="Courier New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599" y="2317750"/>
            <a:ext cx="4699000" cy="558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 i="0">
                <a:solidFill>
                  <a:srgbClr val="191D2E"/>
                </a:solidFill>
                <a:latin typeface="Georgia"/>
              </a:rPr>
              <a:t>Zinshebel: Konditionengespräch vorbereiten (→ M14)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600" y="2889250"/>
            <a:ext cx="5080000" cy="6350"/>
          </a:xfrm>
          <a:prstGeom prst="rect">
            <a:avLst/>
          </a:prstGeom>
          <a:solidFill>
            <a:srgbClr val="E0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9600" y="2952750"/>
            <a:ext cx="304800" cy="254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 i="0">
                <a:solidFill>
                  <a:srgbClr val="1F2B56"/>
                </a:solidFill>
                <a:latin typeface="Courier New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0599" y="2927350"/>
            <a:ext cx="4699000" cy="558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 i="0">
                <a:solidFill>
                  <a:srgbClr val="191D2E"/>
                </a:solidFill>
                <a:latin typeface="Georgia"/>
              </a:rPr>
              <a:t>Verbundhebel: Verbundpartner-Termin vereinbaren (→ M13)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9600" y="3498850"/>
            <a:ext cx="5080000" cy="6350"/>
          </a:xfrm>
          <a:prstGeom prst="rect">
            <a:avLst/>
          </a:prstGeom>
          <a:solidFill>
            <a:srgbClr val="E0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02400" y="2343150"/>
            <a:ext cx="304800" cy="254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 i="0">
                <a:solidFill>
                  <a:srgbClr val="1F2B56"/>
                </a:solidFill>
                <a:latin typeface="Courier New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83400" y="2317750"/>
            <a:ext cx="4699000" cy="558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 i="0">
                <a:solidFill>
                  <a:srgbClr val="191D2E"/>
                </a:solidFill>
                <a:latin typeface="Georgia"/>
              </a:rPr>
              <a:t>Risikohebel: Rating-Gespräch, Besicherungsoptimierung (gemeinsam mit Marktfolge/Kredit)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02400" y="2889250"/>
            <a:ext cx="5080000" cy="6350"/>
          </a:xfrm>
          <a:prstGeom prst="rect">
            <a:avLst/>
          </a:prstGeom>
          <a:solidFill>
            <a:srgbClr val="E0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02400" y="2952750"/>
            <a:ext cx="304800" cy="254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 i="0">
                <a:solidFill>
                  <a:srgbClr val="1F2B56"/>
                </a:solidFill>
                <a:latin typeface="Courier New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83400" y="2927350"/>
            <a:ext cx="4699000" cy="558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 i="0">
                <a:solidFill>
                  <a:srgbClr val="191D2E"/>
                </a:solidFill>
                <a:latin typeface="Georgia"/>
              </a:rPr>
              <a:t>Kostenhebel: Betreuungsintensität überprüfen (Führungsgespräch)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02400" y="3498850"/>
            <a:ext cx="5080000" cy="6350"/>
          </a:xfrm>
          <a:prstGeom prst="rect">
            <a:avLst/>
          </a:prstGeom>
          <a:solidFill>
            <a:srgbClr val="E0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B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9400"/>
            <a:ext cx="25400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F8F8FA"/>
                </a:solidFill>
                <a:latin typeface="Arial"/>
              </a:rPr>
              <a:t>FKB  Campus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279400"/>
            <a:ext cx="109728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4.5 PRAXISCASE: FELIX BRAUN OPTIMIERT SEINEN BESTAND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426200"/>
            <a:ext cx="109728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35000"/>
            <a:ext cx="5461000" cy="5461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8000" b="0" i="1">
                <a:solidFill>
                  <a:srgbClr val="D9BF7A"/>
                </a:solidFill>
                <a:latin typeface="Georgia"/>
              </a:rPr>
              <a:t>V.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31000" y="4064000"/>
            <a:ext cx="4851400" cy="177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3800" b="0" i="0">
                <a:solidFill>
                  <a:srgbClr val="F8F8FA"/>
                </a:solidFill>
                <a:latin typeface="Georgia"/>
              </a:rPr>
              <a:t>4.5 Praxiscase: Felix Braun optimiert seinen Bestand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B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9400"/>
            <a:ext cx="25400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F8F8FA"/>
                </a:solidFill>
                <a:latin typeface="Arial"/>
              </a:rPr>
              <a:t>FKB  Campus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279400"/>
            <a:ext cx="109728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4.6 ARBEITSBLÄTTER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426200"/>
            <a:ext cx="109728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35000"/>
            <a:ext cx="5461000" cy="5461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8000" b="0" i="1">
                <a:solidFill>
                  <a:srgbClr val="D9BF7A"/>
                </a:solidFill>
                <a:latin typeface="Georgia"/>
              </a:rPr>
              <a:t>VI.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31000" y="4064000"/>
            <a:ext cx="4851400" cy="177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3800" b="0" i="0">
                <a:solidFill>
                  <a:srgbClr val="F8F8FA"/>
                </a:solidFill>
                <a:latin typeface="Georgia"/>
              </a:rPr>
              <a:t>4.6 Arbeitsblätter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31000" y="5842000"/>
            <a:ext cx="4851400" cy="635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400" b="0" i="1">
                <a:solidFill>
                  <a:srgbClr val="7B7FA0"/>
                </a:solidFill>
                <a:latin typeface="Georgia"/>
              </a:rPr>
              <a:t>Arbeitsblatt A: Mein NMZ-Bestandsbild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9400"/>
            <a:ext cx="25400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191D2E"/>
                </a:solidFill>
                <a:latin typeface="Arial"/>
              </a:rPr>
              <a:t>FKB  Campus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279400"/>
            <a:ext cx="109728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§ VI · 4.6 ARBEITSBLÄTTER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426200"/>
            <a:ext cx="109728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16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825500"/>
            <a:ext cx="10972800" cy="6350"/>
          </a:xfrm>
          <a:prstGeom prst="rect">
            <a:avLst/>
          </a:prstGeom>
          <a:solidFill>
            <a:srgbClr val="19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920750"/>
            <a:ext cx="4826000" cy="177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800" b="0" i="0">
                <a:solidFill>
                  <a:srgbClr val="191D2E"/>
                </a:solidFill>
                <a:latin typeface="Georgia"/>
              </a:rPr>
              <a:t>Arbeitsblatt A: Mein NMZ-Bestandsbild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2825750"/>
            <a:ext cx="4826000" cy="1016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 i="0">
                <a:solidFill>
                  <a:srgbClr val="4D5270"/>
                </a:solidFill>
                <a:latin typeface="Georgia"/>
              </a:rPr>
              <a:t>(Daten aus agree-NMZ-Ranking, Stand: _____________)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715000" y="920750"/>
          <a:ext cx="58674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3480"/>
                <a:gridCol w="1173480"/>
                <a:gridCol w="1173480"/>
                <a:gridCol w="1173480"/>
                <a:gridCol w="1173480"/>
              </a:tblGrid>
              <a:tr h="3810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8F8FA"/>
                          </a:solidFill>
                          <a:latin typeface="Courier New"/>
                        </a:rPr>
                        <a:t>Rang (von unten)</a:t>
                      </a:r>
                    </a:p>
                  </a:txBody>
                  <a:tcPr>
                    <a:solidFill>
                      <a:srgbClr val="1F2B5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8F8FA"/>
                          </a:solidFill>
                          <a:latin typeface="Courier New"/>
                        </a:rPr>
                        <a:t>Kunde (anonymisiert)</a:t>
                      </a:r>
                    </a:p>
                  </a:txBody>
                  <a:tcPr>
                    <a:solidFill>
                      <a:srgbClr val="1F2B5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8F8FA"/>
                          </a:solidFill>
                          <a:latin typeface="Courier New"/>
                        </a:rPr>
                        <a:t>NMZ</a:t>
                      </a:r>
                    </a:p>
                  </a:txBody>
                  <a:tcPr>
                    <a:solidFill>
                      <a:srgbClr val="1F2B5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8F8FA"/>
                          </a:solidFill>
                          <a:latin typeface="Courier New"/>
                        </a:rPr>
                        <a:t>Hauptursache</a:t>
                      </a:r>
                    </a:p>
                  </a:txBody>
                  <a:tcPr>
                    <a:solidFill>
                      <a:srgbClr val="1F2B5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8F8FA"/>
                          </a:solidFill>
                          <a:latin typeface="Courier New"/>
                        </a:rPr>
                        <a:t>Hebel</a:t>
                      </a:r>
                    </a:p>
                  </a:txBody>
                  <a:tcPr>
                    <a:solidFill>
                      <a:srgbClr val="1F2B56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1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2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3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4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5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9400"/>
            <a:ext cx="25400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191D2E"/>
                </a:solidFill>
                <a:latin typeface="Arial"/>
              </a:rPr>
              <a:t>FKB  Campus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279400"/>
            <a:ext cx="109728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§ VI · 4.6 ARBEITSBLÄTTER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426200"/>
            <a:ext cx="109728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17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825500"/>
            <a:ext cx="10972800" cy="6350"/>
          </a:xfrm>
          <a:prstGeom prst="rect">
            <a:avLst/>
          </a:prstGeom>
          <a:solidFill>
            <a:srgbClr val="19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920750"/>
            <a:ext cx="4826000" cy="177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800" b="0" i="0">
                <a:solidFill>
                  <a:srgbClr val="191D2E"/>
                </a:solidFill>
                <a:latin typeface="Georgia"/>
              </a:rPr>
              <a:t>Arbeitsblatt B: Maßnahmenplan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2825750"/>
            <a:ext cx="4826000" cy="1016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 i="0">
                <a:solidFill>
                  <a:srgbClr val="4D5270"/>
                </a:solidFill>
                <a:latin typeface="Georgia"/>
              </a:rPr>
              <a:t>Mein Ziel für die nächsten 90 Tage: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715000" y="920750"/>
          <a:ext cx="5867400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7900"/>
                <a:gridCol w="977900"/>
                <a:gridCol w="977900"/>
                <a:gridCol w="977900"/>
                <a:gridCol w="977900"/>
                <a:gridCol w="977900"/>
              </a:tblGrid>
              <a:tr h="3810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8F8FA"/>
                          </a:solidFill>
                          <a:latin typeface="Courier New"/>
                        </a:rPr>
                        <a:t>Kunde</a:t>
                      </a:r>
                    </a:p>
                  </a:txBody>
                  <a:tcPr>
                    <a:solidFill>
                      <a:srgbClr val="1F2B5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8F8FA"/>
                          </a:solidFill>
                          <a:latin typeface="Courier New"/>
                        </a:rPr>
                        <a:t>Prio</a:t>
                      </a:r>
                    </a:p>
                  </a:txBody>
                  <a:tcPr>
                    <a:solidFill>
                      <a:srgbClr val="1F2B5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8F8FA"/>
                          </a:solidFill>
                          <a:latin typeface="Courier New"/>
                        </a:rPr>
                        <a:t>Maßnahme</a:t>
                      </a:r>
                    </a:p>
                  </a:txBody>
                  <a:tcPr>
                    <a:solidFill>
                      <a:srgbClr val="1F2B5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8F8FA"/>
                          </a:solidFill>
                          <a:latin typeface="Courier New"/>
                        </a:rPr>
                        <a:t>Hebel</a:t>
                      </a:r>
                    </a:p>
                  </a:txBody>
                  <a:tcPr>
                    <a:solidFill>
                      <a:srgbClr val="1F2B5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8F8FA"/>
                          </a:solidFill>
                          <a:latin typeface="Courier New"/>
                        </a:rPr>
                        <a:t>Termin</a:t>
                      </a:r>
                    </a:p>
                  </a:txBody>
                  <a:tcPr>
                    <a:solidFill>
                      <a:srgbClr val="1F2B5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8F8FA"/>
                          </a:solidFill>
                          <a:latin typeface="Courier New"/>
                        </a:rPr>
                        <a:t>Erwartete NMZ-Steigerung</a:t>
                      </a:r>
                    </a:p>
                  </a:txBody>
                  <a:tcPr>
                    <a:solidFill>
                      <a:srgbClr val="1F2B56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1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1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2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B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9400"/>
            <a:ext cx="25400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F8F8FA"/>
                </a:solidFill>
                <a:latin typeface="Arial"/>
              </a:rPr>
              <a:t>FKB  Campus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279400"/>
            <a:ext cx="109728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PRAXISTRANSFER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426200"/>
            <a:ext cx="109728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35000"/>
            <a:ext cx="5461000" cy="5461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8000" b="0" i="1">
                <a:solidFill>
                  <a:srgbClr val="D9BF7A"/>
                </a:solidFill>
                <a:latin typeface="Georgia"/>
              </a:rPr>
              <a:t>VII.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31000" y="4064000"/>
            <a:ext cx="4851400" cy="177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3800" b="0" i="0">
                <a:solidFill>
                  <a:srgbClr val="F8F8FA"/>
                </a:solidFill>
                <a:latin typeface="Georgia"/>
              </a:rPr>
              <a:t>Praxistransfer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B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9400"/>
            <a:ext cx="25400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F8F8FA"/>
                </a:solidFill>
                <a:latin typeface="Arial"/>
              </a:rPr>
              <a:t>FKB  Campus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279400"/>
            <a:ext cx="109728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5.2 SELBSTCHECK NACH 4 WOCHEN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426200"/>
            <a:ext cx="109728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35000"/>
            <a:ext cx="5461000" cy="5461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8000" b="0" i="1">
                <a:solidFill>
                  <a:srgbClr val="D9BF7A"/>
                </a:solidFill>
                <a:latin typeface="Georgia"/>
              </a:rPr>
              <a:t>VIII.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31000" y="4064000"/>
            <a:ext cx="4851400" cy="177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3800" b="0" i="0">
                <a:solidFill>
                  <a:srgbClr val="F8F8FA"/>
                </a:solidFill>
                <a:latin typeface="Georgia"/>
              </a:rPr>
              <a:t>5.2 Selbstcheck nach 4 Wochen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B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9400"/>
            <a:ext cx="25400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F8F8FA"/>
                </a:solidFill>
                <a:latin typeface="Arial"/>
              </a:rPr>
              <a:t>FKB  Campus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279400"/>
            <a:ext cx="109728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5.3 VERTIEFUNGSLITERATUR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426200"/>
            <a:ext cx="109728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35000"/>
            <a:ext cx="5461000" cy="5461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8000" b="0" i="1">
                <a:solidFill>
                  <a:srgbClr val="D9BF7A"/>
                </a:solidFill>
                <a:latin typeface="Georgia"/>
              </a:rPr>
              <a:t>IX.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31000" y="4064000"/>
            <a:ext cx="4851400" cy="177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3800" b="0" i="0">
                <a:solidFill>
                  <a:srgbClr val="F8F8FA"/>
                </a:solidFill>
                <a:latin typeface="Georgia"/>
              </a:rPr>
              <a:t>5.3 Vertiefungsliteratur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31000" y="5842000"/>
            <a:ext cx="4851400" cy="635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400" b="0" i="1">
                <a:solidFill>
                  <a:srgbClr val="7B7FA0"/>
                </a:solidFill>
                <a:latin typeface="Georgia"/>
              </a:rPr>
              <a:t>Fachlich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9400"/>
            <a:ext cx="25400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191D2E"/>
                </a:solidFill>
                <a:latin typeface="Arial"/>
              </a:rPr>
              <a:t>FKB  Campus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279400"/>
            <a:ext cx="109728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§ IX · 5.3 VERTIEFUNGSLITERATUR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426200"/>
            <a:ext cx="109728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21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825500"/>
            <a:ext cx="10972800" cy="6350"/>
          </a:xfrm>
          <a:prstGeom prst="rect">
            <a:avLst/>
          </a:prstGeom>
          <a:solidFill>
            <a:srgbClr val="19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920750"/>
            <a:ext cx="10972800" cy="177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800" b="0" i="0">
                <a:solidFill>
                  <a:srgbClr val="191D2E"/>
                </a:solidFill>
                <a:latin typeface="Georgia"/>
              </a:rPr>
              <a:t>Fachlich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2762250"/>
            <a:ext cx="10972800" cy="6350"/>
          </a:xfrm>
          <a:prstGeom prst="rect">
            <a:avLst/>
          </a:prstGeom>
          <a:solidFill>
            <a:srgbClr val="E0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2876550"/>
            <a:ext cx="254000" cy="355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200" b="0" i="0">
                <a:solidFill>
                  <a:srgbClr val="1F2B56"/>
                </a:solidFill>
                <a:latin typeface="Georgia"/>
              </a:rPr>
              <a:t>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9799" y="2851150"/>
            <a:ext cx="10642600" cy="50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 i="0">
                <a:solidFill>
                  <a:srgbClr val="191D2E"/>
                </a:solidFill>
                <a:latin typeface="Georgia"/>
              </a:rPr>
              <a:t>Schierenbeck, H. et al. (2014): Ertragsorientiertes Bankmanagement, Band 1 – Grundlagen der Marktzinsmethode und kundenbezogenen Rentabilitätsrechnung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9799" y="3333750"/>
            <a:ext cx="10642600" cy="6350"/>
          </a:xfrm>
          <a:prstGeom prst="rect">
            <a:avLst/>
          </a:prstGeom>
          <a:solidFill>
            <a:srgbClr val="E0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9600" y="3409950"/>
            <a:ext cx="254000" cy="355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200" b="0" i="0">
                <a:solidFill>
                  <a:srgbClr val="1F2B56"/>
                </a:solidFill>
                <a:latin typeface="Georgia"/>
              </a:rPr>
              <a:t>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9799" y="3384550"/>
            <a:ext cx="10642600" cy="50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 i="0">
                <a:solidFill>
                  <a:srgbClr val="191D2E"/>
                </a:solidFill>
                <a:latin typeface="Georgia"/>
              </a:rPr>
              <a:t>Rolfes, B. (1999): Gesamtbanksteuerung – Konzepte der ertragsbezogenen Steuerung auf Einzelkundenebene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9799" y="3867150"/>
            <a:ext cx="10642600" cy="6350"/>
          </a:xfrm>
          <a:prstGeom prst="rect">
            <a:avLst/>
          </a:prstGeom>
          <a:solidFill>
            <a:srgbClr val="E0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9400"/>
            <a:ext cx="25400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191D2E"/>
                </a:solidFill>
                <a:latin typeface="Arial"/>
              </a:rPr>
              <a:t>FKB  Campus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279400"/>
            <a:ext cx="109728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§ IX · 5.3 VERTIEFUNGSLITERATUR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426200"/>
            <a:ext cx="109728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22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825500"/>
            <a:ext cx="10972800" cy="6350"/>
          </a:xfrm>
          <a:prstGeom prst="rect">
            <a:avLst/>
          </a:prstGeom>
          <a:solidFill>
            <a:srgbClr val="19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920750"/>
            <a:ext cx="10972800" cy="177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800" b="0" i="0">
                <a:solidFill>
                  <a:srgbClr val="191D2E"/>
                </a:solidFill>
                <a:latin typeface="Georgia"/>
              </a:rPr>
              <a:t>Praxismaterialien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2762250"/>
            <a:ext cx="10972800" cy="6350"/>
          </a:xfrm>
          <a:prstGeom prst="rect">
            <a:avLst/>
          </a:prstGeom>
          <a:solidFill>
            <a:srgbClr val="E0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2876550"/>
            <a:ext cx="254000" cy="355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200" b="0" i="0">
                <a:solidFill>
                  <a:srgbClr val="1F2B56"/>
                </a:solidFill>
                <a:latin typeface="Georgia"/>
              </a:rPr>
              <a:t>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9799" y="2851150"/>
            <a:ext cx="10642600" cy="50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 i="0">
                <a:solidFill>
                  <a:srgbClr val="191D2E"/>
                </a:solidFill>
                <a:latin typeface="Georgia"/>
              </a:rPr>
              <a:t>agree Benutzerhandbuch: Kundenprofitabilität (Atruvia Intranet) – NMZ-Auswertungen und Interpretation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9799" y="3333750"/>
            <a:ext cx="10642600" cy="6350"/>
          </a:xfrm>
          <a:prstGeom prst="rect">
            <a:avLst/>
          </a:prstGeom>
          <a:solidFill>
            <a:srgbClr val="E0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9600" y="3409950"/>
            <a:ext cx="254000" cy="355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200" b="0" i="0">
                <a:solidFill>
                  <a:srgbClr val="1F2B56"/>
                </a:solidFill>
                <a:latin typeface="Georgia"/>
              </a:rPr>
              <a:t>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9799" y="3384550"/>
            <a:ext cx="10642600" cy="50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 i="0">
                <a:solidFill>
                  <a:srgbClr val="191D2E"/>
                </a:solidFill>
                <a:latin typeface="Georgia"/>
              </a:rPr>
              <a:t>DZ BANK Vertriebssteuerungs-Leitfaden (Verbund-Intranet) – NMZ-Benchmark, Zielsysteme im Firmenkundengeschäft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9799" y="3867150"/>
            <a:ext cx="10642600" cy="6350"/>
          </a:xfrm>
          <a:prstGeom prst="rect">
            <a:avLst/>
          </a:prstGeom>
          <a:solidFill>
            <a:srgbClr val="E0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600" y="3943350"/>
            <a:ext cx="254000" cy="355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200" b="0" i="0">
                <a:solidFill>
                  <a:srgbClr val="1F2B56"/>
                </a:solidFill>
                <a:latin typeface="Georgia"/>
              </a:rPr>
              <a:t>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9799" y="3917950"/>
            <a:ext cx="10642600" cy="50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 i="0">
                <a:solidFill>
                  <a:srgbClr val="191D2E"/>
                </a:solidFill>
                <a:latin typeface="Georgia"/>
              </a:rPr>
              <a:t>Bankinternes Controlling-Handbuch – Ziel-NMZ und Bewertungsrahmen der eigenen Bank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9799" y="4400550"/>
            <a:ext cx="10642600" cy="6350"/>
          </a:xfrm>
          <a:prstGeom prst="rect">
            <a:avLst/>
          </a:prstGeom>
          <a:solidFill>
            <a:srgbClr val="E0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B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9400"/>
            <a:ext cx="25400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F8F8FA"/>
                </a:solidFill>
                <a:latin typeface="Arial"/>
              </a:rPr>
              <a:t>FKB  Campus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279400"/>
            <a:ext cx="109728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QUELLEN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426200"/>
            <a:ext cx="109728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35000"/>
            <a:ext cx="5461000" cy="5461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8000" b="0" i="1">
                <a:solidFill>
                  <a:srgbClr val="D9BF7A"/>
                </a:solidFill>
                <a:latin typeface="Georgia"/>
              </a:rPr>
              <a:t>X.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31000" y="4064000"/>
            <a:ext cx="4851400" cy="177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3800" b="0" i="0">
                <a:solidFill>
                  <a:srgbClr val="F8F8FA"/>
                </a:solidFill>
                <a:latin typeface="Georgia"/>
              </a:rPr>
              <a:t>Quellen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B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9400"/>
            <a:ext cx="25400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F8F8FA"/>
                </a:solidFill>
                <a:latin typeface="Arial"/>
              </a:rPr>
              <a:t>FKB  Campus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279400"/>
            <a:ext cx="109728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DIDAKTIK &amp; KOMPETENZENTWICKLUNG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426200"/>
            <a:ext cx="109728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35000"/>
            <a:ext cx="5461000" cy="5461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8000" b="0" i="1">
                <a:solidFill>
                  <a:srgbClr val="D9BF7A"/>
                </a:solidFill>
                <a:latin typeface="Georgia"/>
              </a:rPr>
              <a:t>11.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31000" y="4064000"/>
            <a:ext cx="4851400" cy="177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3800" b="0" i="0">
                <a:solidFill>
                  <a:srgbClr val="F8F8FA"/>
                </a:solidFill>
                <a:latin typeface="Georgia"/>
              </a:rPr>
              <a:t>Didaktik &amp; Kompetenzentwicklung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B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9400"/>
            <a:ext cx="25400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F8F8FA"/>
                </a:solidFill>
                <a:latin typeface="Arial"/>
              </a:rPr>
              <a:t>FKB  Campus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279400"/>
            <a:ext cx="109728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BANKCONTROLLING &amp; ERTRAGSORIENTIERUNG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426200"/>
            <a:ext cx="109728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35000"/>
            <a:ext cx="5461000" cy="5461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8000" b="0" i="1">
                <a:solidFill>
                  <a:srgbClr val="D9BF7A"/>
                </a:solidFill>
                <a:latin typeface="Georgia"/>
              </a:rPr>
              <a:t>12.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31000" y="4064000"/>
            <a:ext cx="4851400" cy="177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3800" b="0" i="0">
                <a:solidFill>
                  <a:srgbClr val="F8F8FA"/>
                </a:solidFill>
                <a:latin typeface="Georgia"/>
              </a:rPr>
              <a:t>Bankcontrolling &amp; Ertragsorientierung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B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9400"/>
            <a:ext cx="25400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F8F8FA"/>
                </a:solidFill>
                <a:latin typeface="Arial"/>
              </a:rPr>
              <a:t>FKB  Campus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279400"/>
            <a:ext cx="109728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BANKFACHLICHE QUELLEN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426200"/>
            <a:ext cx="109728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35000"/>
            <a:ext cx="5461000" cy="5461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8000" b="0" i="1">
                <a:solidFill>
                  <a:srgbClr val="D9BF7A"/>
                </a:solidFill>
                <a:latin typeface="Georgia"/>
              </a:rPr>
              <a:t>13.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31000" y="4064000"/>
            <a:ext cx="4851400" cy="177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3800" b="0" i="0">
                <a:solidFill>
                  <a:srgbClr val="F8F8FA"/>
                </a:solidFill>
                <a:latin typeface="Georgia"/>
              </a:rPr>
              <a:t>Bankfachliche Quellen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457200"/>
            <a:ext cx="31750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191D2E"/>
                </a:solidFill>
                <a:latin typeface="Arial"/>
              </a:rPr>
              <a:t>FKB  Campus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457200"/>
            <a:ext cx="109728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Ende · v0.4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143000"/>
            <a:ext cx="10972800" cy="3556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600" b="0" i="0">
                <a:solidFill>
                  <a:srgbClr val="191D2E"/>
                </a:solidFill>
                <a:latin typeface="Georgia"/>
              </a:rPr>
              <a:t>Danke.
Fragen?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4826000"/>
            <a:ext cx="10972800" cy="6350"/>
          </a:xfrm>
          <a:prstGeom prst="rect">
            <a:avLst/>
          </a:prstGeom>
          <a:solidFill>
            <a:srgbClr val="19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4953000"/>
            <a:ext cx="5715000" cy="1143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 i="1">
                <a:solidFill>
                  <a:srgbClr val="191D2E"/>
                </a:solidFill>
                <a:latin typeface="Georgia"/>
              </a:rPr>
              <a:t>Modul «NMZ-Optimierung» auf FKB Campus — 5 Lernziele, Praxisfall und Quellenapparat.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31000" y="4953000"/>
            <a:ext cx="2413000" cy="177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 i="0">
                <a:solidFill>
                  <a:srgbClr val="7B7FA0"/>
                </a:solidFill>
                <a:latin typeface="Courier New"/>
              </a:rPr>
              <a:t>Kontakt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31000" y="5156200"/>
            <a:ext cx="2413000" cy="381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 i="0">
                <a:solidFill>
                  <a:srgbClr val="191D2E"/>
                </a:solidFill>
                <a:latin typeface="Georgia"/>
              </a:rPr>
              <a:t>info@benedikt-zoller.de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98000" y="4953000"/>
            <a:ext cx="2184400" cy="177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 i="0">
                <a:solidFill>
                  <a:srgbClr val="7B7FA0"/>
                </a:solidFill>
                <a:latin typeface="Courier New"/>
              </a:rPr>
              <a:t>Modul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98000" y="5156200"/>
            <a:ext cx="2184400" cy="381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 i="0">
                <a:solidFill>
                  <a:srgbClr val="191D2E"/>
                </a:solidFill>
                <a:latin typeface="Georgia"/>
              </a:rPr>
              <a:t>M16 · Berater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