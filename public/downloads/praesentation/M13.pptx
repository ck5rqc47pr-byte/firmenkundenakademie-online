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M13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Cross-Selling systematisch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Unterschied zwischen reaktivem und systematisch-bedarfsorientiertem Cross-Selling erklären und begründen, warum der zweite Ansatz nachhaltiger 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Cross-Selling-Potenziale in einem gegebenen Kundenprofil anhand der Wallet-Share-Methodik identifizieren und die zwei vielversprechendsten Ansatzpunkte benennen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4-Schritte-Cross-Selling-Prozess (Analyse – Hypothese – Gespräch – Dokumentation) in einem simulierten Kundengespräch anwenden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relevanten Verbundpartner den typischen Bedarfsfeldern der Firmenkunden zuordnen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Produktgetriebenes Push-Cross-Selling von bedarfsorientiertem Cross-Selling unterscheiden und die situationsgerechte Vorgehensweise wählen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Cross-Selling bezeichnet den Verkauf ergänzender Produkte oder Dienstleistungen an einen bestehenden Kunden, der bereits eine Bankbeziehung unterhält. Im Firmenkundensegment umfasst das neben klassischen Bankprodukten…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zeb-Firmenkundenstudie zeigt: Der durchschnittliche Wallet-Share einer VR-Bank im Firmenkundensegment liegt bei rund 35–40 %. Das bedeutet: 60–65 % des Finanzierungsbedarfs und der Finanzdienstleistungen dieser…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Zwei Typen: Push vs. Pull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Rackham und Hanan zeigen übereinstimmend: In komplexen Kundenbeziehungen führt Push-Selling langfristig zu Vertrauensverlust. Der bedarfsorientierte Ansatz erzeugt mehr Ertrag pro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Risiko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Push-Cross-Selling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Produktorientiert: Der Berater verkauft, was er verkaufen soll (Kampagne, Quartalsziel).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Kundenzufriedenheit sinkt, wenn Produkt nicht zum Bedarf passt. Beziehungsschaden möglich.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Pull-Cross-Selling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Bedarfsorientiert: Der Berater erkennt einen Bedarf und macht ein passendes Angebot.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Skaliert langsamer, aber nachhaltiger. Höhere Abschlussquote und Kundenloyalität.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Wallet-Share-Analyse: Wo liegt das Potenzial?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Konzept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Konzept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Wallet-Share bezeichnet den Anteil der eigenen Bank am Gesamtvolumen der Finanzdienstleistungen, die ein Kunde nutzt. Ein Firmenkunde mit einem Gesamtbedarf von 5 Mio. EUR (Kredit, Absicherung, Kapitalanlage,…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unausgeschöpfte Potenzial von 60 % ist nicht verloren – es ist bei einem Wettbewerber.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Potenzialanalyse in 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agree bietet über das CRM-Modul und den UnternehmerDialog strukturierte Hilfsmittel zur Potenzialanalyse. Berater sollten vor jedem Jahresgespräch folgende Felder prüfen: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Datenquelle in agree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Finanzierungsvolumen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Verbindlichkeiten hat der Kunde bei uns vs. geschätztes Gesamtvolumen?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Kontostamm, Kreditakte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R+V-Policen bestehen? Existieren Schutzlücken (Betriebsunterbrechung, D&amp;O)?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 ⚠️ zeigt nur von uns vermittelte Verträge – Fremdbestände (z.B. Allianz, Zurich) müssen im Kundengespräch aktiv erfragt werden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Abwickelt der Kunde alle Zahlungen über uns? Auslands-ZV?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Gibt es Rücklagen? Wo liegen diese (eigene Bank / Wettbewerber)?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Beratungsprotokoll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 / 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Führt der Unternehmer seine Privatkonten bei uns? Bausparen?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Verknüpfte Privatkundendaten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Ereignisbasierte Cross-Selling-Anlässe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Das Jahresgespräch ist nur einer von vielen Anlässen. In der Praxis öffnen oft Ereignisse das Gespräch besser als der Jahreskalender – weil der Bedarf dann für den Kunden selbst sp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Ereignis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Typisches Cross-Selling-Potenzial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Kreditverlängerung / -aufstockung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Absicherung Schlüsselperson, Zinssicherung (DZ BANK Swap)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Investitionsvorhaben (neue Maschine, neues Gebäude)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Fördermittel (KfW/L-Bank), MünchenerHyp bei Gewerbeimmobilie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Gesellschafterwechsel / 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Gesellschaftervertrag, D&amp;O, bAV, steuerliche Optimierung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Unternehmensnachfolge (MBO)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DZ BANK Corporate Finance, Kaufpreisfinanzierung, Risikolebensversicherung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Kontokorrentüberziehung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Liquiditätspuffer prüfen, ggf. Betriebsmittellinie erhöhen; Absicherungscheck (Betriebsunterbrechung)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Renteneintritt Gesellschafter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Privatvorsorge Union Investment, Pensionsauszahlungsplanung R+V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Firmenjubiläum / Jahresabschluss &gt; 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Rücklagenanlage Union Investment, Mitarbeiterbindung (bAV)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Auslandsgeschäft aufgebaut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Auslands-ZV, Devisentermingeschäfte 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Der 4-Schritte-Cross-Selling-Prozess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Schritt 1: Analyse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1: 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Wer? Welcher Kunde hat das größte unausgeschöpfte Potenzial? Was? In welchem Bedarfsfeld liegt das Potenzial (Finanzierung, Absicherung, Anlage, ZV)? Datenquellen: agree CRM, Jahreskontospiegel, Kreditakten,…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Ergebnis: Eine priorisierte Liste von 3–5 Cross-Selling-Hypothesen für diesen Kunden.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2: Hypothese formulieren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Cross-Selling-Hypothese verknüpft einen beobachteten Kundenbedarf mit einem konkreten Lösungsansatz. Gutes Format: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„[Kunde] hat [Situation/Signal]. Ich vermute deshalb, dass er [Bedarf] hat – passend dazu wäre [Lösung/Verbundpartner]."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 1: „Herr Berger hat seinen Betrieb vor zwei Jahren auf eine GmbH umgewandelt. Ich vermute, dass eine D&amp;O-Versicherung für den Geschäftsführer noch nicht geprüft wurde –…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 2 (ZV-Bereich): „Frau Meier führt Auslandszahlungen über die Commerzbank ab – das hat sie beim letzten Gespräch nebenbei erwähnt. Ich vermute, dass sie noch nicht weiß,…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3: 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Cross-Selling-Gespräch ist kein Verkaufsgespräch. Es ist eine bedarfsgeleitete Gesprächserweiterung. Der Einstieg erfolgt über eine offene Frage zur Situation – nicht mit…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Gesprächseinstieg nach SPIN: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Situationsfrage: „Wie haben Sie aktuell Ihre Betriebsunterbrechungsrisiken abgesichert?" 2. Problemfrage: „Gibt es Bereiche, bei denen Sie sich fragen, ob das ausreicht?" 3.…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Erst nach diesem Verlauf folgt der Produktvorschlag – oder die Einbeziehung des Verbundpartners.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4: Dokumentation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Besprochene Bedarfsfelder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Ergebnis (Abschluss / offen / kein Bedarf)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Nächste Schritte und Folgetermine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Verbundpartner-Übergabe (falls relevant)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VERBUNDPARTNER-MATRIX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Verbundpartner-Matrix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VOM KREDITGESPRÄCH ZUM VOLLBANKVERBUND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Vom Kreditgespräch zum Vollbankverbund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Wallet-Share-Analyse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Wallet-Share-Analyse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Kundenname (anonymisiert): ___________________________ Datum: 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Wallet-Share (%)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Privat/Gesellschafter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Cross-Selling-Gesprächsvorbereitung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Ausgewählte Hypothese: ___________________________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Meine Vorbereitung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Situationsfrage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Nutzenfrage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 / Lösung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 in agree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Bankfachlich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 (2020): Firmenkundenstudie 8.0 – Wallet-Share-Daten, Benchmark-Penetrationsraten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Digitale Potenzialanalyse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BVR: Cross-Selling-Leitfaden für Volksbanken und Raiffeisenbanken (Intranet, aktuell)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Gesprächsführung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(1988): SPIN Selling – Kapitel 4–6: Von impliziten zu expliziten Bedarfen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Hanan, M. (1970): Consultative Selling – Grundlagen bedarfsorientierter Gesprächsführung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Verbundpartner-Materialien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R+V Versicherung: Produktschulungen Gewerbe (Verbund-Intranet)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Union Investment: Firmenkunden-Beratungsmodule (VR-NetWorld)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Schwäbisch Hall: Gewerbeimmobilien und Baufinanzierung privat für Unternehmer (Intranet)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BEDARFSANALYSE &amp;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Bedarfsanalyse &amp; Vertrieb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«Cross-Selling systematisch»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M13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