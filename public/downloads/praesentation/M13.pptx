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Cross-Selling systematisch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Kundenpotenziale durch bedarfsorientiertes Cross-Selling und Wallet-Share-Analyse erschließen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K-04 Vertrieb &amp; Ertragsoptimierung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Berater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Unterschied zwischen reaktivem und systematisch-bedarfsorientiertem Cross-Selling erklären und begründen, warum der zweite Ansatz nachhaltiger ist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Cross-Selling-Potenziale in einem gegebenen Kundenprofil anhand der Wallet-Share-Methodik identifizieren und die zwei vielversprechendsten Ansatzpunkte benennen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4-Schritte-Cross-Selling-Prozess (Analyse – Hypothese – Gespräch – Dokumentation) in einem simulierten Kundengespräch anwenden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relevanten Verbundpartner den typischen Bedarfsfeldern der Firmenkunden zuordnen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Produktgetriebenes Push-Cross-Selling von bedarfsorientiertem Cross-Selling unterscheiden und die situationsgerechte Vorgehensweise wählen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Definition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Cross-Selling ist kein Verkaufsakt. Es ist das konsequente Ausfüllen eines Bedarfs, den der Kunde ohnehin hat – bei der eigenen Bank oder einem Wettbewerber.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Zwei Typen: Push vs. Pull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4.2 Wallet-Share-Analyse: Wo liegt das Potenzial?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Das Konzept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Das unausgeschöpfte Potenzial von 60 % ist nicht verloren – es ist bei einem Wettbewerber.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Potenzialanalyse in agree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agree bietet über das CRM-Modul und den UnternehmerDialog strukturierte Hilfsmittel zur Potenzialanalyse. Berater sollten vor jedem Jahresgespräch folgende Felder prüfen: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Empfehlung: Erstellen Sie für Ihre Top-20-Kunden eine einfache Wallet-Share-Schätzung anhand dieser fünf Dimensionen, bevor Sie das Jahresgespräch vorbereiten.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Ereignisbasierte Cross-Selling-Anlässe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Das Jahresgespräch ist nur einer von vielen Anlässen. In der Praxis öffnen oft Ereignisse das Gespräch besser als der Jahreskalender – weil der Bedarf dann für den Kunden selbst spürbar ist: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4.3 Der 4-Schritte-Cross-Selling-Prozess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Systematisches Cross-Selling folgt einem klaren Prozess – nicht dem Zufall eines Gesprächsmoments.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Schritt 1: Analyse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Wer? Welcher Kunde hat das größte unausgeschöpfte Potenzial?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Was? In welchem Bedarfsfeld liegt das Potenzial (Finanzierung, Absicherung, Anlage, ZV)?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Datenquellen: agree CRM, Jahreskontospiegel, Kreditakten, Verbundpartner-Cockpit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Ergebnis: Eine priorisierte Liste von 3–5 Cross-Selling-Hypothesen für diesen Kunden.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Schritt 2: Hypothese formulieren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Eine Cross-Selling-Hypothese verknüpft einen beobachteten Kundenbedarf mit einem konkreten Lösungsansatz. Gutes Format: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„[Kunde] hat [Situation/Signal]. Ich vermute deshalb, dass er [Bedarf] hat – passend dazu wäre [Lösung/Verbundpartner]."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Schritt 3: Gespräch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Das Cross-Selling-Gespräch ist kein Verkaufsgespräch. Es ist eine bedarfsgeleitete Gesprächserweiterung. Der Einstieg erfolgt über eine offene Frage zur Situation – nicht mit einem Produktvorschlag.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Gesprächseinstieg nach SPIN 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Situationsfrage: „Wie haben Sie aktuell Ihre Betriebsunterbrechungsrisiken abgesichert?"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Problemfrage: „Gibt es Bereiche, bei denen Sie sich fragen, ob das ausreicht?"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Implikationsfrage: „Was würde ein Ausfall von zwei Wochen für Ihren Betrieb bedeuten?"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Nutzenfrage: „Was wäre für Sie die ideale Lösung, wenn das Risiko vollständig gedeckt wäre?"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Erst nach diesem Verlauf folgt der Produktvorschlag – oder die Einbeziehung des Verbundpartners.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Schritt 4: Dokumentation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Besprochene Bedarfsfelder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Ergebnis (Abschluss / offen / kein Bedarf)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Nächste Schritte und Folgetermine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Verbundpartner-Übergabe (falls relevant)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4.4 Verbundpartner-Matrix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Stärke der VR-Bank liegt im Verbund. Welcher Verbundpartner ist für welches Bedarfsfeld relevant?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4.5 Praxiscase: Vom Kreditgespräch zum Vollbankverbund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Vor dem Jahresgespräch analysiert Markus den Kunden in agree: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Das Gespräch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„Sie hatten letztes Jahr den Ausfall der CNC-Anlage erwähnt. Wie haben Sie die zwei Wochen finanziell abgefedert?"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Der Kunde: „Ehrlich gesagt war das eng. Wir haben aus den Rücklagen überbrückt – aber das war ungeplant."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Verbundpartner-Matrix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3486" y="1325880"/>
            <a:ext cx="7321979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Wallet-Share-Analyse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Kundenname (anonymisiert): ___________________________ Datum: _______________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Meine Top-2 Cross-Selling-Hypothesen für diesen Kunden: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___________________________________________________________________________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___________________________________________________________________________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B: Cross-Selling-Gesprächsvorbereitung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Ausgewählte Hypothese: ___________________________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 5. PRAXISTRANSFER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