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M13  ·  K-04 Vertrieb &amp; Ertragsoptimierung  ·  Zielstufe: Berater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Den 4-Schritte-Cross-Selling-Prozess (Analyse – Hypothese – Gespräch – Dokumentation) in einem simulierten Kundengespräch anwenden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relevanten Verbundpartner den typischen Bedarfsfeldern der Firmenkunden zuordnen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Produktgetriebenes Push-Cross-Selling von bedarfsorientiertem Cross-Selling unterscheiden und die situationsgerechte Vorgehensweise wählen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Definition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Cross-Selling bezeichnet den Verkauf ergänzender Produkte oder Dienstleistungen an einen bestehenden Kunden, der bereits eine Bankbeziehung unterhält. Im…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zeb-Firmenkundenstudie zeigt: Der durchschnittliche Wallet-Share einer VR-Bank im Firmenkundensegment liegt bei rund 35–40 %. Das bedeutet: 60–65 % des…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&gt; Cross-Selling ist kein Verkaufsakt. Es ist das konsequente Ausfüllen eines Bedarfs, den der Kunde ohnehin hat – bei der eigenen Bank oder einem Wettbewerber.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Zwei Typen: Push vs. Pull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Zwei Typen: Push vs. Pull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Beschreibung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Risiko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Push-Cross-Selling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Produktorientiert: Der Berater verkauft, was er verkaufen soll (Kampagne, Quartalsziel).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Kundenzufriedenheit sinkt, wenn Produkt nicht zum Bedarf passt. Beziehungsschaden möglich.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Pull-Cross-Selling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Bedarfsorientiert: Der Berater erkennt einen Bedarf und macht ein passendes Angebot.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Skaliert langsamer, aber nachhaltiger. Höhere Abschlussquote und Kundenloyalität.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Das Konzept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Das Konzept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Wallet-Share bezeichnet den Anteil der eigenen Bank am Gesamtvolumen der Finanzdienstleistungen, die ein Kunde nutzt. Ein Firmenkunde mit einem…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unausgeschöpfte Potenzial von 60 % ist nicht verloren – es ist bei einem Wettbewerber.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Potenzialanalyse in agree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Potenzialanalyse in agree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Datenquelle in agree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Finanzierungsvolumen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Welche Verbindlichkeiten hat der Kunde bei uns vs. geschätztes Gesamtvolumen?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Kontostamm, Kreditakte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Absicherung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Welche R+V-Policen bestehen? Existieren Schutzlücken (Betriebsunterbrechung, D&amp;O)?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Verbundpartner-Cockpit ⚠️ zeigt nur von uns vermittelte Verträge – Fremdbestände (z.B. Allianz, Zurich) müssen im Kundengespräch aktiv erfragt werden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Zahlungsverkehr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Abwickelt der Kunde alle Zahlungen über uns? Auslands-ZV?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Kontoanalyse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Kapitalanlage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Gibt es Rücklagen? Wo liegen diese (eigene Bank / Wettbewerber)?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Beratungsprotokoll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Privat / Gesellschafter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Führt der Unternehmer seine Privatkonten bei uns? Bausparen?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Verknüpfte Privatkundendaten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Ereignisbasierte Cross-Selling-Anlässe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Ereignisbasierte Cross-Selling-Anlässe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Ereignis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Typisches Cross-Selling-Potenzial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Kreditverlängerung / -aufstockung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Absicherung Schlüsselperson, Zinssicherung (DZ BANK Swap)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Investitionsvorhaben (neue Maschine, neues Gebäude)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Fördermittel (KfW/L-Bank), MünchenerHyp bei Gewerbeimmobilie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Gesellschafterwechsel / Nachfolge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Gesellschaftervertrag, D&amp;O, bAV, steuerliche Optimierung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Unternehmensnachfolge (MBO)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DZ BANK Corporate Finance, Kaufpreisfinanzierung, Risikolebensversicherung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Kontokorrentüberziehung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Liquiditätspuffer prüfen, ggf. Betriebsmittellinie erhöhen; Absicherungscheck (Betriebsunterbrechung)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Renteneintritt Gesellschafter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Privatvorsorge Union Investment, Pensionsauszahlungsplanung R+V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Firmenjubiläum / Jahresabschluss &gt;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Rücklagenanlage Union Investment, Mitarbeiterbindung (bAV)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Auslandsgeschäft aufgebaut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Auslands-ZV, Devisentermingeschäfte DZ BANK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Schritt 1: Analyse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Schritt 1: 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Wer?: </a:t>
            </a:r>
            <a:r>
              <a:rPr sz="1700">
                <a:solidFill>
                  <a:srgbClr val="1A1A1A"/>
                </a:solidFill>
                <a:latin typeface="Arial"/>
              </a:rPr>
              <a:t>Welcher Kunde hat das größte unausgeschöpfte Potenzial?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Was?: </a:t>
            </a:r>
            <a:r>
              <a:rPr sz="1700">
                <a:solidFill>
                  <a:srgbClr val="1A1A1A"/>
                </a:solidFill>
                <a:latin typeface="Arial"/>
              </a:rPr>
              <a:t>In welchem Bedarfsfeld liegt das Potenzial (Finanzierung, Absicherung, Anlage, ZV)?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Datenquellen: </a:t>
            </a:r>
            <a:r>
              <a:rPr sz="1700">
                <a:solidFill>
                  <a:srgbClr val="1A1A1A"/>
                </a:solidFill>
                <a:latin typeface="Arial"/>
              </a:rPr>
              <a:t>agree CRM, Jahreskontospiegel, Kreditakten, Verbundpartner-Cockpit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Schritt 2: Hypothese formulieren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Schritt 2: Hypothese formulieren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Cross-Selling-Hypothese verknüpft einen beobachteten Kundenbedarf mit einem konkreten Lösungsansatz. Gutes Format: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&gt; „[Kunde] hat [Situation/Signal]. Ich vermute deshalb, dass er [Bedarf] hat – passend dazu wäre [Lösung/Verbundpartner]."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Beispiel 1: „Herr Berger hat seinen Betrieb vor zwei Jahren auf eine GmbH umgewandelt. Ich vermute, dass eine D&amp;O-Versicherung für den Geschäftsführer noch…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Beispiel 2 (ZV-Bereich): „Frau Meier führt Auslandszahlungen über die Commerzbank ab – das hat sie beim letzten Gespräch nebenbei erwähnt. Ich vermute, dass…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Schritt 3: Gespräch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Schritt 3: Gespräch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Situationsfrage: „Wie haben Sie aktuell Ihre Betriebsunterbrechungsrisiken abgesichert?"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Problemfrage: „Gibt es Bereiche, bei denen Sie sich fragen, ob das ausreicht?"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Implikationsfrage: „Was würde ein Ausfall von zwei Wochen für Ihren Betrieb bedeuten?"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Nutzenfrage: „Was wäre für Sie die ideale Lösung, wenn das Risiko vollständig gedeckt wäre?"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Schritt 4: Dokumentation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Schritt 4: Dokumentation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Navigationspfad: </a:t>
            </a:r>
            <a:r>
              <a:rPr sz="1700">
                <a:solidFill>
                  <a:srgbClr val="1A1A1A"/>
                </a:solidFill>
                <a:latin typeface="Arial"/>
              </a:rPr>
              <a:t>agree → Vertriebssteuerung → Aktivitätenverwaltung (alternativ: Gesprächsnotiz im UnternehmerDialog-Protokoll). Zu erfassen sind: - Besprochene Bedarfsfelder - Ergebnis (Abschluss…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Nicht dokumentierte Aktivitäten sind in Bestandsbesuchen und Zielerfüllung nicht sichtbar: </a:t>
            </a:r>
            <a:r>
              <a:rPr sz="1700">
                <a:solidFill>
                  <a:srgbClr val="1A1A1A"/>
                </a:solidFill>
                <a:latin typeface="Arial"/>
              </a:rPr>
              <a:t>– was nicht in agree steht, hat aus Steuerungssicht nicht stattgefunden.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A: Wallet-Share-Analyse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A: Wallet-Share-Analyse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Wallet-Share (%)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Finanzierung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Absicherung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Kapitalanlage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Zahlungsverkehr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Privat/Gesellschafter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Gesamt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B: Cross-Selling-Gesprächsvorbereitung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M13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B: Cross-Selling-Gesprächsvorbereitung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Vorbereitung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Verbundpartner / Lösung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Dokumentation in agree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M14, M16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M13 · Cross-Selling systematisch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