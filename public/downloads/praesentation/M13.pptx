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3175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M13  · 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3048000"/>
            <a:ext cx="10972800" cy="215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600" b="0" i="0">
                <a:solidFill>
                  <a:srgbClr val="191D2E"/>
                </a:solidFill>
                <a:latin typeface="Georgia"/>
              </a:rPr>
              <a:t>Cross-Selling systematisch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334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461000"/>
            <a:ext cx="5207000" cy="88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4D5270"/>
                </a:solidFill>
                <a:latin typeface="Georgia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2500" y="5461000"/>
            <a:ext cx="2286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ZIELSTUFE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2500" y="5664200"/>
            <a:ext cx="2286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Berater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63000" y="5461000"/>
            <a:ext cx="2540000" cy="177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spc="100">
                <a:solidFill>
                  <a:srgbClr val="7B7FA0"/>
                </a:solidFill>
                <a:latin typeface="Courier New"/>
              </a:rPr>
              <a:t>DAUER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63000" y="5664200"/>
            <a:ext cx="2540000" cy="5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90 Min.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00 — LERNZIELE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6350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B7FA0"/>
                </a:solidFill>
                <a:latin typeface="Courier New"/>
              </a:rPr>
              <a:t>v0.3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02 / 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270000"/>
            <a:ext cx="368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800" b="0" i="1">
                <a:solidFill>
                  <a:srgbClr val="1F2B56"/>
                </a:solidFill>
                <a:latin typeface="Georgia"/>
              </a:rPr>
              <a:t>Inhalt.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0" y="1333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384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70500" y="1409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Unterschied zwischen reaktivem und systematisch-bedarfsorientiertem Cross-Selling erklären und begründen, warum der zweite Ansatz nachhaltiger ist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2095499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46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70500" y="2171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Cross-Selling-Potenziale in einem gegebenen Kundenprofil anhand der Wallet-Share-Methodik identifizieren und die zwei vielversprechendsten Ansatzpunkte benennen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2857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908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III.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0500" y="2933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Den 4-Schritte-Cross-Selling-Prozess (Analyse – Hypothese – Gespräch – Dokumentation) in einem simulierten Kundengespräch anwenden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3619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670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IV.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0500" y="3695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Die relevanten Verbundpartner den typischen Bedarfsfeldern der Firmenkunden zuordnen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0" y="4381500"/>
            <a:ext cx="70104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4432300"/>
            <a:ext cx="5715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0" i="1">
                <a:solidFill>
                  <a:srgbClr val="1F2B56"/>
                </a:solidFill>
                <a:latin typeface="Georgia"/>
              </a:rPr>
              <a:t>V.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70500" y="4457700"/>
            <a:ext cx="6223000" cy="711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91D2E"/>
                </a:solidFill>
                <a:latin typeface="Georgia"/>
              </a:rPr>
              <a:t>Produktgetriebenes Push-Cross-Selling von bedarfsorientiertem Cross-Selling unterscheiden und die situationsgerechte Vorgehensweise wählen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MODULINHALTE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Modulinhalte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Definition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Definition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Cross-Selling bezeichnet den Verkauf ergänzender Produkte oder Dienstleistungen an einen bestehenden Kunden, der bereits eine Bankbeziehung unterhält. Im Firmenkundensegment umfasst das neben…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Die zeb-Firmenkundenstudie zeigt: Der durchschnittliche Wallet-Share einer VR-Bank im Firmenkundensegment liegt bei rund 35–40 %. Das bedeutet: 60–65 % des Finanzierungsbedarfs und der…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&gt; Cross-Selling ist kein Verkaufsakt. Es ist das konsequente Ausfüllen eines Bedarfs, den der Kunde ohnehin hat – bei der eigenen Bank oder einem Wettbewerber.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 · MODULINHALTE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Zwei Typen: Push vs. Pull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Rackham und Hanan zeigen übereinstimmend: In komplexen Kundenbeziehungen führt Push-Selling langfristig zu Vertrauensverlust. Der bedarfsorientierte Ansatz erzeugt mehr Ertrag pro Gespräch und stabile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133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Beschreibung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Risiko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Push-Cross-Selling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Produktorientiert: Der Berater verkauft, was er verkaufen soll (Kampagne, Quartalsziel).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Kundenzufriedenheit sinkt, wenn Produkt nicht zum Bedarf passt. Beziehungsschaden möglich.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Pull-Cross-Selling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Bedarfsorientiert: Der Berater erkennt einen Bedarf und macht ein passendes Angebot.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Skaliert langsamer, aber nachhaltiger. Höhere Abschlussquote und Kundenloyalität.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06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4.2 WALLET-SHARE-ANALYSE: WO LIEGT DAS POTENZIAL?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4.2 Wallet-Share-Analyse: Wo liegt das Potenzial?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Das Konzept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07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Das Konzept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Der Wallet-Share bezeichnet den Anteil der eigenen Bank am Gesamtvolumen der Finanzdienstleistungen, die ein Kunde nutzt. Ein Firmenkunde mit einem Gesamtbedarf von 5 Mio. EUR (Kredit, Absicherung,…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Das unausgeschöpfte Potenzial von 60 % ist nicht verloren – es ist bei einem Wettbewerber.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08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Potenzialanalyse in agree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agree bietet über das CRM-Modul und den UnternehmerDialog strukturierte Hilfsmittel zur Potenzialanalyse. Berater sollten vor jedem Jahresgespräch folgende Felder prüfen: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7466"/>
                <a:gridCol w="2167466"/>
                <a:gridCol w="2167468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Frage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Datenquelle in agree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Finanzierungsvolumen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Welche Verbindlichkeiten hat der Kunde bei uns vs. geschätztes Gesamtvolumen?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Kontostamm, Kreditakte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Welche R+V-Policen bestehen? Existieren Schutzlücken (Betriebsunterbrechung, D&amp;O)?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Verbundpartner-Cockpit ⚠️ zeigt nur von uns vermittelte Verträge – Fremdbestände (z.B. Allianz, Zurich) müssen im Kundengespräch aktiv erfragt werden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Abwickelt der Kunde alle Zahlungen über uns? Auslands-ZV?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Kontoanalyse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Gibt es Rücklagen? Wo liegen diese (eigene Bank / Wettbewerber)?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Beratungsprotokoll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 / 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Führt der Unternehmer seine Privatkonten bei uns? Bausparen?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Verknüpfte Privatkundendaten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 · 4.2 WALLET-SHARE-ANALYSE: WO LIEGT DAS POTENZIAL?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09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Ereignisbasierte Cross-Selling-Anlässe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Das Jahresgespräch ist nur einer von vielen Anlässen. In der Praxis öffnen oft Ereignisse das Gespräch besser als der Jahreskalender – weil der Bedarf dann für den Kunden selbst spürbar ist: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23333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Ereignis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Typisches Cross-Selling-Potenzial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Kreditverlängerung / -aufstockung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Absicherung Schlüsselperson, Zinssicherung (DZ BANK Swap)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Investitionsvorhaben (neue Maschine, neues Gebäude)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Fördermittel (KfW/L-Bank), MünchenerHyp bei Gewerbeimmobilie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Gesellschafterwechsel / Nachfolge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Gesellschaftervertrag, D&amp;O, bAV, steuerliche Optimierung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Unternehmensnachfolge (MBO)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DZ BANK Corporate Finance, Kaufpreisfinanzierung, Risikolebensversicherung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Kontokorrentüberziehung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Liquiditätspuffer prüfen, ggf. Betriebsmittellinie erhöhen; Absicherungscheck (Betriebsunterbrechung)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Renteneintritt Gesellschafter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Privatvorsorge Union Investment, Pensionsauszahlungsplanung R+V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23333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Firmenjubiläum / Jahresabschluss &gt; Plan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Rücklagenanlage Union Investment, Mitarbeiterbindung (bAV)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2333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Auslandsgeschäft aufgebaut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Auslands-ZV, Devisentermingeschäfte DZ BANK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10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4.3 DER 4-SCHRITTE-CROSS-SELLING-PROZESS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4.3 Der 4-Schritte-Cross-Selling-Prozess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Schritt 1: Analyse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11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Schritt 1: 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Wer? Welcher Kunde hat das größte unausgeschöpfte Potenzial? Was? In welchem Bedarfsfeld liegt das Potenzial (Finanzierung, Absicherung, Anlage, ZV)? Datenquellen: agree CRM, Jahreskontospiegel,…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Ergebnis: Eine priorisierte Liste von 3–5 Cross-Selling-Hypothesen für diesen Kunden.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12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Schritt 2: Hypothese formulieren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Eine Cross-Selling-Hypothese verknüpft einen beobachteten Kundenbedarf mit einem konkreten Lösungsansatz. Gutes Format: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&gt; „[Kunde] hat [Situation/Signal]. Ich vermute deshalb, dass er [Bedarf] hat – passend dazu wäre [Lösung/Verbundpartner]."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Beispiel 1: „Herr Berger hat seinen Betrieb vor zwei Jahren auf eine GmbH umgewandelt. Ich vermute, dass eine D&amp;O-Versicherung für den Geschäftsführer noch…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Beispiel 2 (ZV-Bereich): „Frau Meier führt Auslandszahlungen über die Commerzbank ab – das hat sie beim letzten Gespräch nebenbei erwähnt. Ich vermute, dass…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Schritt 3: Gespräch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Das Cross-Selling-Gespräch ist kein Verkaufsgespräch. Es ist eine bedarfsgeleitete Gesprächserweiterung. Der Einstieg erfolgt über eine offene Frage zur…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Gesprächseinstieg nach SPIN: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1. Situationsfrage: „Wie haben Sie aktuell Ihre Betriebsunterbrechungsrisiken abgesichert?" 2. Problemfrage: „Gibt es Bereiche, bei denen Sie sich fragen, ob…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Erst nach diesem Verlauf folgt der Produktvorschlag – oder die Einbeziehung des Verbundpartners.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III · 4.3 DER 4-SCHRITTE-CROSS-SELLING-PROZESS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400" b="0" i="0">
                <a:solidFill>
                  <a:srgbClr val="191D2E"/>
                </a:solidFill>
                <a:latin typeface="Georgia"/>
              </a:rPr>
              <a:t>Schritt 4: Dokumentation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159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76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Besprochene Bedarfsfelder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76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Ergebnis (Abschluss / offen / kein Bedarf)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2400" y="2540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0400" y="2540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Nächste Schritte und Folgetermine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02400" y="3111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2400" y="3175000"/>
            <a:ext cx="406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2B56"/>
                </a:solidFill>
                <a:latin typeface="Courier New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10400" y="3175000"/>
            <a:ext cx="4445000" cy="55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Verbundpartner-Übergabe (falls relevant)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02400" y="3746500"/>
            <a:ext cx="5080000" cy="635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4.4 VERBUNDPARTNER-MATRIX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4.4 VERBUNDPARTNER-MATRIX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4.4 Verbundpartner-Matrix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4.5 PRAXISCASE: VOM KREDITGESPRÄCH ZUM VOLLBANKVERBUND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16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4.5 PRAXISCASE: VOM KREDITGESPRÄCH ZUM VOLLBANKVERBUND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4.5 Praxiscase: Vom Kreditgespräch zum Vollbankverbund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17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4.6 ARBEITSBLÄTTER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4.6 Arbeitsblätter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Arbeitsblatt A: Wallet-Share-Analyse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18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A: Wallet-Share-Analyse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Kundenname (anonymisiert): ___________________________ Datum: 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0480"/>
                <a:gridCol w="1300480"/>
                <a:gridCol w="1300480"/>
                <a:gridCol w="1300480"/>
                <a:gridCol w="130048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Dimension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Wallet-Share (%)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Finanzierung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Absicherung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Kapitalanlage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Zahlungsverkehr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Privat/Gesellschafter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Gesamt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VI · 4.6 ARBEITSBLÄTTER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19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016000"/>
            <a:ext cx="4953000" cy="20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0" i="0">
                <a:solidFill>
                  <a:srgbClr val="191D2E"/>
                </a:solidFill>
                <a:latin typeface="Georgia"/>
              </a:rPr>
              <a:t>Arbeitsblatt B: Cross-Selling-Gesprächsvorbereitung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175000"/>
            <a:ext cx="4953000" cy="1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4D5270"/>
                </a:solidFill>
                <a:latin typeface="Georgia"/>
              </a:rPr>
              <a:t>Ausgewählte Hypothese: ___________________________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096000" y="1016000"/>
          <a:ext cx="6502400" cy="311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51200"/>
                <a:gridCol w="3251200"/>
              </a:tblGrid>
              <a:tr h="4445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Schritt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8F8FA"/>
                          </a:solidFill>
                          <a:latin typeface="Courier New"/>
                        </a:rPr>
                        <a:t>Meine Vorbereitung</a:t>
                      </a:r>
                    </a:p>
                  </a:txBody>
                  <a:tcPr>
                    <a:solidFill>
                      <a:srgbClr val="191D2E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Situationsfrage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Problemfrage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Implikationsfrage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Nutzenfrage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Verbundpartner / Lösung</a:t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8F8FA"/>
                    </a:solidFill>
                  </a:tcPr>
                </a:tc>
              </a:tr>
              <a:tr h="4445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>Dokumentation in agree</a:t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91D2E"/>
                          </a:solidFill>
                          <a:latin typeface="Courier New"/>
                        </a:rPr>
                        <a:t/>
                      </a:r>
                    </a:p>
                  </a:txBody>
                  <a:tcPr>
                    <a:solidFill>
                      <a:srgbClr val="F0F0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20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PRAXISTRANSFER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Praxistransfer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21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VIII.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5.2 SELBSTCHECK NACH 4 WOCHEN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5.2 Selbstcheck nach 4 Wochen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22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5.3 VERTIEFUNGSLITERATUR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5.3 Vertiefungsliteratur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85000" y="5524500"/>
            <a:ext cx="4597400" cy="635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i="1">
                <a:solidFill>
                  <a:srgbClr val="7B7FA0"/>
                </a:solidFill>
                <a:latin typeface="Georgia"/>
              </a:rPr>
              <a:t>Bankfachlich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23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Bankfachlich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zeb consulting (2020): Firmenkundenstudie 8.0 – Wallet-Share-Daten, Benchmark-Penetrationsraten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Roland Berger (2024): KMU-Banking: Firmenkundenberater 2.0 – Digitale Potenzialanalyse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BVR: Cross-Selling-Leitfaden für Volksbanken und Raiffeisenbanken (Intranet, aktuell)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24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Gesprächsführung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Rackham, N. (1988): SPIN Selling – Kapitel 4–6: Von impliziten zu expliziten Bedarfen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Hanan, M. (1970): Consultative Selling – Grundlagen bedarfsorientierter Gesprächsführung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7B7FA0"/>
                </a:solidFill>
                <a:latin typeface="Courier New"/>
              </a:rPr>
              <a:t>§ IX · 5.3 VERTIEFUNGSLITERATUR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7B7FA0"/>
                </a:solidFill>
                <a:latin typeface="Courier New"/>
              </a:rPr>
              <a:t>25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10972800" cy="1397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191D2E"/>
                </a:solidFill>
                <a:latin typeface="Georgia"/>
              </a:rPr>
              <a:t>Verbundpartner-Materialien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243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41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R+V Versicherung: Produktschulungen Gewerbe (Verbund-Intranet)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73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6000" y="3048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Union Investment: Firmenkunden-Beratungsmodule (VR-NetWorld)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708400"/>
            <a:ext cx="304800" cy="355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0" i="0">
                <a:solidFill>
                  <a:srgbClr val="1F2B56"/>
                </a:solidFill>
                <a:latin typeface="Georgia"/>
              </a:rPr>
              <a:t>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6000" y="3683000"/>
            <a:ext cx="990600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191D2E"/>
                </a:solidFill>
                <a:latin typeface="Georgia"/>
              </a:rPr>
              <a:t>Schwäbisch Hall: Gewerbeimmobilien und Baufinanzierung privat für Unternehmer (Intranet)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26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DIDAKTIK &amp; KOMPETENZENTWICKLUNG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Didaktik &amp; Kompetenzentwicklung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BEDARFSANALYSE &amp; VERTRIEB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27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25500"/>
            <a:ext cx="5715000" cy="495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0" b="0" i="1">
                <a:solidFill>
                  <a:srgbClr val="D9BF7A"/>
                </a:solidFill>
                <a:latin typeface="Georgia"/>
              </a:rPr>
              <a:t>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85000" y="3683000"/>
            <a:ext cx="4597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BEDARFSANALYSE &amp; VERTRIEB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85000" y="4000500"/>
            <a:ext cx="4597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600" b="0" i="0">
                <a:solidFill>
                  <a:srgbClr val="F8F8FA"/>
                </a:solidFill>
                <a:latin typeface="Georgia"/>
              </a:rPr>
              <a:t>Bedarfsanalyse &amp; Vertrieb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91D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304800"/>
            <a:ext cx="25400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8F8FA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304800"/>
            <a:ext cx="1158240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 spc="100">
                <a:solidFill>
                  <a:srgbClr val="F8F8FA"/>
                </a:solidFill>
                <a:latin typeface="Courier New"/>
              </a:rPr>
              <a:t>QUELLENAPPARAT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6350000"/>
            <a:ext cx="11582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0" i="0">
                <a:solidFill>
                  <a:srgbClr val="606070"/>
                </a:solidFill>
                <a:latin typeface="Courier New"/>
              </a:rPr>
              <a:t>28 / 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889000"/>
            <a:ext cx="508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 spc="100">
                <a:solidFill>
                  <a:srgbClr val="7B7FA0"/>
                </a:solidFill>
                <a:latin typeface="Courier New"/>
              </a:rPr>
              <a:t>QUELLENAPPARAT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174750"/>
            <a:ext cx="109728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200" b="0" i="0">
                <a:solidFill>
                  <a:srgbClr val="F8F8FA"/>
                </a:solidFill>
                <a:latin typeface="Georgia"/>
              </a:rPr>
              <a:t>Quellen­apparat.</a:t>
            </a:r>
          </a:p>
        </p:txBody>
      </p:sp>
      <p:sp>
        <p:nvSpPr>
          <p:cNvPr id="7" name="Rectangle 6"/>
          <p:cNvSpPr/>
          <p:nvPr/>
        </p:nvSpPr>
        <p:spPr>
          <a:xfrm>
            <a:off x="609600" y="2286000"/>
            <a:ext cx="10972800" cy="6350"/>
          </a:xfrm>
          <a:prstGeom prst="rect">
            <a:avLst/>
          </a:prstGeom>
          <a:solidFill>
            <a:srgbClr val="4048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" y="2413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Roland Berger. (2024). KMU-Banking: Firmenkundenberater 2.0. Roland Berger.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921000"/>
            <a:ext cx="508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0C4D8"/>
                </a:solidFill>
                <a:latin typeface="Courier New"/>
              </a:rPr>
              <a:t>zeb consulting. (2020). Firmenkundenstudie 8.0. zeb.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600" y="508000"/>
            <a:ext cx="317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91D2E"/>
                </a:solidFill>
                <a:latin typeface="Arial"/>
              </a:rPr>
              <a:t>FKB  Campus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546100"/>
            <a:ext cx="11582400" cy="25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0" i="0">
                <a:solidFill>
                  <a:srgbClr val="7B7FA0"/>
                </a:solidFill>
                <a:latin typeface="Courier New"/>
              </a:rPr>
              <a:t>Ende · v0.3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1143000"/>
            <a:ext cx="10972800" cy="368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0" b="0" i="0">
                <a:solidFill>
                  <a:srgbClr val="191D2E"/>
                </a:solidFill>
                <a:latin typeface="Georgia"/>
              </a:rPr>
              <a:t>Danke.
Fragen?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5143500"/>
            <a:ext cx="10972800" cy="6350"/>
          </a:xfrm>
          <a:prstGeom prst="rect">
            <a:avLst/>
          </a:prstGeom>
          <a:solidFill>
            <a:srgbClr val="19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5270500"/>
            <a:ext cx="5715000" cy="10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191D2E"/>
                </a:solidFill>
                <a:latin typeface="Georgia"/>
              </a:rPr>
              <a:t>Das vollständige Modul «Cross-Selling systematisch» ist auf FKB Campus verfügbar — 5 Lernziele, Praxisfall und Quellenapparat.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5270500"/>
            <a:ext cx="24130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Kontakt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67500" y="5499100"/>
            <a:ext cx="2413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info@benedikt-zoller.de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98000" y="5270500"/>
            <a:ext cx="2184400" cy="20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 spc="100">
                <a:solidFill>
                  <a:srgbClr val="7B7FA0"/>
                </a:solidFill>
                <a:latin typeface="Courier New"/>
              </a:rPr>
              <a:t>Modul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98000" y="5499100"/>
            <a:ext cx="21844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91D2E"/>
                </a:solidFill>
                <a:latin typeface="Georgia"/>
              </a:rPr>
              <a:t>M13 · Berater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