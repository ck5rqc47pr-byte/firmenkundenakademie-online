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M12  ·  K-03 Gesprächsführung &amp; Beratung  ·  Zielstufe: Stratege  ·  1 Tag (ca. 8 Std.)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Auf Augenhöhe mit dem Unternehmer – Nachfolge begleiten und gestalten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Systemische und zirkuläre Fragetechniken einsetzen, um latente Zukunftsängste aufzudecken und psychologische Sicherheit herzustellen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Individualisiertes Nachfolgezeitkonzept (Roadmap 3–7 Jahre) mit Finanzierungs-, Steuer- und emotionalen Meilensteinen entwickeln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Emotionale Bereitschaft eines Unternehmers zur Übergabe beurteilen und Loslasswiderstände konstruktiv adressieren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4.1 Theorie-Input: Das CEO-Gespräch – Mindset und Vorbereitung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Den ersten Schritt gehen: Wie initiiert man das CEO-Gespräch bei einem Bestandskunden?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Anlass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Konkreter Einstieg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Jahresgespräch (immer möglich)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„Ich merke, dass wir in unseren Gesprächen vor allem über Zahlen und Produkte reden. Ich würde gerne einmal verstehen, wie Sie mittel- bis langfristig auf Ihr Unternehmen schauen – darf ich dazu ein paar andere Fragen stellen?"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 einem Lebens-Event (Krankheit, runder Geburtstag, Familienereignis)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„Sie hatten ja letztes Jahr [Krankheit / 60. Geburtstag / Hochzeit Kind]. Solche Momente bringen viele Unternehmer dazu, neu über die Zukunft nachzudenken. Wie ist das bei Ihnen?"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 dem Marktgespräch heraus (Branchenveränderung, Mitbewerber-Nachfolge)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„Ihr Mitbewerber Müller hat ja letztes Jahr den Betrieb verkauft – das hat in der Branche einige überrascht. Haben Sie selbst schon darüber nachgedacht, wie Ihre Nachfolge eines Tages aussehen könnte?"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Psychologische Sicherheit als Gesprächsgrundlage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Gleichwertigkeit: </a:t>
            </a:r>
            <a:r>
              <a:rPr sz="1700">
                <a:solidFill>
                  <a:srgbClr val="1A1A1A"/>
                </a:solidFill>
                <a:latin typeface="Arial"/>
              </a:rPr>
              <a:t>„Ich bin nicht hier, um Sie zu prüfen oder zu belehren, sondern um gemeinsam zu schauen, was für Ihre Zukunft sinnvoll ist."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Vertraulichkeit: </a:t>
            </a:r>
            <a:r>
              <a:rPr sz="1700">
                <a:solidFill>
                  <a:srgbClr val="1A1A1A"/>
                </a:solidFill>
                <a:latin typeface="Arial"/>
              </a:rPr>
              <a:t>„Was Sie mir anvertrauen, bleibt zwischen uns."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Kompetenz: </a:t>
            </a:r>
            <a:r>
              <a:rPr sz="1700">
                <a:solidFill>
                  <a:srgbClr val="1A1A1A"/>
                </a:solidFill>
                <a:latin typeface="Arial"/>
              </a:rPr>
              <a:t>Subtile Signale, dass der FK das Nachfolge-Thema ernst nimmt und Erfahrung 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Das Board-Room-Mindset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Nicht unterordnend sprechen: </a:t>
            </a:r>
            <a:r>
              <a:rPr sz="1700">
                <a:solidFill>
                  <a:srgbClr val="1A1A1A"/>
                </a:solidFill>
                <a:latin typeface="Arial"/>
              </a:rPr>
              <a:t>(„Ich möchte ja nicht in Ihre Geschäfte reingrätschen, aber…") → stattdessen direkt: „Das habe ich in ähnlichen Fällen anders gesehen. Darf ich dazu eine Frage stellen?"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Eigene Expertise einbringen: </a:t>
            </a:r>
            <a:r>
              <a:rPr sz="1700">
                <a:solidFill>
                  <a:srgbClr val="1A1A1A"/>
                </a:solidFill>
                <a:latin typeface="Arial"/>
              </a:rPr>
              <a:t>ohne Demut: „Nachfolgen begleite ich seit Jahren. Wir sehen dabei Muster, die nicht sofort auffallen."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Produktiven Widerspruch: </a:t>
            </a:r>
            <a:r>
              <a:rPr sz="1700">
                <a:solidFill>
                  <a:srgbClr val="1A1A1A"/>
                </a:solidFill>
                <a:latin typeface="Arial"/>
              </a:rPr>
              <a:t>anbringen, wenn nötig: „Das ergibt für mich weniger Sinn, weil … Was denken Sie dazu?"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Vorbereitungs-Checkliste für den CEO-Dialog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Informationsquellen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Leitfragen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Unternehmerdaten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agree-Kundenstamm, Jahresgespräch-Notizen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Alter, Gründungsjahr, aktuelle Lebenssituation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Unternehmensdaten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Jahresabschluss, BWA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Umsatz, Marge, Mitarbeiterzahl, Branchentrend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Familie / Potenzielle Nachfolger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Gesprächsnotizen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Namen, Alter, Ausbildung, bisheriges Interesse am Unternehmen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Frühere Äußerungen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Jahresgespräch-Protokolle (agree/VR-NetWorld) – primäre Quelle, CRM-Notizen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Hat der Unternehmer schon mal Nachfolge erwähnt? Hinweise auf Gesundheit, Familienkonflikte, Planungsmüdigkeit? Gibt es eine Gesprächshistorie vom Vorgänger-Berater mit relevanten Informationen?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Emotionales Register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Persönliche Wahrnehmung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Wirkt er gestresst, müde, euphorisch? Wie verändert das die Gesprächsführung?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4.2 Theorie-Input: Fragetechniken auf Strategieebene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Systemische Fragen (jenseits von SPIN)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27432" cy="53035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Das SPIN-Modell (Rackham, 1988) eignet sich für Verkaufsgespräche, in denen ein Problem erkannt und gelöst wird. Nachfolge ist jedoch ein existenzielles Thema.…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Systemische Fragen machen die Vernetzung von Elementen sichtbar: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- „Wie hängt Ihre Nachfolgeplanung mit der Situation Ihrer Kinder zusammen?" - „Welche Rolle spielt Ihr Unternehmen in Ihrem Selbstverständnis – und was würde…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Zirkuläre Fragen (Penn, 1982) erforschen, wie andere den Unternehmer und sein Dilemma wahrnehmen: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- „Wie würde Ihr ältester Sohn die aktuelle Situation beschreiben – denken Sie?" - „Was würde Ihr engster Mitarbeiter sagen, wenn ich ihn fragen würde, ob er…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Zirkuläre Fragen decken implizite Ängste und Blockaden auf, ohne direkt zu fragen: „Haben Sie Angst vor Kontrollverlust?"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Lösungsorientierte Zukunftsfragen (de Shazer, 1985)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lösungsorientierte Gesprächsführung hilft, den Unternehmer aus Lähmung oder Verdrängung herauszuholen: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Wunder-Frage: „Angenommen, über Nacht geschähe ein Wunder und Ihre Nachfolge wäre perfekt gelöst – wie würde das konkret aussehen? Was wäre anders?" 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Diese Fragen ermöglichen es dem Unternehmer, aus der Problemtrance herauszutreten und Ziele zu visualisieren.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Haltung: Echte Neugier statt versteckter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Systemische Fragetechniken erfordern eine innere Haltung der genuinen Neugier (Tomm, 1987). Der FK darf nicht bereits wissen, wohin die Antwort führen soll: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Fragen offen stellen, nicht suggestiv - Die Antwort wirklich hören, nicht bereits das nächste Ziel-Frame vorbereiten - Nachfragen zeigen: „Ich bin daran…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 Theorie-Input: Nachfolge-Typen und Prozess im Überblick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Die vier Hauptnachfolgearten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Nachfolgeart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Charakteristik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Dauer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VR-Bank-Rolle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Familienintern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Übergabe an Kind/Angehörige; emotional belastet; Vertrauen hoch, aber Abhängigkeiten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3–7 Jahre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Finanzierungspartner; emotionale Begleitung; Vermittlung ext. Berater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Family Equity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Familienangehörige werden als stille Gesellschafter beteiligt, ohne operative Verantwortung zu übernehmen; häufiger als echte Stiftung im VR-Mittelstand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2–5 Jahre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Finanzierungsstrukturierung; Begleitung Einlagengestaltung; Verbindung zu DZ BANK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MBO (Management Buy-Out)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Verkauf an bestehendes Management-Team; Finanzierung durch Bank ± Private Equity; hohe Komplexität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2–5 Jahre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Primärer Finanzierungspartner; Due-Diligence-Support; Kreditstrukturierung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Strategischer Verkauf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Verkauf an strategischen Käufer; oft Mehrheitsverkauf; Prozess durch M&amp;A-Berater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1–3 Jahre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Netzwerk-Partner; Refinanzierung des Käufers; ggf. DZ BANK Corporate Finance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Stiftungslösung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Übergabe an gemeinnützige oder Familienstiftung; emotional für sozialverantwortliche Unternehmer; im VR-Mittelstand selten, aber wachsend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3–5 Jahre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Beratungspartner; ggf. Teilfinanzierung; Steuerberater zwingend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Nachfolgeprozess – fünf Phasen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Zeitraum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Kern-Aufgaben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FK-Aufgabe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 Bewusstseinsbildung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 −3 bis −2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 als Thema anerkennen; erste exploratorische Gespräche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Enttabuisieren; Szenarien aufzeigen; psychologische Sicherheit schaffen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 Vorbereitung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 −2 bis −1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Unternehmensbewertung; Optionen-Analyse; externe Berater einbinden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Finanzierungskonzepte entwickeln; Verbundpartner koordinieren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 Entscheidung &amp; Verhandlung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 −1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Nachfolgeart verbindlich wählen; Kaufpreis verhandeln; notarielle Regelungen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Finanzierungszusage; Due-Diligence-Support; Treuhänder-Funktion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 Handover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Übergabejahr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Formale Übergabe; Einarbeitung des Nachfolgers (6–12 Monate)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Kreditumstellung; Psychological Support; Loslassbegleitung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Nachbegleitung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 +1 bis 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Vorgänger tritt aus operativer Rolle aus; Nachfolger übernimmt vollständig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Kontinuität in der Geschäftsbeziehung; neuen Kreditberater etablieren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Regulatorische Eckpunkte (Orientierungsrahmen)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Erbschaftsteuer / Schenkungsteuer: </a:t>
            </a:r>
            <a:r>
              <a:rPr sz="1700">
                <a:solidFill>
                  <a:srgbClr val="1A1A1A"/>
                </a:solidFill>
                <a:latin typeface="Arial"/>
              </a:rPr>
              <a:t>§ 13a ErbStG regelt die Begünstigungen für Betriebsvermögen bei familieninterner Übergabe (Verschonungsabschlag 85 %; Optionsverschonung 100 %; Behaltensfristen 5 bzw. 7 Jahre).…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400.000 EUR je Elternteil und je Kind: </a:t>
            </a:r>
            <a:r>
              <a:rPr sz="1700">
                <a:solidFill>
                  <a:srgbClr val="1A1A1A"/>
                </a:solidFill>
                <a:latin typeface="Arial"/>
              </a:rPr>
              <a:t>– d.h. ein Kind kann im Erbfall von beiden Elternteilen zusammen bis zu 800.000 EUR steuerfrei erhalten. Wichtig: Dieser Freibetrag kann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alle 10 Jahre erneut genutzt werden: </a:t>
            </a:r>
            <a:r>
              <a:rPr sz="1700">
                <a:solidFill>
                  <a:srgbClr val="1A1A1A"/>
                </a:solidFill>
                <a:latin typeface="Arial"/>
              </a:rPr>
              <a:t>– eine schrittweise Schenkung über mehrere Jahre kann daher steuerlich deutlich günstiger sein als eine Einmal-Übertragung. Hinweis: Diese Orientierungsinformation ersetzt keine…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Gesellschaftsrechtliche Fragen: </a:t>
            </a:r>
            <a:r>
              <a:rPr sz="1700">
                <a:solidFill>
                  <a:srgbClr val="1A1A1A"/>
                </a:solidFill>
                <a:latin typeface="Arial"/>
              </a:rPr>
              <a:t>(GmbH-G, HGB): Sind Gesellschafterverträge aktuell? Gibt es Vorkaufsrechte?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Praxishinweis: Der Steuerberater als Gatekeeper: </a:t>
            </a:r>
            <a:r>
              <a:rPr sz="1700">
                <a:solidFill>
                  <a:srgbClr val="1A1A1A"/>
                </a:solidFill>
                <a:latin typeface="Arial"/>
              </a:rPr>
              <a:t>&gt; &gt; In der Praxis ist oft nicht der FK der erste Ansprechpartner für Nachfolgefragen – sondern der Steuerberater. Wenn dieser die Bank nicht mag, seinen eigenen M&amp;A-Kontakt hat…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Regulatorische Eckpunkte (Orientierungsrahmen)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Strategische Partnerschaft statt Konkurrenz: </a:t>
            </a:r>
            <a:r>
              <a:rPr sz="1700">
                <a:solidFill>
                  <a:srgbClr val="1A1A1A"/>
                </a:solidFill>
                <a:latin typeface="Arial"/>
              </a:rPr>
              <a:t>&gt; - Den Steuerberater frühzeitig einbinden und aktiv einladen: „Wir sehen unsere Rolle als Finanzierungspartner – die steuerliche Gestaltung liegt bei Ihnen. Gemeinsam können wir…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Arbeitsrecht: </a:t>
            </a:r>
            <a:r>
              <a:rPr sz="1700">
                <a:solidFill>
                  <a:srgbClr val="1A1A1A"/>
                </a:solidFill>
                <a:latin typeface="Arial"/>
              </a:rPr>
              <a:t>(insbesondere bei MBO): Betriebsrat-Mitsprache; Kündigungsschutz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Finanzierungsrecht: </a:t>
            </a:r>
            <a:r>
              <a:rPr sz="1700">
                <a:solidFill>
                  <a:srgbClr val="1A1A1A"/>
                </a:solidFill>
                <a:latin typeface="Arial"/>
              </a:rPr>
              <a:t>(KWG, CRR/CRD, MaRisk): Bonitätsbeurteilung des Nachfolgers; Besicherung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4.4 Theorie-Input: Die emotionale Dimension der Nachfolge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Kontrollverlust und Identitätsbedrohung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Verleugnung: </a:t>
            </a:r>
            <a:r>
              <a:rPr sz="1700">
                <a:solidFill>
                  <a:srgbClr val="1A1A1A"/>
                </a:solidFill>
                <a:latin typeface="Arial"/>
              </a:rPr>
              <a:t>„Das Thema ist noch gar nicht aktuell." 2.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Widerstand: </a:t>
            </a:r>
            <a:r>
              <a:rPr sz="1700">
                <a:solidFill>
                  <a:srgbClr val="1A1A1A"/>
                </a:solidFill>
                <a:latin typeface="Arial"/>
              </a:rPr>
              <a:t>„Mein Sohn ist noch nicht bereit." 3.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Verhandeln: </a:t>
            </a:r>
            <a:r>
              <a:rPr sz="1700">
                <a:solidFill>
                  <a:srgbClr val="1A1A1A"/>
                </a:solidFill>
                <a:latin typeface="Arial"/>
              </a:rPr>
              <a:t>„Vielleicht mache ich noch ein paar Jahre." 4.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Trauer: </a:t>
            </a:r>
            <a:r>
              <a:rPr sz="1700">
                <a:solidFill>
                  <a:srgbClr val="1A1A1A"/>
                </a:solidFill>
                <a:latin typeface="Arial"/>
              </a:rPr>
              <a:t>Tiefe emotionale Aufarbeitung des Loslassens. 5.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Akzeptanz: </a:t>
            </a:r>
            <a:r>
              <a:rPr sz="1700">
                <a:solidFill>
                  <a:srgbClr val="1A1A1A"/>
                </a:solidFill>
                <a:latin typeface="Arial"/>
              </a:rPr>
              <a:t>Umgestaltung der Identität: „Ich bin jetzt Mentor."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Das Vermächtnis-Dilemma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Viele Unternehmer tragen zwei widersprüchliche Wünsche: - Kontrolle bewahren: „Nur ich kann das Unternehmen richtig führen." - Vermächtnis hinterlassen: „Mein…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FK hilft durch gezielte Fragen, diesen Widerspruch aufzulösen: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„Was ist Ihnen wichtiger: die Kontrolle über die nächsten 5 Jahre zu behalten – oder ein Vermächtnis zu schaffen, das 20 Jahre bestand hat?" - „Wenn Sie Ihre…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Nachfolge wird so nicht als Verlust, sondern als Möglichkeit zur Neugestaltung der Rolle gerahmt.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Praktische Interventionen zur Loslassbegleitung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Technik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Formulierungsbeispiel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Externe Validierung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„Die Unternehmer, die ich am meisten respektiere, haben den Mut gehabt loszulassen – und gemerkt, dass das Unternehmen ohne sie gedeiht. Das war für sie befreiend."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Rollenneugestaltung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„Statt ‚ausscheiden' – wie wäre es mit ‚in eine neue Rolle wechseln'? Verwaltungsrat? Mentor? Mehr Zeit für andere Leidenschaften?"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Kleines Experiment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„Hätten Sie Lust, das einmal auszuprobieren? Zwei Wochen, in denen Sie bewusst delegieren – nicht weil Sie müssen, sondern um zu sehen, was passiert. Was denken Sie?"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Zeithoheit geben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„Wir machen einen Plan und entwickeln Ihren Nachfolger. Sie entscheiden selbst, wann der Punkt kommt."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4.5 Praxisfall: Metallverarbeitung Wagner KG, Stuttgart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5"/>
                </a:solidFill>
                <a:latin typeface="Arial"/>
              </a:rPr>
              <a:t>Praxisfall &amp; Fallanalyse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228600"/>
            <a:ext cx="11750040" cy="6858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PRAXISFALL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5603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Arial"/>
              </a:rPr>
              <a:t>4.5 Praxisfall: Metallverarbeitung Wagner KG, Stuttgart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623560" cy="51206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56575"/>
                </a:solidFill>
                <a:latin typeface="Arial"/>
              </a:rPr>
              <a:t>UNTERNEHMENSPORTRAIT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Unternehmensprofil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05840"/>
            <a:ext cx="5989320" cy="5120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1005840"/>
            <a:ext cx="54864" cy="512064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5B00"/>
                </a:solidFill>
                <a:latin typeface="Arial"/>
              </a:rPr>
              <a:t>SITUATION &amp; AUFTRAG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50876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Arial"/>
              </a:rPr>
              <a:t>Ausgangssituation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Arbeitsaufgabe – 4.5 Praxisfall: Metallverarbeitung Wagner KG, Stuttgart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3143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Metallverarbeitung Wagner KG (fiktiv)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Präzisionsmechanik / Maschinenbau-Zulieferer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Gründung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1978 durch Karl Wagner Sen.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Geschäftsführer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Karl Wagner Jun. (57 Jahre)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12 Mio. EUR (2024)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 (1,2 Mio. EUR)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Unternehmenswert (Schätzung)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ca. 5–6 Mio. EUR (EBIT-Multiplikator 4–5x; Maschinenbau-Zulieferer typisch)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MBO-Finanzierbarkeit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Bei EK-Quote 20–25 % (1,0–1,5 Mio. EUR Eigenanteil Käufer) und FK-Finanzierung 3,5–4,5 Mio. EUR – anspruchsvoll aber realistisch für einen Meister mit entsprechender Bonität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45 (davon: 3 Meister, 8 Techniker, 34 Facharbeiter)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Kreditvolumen VR-Bank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2,8 Mio. EUR (Betriebsmittellinie + Maschinenfinanzierungen)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Familie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Verheiratet; zwei Kinder: Katrin (32, Lehrerin) / Michael (29, IT-Studium abgebrochen)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Zeitraum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Schritte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Nächste 4 Wochen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Unternehmensbewertung (Kaufpreis-Grundlage); finanzielle Prüfung (Hidden Liabilities?); Klärung: Darf Claudia diskret mit Dieter und Michael sprechen?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Wochen 5–16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MBO-Szenario mit Dieter erkunden (Finanzierungskraft, Interesse); Michael an externe KMU-Ausbildung/Unternehmer-Programm vermitteln; DZ BANK M&amp;A-Team für MBO-Expertise einbinden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143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Wochen 17–52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Verbindliche Finanzierungszusage erarbeiten; Steuerberater &amp; Notar einbinden (GmbH-Vertrag, ErbStG-Optimierung); Karl in „Mentor-Rolle" entwickeln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4.6 Arbeitsblatt: Nachfolge-Erstgespräch strukturieren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Vorbereitung (vor dem Gespräch)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☐ Unternehmensdaten zusammentragen (Umsatz, Gewinn, Mitarbeiter, Branche) - ☐ Familie erkunden: Wer sind potenzielle Nachfolger? Alter, Ausbildung,…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Eröffnungsphase (5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☐ Psychologische Sicherheit signalisieren: „Was Sie mir erzählen, bleibt vertraulich." - ☐ Gleichwertigkeit klarstellen: „Ich bin nicht als Prüfer hier,…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Diagnostische Phase (20–30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Zur Bewusstseinsbildung: </a:t>
            </a:r>
            <a:r>
              <a:rPr sz="1700">
                <a:solidFill>
                  <a:srgbClr val="1A1A1A"/>
                </a:solidFill>
                <a:latin typeface="Arial"/>
              </a:rPr>
              <a:t>- ☐ „Wie lange beschäftigt Sie das Nachfolge-Thema schon?" - ☐ „Was hat Sie bewogen, es jetzt anzusprechen?" - ☐ „Wer in Ihrer Familie oder Ihrem Team kennt Ihre Gedanken zur…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Zu Emotion und Blockaden: </a:t>
            </a:r>
            <a:r>
              <a:rPr sz="1700">
                <a:solidFill>
                  <a:srgbClr val="1A1A1A"/>
                </a:solidFill>
                <a:latin typeface="Arial"/>
              </a:rPr>
              <a:t>- ☐ „Was ist das Größte, das Ihnen Sorge macht bei einer Nachfolge?" - ☐ [Zirkuläre Frage] „Wie würde Ihr ältester Mitarbeiter die Situation beschreiben – wenn Sie ihn fragten?"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Zu potenziellen Nachfolgern: </a:t>
            </a:r>
            <a:r>
              <a:rPr sz="1700">
                <a:solidFill>
                  <a:srgbClr val="1A1A1A"/>
                </a:solidFill>
                <a:latin typeface="Arial"/>
              </a:rPr>
              <a:t>- ☐ „Wer könnte aus Ihrer Sicht für die Nachfolge infrage kommen?" - ☐ „Was würde die Person brauchen, um bereit zu sein?" - ☐ „Haben Sie mit ihr/ihm schon offen darüber…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Zur Lösungsvision: </a:t>
            </a:r>
            <a:r>
              <a:rPr sz="1700">
                <a:solidFill>
                  <a:srgbClr val="1A1A1A"/>
                </a:solidFill>
                <a:latin typeface="Arial"/>
              </a:rPr>
              <a:t>- ☐ [Wunder-Frage] „Angenommen, die Nachfolge wäre morgen perfekt gelöst – wie würde sie aussehen?" - ☐ „Was ist Ihnen wichtiger: die Kontrolle zu behalten oder ein dauerhaftes…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Strukturierungsphase (10–15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DZ BANK Corporate Finance: </a:t>
            </a:r>
            <a:r>
              <a:rPr sz="1700">
                <a:solidFill>
                  <a:srgbClr val="1A1A1A"/>
                </a:solidFill>
                <a:latin typeface="Arial"/>
              </a:rPr>
              <a:t>Ansprechstelle für MBO-Finanzierungen und größere Unternehmenstransaktionen (&gt; 5 Mio. EUR Kaufpreis) – Kontakt über Firmenkundenleiter oder DZ BANK Regionalbetreuung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BVR / GenoAkademie: </a:t>
            </a:r>
            <a:r>
              <a:rPr sz="1700">
                <a:solidFill>
                  <a:srgbClr val="1A1A1A"/>
                </a:solidFill>
                <a:latin typeface="Arial"/>
              </a:rPr>
              <a:t>Unternehmer-Nachfolgeberatung; Coaching-Programme für Unternehmer; ggf. BVR-Nachfolge-Netzwerk anfragen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MünchenerHyp: </a:t>
            </a:r>
            <a:r>
              <a:rPr sz="1700">
                <a:solidFill>
                  <a:srgbClr val="1A1A1A"/>
                </a:solidFill>
                <a:latin typeface="Arial"/>
              </a:rPr>
              <a:t>Finanzierungsansätze bei immobilienbesicherter Übernahme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Steuerberater &amp; Notar: </a:t>
            </a:r>
            <a:r>
              <a:rPr sz="1700">
                <a:solidFill>
                  <a:srgbClr val="1A1A1A"/>
                </a:solidFill>
                <a:latin typeface="Arial"/>
              </a:rPr>
              <a:t>Zwingend ab Phase 2; Steuerberater frühzeitig einbinden – nicht erst bei Vertragsgestaltung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Externer Coach: </a:t>
            </a:r>
            <a:r>
              <a:rPr sz="1700">
                <a:solidFill>
                  <a:srgbClr val="1A1A1A"/>
                </a:solidFill>
                <a:latin typeface="Arial"/>
              </a:rPr>
              <a:t>Empfehlen, wenn emotionale Blockaden (Loslasswiderstand) überwiegen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M12 · CEO-Dialog &amp; Nachfolge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