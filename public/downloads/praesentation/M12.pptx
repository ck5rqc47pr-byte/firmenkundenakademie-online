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M12  ·  K-03 Gesprächsführung &amp; Beratung  ·  Stratege  ·  1 Tag (ca. 8 Std.)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CEO-Dialog &amp; Nachfolge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0"/>
                </a:solidFill>
                <a:latin typeface="Arial"/>
              </a:rPr>
              <a:t>Auf Augenhöhe mit dem Unternehmer – Nachfolge begleiten und gestalten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CC"/>
                </a:solidFill>
                <a:latin typeface="Arial"/>
              </a:rPr>
              <a:t>Trainer-Präsentation  ·  v0.3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Psychologische und strategische Dimensionen eines CEO-Dialogs analysieren und zwischen Statusgefühlen, Kontrollbedarf und echten Strategiefragen unterscheiden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Systemische und zirkuläre Fragetechniken einsetzen, um latente Zukunftsängste aufzudecken und psychologische Sicherheit herzustellen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Nachfolgeoptionen (familienintern, MBO, strategischer Verkauf, Stiftung) anhand von Unternehmensdaten und Unternehmerpersönlichkeit evaluieren und empfehlen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Individualisiertes Nachfolgezeitkonzept (Roadmap 3–7 Jahre) mit Finanzierungs-, Steuer- und emotionalen Meilensteinen entwickeln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Emotionale Bereitschaft eines Unternehmers zur Übergabe beurteilen und Loslasswiderstände konstruktiv adressieren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Den ersten Schritt gehen: Wie initiiert man das CEO-Gespräch bei einem Bestandskunden?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häufigste Hürde in der Praxis ist nicht das Handwerk, sondern die Überwindung: „Ich kenne den schon 10 Jahre – das…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Drei bewährte Einstiegs-Anlässe: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Kernprinzip: Der Einstieg ist keine Analyse und kein Angebot – er ist eine Einladung. Wer zu früh mit Nachfolge-Typen…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Psychologische Sicherheit als Gesprächsgrundlage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Gleichwertigkeit: „Ich bin nicht hier, um Sie zu prüfen oder zu belehren, sondern um gemeinsam zu schauen, was für Ihre Zukunft sinnvoll ist."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Vertraulichkeit: „Was Sie mir anvertrauen, bleibt zwischen uns."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Kompetenz: Subtile Signale, dass der FK das Nachfolge-Thema ernst nimmt und Erfahrung 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Das Board-Room-Mindset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Nicht unterordnend sprechen („Ich möchte ja nicht in Ihre Geschäfte reingrätschen, aber…") → stattdessen direkt: „Das habe ich in ähnlichen Fällen anders gesehen. Darf ich dazu eine Frage stellen?"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Eigene Expertise einbringen ohne Demut: „Nachfolgen begleite ich seit Jahren. Wir sehen dabei Muster, die nicht sofort auffallen."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Produktiven Widerspruch anbringen, wenn nötig: „Das ergibt für mich weniger Sinn, weil … Was denken Sie dazu?"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Systemische Fragen (jenseits von SPIN)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„Wie hängt Ihre Nachfolgeplanung mit der Situation Ihrer Kinder zusammen?"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„Welche Rolle spielt Ihr Unternehmen in Ihrem Selbstverständnis – und was würde sich ändern, wenn Sie es übergeben?"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„Welche Stakeholder (Mitarbeiter, Familie, Kunden, Bank) haben ein Interesse an einer Nachfolge – und wo könnte es Konflikte geben?"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„Wie würde Ihr ältester Sohn die aktuelle Situation beschreiben – denken Sie?"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„Was würde Ihr engster Mitarbeiter sagen, wenn ich ihn fragen würde, ob er eine Übergabe an Ihren Sohn für sinnvoll hält?"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„Wenn wir in fünf Jahren hier säßen und Sie hätten die Nachfolge geregelt: Wie hätte Ihr Ehepartner den Prozess erlebt?"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Lösungsorientierte Zukunftsfragen (de Shazer, 1985)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Wunder-Frage: „Angenommen, über Nacht geschähe ein Wunder und Ihre Nachfolge wäre perfekt gelöst – wie würde das konkret aussehen? Was wäre anders?"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Rückblick-Frage: „Stellen Sie sich vor, Sie sind 75 Jahre alt und blicken zurück: Was müsste jetzt passiert sein, damit Sie mit Ihrer Entscheidung zur Nachfolge zufrieden sind?"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Haltung: Echte Neugier statt versteckter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Fragen offen stellen, nicht suggestiv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Antwort wirklich hören, nicht bereits das nächste Ziel-Frame vorbereiten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Nachfragen zeigen: „Ich bin daran wirklich interessiert, nicht nur an der Diagnose"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Nachfolgeprozess – fünf Phasen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Erfolgreiche Unternehmernachfolgen benötigen empirisch 3–7 Jahre Vorlaufzeit (IfM Bonn, 2016):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Regulatorische Eckpunkte (Orientierungsrahmen)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Erbschaftsteuer / Schenkungsteuer: § 13a ErbStG regelt die Begünstigungen für Betriebsvermögen bei familieninterner Übergabe (Verschonungsabschlag 85 %; Optionsverschonung 100 %; Behaltensfristen 5 bzw. 7 Jahre). Der persönliche Freibetrag nach § 16 Abs. 1 Nr. 2 ErbStG beträgt 400.000 EUR je Elternteil und je Kind – d.h. ein Kind kann im Erbfall von beiden Elternteilen zusammen bis zu 800.000 EUR steuerfrei erhalten. Wichtig: Dieser Freibetrag kann alle 10 Jahre erneut genutzt werden – eine schrittweise Schenkung über mehrere Jahre kann daher steuerlich deutlich günstiger sein als eine Einmal-Übertragung. Hinweis: Diese Orientierungsinformation ersetzt keine steuerrechtliche Beratung – stets Steuerberater einbinden.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Gesellschaftsrechtliche Fragen (GmbH-G, HGB): Sind Gesellschafterverträge aktuell? Gibt es Vorkaufsrechte?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Arbeitsrecht (insbesondere bei MBO): Betriebsrat-Mitsprache; Kündigungsschutz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Finanzierungsrecht (KWG, CRR/CRD, MaRisk): Bonitätsbeurteilung des Nachfolgers; Besicherung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Kontrollverlust und Identitätsbedrohung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Für viele Unternehmer ist das Unternehmen ein Kern ihrer Identität. Der Unternehmer ist sein Unternehmen – in…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Diese existenzielle Angst wird oft verdrängt oder rationalisiert. Psychologisch handelt es sich um einen Trauerprozess…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1. Verleugnung: „Das Thema ist noch gar nicht aktuell." 2. Widerstand: „Mein Sohn ist noch nicht bereit." 3.…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Der FK, der diesen Prozess versteht, behandelt Loslasswiderstände nicht als Irrationalität, sondern als normal und…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Das Vermächtnis-Dilemma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Kontrolle bewahren: „Nur ich kann das Unternehmen richtig führen."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Vermächtnis hinterlassen: „Mein Lebenswerk soll weiterleben und florieren."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„Was ist Ihnen wichtiger: die Kontrolle über die nächsten 5 Jahre zu behalten – oder ein Vermächtnis zu schaffen, das 20 Jahre bestand hat?"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„Wenn Sie Ihre besten Mitarbeiter und Ihre Strategie an einen vertrauenswürdigen Nachfolger übergeben – was könnten Sie dann gut machen, was Sie jetzt nicht können?"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Ausgangssituation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FK Claudia Merz trifft Karl Wagner Jun. zum Jahresgespräch. Karl wirkt heute angespannt. Nach den üblichen Begrüßungen…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Diagnostische Aufgaben für Claudia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1. Emotionaler Zustand: Ist Karl müde, oder ist das eine echte Nachfolgekrise? 2. Nachfolgepotenziale: Sind die Kinder…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Beispiel-Gesprächsverlauf (systemische Technik)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Claudia: „Karl, ich freue mich, dass Sie das Thema ansprechen. Das ist nicht einfach. Bevor wir über Lösungen sprechen…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Karl: [Nickt]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Claudia: „Wenn Sie sagen ‚ich weiß nicht, wie ich das übergeben soll' – was ist das Größte daran, das Ihnen Sorge…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Karl: „Dass das Unternehmen in schlechte Hände kommt. Meine Mitarbeiter sind wie meine Familie. Ich kann mir nicht…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Claudia: [Zirkuläre Frage] „Spannend. Wenn ich Ihren Meister Dieter fragen würde – wie würde der das sehen?"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Karl: „Ah… naja, Dieter würde sich sicher fühlen wollen, dass alles beim Alten bleibt. Wir haben das nie besprochen,…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Vorbereitung (vor dem Gespräch)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Unternehmensdaten zusammentragen (Umsatz, Gewinn, Mitarbeiter, Branche)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Familie erkunden: Wer sind potenzielle Nachfolger? Alter, Ausbildung, Interesse?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Frühere FK-Notizen lesen: Hat der Unternehmer schon mal Nachfolge erwähnt?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Emotional-Register einschätzen: Wirkt er bereit – oder verdrängt er das Thema?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Eröffnungsphase (5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Psychologische Sicherheit signalisieren: „Was Sie mir erzählen, bleibt vertraulich."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Gleichwertigkeit klarstellen: „Ich bin nicht als Prüfer hier, sondern als Begleiter."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Agenda transparent machen: „Ich möchte heute verstehen, wie es für Sie um die Nachfolge steht – ohne Druck."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Diagnostische Phase (20–30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„Wie lange beschäftigt Sie das Nachfolge-Thema schon?"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„Was hat Sie bewogen, es jetzt anzusprechen?"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„Wer in Ihrer Familie oder Ihrem Team kennt Ihre Gedanken zur Nachfolge?"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„Was ist das Größte, das Ihnen Sorge macht bei einer Nachfolge?"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[Zirkuläre Frage] „Wie würde Ihr ältester Mitarbeiter die Situation beschreiben – wenn Sie ihn fragten?"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„Wer könnte aus Ihrer Sicht für die Nachfolge infrage kommen?"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Strukturierungsphase (10–15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Nachfolgeart eingrenzen: Familienintern / MBO / Strategischer Verkauf / Stiftung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Zeithorizont klären: „In welcher Zeitspanne sehen Sie die Nachfolge?"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Nächste Schritte vereinbaren: Wer macht was bis wann?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☐ Verbundpartner benennen und Handlungspfad klären: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DZ BANK Corporate Finance: Ansprechstelle für MBO-Finanzierungen und größere Unternehmenstransaktionen (&gt; 5 Mio. EUR Kaufpreis) – Kontakt über Firmenkundenleiter oder DZ BANK Regionalbetreuung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BVR / GenoAkademie: Unternehmer-Nachfolgeberatung; Coaching-Programme für Unternehmer; ggf. BVR-Nachfolge-Netzwerk anfragen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5.1 Transferaufgabe (innerhalb von 4 Wochen)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5.2 Selbstcheck nach 4 Wochen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Didaktik &amp; Kompetenzmodell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Systemische Beratung &amp; Fragetechniken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Bedarfsanalyse &amp; Gesprächsführung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Unternehmernachfolge &amp; Organisationspsychologie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6F0"/>
                </a:solidFill>
                <a:latin typeface="Arial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7315200" cy="27432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Was hat sich verändert?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AACC"/>
                </a:solidFill>
                <a:latin typeface="Arial"/>
              </a:rPr>
              <a:t>M12 · CEO-Dialog &amp; Nachfolge  ·  v0.3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