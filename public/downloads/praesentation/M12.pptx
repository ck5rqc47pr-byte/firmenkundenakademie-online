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M12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CEO-Dialog &amp; Nachfolge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Auf Augenhöhe mit dem Unternehmer – Nachfolge begleiten und gestalten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 (ca. 8 Std.)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Psychologische und strategische Dimensionen eines CEO-Dialogs analysieren und zwischen Statusgefühlen, Kontrollbedarf und echten Strategiefragen unterscheiden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Systemische und zirkuläre Fragetechniken einsetzen, um latente Zukunftsängste aufzudecken und psychologische Sicherheit herzustellen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Nachfolgeoptionen (familienintern, MBO, strategischer Verkauf, Stiftung) anhand von Unternehmensdaten und Unternehmerpersönlichkeit evaluieren und empfehlen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Individualisiertes Nachfolgezeitkonzept (Roadmap 3–7 Jahre) mit Finanzierungs-, Steuer- und emotionalen Meilensteinen entwickeln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Emotionale Bereitschaft eines Unternehmers zur Übergabe beurteilen und Loslasswiderstände konstruktiv adressieren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4.1 Theorie-Input: Das CEO-Gespräch – Mindset und Vorbereitung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 Theorie-Input: Das CEO-Gespräch – Mindset und Vorbereitung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Den ersten Schritt gehen: Wie initiiert man das CEO-Gespräch bei einem Bestandskunden?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Anlass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Konkreter Einstieg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Jahresgespräch (immer möglich)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„Ich merke, dass wir in unseren Gesprächen vor allem über Zahlen und Produkte reden. Ich würde gerne einmal verstehen, wie Sie mittel- bis langfristig auf Ihr Unternehmen schauen – darf ich dazu ein paar andere Fragen stellen?"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 einem Lebens-Event (Krankheit, runder Geburtstag, Familienereignis)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„Sie hatten ja letztes Jahr [Krankheit / 60. Geburtstag / Hochzeit Kind]. Solche Momente bringen viele Unternehmer dazu, neu über die Zukunft nachzudenken. Wie ist das bei Ihnen?"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 dem Marktgespräch heraus (Branchenveränderung, Mitbewerber-Nachfolge)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„Ihr Mitbewerber Müller hat ja letztes Jahr den Betrieb verkauft – das hat in der Branche einige überrascht. Haben Sie selbst schon darüber nachgedacht, wie Ihre Nachfolge eines Tages aussehen könnte?"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Dimension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Informationsquellen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Leitfragen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Unternehmerdaten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agree-Kundenstamm, Jahresgespräch-Notizen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Alter, Gründungsjahr, aktuelle Lebenssituation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Unternehmensdaten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Jahresabschluss, BWA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Umsatz, Marge, Mitarbeiterzahl, Branchentrend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Familie / Potenzielle Nachfolger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Gesprächsnotizen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Namen, Alter, Ausbildung, bisheriges Interesse am 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Frühere Äußerungen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Jahresgespräch-Protokolle (agree/VR-NetWorld) – primäre Quelle, CRM-Notizen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Hat der Unternehmer schon mal Nachfolge erwähnt? Hinweise auf Gesundheit, Familienkonflikte, Planungsmüdigkeit? Gibt es eine Gesprächshistorie vom Vorgänger-Berater mit relevanten Informationen?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Emotionales Register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Persönliche Wahrnehmung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Wirkt er gestresst, müde, euphorisch? Wie verändert das die Gesprächsführung?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Den ersten Schritt gehen: Wie initiiert man das CEO-Gespräch bei einem Bestandskunden?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häufigste Hürde in der Praxis ist nicht das Handwerk, sondern die Überwindung: „Ich kenne den schon 10 Jahre – das wird komisch, wenn ich jetzt plötzlich über sein Lebenswerk rede." Diese Hemmung ist verständlich,…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Drei bewährte Einstiegs-Anlässe: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Kernprinzip: Der Einstieg ist keine Analyse und kein Angebot – er ist eine Einladung. Wer zu früh mit Nachfolge-Typen und Steuervorteilen kommt, signalisiert Agenda statt Interesse. Der erste Schritt endet mit einer…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Psychologische Sicherheit als Gesprächsgrundlage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Gleichwertigkeit: „Ich bin nicht hier, um Sie zu prüfen oder zu belehren, sondern um gemeinsam zu schauen, was für Ihre Zukunft sinnvoll ist."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Vertraulichkeit: „Was Sie mir anvertrauen, bleibt zwischen uns."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Kompetenz: Subtile Signale, dass der FK das Nachfolge-Thema ernst nimmt und Erfahrung hat.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Board-Room-Mindset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Nicht unterordnend sprechen („Ich möchte ja nicht in Ihre Geschäfte reingrätschen, aber…") → stattdessen direkt: „Das habe ich in ähnlichen Fällen anders gesehen. Darf ich dazu eine Frage stellen?"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Eigene Expertise einbringen ohne Demut: „Nachfolgen begleite ich seit Jahren. Wir sehen dabei Muster, die nicht sofort auffallen."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Produktiven Widerspruch anbringen, wenn nötig: „Das ergibt für mich weniger Sinn, weil … Was denken Sie dazu?"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 Theorie-Input: Fragetechniken auf Strategieebene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Systemische Fragen (jenseits von SPIN)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„Wie hängt Ihre Nachfolgeplanung mit der Situation Ihrer Kinder zusammen?"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„Welche Rolle spielt Ihr Unternehmen in Ihrem Selbstverständnis – und was würde sich ändern, wenn Sie es übergeben?"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„Welche Stakeholder (Mitarbeiter, Familie, Kunden, Bank) haben ein Interesse an einer Nachfolge – und wo könnte es Konflikte geben?"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„Wie würde Ihr ältester Sohn die aktuelle Situation beschreiben – denken Sie?"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„Was würde Ihr engster Mitarbeiter sagen, wenn ich ihn fragen würde, ob er eine Übergabe an Ihren Sohn für sinnvoll hält?"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„Wenn wir in fünf Jahren hier säßen und Sie hätten die Nachfolge geregelt: Wie hätte Ihr Ehepartner den Prozess erlebt?"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Lösungsorientierte Zukunftsfragen (de Shazer, 1985)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Wunder-Frage: „Angenommen, über Nacht geschähe ein Wunder und Ihre Nachfolge wäre perfekt gelöst – wie würde das konkret aussehen? Was wäre anders?"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Rückblick-Frage: „Stellen Sie sich vor, Sie sind 75 Jahre alt und blicken zurück: Was müsste jetzt passiert sein, damit Sie mit Ihrer Entscheidung zur Nachfolge zufrieden sind?"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Haltung: Echte Neugier statt versteckter Agenda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Fragen offen stellen, nicht suggestiv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Antwort wirklich hören, nicht bereits das nächste Ziel-Frame vorbereiten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Nachfragen zeigen: „Ich bin daran wirklich interessiert, nicht nur an der Diagnose"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 Theorie-Input: Nachfolge-Typen und Prozess im Überblick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Die vier Hauptnachfolgearten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Nachfolgeart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Charakteristik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 Dauer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VR-Bank-Rolle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Familienintern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Übergabe an Kind/Angehörige; emotional belastet; Vertrauen hoch, aber Abhängigkeiten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3–7 Jahre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Finanzierungspartner; emotionale Begleitung; Vermittlung ext. Berater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Family Equity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Familienangehörige werden als stille Gesellschafter beteiligt, ohne operative Verantwortung zu übernehmen; häufiger als echte Stiftung im VR-Mittelstand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2–5 Jahre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Finanzierungsstrukturierung; Begleitung Einlagengestaltung; Verbindung zu DZ 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MBO (Management Buy-Out)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Verkauf an bestehendes Management-Team; Finanzierung durch Bank ± Private Equity; hohe Komplexität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2–5 Jahre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Primärer Finanzierungspartner; Due-Diligence-Support; Kreditstrukturierung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Strategischer Verkauf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Verkauf an strategischen Käufer; oft Mehrheitsverkauf; Prozess durch M&amp;A-Berater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1–3 Jahre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Netzwerk-Partner; Refinanzierung des Käufers; ggf. DZ BANK Corporate Finance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Stiftungslösung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Übergabe an gemeinnützige oder Familienstiftung; emotional für sozialverantwortliche Unternehmer; im VR-Mittelstand selten, aber wachsend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3–5 Jahre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Beratungspartner; ggf. Teilfinanzierung; Steuerberater zwingend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Phase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Zeitraum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Kern-Aufgaben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FK-Aufgabe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 Bewusstseinsbildung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 −3 bis −2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 als Thema anerkennen; erste exploratorische Gespräche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Enttabuisieren; Szenarien aufzeigen; psychologische Sicherheit schaffen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 Vorbereitung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 −2 bis −1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Unternehmensbewertung; Optionen-Analyse; externe Berater einbinden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Finanzierungskonzepte entwickeln; Verbundpartner koordinieren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Entscheidung &amp; Verhandlung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 −1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Nachfolgeart verbindlich wählen; Kaufpreis verhandeln; notarielle Regelungen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Finanzierungszusage; Due-Diligence-Support; Treuhänder-Funktion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 Handover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Übergabejahr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Formale Übergabe; Einarbeitung des Nachfolgers (6–12 Monate)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Kreditumstellung; Psychological Support; Loslassbegleitung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 Nachbegleitung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 +1 bis +2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Vorgänger tritt aus operativer Rolle aus; Nachfolger übernimmt vollständig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Kontinuität in der Geschäftsbeziehung; neuen Kreditberater etablieren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Nachfolgeprozess – fünf Phasen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Erfolgreiche Unternehmernachfolgen benötigen empirisch 3–7 Jahre Vorlaufzeit (IfM Bonn, 2016):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Regulatorische Eckpunkte (Orientierungsrahmen)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Erbschaftsteuer / Schenkungsteuer: § 13a ErbStG regelt die Begünstigungen für Betriebsvermögen bei familieninterner Übergabe (Verschonungsabschlag 85 %; Optionsverschonung 100 %; Behaltensfristen 5 bzw. 7 Jahre). Der…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Gesellschaftsrechtliche Fragen (GmbH-G, HGB): Sind Gesellschafterverträge aktuell? Gibt es Vorkaufsrechte?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Arbeitsrecht (insbesondere bei MBO): Betriebsrat-Mitsprache; Kündigungsschutz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Finanzierungsrecht (KWG, CRR/CRD, MaRisk): Bonitätsbeurteilung des Nachfolgers; Besicherung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 Theorie-Input: Die emotionale Dimension der Nachfolge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Kontrollverlust und Identitätsbedrohung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Technik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Formulierungsbeispiel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Externe Validierung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„Die Unternehmer, die ich am meisten respektiere, haben den Mut gehabt loszulassen – und gemerkt, dass das Unternehmen ohne sie gedeiht. Das war für sie befreiend."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Rollenneugestaltung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„Statt ‚ausscheiden' – wie wäre es mit ‚in eine neue Rolle wechseln'? Verwaltungsrat? Mentor? Mehr Zeit für andere Leidenschaften?"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Kleines Experiment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„Hätten Sie Lust, das einmal auszuprobieren? Zwei Wochen, in denen Sie bewusst delegieren – nicht weil Sie müssen, sondern um zu sehen, was passiert. Was denken Sie?"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Zeithoheit geben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„Wir machen einen Plan und entwickeln Ihren Nachfolger. Sie entscheiden selbst, wann der Punkt kommt."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Kontrollverlust und Identitätsbedrohung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Für viele Unternehmer ist das Unternehmen ein Kern ihrer Identität. Der Unternehmer ist sein Unternehmen – in Gesprächen, im Selbstwertgefühl, in der sozialen Anerkennung (Wiklund et al., 2020). Eine Nachfolge bedeutet…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Diese existenzielle Angst wird oft verdrängt oder rationalisiert. Psychologisch handelt es sich um einen Trauerprozess (adaptiert nach Kübler-Ross, 1969):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Verleugnung: „Das Thema ist noch gar nicht aktuell." 2. Widerstand: „Mein Sohn ist noch nicht bereit." 3. Verhandeln: „Vielleicht mache ich noch ein paar Jahre." 4. Trauer: Tiefe emotionale Aufarbeitung des…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FK, der diesen Prozess versteht, behandelt Loslasswiderstände nicht als Irrationalität, sondern als normal und bearbeitbar.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Vermächtnis-Dilemma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Kontrolle bewahren: „Nur ich kann das Unternehmen richtig führen."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Vermächtnis hinterlassen: „Mein Lebenswerk soll weiterleben und florieren."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„Was ist Ihnen wichtiger: die Kontrolle über die nächsten 5 Jahre zu behalten – oder ein Vermächtnis zu schaffen, das 20 Jahre bestand hat?"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„Wenn Sie Ihre besten Mitarbeiter und Ihre Strategie an einen vertrauenswürdigen Nachfolger übergeben – was könnten Sie dann gut machen, was Sie jetzt nicht können?"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4.5 Praxisfall: Metallverarbeitung Wagner KG, Stuttgart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Unternehmensprofil | Merkmal | Detail | |---------|--------| | Unternehmen | Metallverarbeitung Wagner KG (fiktiv) | | Branche | Präzisionsmechanik / Maschinenbau-Zulieferer | | Gründung | 1978 durch Karl Wagner Sen. | | Geschäftsführer | Karl Wagner Jun. (57 Jahre) | | Umsatz | 12 Mio. EUR (2024) | | EBIT-Marge | 10 % (1,2 Mio. EUR) | | **Un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4.6 Arbeitsblatt: Nachfolge-Erstgespräch strukturieren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Vorbereitung (vor dem Gespräch)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Unternehmensdaten zusammentragen (Umsatz, Gewinn, Mitarbeiter, Branche)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Familie erkunden: Wer sind potenzielle Nachfolger? Alter, Ausbildung, Interesse?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Frühere FK-Notizen lesen: Hat der Unternehmer schon mal Nachfolge erwähnt?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Emotional-Register einschätzen: Wirkt er bereit – oder verdrängt er das Thema?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Eröffnungsphase (5 Min)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Psychologische Sicherheit signalisieren: „Was Sie mir erzählen, bleibt vertraulich."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Gleichwertigkeit klarstellen: „Ich bin nicht als Prüfer hier, sondern als Begleiter."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Agenda transparent machen: „Ich möchte heute verstehen, wie es für Sie um die Nachfolge steht – ohne Druck."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Diagnostische Phase (20–30 Min)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„Wie lange beschäftigt Sie das Nachfolge-Thema schon?"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„Was hat Sie bewogen, es jetzt anzusprechen?"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„Wer in Ihrer Familie oder Ihrem Team kennt Ihre Gedanken zur Nachfolge?"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„Was ist das Größte, das Ihnen Sorge macht bei einer Nachfolge?"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[Zirkuläre Frage] „Wie würde Ihr ältester Mitarbeiter die Situation beschreiben – wenn Sie ihn fragten?"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„Wer könnte aus Ihrer Sicht für die Nachfolge infrage kommen?"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Strukturierungsphase (10–15 Min)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Nachfolgeart eingrenzen: Familienintern / MBO / Strategischer Verkauf / Stiftung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Zeithorizont klären: „In welcher Zeitspanne sehen Sie die Nachfolge?"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Nächste Schritte vereinbaren: Wer macht was bis wann?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Verbundpartner benennen und Handlungspfad klären: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DZ BANK Corporate Finance: Ansprechstelle für MBO-Finanzierungen und größere Unternehmenstransaktionen (&gt; 5 Mio. EUR Kaufpreis) – Kontakt über Firmenkundenleiter oder DZ BANK Regionalbetreuung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BVR / GenoAkademie: Unternehmer-Nachfolgeberatung; Coaching-Programme für Unternehmer; ggf. BVR-Nachfolge-Netzwerk anfragen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5.1 Transferaufgabe (innerhalb von 4 Wochen)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5.1 Transferaufgabe (innerhalb von 4 Wochen)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 systemischen / zirkulären Fragen haben Sie gestellt?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 hat den Unternehmer überrascht – oder Sie selbst?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 Nachfolgeart scheint realistisch?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 Emotionen hat der Unternehmer gezeigt – und wie haben Sie darauf reagiert?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 sind die vereinbarten nächsten Schritte?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„In meinem Leben gibt es ein Projekt / eine Rolle / ein Engagement, das mir wertvoll ist. Wenn ich davon loslassen müsste, würde ich fühlen…"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Aussage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Ja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Teilweise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Nein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bin mir bewusst, dass CEO-Dialoge eine andere Ebene erfordern als Standard-Kundenberatung.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kann systemische Fragen spontan im Gespräch einsetzen (ohne Skript).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erkenne emotionale Blockaden (Kontrollverlust-Angst, Identitätsverlust) und spreche sie an.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kenne die vier Nachfolgearten und kann für einen konkreten Fall die sinnvollste empfehlen.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mit einem realen Kunden ein Nachfolge-Erstgespräch geführt und dokumentiert.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weiß, wann ich einen externen Coach für die emotionale Begleitung empfehlen sollte.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5.3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Penn, P. (1982). Circular questioning. Family Process, 21(3), 267–280. [Klassiker der zirkulären Fragetechnik]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 Shazer, S. (1985). Keys to solution in brief therapy. W. W. Norton &amp; Company. [Primärquelle der Wunder-Frage; Grundlage lösungsorientierter Beratung]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Institut für Mittelstandsforschung Bonn. (2016). Unternehmernachfolgen in Deutschland. IfM Bonn. [Empirische Daten zu Nachfolgeprozessen]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McClelland, D. C. &amp; Burnham, D. H. (1976). Power is the great motivator. Harvard Business Review, 54(2), 100–110. [Unternehmerpersönlichkeit]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Brown, B. (2018). Dare to lead: Brave work. Tough conversations. Whole hearts. Random House. [Vulnerable Leadership; Kontrollverlust-Bewältigung]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Didaktik &amp; Kompetenzmodell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Didaktik &amp; Kompetenzmodell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Anderson, L. W. &amp; Krathwohl, D. R. (Hrsg.). (2001). A Taxonomy for Learning, Teaching, and Assessing: A Revision of Bloom's Taxonomy of Educational Objectives. Longman.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Dreyfus, H. L. &amp; Dreyfus, S. E. (1986). Mind over Machine: The Power of Human Intuition and Expertise in the Era of the Computer. Free Press.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Kirkpatrick, D. L. (1994). Evaluating Training Programs: The Four Levels. Berrett-Koehler.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Systemische Beratung &amp; Fragetechniken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 Shazer, S. (1985). Keys to solution in brief therapy. W. W. Norton &amp; Company.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Penn, P. (1982). Circular questioning. Family Process, 21(3), 267–280.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Tomm, K. (1987). Interventive interviewing: Part I. Strategizing as a fourth guideline for the therapist. Family Process, 26(1), 3–13.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Bedarfsanalyse &amp; Gesprächsführung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Rackham, N. (1988). SPIN Selling. McGraw-Hill.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Unternehmernachfolge &amp; Organisationspsychologie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Brown, B. (2018). Dare to lead: Brave work. Tough conversations. Whole hearts. Random House.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Edmondson, A. C. (1999). Psychological safety and learning behavior in work teams. Administrative Science Quarterly, 44(2), 350–383.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Institut für Mittelstandsforschung Bonn [IfM Bonn]. (2016). Unternehmernachfolgen in Deutschland 2016: Umfang, Anforderungen, Trends und Perspektiven. IfM Bonn.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Kübler-Ross, E. (1969). On death and dying. Macmillan.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McClelland, D. C. &amp; Burnham, D. H. (1976). Power is the great motivator. Harvard Business Review, 54(2), 100–110.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Wiklund, J., Nikolaev, B., Shir, N. &amp; Foo, M.-D. (2020). Entrepreneurship and well-being: Past, present, and future. Journal of Business Venturing, 35(4), Article 106092.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«CEO-Dialog &amp; Nachfolge»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M12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