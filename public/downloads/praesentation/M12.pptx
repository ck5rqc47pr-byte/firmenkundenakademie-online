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 Augenhöhe mit dem Unternehmer – Nachfolge begleiten und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Systemische und zirkuläre Fragetechniken einsetzen, um latente Zukunftsängste aufzudecken und psychologische Sicherheit herzustellen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CEO-Gespräch – Mindset und 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DEN ERSTEN SCHRITT GEHEN: WIE INITIIERT MAN DAS CEO-GESPRÄCH BEI EINEM BESTANDSKUNDEN?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Drei bewährte Einstiegs-Anlässe: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PSYCHOLOGISCHE SICHERHEIT ALS GESPRÄCHSGRUNDLAGE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Gleichwertigkeit: „Ich bin nicht hier, um Sie zu prüfen oder zu belehren, sondern um gemeinsam zu schauen, was für Ihre Zukunft sinnvoll ist."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Vertraulichkeit: „Was Sie mir anvertrauen, bleibt zwischen uns."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Kompetenz: Subtile Signale, dass der FK das Nachfolge-Thema ernst nimmt und Erfahrung hat.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BOARD-ROOM-MINDSET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unterordnend sprechen („Ich möchte ja nicht in Ihre Geschäfte reingrätschen, aber…") → stattdessen direkt: „Das habe ich in ähnlichen Fällen anders gesehen. Darf ich dazu eine Frage stellen?"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Eigene Expertise einbringen ohne Demut: „Nachfolgen begleite ich seit Jahren. Wir sehen dabei Muster, die nicht sofort auffallen."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Produktiven Widerspruch anbringen, wenn nötig: „Das ergibt für mich weniger Sinn, weil … Was denken Sie dazu?"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VORBEREITUNGS-CHECKLISTE FÜR DEN CEO-DIALOG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Fragetechniken auf Strategieebene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SYSTEMISCHE FRAGEN (JENSEITS VON SPIN)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Systemische Fragen machen die Vernetzung von Elementen sichtbar: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hängt Ihre Nachfolgeplanung mit der Situation Ihrer Kinder zusammen?"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Rolle spielt Ihr Unternehmen in Ihrem Selbstverständnis – und was würde sich ändern, wenn Sie es übergeben?"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Stakeholder (Mitarbeiter, Familie, Kunden, Bank) haben ein Interesse an einer Nachfolge – und wo könnte es Konflikte 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Zirkuläre Fragen (Penn, 1982 ) erforschen, wie andere den Unternehmer und sein Dilemma wahrnehmen: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würde Ihr ältester Sohn die aktuelle Situation beschreiben – denken Sie?"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„Was würde Ihr engster Mitarbeiter sagen, wenn ich ihn fragen würde, ob er eine Übergabe an Ihren Sohn für sinnvoll hält?"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„Wenn wir in fünf Jahren hier säßen und Sie hätten die Nachfolge geregelt: Wie hätte Ihr Ehepartner den Prozess erlebt?"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Zirkuläre Fragen decken implizite Ängste und Blockaden auf, ohne direkt zu fragen: „Haben Sie Angst vor Kontrollverlust?"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LÖSUNGSORIENTIERTE ZUKUNFTSFRAGEN (DE SHAZER, 1985)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lösungsorientierte Gesprächsführung hilft, den Unternehmer aus Lähmung oder Verdrängung herauszuholen: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HAUPTNACHFOLGEARTEN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NACHFOLGEPROZESS – FÜNF PHASEN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Erfolgreiche Unternehmernachfolgen benötigen empirisch 3–7 Jahre Vorlaufzeit (IfM Bonn, 2016 ):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REGULATORISCHE ECKPUNKTE (ORIENTIERUNGSRAHMEN)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FK zeigt dem Unternehmer die wichtigsten Felder auf und verweist an Spezialisten: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Erbschaftsteuer / Schenkungsteuer: § 13a ErbStG regelt die Begünstigungen für Betriebsvermögen bei familieninterner Übergabe (Verschonungsabschlag 85 %; Optionsverschonung 100 %; Behaltensfristen 5 bzw. 7 Jahre). Der persönliche Freibetrag nach § 16 Abs. 1 Nr. 2 ErbStG beträgt 400.000 EUR je Elternteil und je Kind – d.h. ein Kind kann im Erbfall von beiden Elternteilen zusammen bis zu 800.000 EUR steuerfrei erhalten. Wichtig: Dieser Freibetrag kann alle 10 Jahre erneut genutzt werden – eine schrittweise Schenkung über mehrere Jahre kann daher steuerlich deutlich günstiger sein als eine Einmal-Übertragung. Hinweis: Diese Orientierungsinformation ersetzt keine steuerrechtliche Beratung – stets Steuerberater einbinden.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Gesellschaftsrechtliche Fragen (GmbH-G, HGB): Sind Gesellschafterverträge aktuell? Gibt es Vorkaufsrechte?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Der Steuerberater als Gatekeeper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Strategische Partnerschaft statt Konkurrenz: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Gemeinsame Termine mit Steuerberater und Kunden als Stärke positionieren, nicht als Verlust von Kontrolle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Dem Steuerberater nützliche Informationen geben (Finanzierbarkeits-Check), ohne das Mandat anzutasten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Aufbau einer längerfristigen Beziehung: Steuerberater im Kammerbezirk kennenlernen, z.B. über IHK-Veranstaltungen oder gemeinsame Unternehmer-Foren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KONTROLLVERLUST UND IDENTITÄTSBEDROHUNG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existenzielle Angst wird oft verdrängt oder rationalisiert. Psychologisch handelt es sich um einen Trauerprozess (adaptiert nach Kübler-Ross, 1969 ):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Verleugnung: „Das Thema ist noch gar nicht aktuell."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„Mein Sohn ist noch nicht bereit."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Verhandeln: „Vielleicht mache ich noch ein paar Jahre."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Trauer: Tiefe emotionale Aufarbeitung des Loslassens.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Akzeptanz: Umgestaltung der Identität: „Ich bin jetzt Mentor."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FK, der diesen Prozess versteht, behandelt Loslasswiderstände nicht als Irrationalität, sondern als normal und bearbeitbar.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VERMÄCHTNIS-DILEMMA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Viele Unternehmer tragen zwei widersprüchliche Wünsche: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Kontrolle bewahren: „Nur ich kann das Unternehmen richtig führen."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Vermächtnis hinterlassen: „Mein Lebenswerk soll weiterleben und florieren."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Metallverarbeitung Wagner KG, Stuttgart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AUFGABEN FÜR CLAUDIA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Emotionaler Zustand: Ist Karl müde, oder ist das eine echte Nachfolgekrise?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Nachfolgepotenziale: Sind die Kinder wirklich ausgeschlossen, oder ist die Kommunikation schlecht?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Alternativen: Wären MBO (Meister Dieter als Käufer) oder strategischer Verkauf denkbar?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Finanzielle Lage: Ist das Unternehmen stabil genug für eine Nachfolgeplanung?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Zeithorizont: Wie dringend ist das Thema (gesundheitliche Gründe? Burnout?)?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BEISPIEL-GESPRÄCHSVERLAUF (SYSTEMISCHE TECHNIK)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Karl: [Nickt]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Claudia: „Wenn Sie sagen ‚ich weiß nicht, wie ich das übergeben soll' – was ist das Größte daran, das Ihnen Sorge macht?"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Karl: „Dass das Unternehmen in schlechte Hände kommt. Meine Mitarbeiter sind wie meine Familie. Ich kann mir nicht vorstellen, dass jemand Fremdes einfach reinkommt und alles ändert."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Nachfolge-Erstgespräch strukturieren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 (VOR DEM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Unternehmensdaten zusammentragen (Umsatz, Gewinn, Mitarbeiter, Branche)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Familie erkunden: Wer sind potenzielle Nachfolger? Alter, Ausbildung, Interesse?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Frühere FK-Notizen lesen: Hat der Unternehmer schon mal Nachfolge erwähnt?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Emotional-Register einschätzen: Wirkt er bereit – oder verdrängt er das Thema?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ERÖFFNUNGSPHASE (5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Psychologische Sicherheit signalisieren: „Was Sie mir erzählen, bleibt vertraulich."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Gleichwertigkeit klarstellen: „Ich bin nicht als Prüfer hier, sondern als Begleiter."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Agenda transparent machen: „Ich möchte heute verstehen, wie es für Sie um die Nachfolge steht – ohne Druck."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PHASE (20–30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Zur Bewusstseinsbildung: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„Wie lange beschäftigt Sie das Nachfolge-Thema schon?"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