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Arial"/>
              </a:rPr>
              <a:t>M09  ·  K-02 Branchenwissen  ·  Zielstufe: Stratege  ·  1 Tag + 3 Monatsrunden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229600" cy="22860"/>
          </a:xfrm>
          <a:prstGeom prst="rect">
            <a:avLst/>
          </a:prstGeom>
          <a:solidFill>
            <a:srgbClr val="335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Branchenexperte werden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83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CD6F0"/>
                </a:solidFill>
                <a:latin typeface="Arial"/>
              </a:rPr>
              <a:t>Systematischer Aufbau von Branchenexpertise im 3-Monats-Programm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ACC"/>
                </a:solidFill>
                <a:latin typeface="Arial"/>
              </a:rPr>
              <a:t>Trainer-Präsentation  ·  v0.4  ·  Benedikt Zoller Coaching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804672"/>
            <a:ext cx="11612880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3DA5"/>
                </a:solidFill>
                <a:latin typeface="Arial"/>
              </a:rPr>
              <a:t>LERNZIELE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Arial"/>
              </a:rPr>
              <a:t>Was Sie nach diesem Modul können.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Eine zugewiesene Branche anhand von Porter's Five Forces und PESTEL systematisch analysieren und Werttreiber sowie Risikofaktoren identifizieren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Wettbewerbsposition und strategische Optionen eines Firmenkundenunternehmens auf Basis der Branchenanalyse bewerten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Einen persönlichen 3-Monats-Plan zum Aufbau von Branchenexpertise für ein definiertes Zielsegment entwickeln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Relevante Informationsquellen für das Zielsegment analysieren und geeignete Quellen auswählen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Möglichkeiten zum Aufbau eines branchenspezifischen Expertennetzwerks bewerten und konkrete Vernetzungsschritte ableiten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Ein strukturiertes Branchenportfolio als Dokumentationsinstrument für die Expertiseentwicklung entwickeln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Was unterscheidet den Branchenexperten?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M09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Was unterscheidet den Branchenexperten?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Strukturwissen: </a:t>
            </a:r>
            <a:r>
              <a:rPr sz="1700">
                <a:solidFill>
                  <a:srgbClr val="1A1A1A"/>
                </a:solidFill>
                <a:latin typeface="Arial"/>
              </a:rPr>
              <a:t>Wie ist die Branche aufgebaut? Welche Wertschöpfungsstufen gibt es? -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Dynamikwissen: </a:t>
            </a:r>
            <a:r>
              <a:rPr sz="1700">
                <a:solidFill>
                  <a:srgbClr val="1A1A1A"/>
                </a:solidFill>
                <a:latin typeface="Arial"/>
              </a:rPr>
              <a:t>Welche Veränderungskräfte treiben die Branche? -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Netzwerkwissen: </a:t>
            </a:r>
            <a:r>
              <a:rPr sz="1700">
                <a:solidFill>
                  <a:srgbClr val="1A1A1A"/>
                </a:solidFill>
                <a:latin typeface="Arial"/>
              </a:rPr>
              <a:t>Wer sind die relevanten Verbände, Meinungsführer, Schlüsselkunden? -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Erfahrungswissen: </a:t>
            </a:r>
            <a:r>
              <a:rPr sz="1700">
                <a:solidFill>
                  <a:srgbClr val="1A1A1A"/>
                </a:solidFill>
                <a:latin typeface="Arial"/>
              </a:rPr>
              <a:t>Welche typischen Herausforderungen begegnen Unternehmern dieser Branche?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Porter's Five Forces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M09 · 4.2 Branchenanalyse: Porter's Five Forces und PESTEL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Porter's Five Forces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Kraft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Bankpraktische Relevanz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Bedrohung durch neue Wettbewerber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Wie hoch sind Markteintrittsbarrieren? Kapitalintensität? Regulierung? Skaleneffekte? → beeinflusst langfristige Ertragslage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Verhandlungsmacht der Lieferanten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Wie abhängig ist das Unternehmen von wenigen Lieferanten? → Konzentrationsrisiko in der Lieferkette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Verhandlungsmacht der Abnehmer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Wie viele Großkunden? OEM-Abhängigkeit? → Klumpenrisiko im Umsatz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Bedrohung durch Substitute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Können Produkte/Dienstleistungen ersetzt werden? → Disruptions- und Obsoleszenzrisiko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Rivalität unter bestehenden Wettbewerbern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Preiswettbewerb, Überkapazitäten, Marktkonzentration → Margendruck, Rentabilität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PESTEL-Analyse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M09 · 4.2 Branchenanalyse: Porter's Five Forces und PESTEL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PESTEL-Analyse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Bankpraktische Fragestellung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Politisch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Subventionen, Regulierung, Handelspolitik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Ökonomisch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Konjunkturabhängigkeit, Zinsumfeld, Investitionszyklen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Sozial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Demografische Trends, Konsumverhalten, Fachkräftemangel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Technologisch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Digitalisierung, Automatisierung, F&amp;E-Intensität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Ökologisch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CO₂-Regulierung, Nachhaltigkeitspflichten, Transformationsrisiken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Legal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Branchenspezifische Rechtsnormen, Produkthaftung, Normen (DIN/ISO)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Kombination im Kundengespräch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M09 · 4.2 Branchenanalyse: Porter's Five Forces und PESTEL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Kombination im Kundengespräch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Five Forces und PESTEL sind keine akademischen Werkzeuge – sie strukturieren das Gespräch. Der Berater, der eine Branche durch diese Linse sieht, stellt…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Einstiegsfragen für Branchenanfänger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M09 · 4.2 Branchenanalyse: Porter's Five Forces und PESTEL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Einstiegsfragen für Branchenanfänger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Frage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Analysedimension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„Was hat sich in Ihrer Branche in den letzten zwei Jahren am stärksten verändert?"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PESTEL / Dynamikwissen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„Wer sind Ihre drei wichtigsten Kunden – und wie abhängig sind Sie von diesen?"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Five Forces: Abnehmermacht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„Welche Investitionen stehen in den nächsten 12–24 Monaten bei Ihnen an?"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Kapital- und Finanzierungsbedarf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„Was unterscheidet die erfolgreichen Betriebe in Ihrer Branche von den weniger erfolgreichen?"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Werttreiber, Wettbewerbsdifferenzierung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„Welche Regulierung oder gesetzliche Änderung beschäftigt Ihre Branche gerade am meisten?"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PESTEL: Legal / Political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„Wie hat sich das Thema Fachkräfte bei Ihnen entwickelt?"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PESTEL: Sozial, operatives Risiko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„Was wünschen Sie sich von Ihrem Bankberater, das Sie heute noch nicht bekommen?"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Beratungsqualität, Differenzierungschance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Wissensarbeit transparent machen – Gespräche in der Lernphase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M09 · 4.2 Branchenanalyse: Porter's Five Forces und PESTEL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Wissensarbeit transparent machen – Gespräche in der Lernphase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Formulierungen, die funktionieren: </a:t>
            </a:r>
            <a:r>
              <a:rPr sz="1700">
                <a:solidFill>
                  <a:srgbClr val="1A1A1A"/>
                </a:solidFill>
                <a:latin typeface="Arial"/>
              </a:rPr>
              <a:t>&gt; „Ich habe mich in den letzten Wochen intensiver mit der [Branche] beschäftigt und bin auf die [GAP-Reform / neue Regulierung / Markttrend] gestoßen. Wie wirkt sich das konkret…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Was vermeiden: </a:t>
            </a:r>
            <a:r>
              <a:rPr sz="1700">
                <a:solidFill>
                  <a:srgbClr val="1A1A1A"/>
                </a:solidFill>
                <a:latin typeface="Arial"/>
              </a:rPr>
              <a:t>- Nicht sagen: „Ich kenne mich in Ihrer Branche noch nicht so gut aus." (schafft Unsicherheit) - Nicht sagen: „Ich bin kein Branchenexperte, aber..." (unnötige Selbstabwertung) -…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Die Grundregel: </a:t>
            </a:r>
            <a:r>
              <a:rPr sz="1700">
                <a:solidFill>
                  <a:srgbClr val="1A1A1A"/>
                </a:solidFill>
                <a:latin typeface="Arial"/>
              </a:rPr>
              <a:t>Interesse + konkrete Vorbereitung + echtes Zuhören ersetzen fehlende Expertise – zumindest in den ersten Gesprächen. Expertise entsteht dann im Dialog.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Arbeitsblatt A: Branchenanalyse – Five Forces Scoring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M09 · 4.6 Arbeitsblätter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Arbeitsblatt A: Branchenanalyse – Five Forces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Kraft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Kurzbeschreibung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Stärke (1–5)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Implikation für Kreditrisiko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Neue Wettbewerber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Lieferantenmacht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Abnehmermacht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Substitutionsbedrohung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Rivalität intern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Gesamteindruck Branche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Arbeitsblatt B: Mein 3-Monats-Expertiseplan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M09 · 4.6 Arbeitsblätter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Arbeitsblatt B: Mein 3-Monats-Expertiseplan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Monat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Schwerpunkt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Konkrete Aktivität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Erwartetes Ergebnis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Monat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Strukturwissen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Monat 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Kundengespräche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Monat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Netzwerk &amp; Portfolio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Arbeitsblatt C: Strukturiertes Branchengespräch – Protokollvorlage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M09 · 4.6 Arbeitsblätter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Arbeitsblatt C: Strukturiertes Branchengespräch – Protokollvorlage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Feld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Inhalt (Stichworte)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1. Branchenentwicklung (Was verändert sich gerade in Ihrer Branche?)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2. Wettbewerbssituation (Wie positionieren Sie sich im Marktumfeld?)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3. Chancen &amp; Investitionsabsichten (Welche Investitionen planen Sie in den nächsten 12–24 Monaten?)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4. Risiken &amp; Belastungen (Was bereitet Ihnen aktuell die größten Sorgen?)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5. Nächster Schritt / Folgethema (Was klären wir beim nächsten Termin?)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Branchenportfolio – Mindestanforderungen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M09 · 5.2 Meilensteine und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Branchenportfolio – Mindestanforderungen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Branchensteckbrief: </a:t>
            </a:r>
            <a:r>
              <a:rPr sz="1700">
                <a:solidFill>
                  <a:srgbClr val="1A1A1A"/>
                </a:solidFill>
                <a:latin typeface="Arial"/>
              </a:rPr>
              <a:t>(1 Seite): Struktur, Größe, Top-Unternehmen, relevante Verbände 2.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Five-Forces-Analyse: </a:t>
            </a:r>
            <a:r>
              <a:rPr sz="1700">
                <a:solidFill>
                  <a:srgbClr val="1A1A1A"/>
                </a:solidFill>
                <a:latin typeface="Arial"/>
              </a:rPr>
              <a:t>(1 Seite): Bewertung und Implikationen für Kreditrisiko und Beratungsansatz 3.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PESTEL-Kurzcheck: </a:t>
            </a:r>
            <a:r>
              <a:rPr sz="1700">
                <a:solidFill>
                  <a:srgbClr val="1A1A1A"/>
                </a:solidFill>
                <a:latin typeface="Arial"/>
              </a:rPr>
              <a:t>(½ Seite): 2–3 relevante Trends je Dimension 4.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Informationsquellen: </a:t>
            </a:r>
            <a:r>
              <a:rPr sz="1700">
                <a:solidFill>
                  <a:srgbClr val="1A1A1A"/>
                </a:solidFill>
                <a:latin typeface="Arial"/>
              </a:rPr>
              <a:t>(½ Seite): Persönliche Top-5-Quellen mit Bewertung 5.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Netzwerkkarte: </a:t>
            </a:r>
            <a:r>
              <a:rPr sz="1700">
                <a:solidFill>
                  <a:srgbClr val="1A1A1A"/>
                </a:solidFill>
                <a:latin typeface="Arial"/>
              </a:rPr>
              <a:t>(½ Seite): Interne + externe Experten und Multiplikatoren 6.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Kundenlernpunkte: </a:t>
            </a:r>
            <a:r>
              <a:rPr sz="1700">
                <a:solidFill>
                  <a:srgbClr val="1A1A1A"/>
                </a:solidFill>
                <a:latin typeface="Arial"/>
              </a:rPr>
              <a:t>(½ Seite): 3 konkrete Erkenntnisse aus Kundengesprächen in diesem Quartal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4747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6F0"/>
                </a:solidFill>
                <a:latin typeface="Arial"/>
              </a:rPr>
              <a:t>PRAXISTRANSFER &amp; NÄCHSTE SCHRITTE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229600" cy="22860"/>
          </a:xfrm>
          <a:prstGeom prst="rect">
            <a:avLst/>
          </a:prstGeom>
          <a:solidFill>
            <a:srgbClr val="335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Was nehmen Sie mit?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E05B00"/>
                </a:solidFill>
                <a:latin typeface="Arial"/>
              </a:rPr>
              <a:t>▪  </a:t>
            </a:r>
            <a:r>
              <a:rPr sz="1800">
                <a:solidFill>
                  <a:srgbClr val="FFFFFF"/>
                </a:solidFill>
                <a:latin typeface="Arial"/>
              </a:rPr>
              <a:t>Transferaufgabe: Wenden Sie das Gelernte in den nächsten 14 Tagen bei einem konkreten Kunden an.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E05B00"/>
                </a:solidFill>
                <a:latin typeface="Arial"/>
              </a:rPr>
              <a:t>▪  </a:t>
            </a:r>
            <a:r>
              <a:rPr sz="1800">
                <a:solidFill>
                  <a:srgbClr val="FFFFFF"/>
                </a:solidFill>
                <a:latin typeface="Arial"/>
              </a:rPr>
              <a:t>Selbstcheck nach 4 Wochen: Bewerten Sie Ihre Fortschritte ehrlich.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E05B00"/>
                </a:solidFill>
                <a:latin typeface="Arial"/>
              </a:rPr>
              <a:t>▪  </a:t>
            </a:r>
            <a:r>
              <a:rPr sz="1800">
                <a:solidFill>
                  <a:srgbClr val="FFFFFF"/>
                </a:solidFill>
                <a:latin typeface="Arial"/>
              </a:rPr>
              <a:t>Nächste Module: M07, M08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ACC"/>
                </a:solidFill>
                <a:latin typeface="Arial"/>
              </a:rPr>
              <a:t>M09 · Branchenexperte werden  ·  v0.4  ·  Benedikt Zoller Coaching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