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Branchenexperte werden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Systematischer Aufbau von Branchenexpertise im 3-Monats-Programm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+ 3 Monatsrunden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zugewiesene Branche anhand von Porter's Five Forces und PESTEL systematisch analysieren und Werttreiber sowie Risikofaktoren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Wettbewerbsposition und strategische Optionen eines Firmenkundenunternehmens auf Basis der Branchenanalyse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persönlichen 3-Monats-Plan zum Aufbau von Branchenexpertise für ein definiertes Zielsegment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Relevante Informationsquellen für das Zielsegment analysieren und geeignete Quellen auswählen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Möglichkeiten zum Aufbau eines branchenspezifischen Expertennetzwerks bewerten und konkrete Vernetzungsschritte ableiten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0" y="4381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000" y="4432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0" y="4445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strukturiertes Branchenportfolio als Dokumentationsinstrument für die Expertiseentwicklung entwickeln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unterscheidet den Branchenexperten?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unterscheidet den Branchenexperten?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Strukturwissen: Wie ist die Branche aufgebaut? Welche Wertschöpfungsstufen gibt es?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Dynamikwissen: Welche Veränderungskräfte treiben die Branche?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Netzwerkwissen: Wer sind die relevanten Verbände, Meinungsführer, Schlüsselkunden?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Erfahrungswissen: Welche typischen Herausforderungen begegnen Unternehmern dieser Branche?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Branchenanalyse: Porter's Five Forces und PESTEL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Porter's Five Forces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Porter's Five Forces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Michael Porter (1980) entwickelte das Five Forces-Rahmenwerk zur Analyse der Wettbewerbsintensität und Branchenstruktur (Porter, 1980; vgl. auch Porter, 2008). Die fünf Kräfte best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Bankpraktische Relevanz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Wettbewerber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hoch sind Markteintrittsbarrieren? Kapitalintensität? Regulierung? Skaleneffekte? → beeinflusst langfristige Ertragslage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abhängig ist das Unternehmen von wenigen Lieferanten? → Konzentrationsrisiko in der Lieferkette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viele Großkunden? OEM-Abhängigkeit? → Klumpenrisiko im 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Können Produkte/Dienstleistungen ersetzt werden? → Disruptions- und Obsoleszenzrisiko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bestehenden Wettbewerbern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Preiswettbewerb, Überkapazitäten, Marktkonzentration → Margendruck, Rentabilität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PESTEL-Analyse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PESTEL-Analyse ergänzt das Five-Forces-Modell um das makroökonomische Umfeld: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Bankpraktische Fragestellung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Politisch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Subventionen, Regulierung, Handelspolitik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Ökonomisch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Konjunkturabhängigkeit, Zinsumfeld, Investitionszyklen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Demografische Trends, Konsumverhalten, Fachkräftemangel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Technologisch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Digitalisierung, Automatisierung, F&amp;E-Intensität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Ökologisch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CO₂-Regulierung, Nachhaltigkeitspflichten, Transformationsrisiken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Legal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Branchenspezifische Rechtsnormen, Produkthaftung, Normen (DIN/ISO)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Kombination im Kundengespräch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Five Forces und PESTEL sind keine akademischen Werkzeuge – sie strukturieren das Gespräch. Der Berater, der eine Branche durch diese Linse sieht, stellt Fragen, die den Unternehmer überraschen und Tiefe signalisieren:…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Einstiegsfragen für Branchenanfänger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Wer eine Branche noch nicht kennt, braucht universelle Türöffner – Fragen, die in jeder Branche funktionieren und sofort wertvolle Informationen liefern. Diese sieben Fragen lassen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#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Analysedimension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hat sich in Ihrer Branche in den letzten zwei Jahren am stärksten verändert?"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PESTEL / Dynamikwissen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„Wer sind Ihre drei wichtigsten Kunden – und wie abhängig sind Sie von diesen?"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Five Forces: Abnehmermacht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„Welche Investitionen stehen in den nächsten 12–24 Monaten bei Ihnen an?"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Kapital- und Finanzierungsbedarf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unterscheidet die erfolgreichen Betriebe in Ihrer Branche von den weniger erfolgreichen?"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Werttreiber, Wettbewerbsdifferenzierung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„Welche Regulierung oder gesetzliche Änderung beschäftigt Ihre Branche gerade am meisten?"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PESTEL: Legal / Political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„Wie hat sich das Thema Fachkräfte bei Ihnen entwickelt?"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PESTEL: Sozial, operatives 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wünschen Sie sich von Ihrem Bankberater, das Sie heute noch nicht bekommen?"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Beratungsqualität, Differenzierungschance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Wissensarbeit transparent machen – Gespräche in der Lernphase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sagen: „Ich kenne mich in Ihrer Branche noch nicht so gut aus." (schafft Unsicherheit)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sagen: „Ich bin kein Branchenexperte, aber..." (unnötige Selbstabwertung)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so tun, als ob man alles weiß (Kunden merken es sofort)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INFORMATIONSQUELLEN FÜR BRANCHENEXPERTISE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Informationsquellen für Branchenexpertise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EXPERTENNETZWERK AUFBAUEN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Expertennetzwerk aufbauen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KARIN WAGNER BAUT AGRAR-EXPERTISE AUF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Karin Wagner baut Agrar-Expertise auf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Branchenanalyse – Five Forces Scoring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Branchenanalyse – Five Forces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Meine Zielbranche: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Kurzbeschreibung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Stärke (1–5)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 Wettbewerber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Abnehmermacht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Substitutionsbedrohung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Gesamteindruck 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Mein 3-Monats-Expertiseplan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 Zielsegment: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Monat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Schwerpunkt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Strukturwissen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 &amp; Portfolio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C: Strukturiertes Branchengespräch – Protokollvorlage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Datum: _______________ Kunde/Unternehmen: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 (Stichworte)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Branchenentwicklung (Was verändert sich gerade in Ihrer Branche?)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Wettbewerbssituation (Wie positionieren Sie sich im Marktumfeld?)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Chancen &amp; Investitionsabsichten (Welche Investitionen planen Sie in den nächsten 12–24 Monaten?)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Risiken &amp; Belastungen (Was bereitet Ihnen aktuell die größten Sorgen?)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Nächster Schritt / Folgethema (Was klären wir beim nächsten Termin?)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Kick-off Workshop (Tag 1, 7,5 Stunden netto)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Kick-off Workshop (Tag 1, 7,5 Stunden netto)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Workshop vermittelt Methodik und Orientierung – nicht Branchenwissen selbst. Branchenwissen kann kein Trainer in einem Tag übertragen; es entsteht in der reflektierten Praxis.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Einheit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09:00–10:30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Branchenexpertise &amp; Dreyfus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bedeutet Expertise? Wo stehe ich? (Sec 4.1)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10:30–12:00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Porter Five Forces &amp; PESTEL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Analyse-Methodik, Gruppenübung mit eigenen Branchen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12:00–13:00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Mittagspause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13:00–14:30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Informationsquellen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Quellenmatrix erarbeiten, DZ BANK Research-Demo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14:30–15:30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Praxiscase Karin Wagner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Gruppenarbeit: Was würden Sie anders machen?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15:30–16:30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Expertennetzwerk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Netzwerkstrategie entwickeln (Sec 4.4)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16:30–17:30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Persönlicher Zielplan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Arbeitsblatt B ausfüllen, Peer-Commitment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Monatsrunde 1 (+4 Wochen, 90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Einstieg (15 Min.): Blitzlicht – Was hat jeder seit dem Kick-off konkret getan?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Hauptteil (60 Min.): Jeder stellt seine erste Branchenanalyse (Five Forces) vor (10 Min. je Person). Peer-Feedback nach Stärken-Fragen-Struktur.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Abschluss (15 Min.): Commitment für Monat 2 – konkrete Kundengespräche benennen.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Monatsrunde 2 (+8 Wochen, 90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Einstieg (15 Min.): Critical Incident – Ein überraschendes Kundengespräch berichten.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Hauptteil (60 Min.): Reflexion der Kundengespräche nach Schön (1983): Was lief anders als erwartet? Was habe ich gelernt?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Abschluss (15 Min.): Netzwerkstand besprechen – wer hat welche Kontakte aktiviert?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Monatsrunde 3 / Abschlusspräsentation (+12 Wochen, 90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Hauptteil (70 Min.): Jeder präsentiert sein Branchenportfolio (max. 5 Min. + 5 Min. Feedback).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Abschluss (20 Min.): Was nehme ich mit? Wie geht es weiter? Formular Selbstcheck (Sec 5.3) ausfüllen.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MEILENSTEINE UND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Meilensteine und 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Branchenportfolio – Mindestanforderungen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5.2 MEILENSTEINE UND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Branchenportfolio – Mindestanforderungen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Branchenportfolio ist das zentrale Lernartefakt des Programms. Es dokumentiert den Aufbau von Branchenexpertise und dient als lebendiges Nachschlagewerk für zukünftige Kundengespräche. Mindestinhalt: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Branchensteckbrief (1 Seite): Struktur, Größe, Top-Unternehmen, relevante Verbände 2. Five-Forces-Analyse (1 Seite): Bewertung und Implikationen für Kreditrisiko und Beratungsansatz 3. PESTEL-Kurzcheck (½ Seite): 2–3…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SELBSTCHECK NACH 3 MONATEN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Selbstcheck nach 3 Monaten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5.4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Praktisch (direkt anwendbar)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Praktisch (direkt anwendbar)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Research: Branchenreports und Sektorstudien – Zugang über agree (Startseite → „DZ BANK Research") oder über den Firmenkundenleiter; bei erstmaligem Zugang Berechtigungen…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Kompakt: Monatliche volkswirtschaftliche und sektorale Analysen (bvr.de)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Firmenkundenstudie: Benchmark-Daten zu Beratungsqualität und Kundenerwartungen (zeb.de)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Bundeszentrale für politische Bildung (bpb.de): Branchenübergreifende Wirtschaftsübersichten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Methodisch (Kompetenzaufbau)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H.L. &amp; Dreyfus, S.E. (1986): Mind over Machine – Grundlage des Expertisemodells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Schön, D.A. (1983): The Reflective Practitioner – Reflexion als Lernmethode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Wenger, E. (1998): Communities of Practice – Netzwerkbasiertes Lernen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Branchenwissen (beispielhaft, je nach Zielsegment zu ergänzen)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Landwirtschaft: BMEL Agrarbericht, Situationsbericht des Deutschen Bauernverbands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Bau/Handwerk: Hauptverband der Deutschen Bauindustrie (Konjunkturbericht), ZDH-Pressedienst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Industrie/Maschinenbau: VDMA Statistik, Fraunhofer ISI Studien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Handel: HDE Online-Monitor, EHI Handelsdaten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Heilberufe: KZV/KV-Berichte, Krankenhaus-Rating-Report (RWI)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STRATEGIEANALYSE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Strategieanalyse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«Branchenexperte werden» auf FKB Campus — 6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M09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