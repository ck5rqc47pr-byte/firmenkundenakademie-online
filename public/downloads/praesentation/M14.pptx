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M14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Ertragsoptimierung pro Kunde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Kundendeckungsbeitrag anhand der vier Ertragskomponenten berechnen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Ertragsstruktur eines Kunden analysieren und die größten Optimierungshebel identifizieren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Expected Loss in der Konditionenkalkulation erklären und bewerten, ob eine Beziehung risikogerecht bepreist 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Drei Optimierungsszenarien bewerten und die ertragswirksamste Option wählen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 Konditionengespräch wertbasiert führen – Nutzen kommunizieren bevor über Konditionen gesprochen wird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Warum Ertrag je Kunde messen?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Warum Ertrag je Kunde messen?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zeb-Firmenkundenstudie zeigt, dass in einem typischen VR-Bank-Firmenkundenbestand 20 % der Kunden 80 % des Deckungsbeitrags erzeugen. Ohne eine klare Ertragsanalyse investieren Berater Zeit und…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Schierenbeck et al. definieren die Kunden-Deckungsbeitrag-Rechnung als das zentrale Steuerungsinstrument der kundenbezogenen Rentabilitätsanalyse im Bankgeschäft. Sie erfasst alle Ertrags- und…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Die vier Ertragskomponenten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Der Kundendeckungsbeitrag setzt sich zusammen aus: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Komponente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 Treiber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Zinsüberschuss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Zinsmarge aus Kredit- und Einlagengeschäft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Konditionshöhe, Volumen, Laufzeit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Gebühren aus ZV, Avale, Dokumenten, Beratung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Zahlungsverkehrsvolumen, Produktkomplexität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Provisionen aus Verbundprodukten (R+V, Union Investment, etc.)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Cross-Selling-Tiefe, Verbundpartner-Einbindung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Risikokosten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Expected Loss (EL = PD × LGD × EAD)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Ratingklasse, Besicherung, Kreditvolumen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Betriebskosten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Direkter Betreuungsaufwand (Std. × Kostensatz)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Gesprächsfrequenz, Komplexität, Sonderleistungen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Rechenbeispiel: Kundendeckungsbeitrag Müller GmbH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Ertragskennzahl: DB II / Kreditvolumen = 1,58 % (Kundenrendite)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Betrag p.a.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Kreditzinsen (Marge 1,85 % auf 800.000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Einlagenzinsen (Marge 0,45 % auf 300.000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1.350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 ZV, Avale, Beratung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3.200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 (R+V Prämie, keine UI-Verbindung)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1.100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20.450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(Rating B, EL 0,8 % × 800.000)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− 6.400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14.050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(12 Std. × 120 EUR/Std.*)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− 1.440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12.610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RISIKOGERECHTES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Risikogerechtes 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Der Expected Loss als Kalkulationsgrundlage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Der Expected Loss als Kalkulationsgrundlage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In der Konditionenkalkulation muss die Risikoprämie mindestens den Expected Loss (EL) des Kreditengagements abdecken. Der EL errechnet sich nach Basel III aus: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Parameter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Praktische Annäherung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PD (Probability of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Ausfallwahrscheinlichkeit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Abgeleitet aus dem internen Rating; VR-Banken nutzen VR-Rating/agree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LGD (Loss Given Default)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Verlust bei Ausfall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Besicherung; typisch 40–60 % unbesichert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EAD (Exposure at Default)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Kreditvolumen bei Ausfall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Inanspruchnahme + konservative Schätzung Inanspruchnahme offener Linien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Nettomargenziel (NMZ) als Steuerungsgröße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In vielen VR-Banken wird das Nettomargenziel (NMZ) als Untergrenze für das Konditionensetting genutzt. Das NMZ gibt an, welche Nettomarge nach Abzug von Refinanzierungskosten, Risikokosten (EL) und…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Bruttomarge (vereinbarte Kreditmarge) − Refinanzierungskosten − EL − Standardbetriebskosten = Nettomarge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Liegt die Nettomarge unterhalb des hausindividuellen NMZ, ist eine Konditionsanpassung betriebswirtschaftlich zwingend – unabhängig davon, ob der Kunde zufrieden ist oder nicht. Die NMZ wird im DZ…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RISIKOGERECHTES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Konditionsanpassung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Wenn die Analyse zeigt, dass ein Kunde unter dem Mindest-Deckungsbeitrag liegt, gibt es drei Hebel: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1. Zinsmarge erhöhen: Direkte Wirkung auf DB I. Erfordert Konditionengespräch (Sec 4.4). 2. Cross-Selling ausbauen: Verbundertrag und Provisionen steigern,…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Rolfes betont, dass nachhaltige Ertragsoptimierung alle drei Hebel kombiniert – ein reiner Konditionsfokus führt häufig zur Abwanderung des Kunden, ohne den…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&gt; Wichtig – Genehmigungspflicht beachten: Konditionsanpassungen oberhalb des eigenen Kompetenzrahmens erfordern ein Votum der Marktfolge oder die Freigabe…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ERTRAGSSTRUKTUR-ANALYSE IM BESTAND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Ertragsstruktur-Analyse im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Kundensegmentierung nach Ertragsprofil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Kundensegmentierung nach Ertragsprofil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Eine einfache 2×2-Matrix hilft, den Bestand nach Ertragspotenzial und aktuellem Ertrag zu strukturieren: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Hoher aktueller DB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Niedriger aktueller DB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Hohes Potenzial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Kernkunde: halten, ausbauen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Entwicklungskunde: Cross-Selling, Konditionen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Niedriges Potenzial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Ertragskunde: Beziehung pflegen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Problemkunde: Betreuungsintensität senken oder Exit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ERTRAGSSTRUKTUR-ANALYSE IM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Signale für Unterpreisierung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Kreditmarge liegt deutlich unter Marktüblichkeit (Benchmarkcheck in agree)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Kein Verbundpartner eingebunden, obwohl Potenzial vorhanden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Hohe Inanspruchnahme offener Linien → steigt EAD, Marge wurde nie angepasst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Ratingverschlechterung ohne Konditionsanpassung → EL gestiegen, Marge unverändert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DAS KONDITIONENGESPRÄCH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Das Konditionengespräch wertbasiert führen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Vom Konditionengespräch zum Wertgespräch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Vom Konditionengespräch zum Wertgespräch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Das klassische Konditionengespräch beginnt mit Zahlen: „Ihr Zinssatz beträgt X, und wir möchten auf Y anpassen." Diese Eröffnung setzt den Kunden sofort in…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Ein wertbasierter Ansatz kehrt die Reihenfolge um: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Phase 1: Wert der Beziehung artikulieren Bevor Konditionen angesprochen werden, wird der Nutzen der Bankbeziehung konkret gemacht: schnelle…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Phase 2: Marktumfeld erklären Zinsentwicklung, Refinanzierungskosten, Risikoumfeld transparent machen – ohne Details zu internen Kalkulationen preiszugeben.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Musterdialog: „Im aktuellen Marktumfeld – gestiegene Rohstoffpreise, unsicherere Lieferketten – sind die Ausfallrisiken im Mittelstand insgesamt gestiegen. Das…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Diese Formulierung erklärt das Warum, ohne interne Kalkulation offenzulegen, und signalisiert Partnerschaft statt Diktat. Der Satz „Ich möchte fair mit Ihnen…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PRAXISCASE: ERTRAGSANALYSE BAUER &amp; SÖHNE GMBH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PRAXISCASE: ERTRAGSANALYSE BAUER &amp; SÖHNE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Praxiscase: Ertragsanalyse Bauer &amp; Söhne GmbH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Deckungsbeitragsrechnung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Deckungsbeitragsrechnung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Kundenname (anonymisiert): ___________________________ Analysedatum: 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34636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Betrag p.a. (EUR)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Kreditmarge ( ___ % × ___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Einlagenmarge (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Provisionsertrag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Verbundertrag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Bruttoertrag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./. Risikokosten (EL: ___ % × ___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Betriebskosten ( ___ Std. × 120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Deckungsbeitrag II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7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Kundenrendite (DB II / Kreditvolumen)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Arbeitsblatt B: Konditionengespräch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Wertargumente (Phase 1) – Was hat unsere Beziehung diesem Kunden gebracht?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Marktumfeld-Erklärung (Phase 2) – Welche externen Faktoren begründen die Anpassung?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Konkrete Anpassung (Phase 3):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20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Schierenbeck, H., Lister, M. &amp; Kirmße, S. (2014): Ertragsorientiertes Bankmanagement, Band 1 und 2 – Standardwerk zur Kunden-DB-Rechnung und Marktzinsmethode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Rolfes, B. (1999): Gesamtbanksteuerung – Konzepte des Bankcontrollings, Rentabilitätssteuerung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agree Handbuch Ertragskennzahlen: Dokumentation zur DB-Auswertung im Firmenkundensegment (Intranet Atruvia)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DZ BANK Pricing-Leitfaden: Konditionengestaltung und Mindestrisikoprämien im Firmenkundengeschäft (Verbund-Intranet)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zeb Firmenkundenstudie (2020): Benchmarks für Wallet-Share und Ertragskennzahlen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26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Bankcontrolling &amp; Ertragsorientierung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27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28 /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«Ertragsoptimierung pro Kunde»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M14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