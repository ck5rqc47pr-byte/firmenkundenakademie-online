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Arial"/>
              </a:rPr>
              <a:t>M14  ·  K-04 Vertrieb &amp; Ertragsoptimierung  ·  Zielstufe: Sparring  ·  90 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Ertragsoptimierung pro Kunde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F0"/>
                </a:solidFill>
                <a:latin typeface="Arial"/>
              </a:rPr>
              <a:t>Kundendeckungsbeitrag analysieren, risikogerechtes Pricing verstehen und Konditionengespräche wertbasiert führen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Trainer-Präsentation  ·  v0.3  ·  Benedikt Zoller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804672"/>
            <a:ext cx="11612880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3DA5"/>
                </a:solidFill>
                <a:latin typeface="Arial"/>
              </a:rPr>
              <a:t>LERNZIELE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Was Sie nach diesem Modul können.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Den Kundendeckungsbeitrag anhand der vier Ertragskomponenten berechnen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Ertragsstruktur eines Kunden analysieren und die größten Optimierungshebel identifizieren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Den Expected Loss in der Konditionenkalkulation erklären und bewerten, ob eine Beziehung risikogerecht bepreist ist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Drei Optimierungsszenarien bewerten und die ertragswirksamste Option wählen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 Konditionengespräch wertbasiert führen – Nutzen kommunizieren bevor über Konditionen gesprochen wird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Warum Ertrag je Kunde messen?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Warum Ertrag je Kunde messen?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zeb-Firmenkundenstudie zeigt, dass in einem typischen VR-Bank-Firmenkundenbestand 20 % der Kunden 80 % des Deckungsbeitrags erzeugen. Ohne eine klare…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Schierenbeck et al. definieren die Kunden-Deckungsbeitrag-Rechnung als das zentrale Steuerungsinstrument der kundenbezogenen Rentabilitätsanalyse im…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Die vier Ertragskomponenten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Die vier Ertragskomponenten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Komponente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Beschreibung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Typische Treiber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Zinsüberschuss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Zinsmarge aus Kredit- und Einlagengeschäft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Konditionshöhe, Volumen, Laufzeit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Provisionsertrag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Gebühren aus ZV, Avale, Dokumenten, Beratung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Zahlungsverkehrsvolumen, Produktkomplexität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Verbundertrag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Provisionen aus Verbundprodukten (R+V, Union Investment,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Cross-Selling-Tiefe, Verbundpartner-Einbindung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Risikokosten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Expected Loss (EL = PD × LGD × EAD)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Ratingklasse, Besicherung, Kreditvolumen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Betriebskosten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Direkter Betreuungsaufwand (Std. × Kostensatz)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Gesprächsfrequenz, Komplexität, Sonderleistungen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Rechenbeispiel: Kundendeckungsbeitrag Müller GmbH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Rechenbeispiel: Kundendeckungsbeitrag Müller GmbH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Betrag p.a.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Kreditzinsen (Marge 1,85 % auf 800.000 EUR)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14.800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Einlagenzinsen (Marge 0,45 % auf 300.000 EUR)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1.350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Provisionsertrag ZV, Avale, Beratung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3.200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Verbundertrag (R+V Prämie, keine UI-Verbindung)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1.100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Bruttoertrag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20.450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./. Risikokosten (Rating B, EL 0,8 % × 800.000)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− 6.400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Deckungsbeitrag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14.050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./. Betriebskosten (12 Std. × 120 EUR/Std.*)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− 1.440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Deckungsbeitrag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12.610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Der Expected Loss als Kalkulationsgrundlage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4.2 Risikogerechtes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Der Expected Loss als Kalkulationsgrundlage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Bedeutung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Praktische Annäherung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PD (Probability of 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Ausfallwahrscheinlichkeit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Abgeleitet aus dem internen Rating; VR-Banken nutzen VR-Rating/agree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LGD (Loss Given Default)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Verlust bei Ausfall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Abhängig von Besicherung; typisch 40–60 % unbesichert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EAD (Exposure at 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Kreditvolumen bei Ausfall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Inanspruchnahme + konservative Schätzung Inanspruchnahme offener Linien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Das Nettomargenziel (NMZ) als Steuerungsgröße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4.2 Risikogerechtes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Das Nettomargenziel (NMZ) als Steuerungsgröße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Nettomargenziel (NMZ): </a:t>
            </a:r>
            <a:r>
              <a:rPr sz="1700">
                <a:solidFill>
                  <a:srgbClr val="1A1A1A"/>
                </a:solidFill>
                <a:latin typeface="Arial"/>
              </a:rPr>
              <a:t>als Untergrenze für das Konditionensetting genutzt. Das NMZ gibt an, welche Nettomarge nach Abzug von Refinanzierungskosten, Risikokosten (EL) und Standardbetriebskosten…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Logik: </a:t>
            </a:r>
            <a:r>
              <a:rPr sz="1700">
                <a:solidFill>
                  <a:srgbClr val="1A1A1A"/>
                </a:solidFill>
                <a:latin typeface="Arial"/>
              </a:rPr>
              <a:t>&gt; Bruttomarge (vereinbarte Kreditmarge) − Refinanzierungskosten − EL − Standardbetriebskosten =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Nettomarge: </a:t>
            </a:r>
            <a:r>
              <a:rPr sz="1700">
                <a:solidFill>
                  <a:srgbClr val="1A1A1A"/>
                </a:solidFill>
                <a:latin typeface="Arial"/>
              </a:rPr>
              <a:t>Liegt die Nettomarge unterhalb des hausindividuellen NMZ, ist eine Konditionsanpassung betriebswirtschaftlich zwingend – unabhängig davon, ob der Kunde zufrieden ist oder nicht.…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Vertiefung → M16 NMZ-Optimierung: </a:t>
            </a:r>
            <a:r>
              <a:rPr sz="1700">
                <a:solidFill>
                  <a:srgbClr val="1A1A1A"/>
                </a:solidFill>
                <a:latin typeface="Arial"/>
              </a:rPr>
              <a:t>(Ertragsteuerung auf Bestandsebene).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Konditionsanpassung vorbereiten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4.2 Risikogerechtes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Konditionsanpassung vorbereiten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Zinsmarge erhöhen: </a:t>
            </a:r>
            <a:r>
              <a:rPr sz="1700">
                <a:solidFill>
                  <a:srgbClr val="1A1A1A"/>
                </a:solidFill>
                <a:latin typeface="Arial"/>
              </a:rPr>
              <a:t>Direkte Wirkung auf DB I. Erfordert Konditionengespräch (Sec 4.4). 2.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Cross-Selling ausbauen: </a:t>
            </a:r>
            <a:r>
              <a:rPr sz="1700">
                <a:solidFill>
                  <a:srgbClr val="1A1A1A"/>
                </a:solidFill>
                <a:latin typeface="Arial"/>
              </a:rPr>
              <a:t>Verbundertrag und Provisionen steigern, ohne Zinskonditionen anzufassen. Oft der schonendere Weg. 3.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Betreuungskosten senken: </a:t>
            </a:r>
            <a:r>
              <a:rPr sz="1700">
                <a:solidFill>
                  <a:srgbClr val="1A1A1A"/>
                </a:solidFill>
                <a:latin typeface="Arial"/>
              </a:rPr>
              <a:t>Gesprächsfrequenz anpassen, digitale Kanäle stärker nutzen. Wirkt auf DB II.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Wichtig – Genehmigungspflicht beachten: </a:t>
            </a:r>
            <a:r>
              <a:rPr sz="1700">
                <a:solidFill>
                  <a:srgbClr val="1A1A1A"/>
                </a:solidFill>
                <a:latin typeface="Arial"/>
              </a:rPr>
              <a:t>Konditionsanpassungen oberhalb des eigenen Kompetenzrahmens erfordern ein Votum der Marktfolge oder die Freigabe durch den Bereichsleiter. Kläre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vor: </a:t>
            </a:r>
            <a:r>
              <a:rPr sz="1700">
                <a:solidFill>
                  <a:srgbClr val="1A1A1A"/>
                </a:solidFill>
                <a:latin typeface="Arial"/>
              </a:rPr>
              <a:t>dem Kundengespräch intern, welchen Spielraum du hast. Wer dem Kunden eine Konditionen-Zusage macht und diese dann nicht genehmigt bekommt, beschädigt seine Glaubwürdigkeit…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Kundensegmentierung nach Ertragsprofil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4.3 Ertragsstruktur-Analyse im Bestand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Kundensegmentierung nach Ertragsprofil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Hoher aktueller DB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Niedriger aktueller DB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Hohes Potenzial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Kernkunde: halten, ausbauen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Entwicklungskunde: Cross-Selling, Konditionen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Niedriges Potenzial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Ertragskunde: Beziehung pflegen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Problemkunde: Betreuungsintensität senken oder Exit prüfen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Signale für Unterpreisierung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4.3 Ertragsstruktur-Analyse im Bestand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Signale für Unterpreisierung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Berater erkennen unterpreiste Engagements oft an folgenden Signalen: - Kreditmarge liegt deutlich unter Marktüblichkeit (Benchmarkcheck in agree) - Kein…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Vom Konditionengespräch zum Wertgespräch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4.4 Das Konditionengespräch wertbasiert führen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Vom Konditionengespräch zum Wertgespräch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Phase 1: Wert der Beziehung artikulieren: </a:t>
            </a:r>
            <a:r>
              <a:rPr sz="1700">
                <a:solidFill>
                  <a:srgbClr val="1A1A1A"/>
                </a:solidFill>
                <a:latin typeface="Arial"/>
              </a:rPr>
              <a:t>Bevor Konditionen angesprochen werden, wird der Nutzen der Bankbeziehung konkret gemacht: schnelle Kreditentscheidungen, Verbundpartner-Einbindung, Beratungsleistung,…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Phase 2: Marktumfeld erklären: </a:t>
            </a:r>
            <a:r>
              <a:rPr sz="1700">
                <a:solidFill>
                  <a:srgbClr val="1A1A1A"/>
                </a:solidFill>
                <a:latin typeface="Arial"/>
              </a:rPr>
              <a:t>Zinsentwicklung, Refinanzierungskosten, Risikoumfeld transparent machen – ohne Details zu internen Kalkulationen preiszugeben.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Phase 3: Konditionen transparent kommunizieren: </a:t>
            </a:r>
            <a:r>
              <a:rPr sz="1700">
                <a:solidFill>
                  <a:srgbClr val="1A1A1A"/>
                </a:solidFill>
                <a:latin typeface="Arial"/>
              </a:rPr>
              <a:t>Erst jetzt die konkrete Anpassung benennen – mit Begründung, nicht als einseitige Mitteilung. „Auf Basis dieser Entwicklung möchten wir die Marge um X Basispunkte anpassen. Was…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Phase 4: Alternativen anbieten: </a:t>
            </a:r>
            <a:r>
              <a:rPr sz="1700">
                <a:solidFill>
                  <a:srgbClr val="1A1A1A"/>
                </a:solidFill>
                <a:latin typeface="Arial"/>
              </a:rPr>
              <a:t>Dem Kunden Optionen geben: „Wenn wir die Besicherung verbessern, könnten wir bei der Marge etwas flexibler sein." Oder: „Wenn Sie das R+V-Paket hinzunehmen, sehen wir die…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Arbeitsblatt A: Deckungsbeitragsrechnung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Arbeitsblatt A: Deckungsbeitragsrechnung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Betrag p.a. (EUR)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Kreditmarge ( ___ % × ___ EUR)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Einlagenmarge ( ___ % × ___ EUR)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Provisionsertrag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Verbundertrag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Bruttoertrag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./. Risikokosten (EL: ___ % × ___ EUR)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Deckungsbeitrag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./. Betriebskosten ( ___ Std. × 120 EUR)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Deckungsbeitrag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Kundenrendite (DB II / Kreditvolumen)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___ 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Arbeitsblatt B: Konditionengespräch vorbereiten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M14 · 4.6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Arbeitsblatt B: Konditionengespräch vorbereiten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Wertargumente (Phase 1) – Was hat unsere Beziehung diesem Kunden gebracht?: </a:t>
            </a:r>
            <a:r>
              <a:rPr sz="1700">
                <a:solidFill>
                  <a:srgbClr val="1A1A1A"/>
                </a:solidFill>
                <a:latin typeface="Arial"/>
              </a:rPr>
              <a:t>___________________________________________________________________________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Marktumfeld-Erklärung (Phase 2) – Welche externen Faktoren begründen die Anpassung?: </a:t>
            </a:r>
            <a:r>
              <a:rPr sz="1700">
                <a:solidFill>
                  <a:srgbClr val="1A1A1A"/>
                </a:solidFill>
                <a:latin typeface="Arial"/>
              </a:rPr>
              <a:t>___________________________________________________________________________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Konkrete Anpassung (Phase 3): </a:t>
            </a:r>
            <a:r>
              <a:rPr sz="1700">
                <a:solidFill>
                  <a:srgbClr val="1A1A1A"/>
                </a:solidFill>
                <a:latin typeface="Arial"/>
              </a:rPr>
              <a:t>___________________________________________________________________________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Alternativen (Phase 4) – Welche Optionen biete ich an?: </a:t>
            </a:r>
            <a:r>
              <a:rPr sz="1700">
                <a:solidFill>
                  <a:srgbClr val="1A1A1A"/>
                </a:solidFill>
                <a:latin typeface="Arial"/>
              </a:rPr>
              <a:t>___________________________________________________________________________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6F0"/>
                </a:solidFill>
                <a:latin typeface="Arial"/>
              </a:rPr>
              <a:t>PRAXISTRANSFER &amp;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Was nehmen Sie mit?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Transferaufgabe: Wenden Sie das Gelernte in den nächsten 14 Tagen bei einem konkreten Kunden an.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Selbstcheck nach 4 Wochen: Bewerten Sie Ihre Fortschritte ehrlich.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Nächste Module: M15, M16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M14 · Ertragsoptimierung pro Kunde  ·  v0.3  ·  Benedikt Zoller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