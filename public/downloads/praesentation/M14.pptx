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3175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3048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M14  ·  v0.3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2794000"/>
            <a:ext cx="10972800" cy="2032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6000" b="0" i="0">
                <a:solidFill>
                  <a:srgbClr val="191D2E"/>
                </a:solidFill>
                <a:latin typeface="Georgia"/>
              </a:rPr>
              <a:t>Ertragsoptimierung pro Kunde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4889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5016500"/>
            <a:ext cx="5207000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1">
                <a:solidFill>
                  <a:srgbClr val="4D5270"/>
                </a:solidFill>
                <a:latin typeface="Georgia"/>
              </a:rPr>
              <a:t>Kundendeckungsbeitrag analysieren, risikogerechtes Pricing verstehen und Konditionengespräche wertbasiert führen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2500" y="5016500"/>
            <a:ext cx="2540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ZIELSTUFE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2500" y="5207000"/>
            <a:ext cx="25400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Sparring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90000" y="5016500"/>
            <a:ext cx="2667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DAUER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90000" y="5207000"/>
            <a:ext cx="26670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90 Min.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00 — LERNZIELE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3175000" cy="165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4800" b="0" i="1">
                <a:solidFill>
                  <a:srgbClr val="1F2B56"/>
                </a:solidFill>
                <a:latin typeface="Georgia"/>
              </a:rPr>
              <a:t>Inhalt.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064000" y="8890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64000" y="939799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53000" y="9525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Den Kundendeckungsbeitrag anhand der vier Ertragskomponenten berechnen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64000" y="15875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64000" y="1638300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II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53000" y="16510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Die Ertragsstruktur eines Kunden analysieren und die größten Optimierungshebel identifizieren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64000" y="22860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064000" y="2336800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III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53000" y="23495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Den Expected Loss in der Konditionenkalkulation erklären und bewerten, ob eine Beziehung risikogerecht bepreist ist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64000" y="29845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64000" y="3035300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IV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3000" y="30480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Drei Optimierungsszenarien bewerten und die ertragswirksamste Option wählen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64000" y="36830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064000" y="3733799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3000" y="37465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Ein Konditionengespräch wertbasiert führen – Nutzen kommunizieren bevor über Konditionen gesprochen wird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Modulinhalte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Warum Ertrag je Kunde messen?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Warum Ertrag je Kunde messen?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Die zeb-Firmenkundenstudie zeigt, dass in einem typischen VR-Bank-Firmenkundenbestand 20 % der Kunden 80 % des Deckungsbeitrags erzeugen. Ohne eine klare Ertragsanalyse investieren Berater Zeit und Kapital in Kunden,…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Schierenbeck et al. definieren die Kunden-Deckungsbeitrag-Rechnung als das zentrale Steuerungsinstrument der kundenbezogenen Rentabilitätsanalyse im Bankgeschäft. Sie erfasst alle Ertrags- und Kostengrößen, die einem…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05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Die vier Ertragskomponenten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25750"/>
            <a:ext cx="4826000" cy="10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Der Kundendeckungsbeitrag setzt sich zusammen aus: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15000" y="920750"/>
          <a:ext cx="58674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800"/>
                <a:gridCol w="1955800"/>
                <a:gridCol w="195580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Komponente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Beschreibung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Typische Treiber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Zinsüberschuss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Zinsmarge aus Kredit- und Einlagengeschäft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Konditionshöhe, Volumen, Laufzeit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Provisionsertrag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Gebühren aus ZV, Avale, Dokumenten, Beratung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Zahlungsverkehrsvolumen, Produktkomplexität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Verbundertrag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Provisionen aus Verbundprodukten (R+V, Union Investment, etc.)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Cross-Selling-Tiefe, Verbundpartner-Einbindung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Risikokosten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Expected Loss (EL = PD × LGD × EAD)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Ratingklasse, Besicherung, Kreditvolumen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Betriebskosten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Direkter Betreuungsaufwand (Std. × Kostensatz)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Gesprächsfrequenz, Komplexität, Sonderleistungen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06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Rechenbeispiel: Kundendeckungsbeitrag Müller GmbH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25750"/>
            <a:ext cx="4826000" cy="10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Ertragskennzahl: DB II / Kreditvolumen = 1,58 % (Kundenrendite)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15000" y="920750"/>
          <a:ext cx="58674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33700"/>
                <a:gridCol w="293370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Position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Betrag p.a.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Kreditzinsen (Marge 1,85 % auf 800.000 EUR)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14.800 EUR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Einlagenzinsen (Marge 0,45 % auf 300.000 EUR)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1.350 EUR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Provisionsertrag ZV, Avale, Beratung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3.200 EUR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Verbundertrag (R+V Prämie, keine UI-Verbindung)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1.100 EUR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Bruttoertrag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20.450 EUR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./. Risikokosten (Rating B, EL 0,8 % × 800.000)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− 6.400 EUR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Deckungsbeitrag I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14.050 EUR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./. Betriebskosten (12 Std. × 120 EUR/Std.*)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− 1.440 EUR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Deckungsbeitrag II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12.610 EUR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4.2 RISIKOGERECHTES PRICING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4.2 Risikogerechtes Pricing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Der Expected Loss als Kalkulationsgrundlage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II · 4.2 RISIKOGERECHTES PRICING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08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Der Expected Loss als Kalkulationsgrundlage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25750"/>
            <a:ext cx="4826000" cy="10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In der Konditionenkalkulation muss die Risikoprämie mindestens den Expected Loss (EL) des Kreditengagements abdecken. Der EL errechnet sich nach Basel III aus: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15000" y="920750"/>
          <a:ext cx="5867400" cy="152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800"/>
                <a:gridCol w="1955800"/>
                <a:gridCol w="195580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Parameter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Bedeutung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Praktische Annäherung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PD (Probability of Default)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Ausfallwahrscheinlichkeit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Abgeleitet aus dem internen Rating; VR-Banken nutzen VR-Rating/agree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LGD (Loss Given Default)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Verlust bei Ausfall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Abhängig von Besicherung; typisch 40–60 % unbesichert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EAD (Exposure at Default)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Kreditvolumen bei Ausfall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Inanspruchnahme + konservative Schätzung Inanspruchnahme offener Linien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II · 4.2 RISIKOGERECHTES PRICING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09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Das Nettomargenziel (NMZ) als Steuerungsgröße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In vielen VR-Banken wird das Nettomargenziel (NMZ) als Untergrenze für das Konditionensetting genutzt. Das NMZ gibt an, welche Nettomarge nach Abzug von Refinanzierungskosten, Risikokosten (EL) und…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&gt; Bruttomarge (vereinbarte Kreditmarge) − Refinanzierungskosten − EL − Standardbetriebskosten = Nettomarge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Liegt die Nettomarge unterhalb des hausindividuellen NMZ, ist eine Konditionsanpassung betriebswirtschaftlich zwingend – unabhängig davon, ob der Kunde zufrieden ist oder nicht. Die NMZ wird im DZ BANK Pricing-Leitfaden…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II · 4.2 RISIKOGERECHTES PRICING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27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Konditionsanpassung vorbereiten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25425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3431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0599" y="23177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Wenn die Analyse zeigt, dass ein Kunde unter dem Mindest-Deckungsbeitrag liegt, gibt es drei Hebel: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28892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29527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0599" y="29273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1. Zinsmarge erhöhen: Direkte Wirkung auf DB I. Erfordert Konditionengespräch (Sec 4.4). 2. Cross-Selling ausbauen: Verbundertrag und Provisionen steigern, ohne Zinskonditionen…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" y="34988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02400" y="23431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83400" y="23177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Rolfes betont, dass nachhaltige Ertragsoptimierung alle drei Hebel kombiniert – ein reiner Konditionsfokus führt häufig zur Abwanderung des Kunden, ohne den Deckungsbeitrag…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02400" y="28892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02400" y="29527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83400" y="29273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&gt; Wichtig – Genehmigungspflicht beachten: Konditionsanpassungen oberhalb des eigenen Kompetenzrahmens erfordern ein Votum der Marktfolge oder die Freigabe durch den…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02400" y="34988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4.3 ERTRAGSSTRUKTUR-ANALYSE IM BESTAND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III.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4.3 Ertragsstruktur-Analyse im Bestand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Kundensegmentierung nach Ertragsprofil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III · 4.3 ERTRAGSSTRUKTUR-ANALYSE IM BESTAND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Kundensegmentierung nach Ertragsprofil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25750"/>
            <a:ext cx="4826000" cy="10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Eine einfache 2×2-Matrix hilft, den Bestand nach Ertragspotenzial und aktuellem Ertrag zu strukturieren: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15000" y="920750"/>
          <a:ext cx="5867400" cy="1143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800"/>
                <a:gridCol w="1955800"/>
                <a:gridCol w="195580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Hoher aktueller DB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Niedriger aktueller DB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Hohes Potenzial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Kernkunde: halten, ausbauen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Entwicklungskunde: Cross-Selling, Konditionen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Niedriges Potenzial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Ertragskunde: Beziehung pflegen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Problemkunde: Betreuungsintensität senken oder Exit prüfen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III · 4.3 ERTRAGSSTRUKTUR-ANALYSE IM BESTAND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27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Signale für Unterpreisierung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25425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3431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0599" y="23177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Kreditmarge liegt deutlich unter Marktüblichkeit (Benchmarkcheck in agree)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28892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29527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0599" y="29273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Kein Verbundpartner eingebunden, obwohl Potenzial vorhanden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" y="34988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02400" y="23431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83400" y="23177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Hohe Inanspruchnahme offener Linien → steigt EAD, Marge wurde nie angepasst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02400" y="28892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02400" y="29527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83400" y="29273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Ratingverschlechterung ohne Konditionsanpassung → EL gestiegen, Marge unverändert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02400" y="34988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4.4 DAS KONDITIONENGESPRÄCH WERTBASIERT FÜHREN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IV.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4.4 Das Konditionengespräch wertbasiert führen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Vom Konditionengespräch zum Wertgespräch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IV · 4.4 DAS KONDITIONENGESPRÄCH WERTBASIERT FÜHREN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15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27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Vom Konditionengespräch zum Wertgespräch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25425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3431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0599" y="23177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Das klassische Konditionengespräch beginnt mit Zahlen: „Ihr Zinssatz beträgt X, und wir möchten auf Y anpassen." Diese Eröffnung setzt den Kunden sofort in eine…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28892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29527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0599" y="29273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Ein wertbasierter Ansatz kehrt die Reihenfolge um: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" y="34988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5623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0599" y="35369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Phase 1: Wert der Beziehung artikulieren Bevor Konditionen angesprochen werden, wird der Nutzen der Bankbeziehung konkret gemacht: schnelle Kreditentscheidungen, Verbundpartner-…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600" y="41084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02400" y="23431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83400" y="23177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Phase 2: Marktumfeld erklären Zinsentwicklung, Refinanzierungskosten, Risikoumfeld transparent machen – ohne Details zu internen Kalkulationen preiszugeben.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02400" y="28892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02400" y="29527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83400" y="29273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Musterdialog: „Im aktuellen Marktumfeld – gestiegene Rohstoffpreise, unsicherere Lieferketten – sind die Ausfallrisiken im Mittelstand insgesamt gestiegen. Das spiegelt auch unser…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02400" y="34988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02400" y="35623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83400" y="35369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Diese Formulierung erklärt das Warum, ohne interne Kalkulation offenzulegen, und signalisiert Partnerschaft statt Diktat. Der Satz „Ich möchte fair mit Ihnen sein" ist ein…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02400" y="41084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4.5 PRAXISCASE: ERTRAGSANALYSE BAUER &amp; SÖHNE GMBH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V.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4.5 Praxiscase: Ertragsanalyse Bauer &amp; Söhne GmbH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4.6 ARBEITSBLÄTTER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VI.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4.6 Arbeitsblätter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Arbeitsblatt A: Deckungsbeitragsrechnung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VI · 4.6 ARBEITSBLÄTTER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18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Arbeitsblatt A: Deckungsbeitragsrechnung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25750"/>
            <a:ext cx="4826000" cy="10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Kundenname (anonymisiert): ___________________________ Analysedatum: _______________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15000" y="920750"/>
          <a:ext cx="5867400" cy="4190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33700"/>
                <a:gridCol w="2933700"/>
              </a:tblGrid>
              <a:tr h="380999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Position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Betrag p.a. (EUR)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</a:tr>
              <a:tr h="380999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Kreditmarge ( ___ % × ___ EUR)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0999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Einlagenmarge ( ___ % × ___ EUR)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0999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Provisionsertrag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0999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Verbundertrag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0999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Bruttoertrag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0999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./. Risikokosten (EL: ___ % × ___ EUR)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0999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Deckungsbeitrag I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0999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./. Betriebskosten ( ___ Std. × 120 EUR)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0999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Deckungsbeitrag II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9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Kundenrendite (DB II / Kreditvolumen)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___ %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VI · 4.6 ARBEITSBLÄTTER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19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27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Arbeitsblatt B: Konditionengespräch vorbereiten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25425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3431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0599" y="23177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Wertargumente (Phase 1) – Was hat unsere Beziehung diesem Kunden gebracht?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28892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29527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0599" y="29273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___________________________________________________________________________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" y="34988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5623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0599" y="35369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Marktumfeld-Erklärung (Phase 2) – Welche externen Faktoren begründen die Anpassung?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600" y="41084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02400" y="23431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83400" y="23177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___________________________________________________________________________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02400" y="28892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02400" y="29527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83400" y="29273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Konkrete Anpassung (Phase 3):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02400" y="34988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02400" y="35623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83400" y="35369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___________________________________________________________________________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02400" y="41084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VII.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Praxistransfer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5.2 SELBSTCHECK NACH 4 WOCHEN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VIII.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5.2 Selbstcheck nach 4 Wochen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5.3 VERTIEFUNGSLITERATUR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IX.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5.3 Vertiefungsliteratur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Fachlich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IX · 5.3 VERTIEFUNGSLITERATUR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23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Fachlich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Schierenbeck, H., Lister, M. &amp; Kirmße, S. (2014): Ertragsorientiertes Bankmanagement, Band 1 und 2 – Standardwerk zur Kunden-DB-Rechnung und Marktzinsmethode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Rolfes, B. (1999): Gesamtbanksteuerung – Konzepte des Bankcontrollings, Rentabilitätssteuerung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IX · 5.3 VERTIEFUNGSLITERATUR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24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Praxismaterialien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agree Handbuch Ertragskennzahlen: Dokumentation zur DB-Auswertung im Firmenkundensegment (Intranet Atruvia)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DZ BANK Pricing-Leitfaden: Konditionengestaltung und Mindestrisikoprämien im Firmenkundengeschäft (Verbund-Intranet)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zeb Firmenkundenstudie (2020): Benchmarks für Wallet-Share und Ertragskennzahlen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QUELLEN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X.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Quellen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DIDAKTIK &amp; KOMPETENZENTWICKLUNG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11.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Didaktik &amp; Kompetenzentwicklung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BANKCONTROLLING &amp; ERTRAGSORIENTIERUNG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12.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Bankcontrolling &amp; Ertragsorientierung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REGULATORIK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13.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Regulatorik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BANKFACHLICHE QUELLEN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14.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Bankfachliche Quellen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457200"/>
            <a:ext cx="3175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4572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Ende · v0.3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1143000"/>
            <a:ext cx="10972800" cy="355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600" b="0" i="0">
                <a:solidFill>
                  <a:srgbClr val="191D2E"/>
                </a:solidFill>
                <a:latin typeface="Georgia"/>
              </a:rPr>
              <a:t>Danke.
Fragen?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482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4953000"/>
            <a:ext cx="5715000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1">
                <a:solidFill>
                  <a:srgbClr val="191D2E"/>
                </a:solidFill>
                <a:latin typeface="Georgia"/>
              </a:rPr>
              <a:t>Modul «Ertragsoptimierung pro Kunde» auf FKB Campus — 5 Lernziele, Praxisfall und Quellenapparat.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4953000"/>
            <a:ext cx="2413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Kontakt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31000" y="5156200"/>
            <a:ext cx="2413000" cy="38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info@benedikt-zoller.de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8000" y="4953000"/>
            <a:ext cx="21844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Modul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98000" y="5156200"/>
            <a:ext cx="2184400" cy="38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M14 · Sparring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