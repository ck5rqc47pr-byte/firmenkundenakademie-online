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Ertragsoptimierung pro Kunde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Kundendeckungsbeitrag anhand der vier Ertragskomponenten berechnen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Ertragsstruktur eines Kunden analysieren und die größten Optimierungshebel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Expected Loss in der Konditionenkalkulation erklären und bewerten, ob eine Beziehung risikogerecht bepreist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Optimierungsszenarien bewerten und die ertragswirksamste Option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Konditionengespräch wertbasiert führen – Nutzen kommunizieren bevor über Konditionen gesprochen wird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Deckungsbeitrags-Wasserfall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Ertrag je Kunde messen?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Ertragskomponenten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Kundendeckungsbeitrag setzt sich zusammen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Deckungsbeitrag I = Zinsüberschuss + Provisionsertrag + Verbundertrag − Risikokosten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Deckungsbeitrag II = DB I − Betriebskosten (Betreuungsaufwand)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Rechenbeispiel: Kundendeckungsbeitrag Müller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Ertragskennzahl: DB II / Kreditvolumen = 1,58 % (Kundenrendite)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Risikogerechtes Pricing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Der Expected Loss als Kalkulationsgrundlage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der Konditionenkalkulation muss die Risikoprämie mindestens den Expected Loss (EL) des Kreditengagements abdecken. Der EL errechnet sich nach Basel III 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EL = PD × LGD × 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Nettomargenziel (NMZ) als Steuerungsgröße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Logik: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Bruttomarge (vereinbarte Kreditmarge) − Refinanzierungskosten − EL − Standardbetriebskosten = Nettomarge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Konditionsanpassung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Wenn die Analyse zeigt, dass ein Kunde unter dem Mindest-Deckungsbeitrag liegt, gibt es drei Hebel: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Zinsmarge erhöhen: Direkte Wirkung auf DB I. Erfordert Konditionengespräch (Sec 4.4).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Cross-Selling ausbauen: Verbundertrag und Provisionen steigern, ohne Zinskonditionen anzufassen. Oft der schonendere Weg.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Betreuungskosten senken: Gesprächsfrequenz anpassen, digitale Kanäle stärker nutzen. Wirkt auf DB II.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Ertragsstruktur-Analyse im Bestand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Kundensegmentierung nach Ertragsprofil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einfache 2×2-Matrix hilft, den Bestand nach Ertragspotenzial und aktuellem Ertrag zu strukturieren: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Kernkunden (hoher DB, hohes Potenzial) erhalten bevorzugte Betreuungsintensität: proaktive Kontakte, Spezialisten einbinden, Strategiegespräche.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Entwicklungskunden (niedriger DB, hohes Potenzial) sind die Priorität für Ertragsoptimierung: Hier liegt ungenutztes Wallet-Share-Potenzial.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Problemkunden (niedriger DB, niedriges Potenzial) sollten mit minimalem Aufwand betreut werden. Exit aus der Beziehung ist bei dauerhaft negativem DB zu prüfen – aber: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Signale für Unterpreisierung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 erkennen unterpreiste Engagements oft an folgenden Signalen: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Kreditmarge liegt deutlich unter Marktüblichkeit (Benchmarkcheck in agree)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Verbundpartner eingebunden, obwohl Potenzial vorhanden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Hohe Inanspruchnahme offener Linien → steigt EAD, Marge wurde nie angepasst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Ratingverschlechterung ohne Konditionsanpassung → EL gestiegen, Marge unverändert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Das Konditionengespräch wertbasiert führen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Konditionengespräch zum Wertgespräch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wertbasierter Ansatz kehrt die Reihenfolge um: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1: Wert der Beziehung artikulieren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2: Marktumfeld erklären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Zinsentwicklung, Refinanzierungskosten, Risikoumfeld transparent machen – ohne Details zu internen Kalkulationen preiszugeben.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3: Konditionen transparent kommunizieren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4: Alternativen anbieten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Dem Kunden Optionen geben: „Wenn wir die Besicherung verbessern, könnten wir bei der Marge etwas flexibler sein." Oder: „Wenn Sie das R+V-Paket hinzunehmen, sehen wir die Gesamtbeziehung anders."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Ertragsanalyse Bauer &amp; Söhne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 der Vorbereitung des Jahresgesprächs analysiert Sandra den Deckungsbeitrag: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Analyse zeigt drei Probleme: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Kreditmarge von 1,25 % deckt den EL von 0,65 % nur mit 0,60 % Nettomarge – unter dem bankinternen Mindeststandard von 0,80 % (fiktiver Fallbeispielwert; die konkrete Untergrenze wird hausindividuell festgelegt).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Deckungsbeitragsrechnung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Kundenname (anonymisiert): ___________________________ Analysedatum: 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Optimierungshebel (Top 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Konditionengespräch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Wertargumente (Phase 1) – Was hat unsere Beziehung diesem Kunden gebracht?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Marktumfeld-Erklärung (Phase 2) – Welche externen Faktoren begründen die Anpassung?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Konkrete Anpassung (Phase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Alternativen (Phase 4) – Welche Optionen biete ich an?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