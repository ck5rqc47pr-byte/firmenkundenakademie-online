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M18  · 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Datengetriebener Vertrieb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Trigger-Signale aus agree erkennen und proaktiv nutzen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Sparringspartner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90 Min.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271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99000" y="9525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Mindestens fünf Trigger-Ereignisse aus agree-Daten identifizieren und priorisieren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748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129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9000" y="16383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Datenqualität des CRM-Bestands analysieren und Lücken benennen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606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2987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III.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9000" y="23241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Reaktiven und trigger-basierten Vertrieb unterscheiden und erläutern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464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29845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IV.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9000" y="30099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Drei Trigger-Typen hinsichtlich Vorlaufzeit und Wirksamkeit bewerten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4000" y="36322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4000" y="36703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V.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99000" y="36957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Grundsätze der DSGVO-konformen Datennutzung im Vertriebskontext anwenden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Modulinhalte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Vom Zufallskontakt zum Signal-gesteuerten Gespräch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Vom Zufallskontakt zum Signal-gesteuerten Gespräch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Traditioneller Vertrieb funktioniert nach dem Kalendermodell: Jahresgespräch im Februar, Folgeaktivität wenn der Kunde anruft. Datengetriebener Vertrieb funktioniert nach dem…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Branchenbeobachtungen deuten darauf hin, dass trigger-basiert arbeitende Berater deutlich höhere Konversionsraten erzielen als reaktiv vorgehende Berater (vgl. Roland Berger,…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Kumar &amp; Reinartz (2018) beschreiben datengetriebenes CRM als systematische Nutzung von Kundendaten zur richtigen Zeit mit dem richtigen Angebot – nicht als Massenmail, sondern als…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&gt; Datengetriebener Vertrieb bedeutet nicht, Kunden zu überwachen. Es bedeutet, die Signale zu lesen, die der Kunde ohnehin sendet – und im richtigen Moment präsent zu sein.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Die drei Grundprinzipien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1. Timing schlägt Häufigkeit: Ein Anruf zum richtigen Moment ist wertvoller als zehn Anrufe zum falschen Zeitpunkt. 2. Relevanz schlägt Breite: Ein auf den aktuellen Bedarf zugeschnittenes Gespräch überzeugt mehr als…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4.2 TRIGGER-EREIGNISSE: DREI TYPEN MIT UNTERSCHIEDLICHER LOGIK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4.2 Trigger-Ereignisse: Drei Typen mit unterschiedlicher Logik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Typ 1: Transaktionale Trigger (aus agree-Kontodaten)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4.2 TRIGGER-EREIGNISSE: DREI TYPEN MIT UNTERSCHIEDLICHER LOGIK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Typ 1: Transaktionale Trigger (aus agree-Kontodaten)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&gt; Hinweis agree-Trigger-Reports: In agree BAP gibt es keine fertigen, automatisierten Alert-Reports für alle Transaktionsmuster. Was standardmäßig verfügbar ist: Kontokorrent-Ausla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6850"/>
                <a:gridCol w="1466850"/>
                <a:gridCol w="1466850"/>
                <a:gridCol w="146685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Signal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Möglicher Bedarf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Vorlaufzeit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agree-Quelle (bankindividuell)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Kontokorrent dauerhaft &gt; 80 % ausgelastet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Betriebsmittelkrediterhöhung oder Liquiditätsplanung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Sofort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agree BAP → Auswertungen → Kontokorrentauslastung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Eingangszahlungen deutlich gesunken (&gt; 20 % in 2 Monaten)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Bonitätsgespräch, Frühwarnung (→ M04)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Sofort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Manuelle Umsatzabfrage im Konto oder Frühwarnbericht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Auslandszahlungen erstmalig auftauchend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Auslands-ZV, Währungsabsicherung (DZ BANK)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Sofort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ZV-Analyse im Kundenprofil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Große Einmalzahlung auf Konto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Kapitalanlage (Union Investment)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Kurzfristig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Kontokorrent-Umsatzübersicht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Kontokorrent-Linie seit &gt; 6 Monaten nicht genutzt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Linie reduzieren oder Umschuldung prüfen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Mittelfristig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Kreditbearbeitung → Engagementübersicht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4.2 TRIGGER-EREIGNISSE: DREI TYPEN MIT UNTERSCHIEDLICHER LOGIK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Typ 2: Ratingbasierte Trigger (aus Kreditakte / Frühwarnsystem)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15000" y="920750"/>
          <a:ext cx="58674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Signal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Möglicher Bedarf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Vorlaufzeit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Ratingverschlechterung um ≥ 1 Stufe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Konditionenanpassung, Sicherheitengespräch, Sanierungsbedarf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Sofort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Jahresabschluss überfällig (&gt; 3 Monate)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§18 KWG-Gespräch, Bonitätssignal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Kurzfristig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Kreditverlängerung in 6 Monaten fällig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Prolongationsgespräch, ggf. Volumenerhöhung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Mittelfristig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Neue Gesellschafterstruktur (Handelsregister)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Nachfolge, Absicherung neue GF, D&amp;O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Kurzfristig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4.2 TRIGGER-EREIGNISSE: DREI TYPEN MIT UNTERSCHIEDLICHER LOGIK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Typ 3: Lebensereignisbasierte Trigger (aus CRM-Notizen, externen Quellen)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&gt; Externe Trigger brauchen eine eigene Informationsroutine: Regulierungsänderungen und Handelsregister-Einträge kommen nicht aus agree – sie erfordern aktives Scanning externer Que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6850"/>
                <a:gridCol w="1466850"/>
                <a:gridCol w="1466850"/>
                <a:gridCol w="146685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Signal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Möglicher Bedarf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Vorlaufzeit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Quelle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Gesellschafter &gt; 55 Jahre (CRM-Geburtsdatum)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Nachfolgeplanung, Altersvorsorge, Testament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Langfristig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agree CRM intern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Unternehmen gegründet vor &gt; 10 Jahren (Firmenstamm)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Wachstumsfinanzierung, Restrukturierung, Expansion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Mittelfristig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agree Firmenstamm intern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Branchenrelevante Regulierung (z.B. GAP-Reform Agrar)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Investitionsfinanzierung für Compliance-Anpassungen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Mittelfristig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Extern (BVR-Newsletter, DZ BANK-Branchenreport)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Neueintrag im Handelsregister (Umwandlung GbR → GmbH)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D&amp;O, neue Gesellschafterkonten, Steuerberatervermittlung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Sofort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Extern (Handelsregister-Alert, Unternehmensregister)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Mitarbeiteranzahl gestiegen (z.B. aus Jahresabschluss)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Betriebliche Altersvorsorge, R+V Personenabsicherung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Kurzfristig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agree / Jahresabschluss intern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4.3 DATENQUALITÄT: DIE VORAUSSETZUNG FÜR ALLES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4.3 Datenqualität: Die Voraussetzung für alles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Datenqualitäts-Audit im eigenen Bestand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III · 4.3 DATENQUALITÄT: DIE VORAUSSETZUNG FÜR ALLES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Datenqualitäts-Audit im eigenen Bestand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Führen Sie einmalig pro Jahr einen strukturierten Datencheck durch: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1. In agree eine Bestandsliste Ihrer Firmenkunden aufrufen (Weg je nach Bankinstallation: Bestandsbetreuer-Cockpit oder Listenabfrage über agree-Auswertungskomponente – lassen Sie sich das einmalig von Ihrem IT-…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4.4 DSGVO-KONFORME DATENNUTZUNG IM VERTRIEB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4.4 DSGVO-konforme Datennutzung im Vertrieb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Was ist erlaubt – was nicht?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IV · 4.4 DSGVO-KONFORME DATENNUTZUNG IM VERTRIEB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Was ist erlaubt – was nicht?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Kundendaten dürfen für Vertriebszwecke genutzt werden, wenn: - Eine Rechtsgrundlage besteht (Art. 6 DSGVO): Bei Bankbeziehungen gilt üblicherweise das berechtigte Interesse (Art. 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Nutzung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Zulässig?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Begründung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Kontoauswertung für Gesprächsvorbereitung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✓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Vertragserfüllung + berechtigtes Interesse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Trigger-Alerts auf Basis von Kontobewegungen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✓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Berechtigtes Interesse der Bank (Art. 6 Abs. 1 lit. f DSGVO) – sofern im internen Datenschutzkonzept dokumentiert; Klärung mit Datenschutzbeauftragtem empfohlen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Weitergabe von Kundendaten an Verbundpartner ohne Einwilligung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✗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Keine Rechtsgrundlage ohne Einwilligung oder Vertrag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Nutzung privater Informationen (Scheidung, Krankheit) für Vertrieb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✗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Verletzt Vertrauensverhältnis, rechtlich riskant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Scoring-Modelle mit externen Daten (Social Media)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✗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Zulässigkeit sehr eingeschränkt, AGB-Konformität prüfen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IV · 4.4 DSGVO-KONFORME DATENNUTZUNG IM VERTRIEB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Verbundpartner-Einwilligung: Pflichtcheck vor jeder Übergabe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Wenn ein Trigger-Signal zu einem Verbundpartner-Angebot führt (z.B. R+V, Union Investment, Schwäbisch Hall), gilt: Ohne dokumentierte Einwilligung des Kunden darf der…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 der Praxis der VR-Banken ist die Einwilligung zur Verbundpartner-Datenübermittlung standardmäßig Teil der Kontoeröffnungsunterlagen (VR-Smart-Finanzplan-Einwilligungsformular…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Handlungsregel: Vor jeder Verbund-Übergabe prüfen: Liegt die Einwilligung vor? In agree ist diese typischerweise im Kundenstamm / Kundenblatt unter DSGVO-Einwilligungen sichtbar.…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&gt; Pflichthinweis Verbundpartner-Einwilligung: Für die Weitergabe von Kundendaten an Verbundpartner (R+V, Union Investment etc.) ist eine separate Einwilligung erforderlich –…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IV · 4.4 DSGVO-KONFORME DATENNUTZUNG IM VERTRIEB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Transparenz als Vertrauensmoment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Wenn Sie einem Kunden erklären: „Ich habe gesehen, dass Ihre Kreditlinie in den letzten Wochen stark ausgelastet war – deshalb wollte ich proaktiv auf Sie zugehen", erleben die meisten Kunden das als Aufmerksamkeit,…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4.5 PRAXISCASE: DREI TRIGGER, DREI GESPRÄCHE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4.5 Praxiscase: Drei Trigger, drei Gespräche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4.6 TRIGGER-PRIORISIERUNG: WAS TUN BEI ZU VIELEN SIGNALEN?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4.6 Trigger-Priorisierung: Was tun bei zu vielen Signalen?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4.7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4.7 Arbeitsblätter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Arbeitsblatt A: Meine Trigger-Bibliothek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VII · 4.7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Arbeitsblatt A: Meine Trigger-Bibliothek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(Nutzen Sie die Priorisierungstabelle aus Sec 4.6, um Ihren wirkungsvollsten Trigger zu bestimmen)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66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6850"/>
                <a:gridCol w="1466850"/>
                <a:gridCol w="1466850"/>
                <a:gridCol w="146685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Trigger-Typ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Datensignal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agree-Quelle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Möglicher Bedarf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Transaktional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Transaktional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Ratingbasiert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Ratingbasiert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Lebensereignis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Lebensereignis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VII · 4.7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Arbeitsblatt B: Datenqualitäts-Audit (Top-10-Kunden)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Anzahl Datenlücken gesamt: _______ | Größte Schwachstelle: _______________________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Praxistransfer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5.2 SELBSTCHECK NACH 4 WOCHEN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5.2 Selbstcheck nach 4 Wochen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5.3 Vertiefungsliteratur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Fachlich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X · 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Fachlich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Kumar, V. &amp; Reinartz, W. (2018): Customer Relationship Management – Kapitel 7–9: Datengestütztes CRM, Trigger-basiertes Marketing, Kundenwertoptimierung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Roland Berger (2024): KMU-Banking: Firmenkundenberater 2.0 – Abschnitt Digitalisierung des Beratungsmodells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X · 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Praxismaterialien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Atruvia AG: agree CRM – Trigger-Alerts und Auswertungslogik (Intranet Schulungsmaterialien)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BVR: Datenschutz im Firmenkundenvertrieb – Leitfaden (Verbund-Intranet)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DZ BANK: Datengetriebener Firmenkundenvertrieb – Best Practices (Verbund-Intranet)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Quellen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DIDAKTIK &amp; KOMPETENZENTWICKLUNG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Didaktik &amp; Kompetenzentwicklung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CRM &amp; DATENGETRIEBENER VERTRIEB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CRM &amp; Datengetriebener Vertrieb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BANKFACHLICHE 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14.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Bankfachliche Quellen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REGULATORIK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Regulatorik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«Datengetriebener Vertrieb» auf FKB Campus — 5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Kontakt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info@benedikt-zoller.de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M18 · Sparringspartner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