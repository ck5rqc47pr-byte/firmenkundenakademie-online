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M18  ·  K-05 Digital &amp; Daten  ·  Zielstufe: Sparringspartner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Trigger-Signale aus agree erkennen und proaktiv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Mindestens fünf Trigger-Ereignisse aus agree-Daten identifizieren und priorisieren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Datenqualität des CRM-Bestands analysieren und Lücken benennen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Reaktiven und trigger-basierten Vertrieb unterscheiden und erläutern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Drei Trigger-Typen hinsichtlich Vorlaufzeit und Wirksamkeit bewerten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Grundsätze der DSGVO-konformen Datennutzung im Vertriebskontext anwenden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Vom Zufallskontakt zum Signal-gesteuerten 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Vom Zufallskontakt zum Signal-gesteuerten Gespräch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Traditioneller Vertrieb funktioniert nach dem Kalendermodell: Jahresgespräch im Februar, Folgeaktivität wenn der Kunde anruft. Datengetriebener Vertrieb…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Branchenbeobachtungen deuten darauf hin, dass trigger-basiert arbeitende Berater deutlich höhere Konversionsraten erzielen als reaktiv vorgehende Berater (vgl.…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Kumar &amp; Reinartz (2018) beschreiben datengetriebenes CRM als systematische Nutzung von Kundendaten zur richtigen Zeit mit dem richtigen Angebot – nicht als…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&gt; Datengetriebener Vertrieb bedeutet nicht, Kunden zu überwachen. Es bedeutet, die Signale zu lesen, die der Kunde ohnehin sendet – und im richtigen Moment…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Die drei Grundprinzipien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Die drei Grundprinzipien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Timing schlägt Häufigkeit: </a:t>
            </a:r>
            <a:r>
              <a:rPr sz="1700">
                <a:solidFill>
                  <a:srgbClr val="1A1A1A"/>
                </a:solidFill>
                <a:latin typeface="Arial"/>
              </a:rPr>
              <a:t>Ein Anruf zum richtigen Moment ist wertvoller als zehn Anrufe zum falschen Zeitpunkt. 2.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Relevanz schlägt Breite: </a:t>
            </a:r>
            <a:r>
              <a:rPr sz="1700">
                <a:solidFill>
                  <a:srgbClr val="1A1A1A"/>
                </a:solidFill>
                <a:latin typeface="Arial"/>
              </a:rPr>
              <a:t>Ein auf den aktuellen Bedarf zugeschnittenes Gespräch überzeugt mehr als eine generische Produktpräsentation. 3.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Daten sind kein Ersatz für Beziehung: </a:t>
            </a:r>
            <a:r>
              <a:rPr sz="1700">
                <a:solidFill>
                  <a:srgbClr val="1A1A1A"/>
                </a:solidFill>
                <a:latin typeface="Arial"/>
              </a:rPr>
              <a:t>Trigger öffnen die Tür – das Gespräch selbst bleibt menschlich.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Typ 1: Transaktionale Trigger (aus agree-Kontodaten)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Typ 1: Transaktionale Trigger (aus agree-Kontodaten)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Vorlaufzeit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 (bankindividuell)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Kontokorrent dauerhaft &gt; 80 % ausgelastet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Betriebsmittelkrediterhöhung oder Liquiditätsplanung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agree BAP → Auswertungen → Kontokorrentauslastung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Eingangszahlungen deutlich gesunken (&gt; 20 % in 2 Monaten)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Bonitätsgespräch, Frühwarnung (→ M04)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Manuelle Umsatzabfrage im Konto oder Frühwarnbericht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Auslandszahlungen erstmalig auftauchend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Auslands-ZV, Währungsabsicherung (DZ BANK)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ZV-Analyse im Kundenprofil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Große Einmalzahlung auf Konto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Kapitalanlage (Union Investment)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Kurzfristig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Kontokorrent-Umsatzübersicht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Kontokorrent-Linie seit &gt; 6 Monaten nicht genutzt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Linie reduzieren oder Umschuldung prüfen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Mittelfristig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Kreditbearbeitung → Engagementübersicht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Typ 2: Ratingbasierte Trigger (aus Kreditakte / Frühwarnsystem)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Typ 2: Ratingbasierte Trigger (aus Kreditakte / Frühwarnsystem)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Vorlaufzeit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Ratingverschlechterung um ≥ 1 Stufe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Konditionenanpassung, Sicherheitengespräch, Sanierungsbedarf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Jahresabschluss überfällig (&gt; 3 Monate)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§18 KWG-Gespräch, Bonitätssignal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Kurzfristig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Kreditverlängerung in 6 Monaten fällig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Prolongationsgespräch, ggf. Volumenerhöhung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Mittelfristig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Neue Gesellschafterstruktur (Handelsregister)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Nachfolge, Absicherung neue GF, D&amp;O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Kurzfristig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Datenqualitäts-Audit im eigenen Bestand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4.3 Datenqualität: Die Voraussetzung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Datenqualitäts-Audit im eigenen Bestand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Fehler in den nächsten drei Kundengesprächen schließen (gezielt im Gespräch erfragen)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Was ist erlaubt – was nicht?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Was ist erlaubt – was nicht?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Nutzung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Zulässig?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Kontoauswertung für Gesprächsvorbereitung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Vertragserfüllung + berechtigtes Interesse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Trigger-Alerts auf Basis von Kontobewegungen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Berechtigtes Interesse der Bank (Art. 6 Abs. 1 lit. f DSGVO) – sofern im internen Datenschutzkonzept dokumentiert; Klärung mit Datenschutzbeauftragtem empfohlen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Weitergabe von Kundendaten an Verbundpartner ohne Einwilligung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Rechtsgrundlage ohne Einwilligung oder Vertrag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Nutzung privater Informationen (Scheidung, Krankheit) für Vertrieb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Verletzt Vertrauensverhältnis, rechtlich riskant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Scoring-Modelle mit externen Daten (Social Media)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Zulässigkeit sehr eingeschränkt, AGB-Konformität prüfen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Verbundpartner-Einwilligung: Pflichtcheck vor jeder Übergabe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Verbundpartner-Einwilligung: Pflichtcheck vor jeder Übergabe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Ohne dokumentierte Einwilligung des Kunden darf der Verbundpartner nicht kontaktiert werden.: </a:t>
            </a:r>
            <a:r>
              <a:rPr sz="1700">
                <a:solidFill>
                  <a:srgbClr val="1A1A1A"/>
                </a:solidFill>
                <a:latin typeface="Arial"/>
              </a:rPr>
              <a:t>In der Praxis der VR-Banken ist die Einwilligung zur Verbundpartner-Datenübermittlung standardmäßig Teil der Kontoeröffnungsunterlagen (VR-Smart-Finanzplan-Einwilligungsformular…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Handlungsregel: </a:t>
            </a:r>
            <a:r>
              <a:rPr sz="1700">
                <a:solidFill>
                  <a:srgbClr val="1A1A1A"/>
                </a:solidFill>
                <a:latin typeface="Arial"/>
              </a:rPr>
              <a:t>Vor jeder Verbund-Übergabe prüfen: Liegt die Einwilligung vor? In agree ist diese typischerweise im Kundenstamm / Kundenblatt unter DSGVO-Einwilligungen sichtbar. Im Zweifel:…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Pflichthinweis Verbundpartner-Einwilligung: </a:t>
            </a:r>
            <a:r>
              <a:rPr sz="1700">
                <a:solidFill>
                  <a:srgbClr val="1A1A1A"/>
                </a:solidFill>
                <a:latin typeface="Arial"/>
              </a:rPr>
              <a:t>Für die Weitergabe von Kundendaten an Verbundpartner (R+V, Union Investment etc.) ist eine separate Einwilligung erforderlich – niemals davon ausgehen, dass die allgemeine…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Transparenz als Vertrauensmoment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Transparenz als Vertrauensmoment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Wenn Sie einem Kunden erklären: „Ich habe gesehen, dass Ihre Kreditlinie in den letzten Wochen stark ausgelastet war – deshalb wollte ich proaktiv auf Sie…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A: Meine Trigger-Bibliothek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A: Meine Trigger-Bibliothek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B: Datenqualitäts-Audit (Top-10-Kunden)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M18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B: Datenqualitäts-Audit (Top-10-Kunden)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Anzahl Datenlücken gesamt: _______ | Größte Schwachstelle: _______________________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M18 · Datengetriebener Vertrieb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