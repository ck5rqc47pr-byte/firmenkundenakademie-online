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M07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Branchenvertiefung Heilberufe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Arztpraxen, Apotheken und Heilberufe als Firmenkundensegment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3,5–4 Stunden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Heilberufsgruppen nach ihrer rechtlichen Einordnung als Freie Berufe gemäß § 18 EStG differenzieren und von Gewerbebetrieben abgrenzen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Einnahmen-Überschuss-Rechnung (EÜR) eines Heilberufe-Kunden auf Schuldendienstfähigkeit analysieren und Besonderheiten gegenüber einer handelsrechtlichen Bilanz erläutern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Goodwill einer Arzt- oder Zahnarztpraxis nach der modifizierten Ertragswertmethode (IDW S5) berechnen und eine tragfähige Finanzierungsstruktur ableiten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branchenspezifische Risikoprofil eines Heilberufe-Kunden (Zulassungsrisiken, Regressrisiken, Versorgungswerk-Effekte) bewerten und ein passendes Sicherheitenkonzept empfehlen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HEILBERUFE: KEIN GEWERBE — ABER EIN 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Heilberufe: Kein Gewerbe — aber ein Geschäft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Arztpraxen, Apotheken und Zahnärzte von GmbHs unterscheidet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HEILBERUFE: KEIN GEWERBE — ABER EIN 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Freier Beruf vs. Gewerbe — praxisrelevante Unterschiede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Keine Gewerbesteuer, kein Handelsregister (§ 18 EStG)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EÜR statt Bilanz: GuV-Logik gilt hier nicht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Zulassung ist das wertvollste Asset — und nicht beleihbar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Versorgungswerk statt gesetzlicher Rente: Pfändung stark eingeschränkt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HEILBERUFE: KEIN GEWERBE — ABER EIN 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EÜR lesen: Was der Berater wirklich braucht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Einnahmen: KV-Honorar, PKV, Privatleistungen — trennen!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AfA-Struktur: Medizintechnik schreibt schnell ab (5–8 Jahre)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Privatentnahmen des Inhabers: Oft sehr hoch — kein 'Gewinn' im Sinne eines GF-Gehalts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Kennzahl KDCG: Bereinigter Überschuss + AfA ÷ Schuldendienst ≥ 1,20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WAS EINE PRAXIS WERT IST — UND WIE MAN SIE FINANZIERT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Was eine Praxis wert ist — und wie man sie finanziert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Goodwill ist real, aber nicht beleihbar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WAS EINE PRAXIS WERT IST — UND WIE MAN SIE FINANZIERT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Praxiswert = Substanzwert + Goodwill (IDW S5)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materielle Teil (Geräte, Einrichtung) ist klar. Der Goodwill — Patientenstamm, Lage, Ruf — ist oft das Dreifache davon. Banken finanzieren Goodwill nur mit Vorsicht, da er im Insolvenzfall wertlos 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Faustregel: Goodwill ≤ 50–60 % des Gesamtfinanzierungsvolumens. Cashflow-Tragfähigkeit (KDCG) ist entscheidend.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RISIKEN, DIE HEILBERUFE-KUNDEN UNTERSCHÄTZEN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Risiken, die Heilberufe-Kunden unterschätzen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Und die der Berater kennen muss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RISIKEN, DIE HEILBERUFE-KUNDEN UNTERSCHÄTZEN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Vier Risiken, die kein KV-Honorar abdeckt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Zulassungsrisiko: Entzug trifft sofort — ohne Einnahmen, mit Schulden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Regressrisiko: Falschabrechnung kann Jahre zurückverfolgt werden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Krankheitsrisiko: Kein Unternehmer ist so systemkritisch wie der Arzt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Nachfolge-/Praxiswert-Risiko: Wer kauft eine Praxis in einer schrumpfenden Region?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RISIKEN, DIE HEILBERUFE-KUNDEN UNTERSCHÄTZEN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Sicherheitenkonzept — was geht, was nicht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Praxisimmobilie: Gut verwertbar, sofern lageangemessen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Medizintechnik: Schnell veraltet, geringe Restwerte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Zulassung / Goodwill: Nicht beleihbar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Lebensversicherung / Versorgungswerk: Nur eingeschränkt abtretbar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Verbundpartner Schwäbisch Hall: Praxisimmobilien, Tilgungsaussetzung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RISIKEN, DIE HEILBERUFE-KUNDEN UNTERSCHÄTZEN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Dr. Mayer — Zahnarztpraxis-Übernahme, Ravensburg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Junge Zahnärztin übernimmt etablierte Praxis für 680 TEUR (Substanzwert 180 TEUR, Goodwill 500 TEUR). EÜR-Planzahlen liegen vor. Ihre Aufgabe: KDCG berechnen, Sicherheitenkonzept entwickeln, Tragfähigkeit bewerten.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(Hrsg.). (2001). A taxonomy for learning, teaching, and assessing: A revision of Bloom's taxonomy of…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Bundesanstalt für Finanzdienstleistungsaufsicht [BaFin]. (2017/2021). Mindestanforderungen an das Risikomanagement (MaRisk). BaFin.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 Publishers.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Petersen, M. A. &amp; Rajan, R. G. (1994). The benefits of lending relationships: Evidence from small business data. Journal of Finance, 49(1),…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Stiglitz, J. E. &amp; Weiss, A. (1981). Credit rationing in markets with imperfect information. American Economic Review, 71(3), 393–410.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Bundesministerium der Finanzen [BMF]. (2023). Einkommensteuergesetz (EStG): § 18 Einkünfte aus selbstständiger Arbeit. Bundesministerium…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(1986). Mind over machine: The power of human intuition and expertise in the era of the computer. Free…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Frodl, A. (2019). Management von Arztpraxen: Kosten senken, Effizienz steigern. Springer Gabler.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Gumpert, G. &amp; Kausch, M. (2022). Recht der freien Berufe (3. Aufl.). C.H. Beck.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Institut der Wirtschaftsprüfer in Deutschland [IDW]. (2021). IDW S5: Grundsätze zur Bewertung von Arzt- und Zahnarztpraxen sowie…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Kassenärztliche Bundesvereinigung [KBV]. (2024). Honorarbericht 2024: Vergütungsstrukturen und Regelleistungsvolumina im GKV-System. KBV.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Kassenzahnärztliche Bundesvereinigung [KZBV]. (2023). KZBV Jahrbuch 2023: Statistische Basisdaten zur vertragszahnärztlichen Versorgung.…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ABDA – Bundesvereinigung Deutscher Apothekerverbände. (2023). Apothekenreport 2023: Wirtschaftliche Situation der deutschen Apotheken. ABDA.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«Branchenvertiefung Heilberufe»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M07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