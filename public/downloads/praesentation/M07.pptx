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M07  ·  K-02 Branchenwissen  ·  Sparringspartner  ·  3,5–4 Stunden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Branchenvertiefung Heilberufe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6F0"/>
                </a:solidFill>
                <a:latin typeface="Arial"/>
              </a:rPr>
              <a:t>Arztpraxen, Apotheken und Heilberufe als Firmenkundensegment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AACC"/>
                </a:solidFill>
                <a:latin typeface="Arial"/>
              </a:rPr>
              <a:t>Trainer-Präsentation  ·  v0.3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Heilberufsgruppen nach ihrer rechtlichen Einordnung als Freie Berufe gemäß § 18 EStG differenzieren und von Gewerbebetrieben abgrenzen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Eine Einnahmen-Überschuss-Rechnung (EÜR) eines Heilberufe-Kunden auf Schuldendienstfähigkeit analysieren und Besonderheiten gegenüber einer handelsrechtlichen Bilanz erläutern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Den Goodwill einer Arzt- oder Zahnarztpraxis nach der modifizierten Ertragswertmethode (IDW S5) berechnen und eine tragfähige Finanzierungsstruktur ableiten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Das branchenspezifische Risikoprofil eines Heilberufe-Kunden (Zulassungsrisiken, Regressrisiken, Versorgungswerk-Effekte) bewerten und ein passendes Sicherheitenkonzept empfehlen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Abgrenzung: Freier Beruf vs. Gewerbe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steuerrechtliche Unterscheidung zwischen Freiem Beruf und Gewerbebetrieb ist für den Firmenkundenberater weit mehr…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Gemäß § 18 Abs. 1 EStG sind Einkünfte aus selbstständiger Arbeit u.a. Einkünfte aus der Tätigkeit als Arzt, Zahnarzt,…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praktischen Konsequenzen für die Bankbeziehung: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Quellen: § 18 EStG; § 4 Abs. 3 EStG; Gumpert &amp; Kausch (2022)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Praxisrelevanz: Einzelpraxis, Berufsausübungsgemeinschaft (BAG) und MVZ im Vergleich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Einzelpraxis: Standardvorgehen gemäß M07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BAG mit 2–3 Partnern: immer Gesellschaftsvertrag anfordern, Bonitätsprüfung aller Partner, Regelung bei Ausscheiden eines Partners klären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MVZ: Spezialisten einbinden (DZ BANK Corporate Finance oder internen gewerblichen Spezialisten) – das ist keine klassische Freiberufler-Finanzierung mehr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EÜR vs. Bilanz: Was der Berater wissen muss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meisten niedergelassenen Ärzte, Zahnärzte und Apotheker erstellen keine handelsrechtliche Bilanz, sondern eine…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Zufluss-/Abflussprinzip statt Periodisierung: Einnahmen und Ausgaben werden im Jahr ihres Zahlungsflusses erfasst,…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Keine Rückstellungen: In der EÜR werden keine Rückstellungen gebildet. Regressforderungen oder drohende Regresse durch…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Keine Abgrenzung von Anlagevermögen in der EÜR: Investitionen erscheinen als sofortiger Aufwand oder werden über AfA-…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Für die Schuldendienstfähigkeit gilt: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` Schuldendienstfähigkeit (Jahresbasis): Betriebseinnahmen (brutto) EUR ___________ ./. Betriebsausgaben (ohne AfA) EUR…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Honorarstrukturen: KV, PKV und Apothekenmarge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Keine KV-Mitgliedschaft: Physiotherapeuten sind keine Vertragsärzte und haben keine kassenärztliche Zulassung. Sie schließen stattdessen Zulassungsverträge mit den Krankenkassen (Zulassung nach § 124 SGB V). Diese Zulassung ist an Räumlichkeiten und Qualifikationsnachweise geknüpft – nicht personengebunden im selben Sinne wie bei Ärzten.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Höheres Liquiditätsrisiko: Krankenkassen zahlen Heilmittelerbringern regelmäßig erst 4–6 Wochen nach Einreichung der Rezepte. Zudem werden Rezepte bei formalen Fehlern (fehlende Angaben, falsche Diagnose) zurückgewiesen – der Leistungserbringer trägt das Abrechnungsrisiko, wenn der Arzt das Rezept fehlerhaft ausgestellt hat.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Deckelung durch Wirtschaftlichkeitsprüfung: Die Zahl abrechenbarer Behandlungseinheiten pro Patient und Quartal ist durch die Heilmittelrichtlinie begrenzt. Physiotherapeuten können nicht unbegrenzt Leistungen erbringen und abrechnen.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Praxisrelevanz Kreditanalyse: Die Umsatzplanung einer Physiotherapiepraxis ist damit wesentlich von der lokalen Verordnungsmengen-Entwicklung und der Qualität der kooperierenden Arztpraxen abhängig. Keine Arztpraxis in der Nähe = weniger Verordnungen = unsicherere Ertragsbasis.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Praxisübernahme vs. Praxisgründung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Übernahme einer bestehenden Praxis ist die häufigere und aus Bankperspektive komplexere Finanzierungssituation.…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Bewertungsverfahren nach IDW S5: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Der IDW Standard S5 „Grundsätze zur Bewertung von Arzt- und Zahnarztpraxen sowie psychotherapeutischen Praxen"…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Substanzwert: Zeitwert aller materiellen Wirtschaftsgüter (Praxiseinrichtung, Medizintechnik, IT, Vorräte). Dieser…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Ideeller Praxiswert (Goodwill): Der Mehrwert über den Substanzwert hinaus, der durch den Patientenstamm, die Lage, die…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` Modifizierte Ertragswertmethode (IDW S5): 1. Durchschnittlicher Jahresüberschuss (Ø 3 Jahre) EUR ___________ 2. ./.…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Typische Investitionsanlässe im Überblick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Förder-Grundsatz: Bei Heilberufe-Finanzierungen ab 50.000 EUR immer KfW-Durchleitungskredit prüfen. Die Kombination…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Medizinische Versorgungszentren (MVZ): MVZ als GmbH sind nach § 95 SGB V zugelassene Träger, die Ärzte anstellen. Die…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Selbsteinschätzung für Berater: MVZ-Finanzierungen sind in der Regel keine klassischen Praxisfinanzierungen mehr – sie…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Praxisabgabe aus Verkäuferperspektive: Die unterschätzte Beratungschance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Veräußerungsgewinne aus dem Verkauf einer freiberuflichen Praxis sind steuerpflichtig, unterliegen aber dem Freibetrag nach § 16 Abs. 4 EStG (bis zu 45.000 EUR ab Vollendung des 55. Lebensjahres, einmalig)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Alternativ: Ermäßigter Steuersatz nach § 34 EStG (sog. Fünftelregelung oder halber Steuersatz)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Bei der Analyse: Steuerberater des Kunden einbinden; für den FK-Berater reicht das Grundwissen zur Gesprächsführung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Der Kaufpreis einer Praxis (typisch 200.000–600.000 EUR) fließt dem Abgeber als Einmalbetrag zu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Zusammen mit dem Versorgungswerk ergibt sich oft ein substanzielles Altersvorsorgepolster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Union Investment ist der natürliche Ansprechpartner für die Anlage dieses Erlöses (ETF-Portfolios, Entnahmepläne, Fondsdepots)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Spezifische Risiken bei Heilberufe-Kunden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Zulassungsrisiko: Der wirtschaftliche Wert der Arztpraxis hängt primär an der kassenärztlichen Zulassung. Diese ist…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Kassenarztzulassung und ihre Übertragbarkeit in der Nachfolge: Ein für die Praxisfinanzierung kritischer Punkt, der in…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Praxistipp: Bei jeder Praxisübernahme als Standardfrage: „Ist der Vertragsarztsitz bereits auf Sie übergegangen, oder…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Regressrisiko: Krankenkassen können Regresse für unwirtschaftliche Verordnungen, Abrechnungsauffälligkeiten oder…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Inhaberabhängigkeit: Noch stärker als bei KMU-Unternehmen ist der Praxiswert an die Person des Inhabers gebunden.…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Versorgungswerk statt gesetzliche Rentenversicherung: Ärzte, Zahnärzte, Apotheker und andere Kammerberufe sind…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Sicherheitenkonzept bei Heilberufe-Finanzierungen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§ 18 KWG (Offenlegungspflicht ab 750.000 EUR Kreditbetrag) ist zu beachten. Die gesamtschuldnerische Bonitätsanalyse…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Verbundpartner Schwäbisch Hall: Praxisimmobilien und Tilgungsaussetzungsmodell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Zinssicherheit für die gesamte Finanzierungsdauer (kein Prolongationsrisiko)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Niedrigere monatliche Belastung in der Ansparphase (nur Zinsen + Sparrate)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Planbarkeit für einen Selbstständigen ohne festes Gehalt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Schwäbisch Hall frühzeitig einbinden, sobald eine Praxisimmobilie Thema wird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Kombination KfW-Förderdarlehen + SHB-Bausparvertrag ist ein wettbewerbsstarkes Angebot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Gesprächseinstieg: „Haben Sie schon darüber nachgedacht, das Praxisgebäude zu besitzen statt zu mieten? Bei Ihrem Einkommensniveau macht das steuerlich und wirtschaftlich oft erheblichen Sinn."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Ausgangssituation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Substanzwert (Einrichtung, Geräte): 160.000 EUR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Goodwill (vereinbart, auf Basis IDW S5): 220.000 EUR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Gesamtkaufpreis: 380.000 EUR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Praxiskauf: 380.000 EUR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Betriebsmittel (Warenlager, Anlaufkosten): 30.000 EUR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Modernisierung Röntgenanlage: 25.000 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Aufgaben für Gruppenarbeit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Unternehmerlohn: 130.000 EUR p.a. (ortsüblicher Arztgehalt Anstellung)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Risikoabschlag: 25 %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Kapitalisierungsfaktor: 3,0 ×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Freier Cashflow vor Kapitaldienst: 75.000 EUR p.a.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Kapitaldienst (380.000 EUR bei 5,5 % Zins, 10 J. Tilgung, linear): ermitteln Sie Jahresrate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Mindest-DSCR: 1,20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4.5 Checkliste: Heilberufe-Erstgespräch (15 Punkte)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4.6 Reflexionsfragen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5.1 Transferaufgabe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D6F0"/>
                </a:solidFill>
                <a:latin typeface="Arial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00" cy="27432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Was hat sich verändert?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AACC"/>
                </a:solidFill>
                <a:latin typeface="Arial"/>
              </a:rPr>
              <a:t>M07 · Branchenvertiefung Heilberufe  ·  v0.3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