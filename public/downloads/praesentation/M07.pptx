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3048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M07  ·  v0.3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2794000"/>
            <a:ext cx="10972800" cy="203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Branchenvertiefung Heilberufe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89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5016500"/>
            <a:ext cx="5207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4D5270"/>
                </a:solidFill>
                <a:latin typeface="Georgia"/>
              </a:rPr>
              <a:t>Arztpraxen, Apotheken und Heilberufe als Firmenkundensegment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2500" y="5016500"/>
            <a:ext cx="2540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ZIELSTUFE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2500" y="5207000"/>
            <a:ext cx="2540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Sparringspartner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0" y="5016500"/>
            <a:ext cx="2667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DAUER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90000" y="5207000"/>
            <a:ext cx="2667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3,5–4 Stunden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00 — LERNZIELE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3175000" cy="165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4800" b="0" i="1">
                <a:solidFill>
                  <a:srgbClr val="1F2B56"/>
                </a:solidFill>
                <a:latin typeface="Georgia"/>
              </a:rPr>
              <a:t>Inhalt.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4000" y="889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4000" y="927100"/>
            <a:ext cx="508000" cy="6477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0" i="1">
                <a:solidFill>
                  <a:srgbClr val="1F2B56"/>
                </a:solidFill>
                <a:latin typeface="Georgia"/>
              </a:rPr>
              <a:t>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99000" y="952500"/>
            <a:ext cx="6858000" cy="6223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Heilberufsgruppen nach ihrer rechtlichen Einordnung als Freie Berufe gemäß § 18 EStG differenzieren und von Gewerbebetrieben abgrenzen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0" y="15748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64000" y="1612900"/>
            <a:ext cx="508000" cy="6477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0" i="1">
                <a:solidFill>
                  <a:srgbClr val="1F2B56"/>
                </a:solidFill>
                <a:latin typeface="Georgia"/>
              </a:rPr>
              <a:t>II.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99000" y="1638300"/>
            <a:ext cx="6858000" cy="6223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Eine Einnahmen-Überschuss-Rechnung (EÜR) eines Heilberufe-Kunden auf Schuldendienstfähigkeit analysieren und Besonderheiten gegenüber einer handelsrechtlichen Bilanz erläutern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64000" y="22606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64000" y="2298700"/>
            <a:ext cx="508000" cy="6477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0" i="1">
                <a:solidFill>
                  <a:srgbClr val="1F2B56"/>
                </a:solidFill>
                <a:latin typeface="Georgia"/>
              </a:rPr>
              <a:t>III.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99000" y="2324100"/>
            <a:ext cx="6858000" cy="6223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Den Goodwill einer Arzt- oder Zahnarztpraxis nach der modifizierten Ertragswertmethode (IDW S5) berechnen und eine tragfähige Finanzierungsstruktur ableiten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64000" y="29464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4000" y="2984500"/>
            <a:ext cx="508000" cy="6477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0" i="1">
                <a:solidFill>
                  <a:srgbClr val="1F2B56"/>
                </a:solidFill>
                <a:latin typeface="Georgia"/>
              </a:rPr>
              <a:t>IV.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99000" y="3009900"/>
            <a:ext cx="6858000" cy="6223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Das branchenspezifische Risikoprofil eines Heilberufe-Kunden (Zulassungsrisiken, Regressrisiken, Versorgungswerk-Effekte) bewerten und ein passendes Sicherheitenkonzept empfehlen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Modulinhalte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4.1 Theorie-Input 1: Freie Berufe – rechtliche und wirtschaftliche Grundlagen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4.1 Theorie-Input 1: Freie Berufe – rechtliche und wirtschaftliche Grundlagen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Abgrenzung: Freier Beruf vs. Gewerbe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533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6850"/>
                <a:gridCol w="1466850"/>
                <a:gridCol w="1466850"/>
                <a:gridCol w="146685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Merkmal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Freier Beruf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Gewerbebetrieb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Gewerbesteuer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nein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ja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Buchführungspflicht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nein (EÜR bis 600.000 EUR Umsatz möglich)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ab 800.000 EUR Umsatz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Jahresabschluss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EÜR (Anlage EÜR)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Bilanz + GuV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IHK-Mitgliedschaft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nein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ja (Pflichtmitglied)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Betriebsaufgabe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kein Veräußerungsgewinn bei Praxisübergabe (i.d.R.)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Gewerbesteuer auf Veräußerungsgewinn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Kammerzugehörigkeit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Ärztekammer, Rechtsanwaltskammer etc.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keine Pflichtmitgliedschaft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Merkmal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Einzelpraxis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BAG / Gemeinschaftspraxis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MVZ (GmbH)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Rechtsform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Keine Gesellschaft (Einzelunternehmen)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GbR oder PartGmbB (bei Ärztepartnern)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GmbH (§ 95 SGB V)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Jahresabschluss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EÜR (bis 600.000 EUR Umsatz)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EÜR (bei GbR) oder Bilanz (ab Bilanzierungspflicht)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Handelsrechtliche Bilanz (Pflicht)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Inhaberabhängigkeit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Sehr hoch – Praxiswert an eine Person gebunden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Mittelhoch – Wert verteilt auf Partner; Ausscheiden eines Partners kann den Wert senken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Gering – mehrere angestellte Ärzte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Haftung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Unbeschränkt persönlich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Bei GbR: gesamtschuldnerisch; bei PartGmbB: berufliche Fehler nur Haftung des handelnden Partners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Gesellschaft haftet; Gesellschafter begrenzt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Kreditrelevanz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Bonitätsanalyse einer Person; DSCR aus persönlicher EÜR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Gesellschaftsvertrag anfordern; Bonitätsanalyse aller Partner; Gewinnverteilung prüfen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Unternehmensfinanzierung; Bilanzkennziffern, Gesellschafterstruktur, DSCR aus GuV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Sicherheitenpool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Persönliches Vermögen des Inhabers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Gemeinschaftliches + privates Vermögen der Partner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Gesellschaftsvermögen + ggf. Gesellschafterbürgschaften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Abgrenzung: Freier Beruf vs. Gewerbe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Die steuerrechtliche Unterscheidung zwischen Freiem Beruf und Gewerbebetrieb ist für den Firmenkundenberater weit mehr als eine juristische Feinheit – sie bestimmt das gesamte wirtschaftliche Erscheinungsbild des Kunden.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Gemäß § 18 Abs. 1 EStG sind Einkünfte aus selbstständiger Arbeit u.a. Einkünfte aus der Tätigkeit als Arzt, Zahnarzt, Tierarzt, Rechtsanwalt, Notar, Patentanwalt, Steuerberater, Architekt, Ingenieur oder ähnlicher…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Die praktischen Konsequenzen für die Bankbeziehung: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4767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799" y="44513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Quellen: § 18 EStG; § 4 Abs. 3 EStG; Gumpert &amp; Kausch (2022)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799" y="49339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Praxisrelevanz: Einzelpraxis, Berufsausübungsgemeinschaft (BAG) und MVZ im Vergleich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Einzelpraxis: Standardvorgehen gemäß M07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BAG mit 2–3 Partnern: immer Gesellschaftsvertrag anfordern, Bonitätsprüfung aller Partner, Regelung bei Ausscheiden eines Partners klären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MVZ: Spezialisten einbinden (DZ BANK Corporate Finance oder internen gewerblichen Spezialisten) – das ist keine klassische Freiberufler-Finanzierung mehr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EÜR vs. Bilanz: Was der Berater wissen muss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Die meisten niedergelassenen Ärzte, Zahnärzte und Apotheker erstellen keine handelsrechtliche Bilanz, sondern eine Einnahmen-Überschuss-Rechnung (EÜR) nach § 4 Abs. 3 EStG. Dies hat weitreichende Folgen für die…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Zufluss-/Abflussprinzip statt Periodisierung: Einnahmen und Ausgaben werden im Jahr ihres Zahlungsflusses erfasst, nicht im Jahr ihrer wirtschaftlichen Zugehörigkeit. Ein Arzt, der im Dezember eine KV-Abrechnung für das…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Keine Rückstellungen: In der EÜR werden keine Rückstellungen gebildet. Regressforderungen oder drohende Regresse durch Krankenkassen erscheinen daher nicht in der EÜR – ein wesentlicher Risikoaspekt, den der Berater im…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4767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799" y="44513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Keine Abgrenzung von Anlagevermögen in der EÜR: Investitionen erscheinen als sofortiger Aufwand oder werden über AfA-Listen abgeschrieben; eine bilanzielle Kapitalstruktur fehlt.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799" y="49339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50101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9799" y="49847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Für die Schuldendienstfähigkeit gilt: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9799" y="54673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5543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9799" y="5518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` Schuldendienstfähigkeit (Jahresbasis): Betriebseinnahmen (brutto) EUR ___________ ./. Betriebsausgaben (ohne AfA) EUR ___________ ./. Private Steuern (Einkommensteuer, Kirchensteuer, Soli) EUR ___________ ./.…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39799" y="6000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Honorarstrukturen: KV, PKV und Apothekenmarge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Keine KV-Mitgliedschaft: Physiotherapeuten sind keine Vertragsärzte und haben keine kassenärztliche Zulassung. Sie schließen stattdessen Zulassungsverträge mit den Krankenkassen (Zulassung nach § 124 SGB V). Diese…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Höheres Liquiditätsrisiko: Krankenkassen zahlen Heilmittelerbringern regelmäßig erst 4–6 Wochen nach Einreichung der Rezepte. Zudem werden Rezepte bei formalen Fehlern (fehlende Angaben, falsche Diagnose) zurückgewiesen…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Deckelung durch Wirtschaftlichkeitsprüfung: Die Zahl abrechenbarer Behandlungseinheiten pro Patient und Quartal ist durch die Heilmittelrichtlinie begrenzt. Physiotherapeuten können nicht unbegrenzt Leistungen erbringen…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4767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799" y="44513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Praxisrelevanz Kreditanalyse: Die Umsatzplanung einer Physiotherapiepraxis ist damit wesentlich von der lokalen Verordnungsmengen-Entwicklung und der Qualität der kooperierenden Arztpraxen abhängig. Keine Arztpraxis in…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799" y="49339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4.2 Theorie-Input 2: Praxisbewertung und Finanzierungsstruktur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Praxisübernahme vs. Praxisgründung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533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6850"/>
                <a:gridCol w="1466850"/>
                <a:gridCol w="1466850"/>
                <a:gridCol w="146685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Investitionsanlass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Typisches Volumen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Finanzierungsinstrument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Förderoption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Praxisgründung (Neubau)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200.000–600.000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Investitionskredit (10–15 J.)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KfW-Unternehmerkredit 037; ERP-Gründerkredit 058/059; L-Bank/LfA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Praxisübernahme (Goodwill + Substanz)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100.000–400.000 EUR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Investitionskredit (7–10 J.)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ERP-Kapital für Gründung 058 (Nachrangdarlehen); KfW 037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Praxisimmobilie (Erwerb/Bau)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300.000–1.500.000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Annuitätendarlehen; Tilgungsaussetzung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Schwäbisch Hall (Bausparvertrag als Tilgungsersatz); KfW Energieeffizienz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Geräteausstattung (CT, MRT-Beteiligung)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50.000–500.000 EUR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Leasing oder Investitionskredit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KfW-Unternehmerkredit 037 ab 25 TEUR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TI-Anbindung/Digitalisierung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10.000–50.000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Betriebsmittelkredit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KfW-Digitalisierung; L-Bank Digital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Praxissoftware (TIS, DS-Win)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5.000–30.000 EUR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Betriebsmittelkredit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–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Apothekenwarenlager (Erstausstattung)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150.000–300.000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Kontokorrent/Betriebsmittel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KfW 037 für Anlauffinanzierung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Filialapotheke (Übernahme)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200.000–500.000 EUR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Investitionskredit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KfW-Unternehmerkredit 037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Phase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Zeitraum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Beratungsthemen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Frühphase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5–8 Jahre vor Abgabe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Nachfolgeplanung, Praxisbewertung IDW S5, steuerliche Optimierung Betriebsvermögen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Vorbereitungsphase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1–3 Jahre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Käufersuche (KV, Kammern, Praxisbörsen), Kaufpreisverhandlung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Abschlussphase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12–18 Monate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Notarvertrag, Übergangsbegleitung, Kaufpreiszahlung, Anlage des Veräußerungserlöses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Nachphase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0–5 Jahre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Rentenergänzung aus Versorgungswerk + Kapitalanlage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Praxisübernahme vs. Praxisgründung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Die Übernahme einer bestehenden Praxis ist die häufigere und aus Bankperspektive komplexere Finanzierungssituation. Entscheidend ist die Bewertungsmethode – denn der zu finanzierende Goodwill muss sich aus dem…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Bewertungsverfahren nach IDW S5: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Der IDW Standard S5 „Grundsätze zur Bewertung von Arzt- und Zahnarztpraxen sowie psychotherapeutischen Praxen" (Institut der Wirtschaftsprüfer in Deutschland [IDW], 2021) ist der anerkannte Bewertungsstandard für…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4767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799" y="44513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Substanzwert: Zeitwert aller materiellen Wirtschaftsgüter (Praxiseinrichtung, Medizintechnik, IT, Vorräte). Dieser Anteil ist relativ unproblematisch zu finanzieren und gut beleihbar.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799" y="49339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50101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9799" y="49847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Ideeller Praxiswert (Goodwill): Der Mehrwert über den Substanzwert hinaus, der durch den Patientenstamm, die Lage, die Praxisorganisation und den Ruf entsteht. Der Goodwill wird als Ertragswert berechnet: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9799" y="54673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5543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9799" y="5518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` Modifizierte Ertragswertmethode (IDW S5): 1. Durchschnittlicher Jahresüberschuss (Ø 3 Jahre) EUR ___________ 2. ./. Unternehmerlohn (arztspezifischer Fixbetrag) EUR ___________ 3. ./. Risikoabschlag (Zulassungsrisiko,…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39799" y="6000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Typische Investitionsanlässe im Überblick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&gt; Förder-Grundsatz: Bei Heilberufe-Finanzierungen ab 50.000 EUR immer KfW-Durchleitungskredit prüfen. Die Kombination Hausbankkredit + KfW-Tranche ist in der Praxis der Regelfall – und das zentrale…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Medizinische Versorgungszentren (MVZ): MVZ als GmbH sind nach § 95 SGB V zugelassene Träger, die Ärzte anstellen. Die Finanzierung von MVZ-Anteilen (häufig durch Krankenhäuser oder Investoren) unterscheidet sich…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&gt; Selbsteinschätzung für Berater: MVZ-Finanzierungen sind in der Regel keine klassischen Praxisfinanzierungen mehr – sie sind Unternehmensfinanzierungen mit Bilanzen, Gesellschafterstrukturen und Volumina, die das FK-…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Praxisabgabe aus Verkäuferperspektive: Die unterschätzte Beratungschance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Veräußerungsgewinne aus dem Verkauf einer freiberuflichen Praxis sind steuerpflichtig, unterliegen aber dem Freibetrag nach § 16 Abs. 4 EStG (bis zu 45.000 EUR ab Vollendung des 55. Lebensjahres, einmalig)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Alternativ: Ermäßigter Steuersatz nach § 34 EStG (sog. Fünftelregelung oder halber Steuersatz)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Bei der Analyse: Steuerberater des Kunden einbinden; für den FK-Berater reicht das Grundwissen zur Gesprächsführung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4767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799" y="44513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Der Kaufpreis einer Praxis (typisch 200.000–600.000 EUR) fließt dem Abgeber als Einmalbetrag zu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799" y="49339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50101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9799" y="49847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Zusammen mit dem Versorgungswerk ergibt sich oft ein substanzielles Altersvorsorgepolster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9799" y="54673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5543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9799" y="5518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Union Investment ist der natürliche Ansprechpartner für die Anlage dieses Erlöses (ETF-Portfolios, Entnahmepläne, Fondsdepots)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39799" y="6000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4.3 Theorie-Input 3: Risikoprofil und Sicherheitenkonzept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Spezifische Risiken bei Heilberufe-Kunden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800"/>
                <a:gridCol w="1955800"/>
                <a:gridCol w="19558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Sicherheit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Bewertung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Besonderheit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Selbstgenutzte Praxisimmobilie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60–70 % des Verkehrswerts (BelWertV)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Günstigste Sicherheit; oft in GmbH oder Gemeinschaftspraxis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Praxiseinrichtung/Medizintechnik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30–40 % des Zeitwerts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Schnelle Entwertung, eingeschränkte Verwertbarkeit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Privates Wohneigentum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60–70 % des Verkehrswerts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Häufig vorhanden, oft belastet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Lebensversicherung/Kapitalanlage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Rückkaufswert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Einfach abtretbar; bei Versorgungswerk nicht möglich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Goodwill/Patientenstamm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nicht beleihbar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Kein anerkannter Sicherheitenwert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Bürgschaft Ehepartner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abhängig von eigenem Einkommen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AGB-rechtlich sorgfältig dokumentieren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Schritt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Inhalt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Vorauszahlung: VR-Bank gewährt endfälliges Vorfinanzierungsdarlehen (nur Zinsen, keine Tilgung)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Gleichzeitig: SHB-Bausparvertrag über gleiche Summe wird bespart (monatliche Sparrate)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Nach Zuteilung (typisch 7–12 Jahre): Bauspardarlehen löst das Vorfinanzierungsdarlehen ab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4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Restlaufzeit: Tilgung über Bauspardarlehen (fester Zinssatz, planbare Rate)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Spezifische Risiken bei Heilberufe-Kunden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Zulassungsrisiko: Der wirtschaftliche Wert der Arztpraxis hängt primär an der kassenärztlichen Zulassung. Diese ist personengebunden und erlischt bei Berufsunfähigkeit oder Ruhesetzung. Die Kassenärztliche Vereinigung…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Kassenarztzulassung und ihre Übertragbarkeit in der Nachfolge: Ein für die Praxisfinanzierung kritischer Punkt, der in der Beratungspraxis häufig unterschätzt wird: Die Kassenarztzulassung selbst ist nicht übertragbar –…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&gt; Praxistipp: Bei jeder Praxisübernahme als Standardfrage: „Ist der Vertragsarztsitz bereits auf Sie übergegangen, oder läuft das Nachbesetzungsverfahren noch?" Auszahlung des Kredits erst nach schriftlicher Bestätigung…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4767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799" y="44513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Regressrisiko: Krankenkassen können Regresse für unwirtschaftliche Verordnungen, Abrechnungsauffälligkeiten oder mangelhafte Leistungen geltend machen. Diese Regresse entstehen rückwirkend und können erhebliche Beträge…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799" y="49339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50101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9799" y="49847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Inhaberabhängigkeit: Noch stärker als bei KMU-Unternehmen ist der Praxiswert an die Person des Inhabers gebunden. Berufsunfähigkeit, Tod oder ein schwerwiegender Fehler (Kunstfehler mit Reputationsschaden) können den…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9799" y="54673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5543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9799" y="5518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Versorgungswerk statt gesetzliche Rentenversicherung: Ärzte, Zahnärzte, Apotheker und andere Kammerberufe sind Pflichtmitglieder in berufsständischen Versorgungswerken (§ 6 Abs. 1 Nr. 1 SGB VI). Dies hat folgende…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39799" y="6000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Sicherheitenkonzept bei Heilberufe-Finanzierungen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§ 18 KWG (Offenlegungspflicht ab 750.000 EUR Kreditbetrag) ist zu beachten. Die gesamtschuldnerische Bonitätsanalyse bei Praxisübernahmen folgt MaRisk BTO 1.2.1.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Verbundpartner Schwäbisch Hall: Praxisimmobilien und Tilgungsaussetzungsmodell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Zinssicherheit für die gesamte Finanzierungsdauer (kein Prolongationsrisiko)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Niedrigere monatliche Belastung in der Ansparphase (nur Zinsen + Sparrate)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Planbarkeit für einen Selbstständigen ohne festes Gehalt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4767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799" y="44513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Schwäbisch Hall frühzeitig einbinden, sobald eine Praxisimmobilie Thema wird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799" y="49339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50101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9799" y="49847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Kombination KfW-Förderdarlehen + SHB-Bausparvertrag ist ein wettbewerbsstarkes Angebot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9799" y="54673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5543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9799" y="5518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Gesprächseinstieg: „Haben Sie schon darüber nachgedacht, das Praxisgebäude zu besitzen statt zu mieten? Bei Ihrem Einkommensniveau macht das steuerlich und wirtschaftlich oft erheblichen Sinn."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39799" y="6000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4.4 Praxiscase: Dr. Mayer – Zahnarztpraxis-Übernahme in Ravensburg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Ausgangssituation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4190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6850"/>
                <a:gridCol w="1466850"/>
                <a:gridCol w="1466850"/>
                <a:gridCol w="1466850"/>
              </a:tblGrid>
              <a:tr h="380999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Jahr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Betriebseinnahmen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Betriebsausgaben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Jahresüberschuss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2023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680.000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390.000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290.000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2024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710.000 EUR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400.000 EUR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310.000 EUR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2025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700.000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390.000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310.000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Position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Betrag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Betriebseinnahmen (Prognose Jahr 1, 65 % von Dr. Schmidts Niveau)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455.000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./. Betriebsausgaben (lfd. Praxiskosten ohne AfA, Prognose)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290.000 EUR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./. Private Einkommensteuer + Soli (Schätzung, Einkommensstufe)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60.000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./. Privatentnahmen Lebenshaltung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18.000 EUR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./. Laufende ETW-Rate (12.000 EUR/Jahr)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12.000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= Freier Cashflow vor Kapitaldienst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75.000 EUR p.a.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18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Ausgangssituation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Substanzwert (Einrichtung, Geräte): 160.000 EUR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Goodwill (vereinbart, auf Basis IDW S5): 220.000 EUR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Gesamtkaufpreis: 380.000 EUR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4767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799" y="44513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Praxiskauf: 380.000 EUR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799" y="49339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50101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9799" y="49847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Betriebsmittel (Warenlager, Anlaufkosten): 30.000 EUR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9799" y="54673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5543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9799" y="5518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Modernisierung Röntgenanlage: 25.000 EUR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39799" y="6000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19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Aufgaben für Gruppenarbeit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Unternehmerlohn: 130.000 EUR p.a. (ortsüblicher Arztgehalt Anstellung)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Risikoabschlag: 25 %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Kapitalisierungsfaktor: 3,0 ×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4767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799" y="44513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Freier Cashflow vor Kapitaldienst: 75.000 EUR p.a.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799" y="49339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50101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9799" y="49847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Kapitaldienst (380.000 EUR bei 5,5 % Zins, 10 J. Tilgung, linear): ermitteln Sie Jahresrate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9799" y="54673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5543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9799" y="5518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Mindest-DSCR: 1,20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39799" y="6000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20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27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4.5 Checkliste: Heilberufe-Erstgespräch (15 Punkte)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54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99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[ ] 1. Zulassungsart: GKV-Zulassung, Privatarzt, MVZ-Anstellung?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599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[ ] 2. KV-Bezirk und Versorgungsgebiet – überversorgt oder Mangelgebiet?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5623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0599" y="35369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[ ] 3. Berufsbezeichnung und Kammerzugehörigkeit klären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" y="41084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24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83400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[ ] 4. Einzelpraxis oder BAG/Gemeinschaftspraxis? → Bei Berufsausübungsgemeinschaft (BAG): Gesellschaftsvertrag anfordern; Sicherheitenkonzept und Bonitätsprüfung gelten für alle…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024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024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83400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[ ] 5. Umsatzsteuer-Status klären (§ 4 Nr. 14 UStG: Heilbehandlungen grds. USt-frei; Ausnahmen: Gutachtertätigkeit, Schönheitschirurgie ohne Heilzweck → partielle USt-Pflicht…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024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02400" y="35623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83400" y="35369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[ ] 6. Einnahmenquellen: GKV-Anteil / PKV-Anteil / Selbstzahler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02400" y="41084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21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4.6 Reflexionsfragen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Welche drei Informationen fehlen Ihnen typischerweise beim ersten Gespräch mit einem Heilberufe-Kunden, und wie würden Sie diese strukturiert erfragen?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Ein Arzt zeigt eine EÜR mit 500.000 EUR Betriebseinnahmen und 350.000 EUR Betriebsausgaben. Was müssen Sie zusätzlich zum Jahresüberschuss wissen, um eine fundierte Kreditentscheidung treffen zu können?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Wo liegt der wesentliche Unterschied zwischen der Finanzierung einer Zahnarztpraxis und der Finanzierung eines KMU-Betriebs? Was bedeutet das für Ihre Sicherheitenstrategie?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Praxistransfer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5.1 Transferaufgabe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 · 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23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27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5.1 Transferaufgabe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54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99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Aufgabe: Wählen Sie innerhalb der nächsten 4 Wochen einen eigenen Heilberufe-Kunden aus Ihrem Bestand (oder vereinbaren Sie ein Akquisitionsgespräch). Erstellen Sie auf Basis der…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599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1. Welcher Heilberufe-Typ (Arzt, Zahnarzt, Apotheker, sonstiger Freier Beruf)? 2. Wie setzt sich das Einkommen zusammen (GKV/PKV/Selbstzahler)? 3. Welchen Finanzierungsbedarf…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024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83400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Bringen Sie das Kurzprofil (anonymisiert, max. 1 Seite) zur nächsten Team-Fallbesprechung mit.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024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24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83400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Verbindlichkeit: Geben Sie das Kurzprofil bis spätestens 4 Wochen nach dem Seminar an Ihre Führungskraft weiter – entweder per E-Mail oder direkt im nächsten Mitarbeitergespräch.…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024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 · 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24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5.2 Selbstcheck nach 4 Wochen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Habe ich den Unterschied zwischen EÜR und Bilanz meinem letzten Heilberufe-Kunden gegenüber aktiv als Gesprächsthema genutzt?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Habe ich bei einer Praxisbewertung die IDW S5-Logik angewendet oder die Bewertung ungeprüft übernommen?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Habe ich das Versorgungswerk als limitierenden Sicherheitenfaktor in meinem Sicherheitenkonzept berücksichtigt?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4767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799" y="44513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Habe ich bei einem Heilberufe-Kunden Regressrisiken aktiv thematisiert?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799" y="49339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50101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9799" y="49847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Habe ich eine Berufsunfähigkeitsversicherung über R+V als Nebengeschäft angesprochen?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9799" y="54673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 · 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25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27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5.3 Empfohlene Vertiefungsliteratur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54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99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Frodl, A. (2019). Management von Arztpraxen: Kosten senken, Effizienz steigern. Springer Gabler.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599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Gumpert, G. &amp; Kausch, M. (2022). Recht der freien Berufe (3. Aufl.). C.H. Beck.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024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83400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Institut der Wirtschaftsprüfer in Deutschland (IDW). (2021). IDW S5: Grundsätze zur Bewertung von Arzt- und Zahnarztpraxen sowie psychotherapeutischen Praxen. IDW Verlag.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024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24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83400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Kassenärztliche Bundesvereinigung (KBV). (2024). Honorarbericht 2024. KBV.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024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QUELLEN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Quellen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4572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Ende · v0.3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143000"/>
            <a:ext cx="10972800" cy="355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600" b="0" i="0">
                <a:solidFill>
                  <a:srgbClr val="191D2E"/>
                </a:solidFill>
                <a:latin typeface="Georgia"/>
              </a:rPr>
              <a:t>Danke.
Fragen?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2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4953000"/>
            <a:ext cx="5715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191D2E"/>
                </a:solidFill>
                <a:latin typeface="Georgia"/>
              </a:rPr>
              <a:t>Modul «Branchenvertiefung Heilberufe» auf FKB Campus — 4 Lernziele, Praxisfall und Quellenapparat.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4953000"/>
            <a:ext cx="2413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Kontakt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31000" y="5156200"/>
            <a:ext cx="24130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info@benedikt-zoller.de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8000" y="4953000"/>
            <a:ext cx="21844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Modul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98000" y="5156200"/>
            <a:ext cx="21844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M07 · Sparringspartner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