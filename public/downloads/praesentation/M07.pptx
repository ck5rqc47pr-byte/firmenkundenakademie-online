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20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EE"/>
                </a:solidFill>
                <a:latin typeface="Arial"/>
              </a:rPr>
              <a:t>M07  ·  K-02 Branchenwissen  ·  Zielstufe: Sparringspartner  ·  3,5–4 Stunden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rial"/>
              </a:rPr>
              <a:t>Branchenvertiefung Heilberufe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832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CCD6F0"/>
                </a:solidFill>
                <a:latin typeface="Arial"/>
              </a:rPr>
              <a:t>Arztpraxen, Apotheken und Heilberufe als Firmenkundensegment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Trainer-Präsentation  ·  v0.3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804672"/>
            <a:ext cx="11612880" cy="2286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3444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Heilberufsgruppen nach ihrer rechtlichen Einordnung als Freie Berufe gemäß § 18 EStG differenzieren und von Gewerbebetrieben abgrenzen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Eine Einnahmen-Überschuss-Rechnung (EÜR) eines Heilberufe-Kunden auf Schuldendienstfähigkeit analysieren und Besonderheiten gegenüber einer handelsrechtlichen Bilanz erläutern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Den Goodwill einer Arzt- oder Zahnarztpraxis nach der modifizierten Ertragswertmethode (IDW S5) berechnen und eine tragfähige Finanzierungsstruktur ableiten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Das branchenspezifische Risikoprofil eines Heilberufe-Kunden (Zulassungsrisiken, Regressrisiken, Versorgungswerk-Effekte) bewerten und ein passendes Sicherheitenkonzept empfehlen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4.1 Theorie-Input 1: Freie Berufe – rechtliche und wirtschaftliche Grundlagen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M07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Abgrenzung: Freier Beruf vs. Gewerbe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Merkmal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Freier Beruf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Gewerbebetrieb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Gewerbesteuer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nein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ja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Buchführungspflicht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nein (EÜR bis 600.000 EUR Umsatz möglich)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ab 800.000 EUR Umsatz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Jahresabschluss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EÜR (Anlage EÜR)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Bilanz + GuV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IHK-Mitgliedschaft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nein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ja (Pflichtmitglied)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Betriebsaufgabe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kein Veräußerungsgewinn bei Praxisübergabe (i.d.R.)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Gewerbesteuer auf Veräußerungsgewinn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Kammerzugehörigkeit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Ärztekammer, Rechtsanwaltskammer etc.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keine Pflichtmitgliedschaft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M07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Praxisrelevanz: Einzelpraxis, Berufsausübungsgemeinschaft (BAG) und MVZ im Vergleich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Merkmal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Einzelpraxis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BAG / Gemeinschaftspraxis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MVZ (GmbH)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Rechtsform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Keine Gesellschaft (Einzelunternehmen)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GbR oder PartGmbB (bei Ärztepartnern)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GmbH (§ 95 SGB 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Jahresabschluss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EÜR (bis 600.000 EUR Umsatz)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EÜR (bei GbR) oder Bilanz (ab Bilanzierungspflicht)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Handelsrechtliche Bilanz (Pflicht)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Inhaberabhängigkeit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Sehr hoch – Praxiswert an eine Person gebunden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Mittelhoch – Wert verteilt auf Partner; Ausscheiden eines Partners kann den Wert senken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Gering – mehrere angestellte Ärzte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Haftung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Unbeschränkt persönlich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Bei GbR: gesamtschuldnerisch; bei PartGmbB: berufliche Fehler nur Haftung des handelnden Partners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Gesellschaft haftet; Gesellschafter begrenzt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Kreditrelevanz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Bonitätsanalyse einer Person; DSCR aus persönlicher EÜR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Gesellschaftsvertrag anfordern; Bonitätsanalyse aller Partner; Gewinnverteilung prüfen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Unternehmensfinanzierung; Bilanzkennziffern, Gesellschafterstruktur, DSCR aus GuV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Sicherheitenpool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Persönliches Vermögen des Inhabers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Gemeinschaftliches + privates Vermögen der Partner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Gesellschaftsvermögen + ggf. Gesellschafterbürgschaften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M07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EÜR vs. Bilanz: Was der Berater wissen muss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Einnahmen-Überschuss-Rechnung (EÜR): </a:t>
            </a:r>
            <a:r>
              <a:rPr sz="1700">
                <a:solidFill>
                  <a:srgbClr val="1A1A1A"/>
                </a:solidFill>
                <a:latin typeface="Arial"/>
              </a:rPr>
              <a:t>nach § 4 Abs. 3 EStG. Dies hat weitreichende Folgen für die Kreditanalyse: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Zufluss-/Abflussprinzip statt Periodisierung: </a:t>
            </a:r>
            <a:r>
              <a:rPr sz="1700">
                <a:solidFill>
                  <a:srgbClr val="1A1A1A"/>
                </a:solidFill>
                <a:latin typeface="Arial"/>
              </a:rPr>
              <a:t>Einnahmen und Ausgaben werden im Jahr ihres Zahlungsflusses erfasst, nicht im Jahr ihrer wirtschaftlichen Zugehörigkeit. Ein Arzt, der im Dezember eine KV-Abrechnung für das…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Keine Rückstellungen: </a:t>
            </a:r>
            <a:r>
              <a:rPr sz="1700">
                <a:solidFill>
                  <a:srgbClr val="1A1A1A"/>
                </a:solidFill>
                <a:latin typeface="Arial"/>
              </a:rPr>
              <a:t>In der EÜR werden keine Rückstellungen gebildet. Regressforderungen oder drohende Regresse durch Krankenkassen erscheinen daher nicht in der EÜR – ein wesentlicher Risikoaspekt,…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Keine Abgrenzung von Anlagevermögen in der EÜR: </a:t>
            </a:r>
            <a:r>
              <a:rPr sz="1700">
                <a:solidFill>
                  <a:srgbClr val="1A1A1A"/>
                </a:solidFill>
                <a:latin typeface="Arial"/>
              </a:rPr>
              <a:t>Investitionen erscheinen als sofortiger Aufwand oder werden über AfA-Listen abgeschrieben; eine bilanzielle Kapitalstruktur fehlt.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Für die Schuldendienstfähigkeit gilt: </a:t>
            </a:r>
            <a:r>
              <a:rPr sz="1700">
                <a:solidFill>
                  <a:srgbClr val="1A1A1A"/>
                </a:solidFill>
                <a:latin typeface="Arial"/>
              </a:rPr>
              <a:t>` Schuldendienstfähigkeit (Jahresbasis): Betriebseinnahmen (brutto) EUR ___________ ./. Betriebsausgaben (ohne AfA) EUR ___________ ./. Private Steuern (Einkommensteuer,…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M07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Honorarstrukturen: KV, PKV und Apothekenmarge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Kassenärztliche Abrechnung (KV): </a:t>
            </a:r>
            <a:r>
              <a:rPr sz="1700">
                <a:solidFill>
                  <a:srgbClr val="1A1A1A"/>
                </a:solidFill>
                <a:latin typeface="Arial"/>
              </a:rPr>
              <a:t>Die Vergütung im GKV-System erfolgt über den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Einheitlichen Bewertungsmaßstab (EBM): </a:t>
            </a:r>
            <a:r>
              <a:rPr sz="1700">
                <a:solidFill>
                  <a:srgbClr val="1A1A1A"/>
                </a:solidFill>
                <a:latin typeface="Arial"/>
              </a:rPr>
              <a:t>und ist regional durch Krankenkassen-Kollektivverträge geregelt. Ärzte unterliegen einem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Regelleistungsvolumen (RLV)**, das quartalsbezogen budgetiert ist (Kassenärztliche Bundesvereinigung [KBV], 2024). Die morbiditätsorientierte Gesamtvergütung (MGV) schränkt die Einnahmenseite strukturell ein und macht das GKV-Honorar wenig planbar.
&gt; **Praxistipp Liquiditätsplanung: </a:t>
            </a:r>
            <a:r>
              <a:rPr sz="1700">
                <a:solidFill>
                  <a:srgbClr val="1A1A1A"/>
                </a:solidFill>
                <a:latin typeface="Arial"/>
              </a:rPr>
              <a:t>KV-Abrechnungen werden quartalsbezogen erstellt und typischerweise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6–10 Wochen nach Quartalsende: </a:t>
            </a:r>
            <a:r>
              <a:rPr sz="1700">
                <a:solidFill>
                  <a:srgbClr val="1A1A1A"/>
                </a:solidFill>
                <a:latin typeface="Arial"/>
              </a:rPr>
              <a:t>ausgezahlt. Das bedeutet: Ein Arzt, der im März (Ende Q1) Leistungen erbracht hat, erhält seine KV-Vergütung erst Mitte Mai. In dieser Lücke müssen Personal, Miete und laufende…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Kontokorrentlinie als Dauerlösung: </a:t>
            </a:r>
            <a:r>
              <a:rPr sz="1700">
                <a:solidFill>
                  <a:srgbClr val="1A1A1A"/>
                </a:solidFill>
                <a:latin typeface="Arial"/>
              </a:rPr>
              <a:t>ist daher kein Luxus, sondern strukturelle Notwendigkeit für GKV-Vertragsärzte. Für den Berater: Jeder Neugründer und Praxisübernehmer braucht diese Linie ab Tag 1 – das ist ein…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M07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Honorarstrukturen: KV, PKV und Apothekenmarge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Privatärztliche Abrechnung (GOÄ/GOZ): </a:t>
            </a:r>
            <a:r>
              <a:rPr sz="1700">
                <a:solidFill>
                  <a:srgbClr val="1A1A1A"/>
                </a:solidFill>
                <a:latin typeface="Arial"/>
              </a:rPr>
              <a:t>Die Gebührenordnung für Ärzte (GOÄ, Stand: Novellierung 2024) und für Zahnärzte (GOZ 2012) ermöglicht multiplizierte Steigerungssätze (Regelsatz bis 2,3-fach, begründete Erhöhung…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Heilmittelerbringer (Physiotherapeuten, Ergotherapeuten, Logopäden): </a:t>
            </a:r>
            <a:r>
              <a:rPr sz="1700">
                <a:solidFill>
                  <a:srgbClr val="1A1A1A"/>
                </a:solidFill>
                <a:latin typeface="Arial"/>
              </a:rPr>
              <a:t>Physiotherapeuten rechnen ihre Leistungen nicht direkt über die KV ab, sondern auf Basis von Rezepten (vertragsärztlichen Verordnungen) mit den Krankenkassen. Die Vergütung…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Heilmittelvereinbarungen: </a:t>
            </a:r>
            <a:r>
              <a:rPr sz="1700">
                <a:solidFill>
                  <a:srgbClr val="1A1A1A"/>
                </a:solidFill>
                <a:latin typeface="Arial"/>
              </a:rPr>
              <a:t>gemäß § 125 SGB V, die zwischen den Leistungserbringerverbänden und den Kassen regional ausgehandelt werden. Für den Firmenkundenberater sind folgende Besonderheiten relevant: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Keine KV-Mitgliedschaft: </a:t>
            </a:r>
            <a:r>
              <a:rPr sz="1700">
                <a:solidFill>
                  <a:srgbClr val="1A1A1A"/>
                </a:solidFill>
                <a:latin typeface="Arial"/>
              </a:rPr>
              <a:t>Physiotherapeuten sind keine Vertragsärzte und haben keine kassenärztliche Zulassung. Sie schließen stattdessen Zulassungsverträge mit den Krankenkassen (Zulassung nach § 124 SGB…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Höheres Liquiditätsrisiko: </a:t>
            </a:r>
            <a:r>
              <a:rPr sz="1700">
                <a:solidFill>
                  <a:srgbClr val="1A1A1A"/>
                </a:solidFill>
                <a:latin typeface="Arial"/>
              </a:rPr>
              <a:t>Krankenkassen zahlen Heilmittelerbringern regelmäßig erst 4–6 Wochen nach Einreichung der Rezepte. Zudem werden Rezepte bei formalen Fehlern (fehlende Angaben, falsche Diagnose)…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M07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Honorarstrukturen: KV, PKV und Apothekenmarge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Deckelung durch Wirtschaftlichkeitsprüfung: </a:t>
            </a:r>
            <a:r>
              <a:rPr sz="1700">
                <a:solidFill>
                  <a:srgbClr val="1A1A1A"/>
                </a:solidFill>
                <a:latin typeface="Arial"/>
              </a:rPr>
              <a:t>Die Zahl abrechenbarer Behandlungseinheiten pro Patient und Quartal ist durch die Heilmittelrichtlinie begrenzt. Physiotherapeuten können nicht unbegrenzt Leistungen erbringen und…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Praxisrelevanz Kreditanalyse: </a:t>
            </a:r>
            <a:r>
              <a:rPr sz="1700">
                <a:solidFill>
                  <a:srgbClr val="1A1A1A"/>
                </a:solidFill>
                <a:latin typeface="Arial"/>
              </a:rPr>
              <a:t>Die Umsatzplanung einer Physiotherapiepraxis ist damit wesentlich von der lokalen Verordnungsmengen-Entwicklung und der Qualität der kooperierenden Arztpraxen abhängig. Keine…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Praxishinweis: </a:t>
            </a:r>
            <a:r>
              <a:rPr sz="1700">
                <a:solidFill>
                  <a:srgbClr val="1A1A1A"/>
                </a:solidFill>
                <a:latin typeface="Arial"/>
              </a:rPr>
              <a:t>Bei Physiotherapeuten-Finanzierungen immer die letzten 3 Jahre der Krankenkassen-Abrechnungen (Honorarnachweise) anfordern – nicht nur die EÜR. Die Rezeptquote (Anteil GKV/privat)…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Apothekenspezifisch: </a:t>
            </a:r>
            <a:r>
              <a:rPr sz="1700">
                <a:solidFill>
                  <a:srgbClr val="1A1A1A"/>
                </a:solidFill>
                <a:latin typeface="Arial"/>
              </a:rPr>
              <a:t>Apotheken erzielen Erträge aus dem gesetzlichen Fixzuschlag (aktuell 8,35 EUR/Packung gemäß AMPreisV), dem prozentualen Zuschlag sowie der Notdienstpauschale. Das AMNOG…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4.2 Theorie-Input 2: Praxisbewertung und Finanzierungsstruktur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M07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Praxisübernahme vs. Praxisgründung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Bewertungsverfahren nach IDW S5: </a:t>
            </a:r>
            <a:r>
              <a:rPr sz="1700">
                <a:solidFill>
                  <a:srgbClr val="1A1A1A"/>
                </a:solidFill>
                <a:latin typeface="Arial"/>
              </a:rPr>
              <a:t>Der IDW Standard S5 „Grundsätze zur Bewertung von Arzt- und Zahnarztpraxen sowie psychotherapeutischen Praxen" (Institut der Wirtschaftsprüfer in Deutschland [IDW], 2021) ist der…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Substanzwert: </a:t>
            </a:r>
            <a:r>
              <a:rPr sz="1700">
                <a:solidFill>
                  <a:srgbClr val="1A1A1A"/>
                </a:solidFill>
                <a:latin typeface="Arial"/>
              </a:rPr>
              <a:t>Zeitwert aller materiellen Wirtschaftsgüter (Praxiseinrichtung, Medizintechnik, IT, Vorräte). Dieser Anteil ist relativ unproblematisch zu finanzieren und gut beleihbar.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Ideeller Praxiswert (Goodwill): </a:t>
            </a:r>
            <a:r>
              <a:rPr sz="1700">
                <a:solidFill>
                  <a:srgbClr val="1A1A1A"/>
                </a:solidFill>
                <a:latin typeface="Arial"/>
              </a:rPr>
              <a:t>Der Mehrwert über den Substanzwert hinaus, der durch den Patientenstamm, die Lage, die Praxisorganisation und den Ruf entsteht. Der Goodwill wird als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Bankinterne Bewertung: </a:t>
            </a:r>
            <a:r>
              <a:rPr sz="1700">
                <a:solidFill>
                  <a:srgbClr val="1A1A1A"/>
                </a:solidFill>
                <a:latin typeface="Arial"/>
              </a:rPr>
              <a:t>Für die Kreditsicherung ist der Goodwill nur eingeschränkt beleihbar, da er nicht auf einen Dritten übertragbar ist (persönliche Zulassung). Die Sicherheitenstruktur muss sich…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M07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Typische Investitionsanlässe im Überblick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Investitionsanlass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Typisches Volumen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Finanzierungsinstrument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Förderoption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Praxisgründung (Neubau)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200.000–600.000 EUR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Investitionskredit (10–15 J.)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KfW-Unternehmerkredit 037; ERP-Gründerkredit 058/059; L-Bank/LfA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Praxisübernahme (Goodwill + Substanz)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100.000–400.000 EUR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Investitionskredit (7–10 J.)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ERP-Kapital für Gründung 058 (Nachrangdarlehen); KfW 037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Praxisimmobilie (Erwerb/Bau)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300.000–1.500.000 EUR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Annuitätendarlehen; Tilgungsaussetzung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Schwäbisch Hall (Bausparvertrag als Tilgungsersatz); KfW Energieeffizienz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Geräteausstattung (CT, MRT-Beteiligung)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50.000–500.000 EUR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Leasing oder Investitionskredit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KfW-Unternehmerkredit 037 ab 25 TEUR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TI-Anbindung/Digitalisierung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10.000–50.000 EUR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Betriebsmittelkredit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KfW-Digitalisierung; L-Bank Digital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Praxissoftware (TIS, DS-Win)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5.000–30.000 EUR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Betriebsmittelkredit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Apothekenwarenlager (Erstausstattung)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150.000–300.000 EUR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Kontokorrent/Betriebsmittel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KfW 037 für Anlauffinanzierung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Filialapotheke (Übernahme)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200.000–500.000 EUR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Investitionskredit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KfW-Unternehmerkredit 037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M07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Praxisabgabe aus Verkäuferperspektive: Die unterschätzte Beratungschance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Zeitraum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Beratungsthemen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Frühphase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5–8 Jahre vor Abgabe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Nachfolgeplanung, Praxisbewertung IDW S5, steuerliche Optimierung Betriebsvermögen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Vorbereitungsphase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1–3 Jahre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Käufersuche (KV, Kammern, Praxisbörsen), Kaufpreisverhandlung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Abschlussphase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12–18 Monate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Notarvertrag, Übergangsbegleitung, Kaufpreiszahlung, Anlage des Veräußerungserlöses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Nachphase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0–5 Jahre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Rentenergänzung aus Versorgungswerk + Kapitalanlage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4.3 Theorie-Input 3: Risikoprofil und Sicherheitenkonzept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M07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Spezifische Risiken bei Heilberufe-Kunden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Zulassungsrisiko: </a:t>
            </a:r>
            <a:r>
              <a:rPr sz="1700">
                <a:solidFill>
                  <a:srgbClr val="1A1A1A"/>
                </a:solidFill>
                <a:latin typeface="Arial"/>
              </a:rPr>
              <a:t>Der wirtschaftliche Wert der Arztpraxis hängt primär an der kassenärztlichen Zulassung. Diese ist personengebunden und erlischt bei Berufsunfähigkeit oder Ruhesetzung. Die…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Kassenarztzulassung und ihre Übertragbarkeit in der Nachfolge: </a:t>
            </a:r>
            <a:r>
              <a:rPr sz="1700">
                <a:solidFill>
                  <a:srgbClr val="1A1A1A"/>
                </a:solidFill>
                <a:latin typeface="Arial"/>
              </a:rPr>
              <a:t>Ein für die Praxisfinanzierung kritischer Punkt, der in der Beratungspraxis häufig unterschätzt wird: Die Kassenarztzulassung selbst ist nicht übertragbar – sie erlischt mit dem…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Vertragsarztsitz: </a:t>
            </a:r>
            <a:r>
              <a:rPr sz="1700">
                <a:solidFill>
                  <a:srgbClr val="1A1A1A"/>
                </a:solidFill>
                <a:latin typeface="Arial"/>
              </a:rPr>
              <a:t>(§ 103 Abs. 4 SGB V). Bei der Praxisnachfolge muss der Zulassungsausschuss der KV dem Nachfolger die Zulassung für diesen Vertragsarztsitz neu erteilen. In überversorgten…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Praxistipp: </a:t>
            </a:r>
            <a:r>
              <a:rPr sz="1700">
                <a:solidFill>
                  <a:srgbClr val="1A1A1A"/>
                </a:solidFill>
                <a:latin typeface="Arial"/>
              </a:rPr>
              <a:t>Bei jeder Praxisübernahme als Standardfrage: „Ist der Vertragsarztsitz bereits auf Sie übergegangen, oder läuft das Nachbesetzungsverfahren noch?" Auszahlung des Kredits erst nach…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Regressrisiko: </a:t>
            </a:r>
            <a:r>
              <a:rPr sz="1700">
                <a:solidFill>
                  <a:srgbClr val="1A1A1A"/>
                </a:solidFill>
                <a:latin typeface="Arial"/>
              </a:rPr>
              <a:t>Krankenkassen können Regresse für unwirtschaftliche Verordnungen, Abrechnungsauffälligkeiten oder mangelhafte Leistungen geltend machen. Diese Regresse entstehen rückwirkend und…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M07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Spezifische Risiken bei Heilberufe-Kunden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Inhaberabhängigkeit: </a:t>
            </a:r>
            <a:r>
              <a:rPr sz="1700">
                <a:solidFill>
                  <a:srgbClr val="1A1A1A"/>
                </a:solidFill>
                <a:latin typeface="Arial"/>
              </a:rPr>
              <a:t>Noch stärker als bei KMU-Unternehmen ist der Praxiswert an die Person des Inhabers gebunden. Berufsunfähigkeit, Tod oder ein schwerwiegender Fehler (Kunstfehler mit…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Versorgungswerk statt gesetzliche Rentenversicherung: </a:t>
            </a:r>
            <a:r>
              <a:rPr sz="1700">
                <a:solidFill>
                  <a:srgbClr val="1A1A1A"/>
                </a:solidFill>
                <a:latin typeface="Arial"/>
              </a:rPr>
              <a:t>Ärzte, Zahnärzte, Apotheker und andere Kammerberufe sind Pflichtmitglieder in berufsständischen Versorgungswerken (§ 6 Abs. 1 Nr. 1 SGB VI). Dies hat folgende Konsequenz für die…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Strukturrisiko MVZ-Konsolidierung: </a:t>
            </a:r>
            <a:r>
              <a:rPr sz="1700">
                <a:solidFill>
                  <a:srgbClr val="1A1A1A"/>
                </a:solidFill>
                <a:latin typeface="Arial"/>
              </a:rPr>
              <a:t>Bundesweit kaufen Krankenhauskonzerne und Private-Equity-Investoren niedergelassene Praxen auf. Dies schwächt tendenziell die Verhandlungsposition und den Ertragswert von…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M07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Sicherheitenkonzept bei Heilberufe-Finanzierungen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Sicherheit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Bewertung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Besonderheit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Selbstgenutzte Praxisimmobilie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60–70 % des Verkehrswerts (BelWertV)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Günstigste Sicherheit; oft in GmbH oder Gemeinschaftspraxis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Praxiseinrichtung/Medizintechnik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30–40 % des Zeitwerts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Schnelle Entwertung, eingeschränkte Verwertbarkeit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Privates Wohneigentum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60–70 % des Verkehrswerts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Häufig vorhanden, oft belastet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Lebensversicherung/Kapitalanlage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Rückkaufswert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Einfach abtretbar; bei Versorgungswerk nicht möglich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Goodwill/Patientenstamm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nicht beleihbar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Kein anerkannter Sicherheitenwert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Bürgschaft Ehepartner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abhängig von eigenem Einkommen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AGB-rechtlich sorgfältig dokumentieren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M07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Verbundpartner Schwäbisch Hall: Praxisimmobilien und Tilgungsaussetzungsmodell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Schritt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Inhalt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Vorauszahlung: VR-Bank gewährt endfälliges Vorfinanzierungsdarlehen (nur Zinsen, keine Tilgung)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Gleichzeitig: SHB-Bausparvertrag über gleiche Summe wird bespart (monatliche Sparrate)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Nach Zuteilung (typisch 7–12 Jahre): Bauspardarlehen löst das Vorfinanzierungsdarlehen ab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Restlaufzeit: Tilgung über Bauspardarlehen (fester Zinssatz, planbare Rate)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4.4 Praxiscase: Dr. Mayer – Zahnarztpraxis-Übernahme in Ravensburg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M07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Ausgangssituation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Jahr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Betriebseinnahmen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Betriebsausgaben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Jahresüberschuss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680.000 EUR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390.000 EUR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290.000 EUR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710.000 EUR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400.000 EUR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310.000 EUR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700.000 EUR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390.000 EUR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310.000 EUR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M07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Aufgaben für Gruppenarbeit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Position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Betrag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Betriebseinnahmen (Prognose Jahr 1, 65 % von Dr. Schmidts Niveau)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455.000 EUR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./. Betriebsausgaben (lfd. Praxiskosten ohne AfA, Prognose)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290.000 EUR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./. Private Einkommensteuer + Soli (Schätzung, Einkommensstufe)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60.000 EUR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./. Privatentnahmen Lebenshaltung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18.000 EUR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./. Laufende ETW-Rate (12.000 EUR/Jahr)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12.000 EUR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= Freier Cashflow vor Kapitaldienst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75.000 EUR p.a.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4.5 Checkliste: Heilberufe-Erstgespräch (15 Punkte)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M07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4.5 Checkliste: Heilberufe-Erstgespräch (15 Punkte)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Branche &amp; Zulassung: </a:t>
            </a:r>
            <a:r>
              <a:rPr sz="1700">
                <a:solidFill>
                  <a:srgbClr val="1A1A1A"/>
                </a:solidFill>
                <a:latin typeface="Arial"/>
              </a:rPr>
              <a:t>- [ ] 1. Zulassungsart: GKV-Zulassung, Privatarzt, MVZ-Anstellung? - [ ] 2. KV-Bezirk und Versorgungsgebiet – überversorgt oder Mangelgebiet? - [ ] 3. Berufsbezeichnung und…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Einzelpraxis oder BAG/Gemeinschaftspraxis?: </a:t>
            </a:r>
            <a:r>
              <a:rPr sz="1700">
                <a:solidFill>
                  <a:srgbClr val="1A1A1A"/>
                </a:solidFill>
                <a:latin typeface="Arial"/>
              </a:rPr>
              <a:t>→ Bei Berufsausübungsgemeinschaft (BAG): Gesellschaftsvertrag anfordern; Sicherheitenkonzept und Bonitätsprüfung gelten für alle Partner - [ ] 5.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Umsatzsteuer-Status klären: </a:t>
            </a:r>
            <a:r>
              <a:rPr sz="1700">
                <a:solidFill>
                  <a:srgbClr val="1A1A1A"/>
                </a:solidFill>
                <a:latin typeface="Arial"/>
              </a:rPr>
              <a:t>(§ 4 Nr. 14 UStG: Heilbehandlungen grds. USt-frei; Ausnahmen: Gutachtertätigkeit, Schönheitschirurgie ohne Heilzweck → partielle USt-Pflicht möglich)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Einkommenssituation: </a:t>
            </a:r>
            <a:r>
              <a:rPr sz="1700">
                <a:solidFill>
                  <a:srgbClr val="1A1A1A"/>
                </a:solidFill>
                <a:latin typeface="Arial"/>
              </a:rPr>
              <a:t>- [ ] 6. Einnahmenquellen: GKV-Anteil / PKV-Anteil / Selbstzahler - [ ] 7. EÜR letzter 3 Jahre + Steuerbescheide anfordern - [ ] 8. Rückstände oder laufende Regressverfahren…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Investition &amp; Finanzierungszweck: </a:t>
            </a:r>
            <a:r>
              <a:rPr sz="1700">
                <a:solidFill>
                  <a:srgbClr val="1A1A1A"/>
                </a:solidFill>
                <a:latin typeface="Arial"/>
              </a:rPr>
              <a:t>- [ ] 10. Gründung, Übernahme oder Modernisierung? - [ ] 11. Bei Übernahme: Bewertungsgutachten nach IDW S5 vorhanden? - [ ] 12. Übergabebegleitung durch Vorinhaber – Laufzeit und…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Sicherheiten &amp; Altersvorsorge: </a:t>
            </a:r>
            <a:r>
              <a:rPr sz="1700">
                <a:solidFill>
                  <a:srgbClr val="1A1A1A"/>
                </a:solidFill>
                <a:latin typeface="Arial"/>
              </a:rPr>
              <a:t>- [ ] 13. Versorgungswerk: Kammer und Beitragssatz klären - [ ] 14. Private Immobilien und Belastungen ermitteln - [ ] 15. Lebensversicherungen, Kapitalanlagen (abtretungsfähig?)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Risikolebensversicherung: </a:t>
            </a:r>
            <a:r>
              <a:rPr sz="1700">
                <a:solidFill>
                  <a:srgbClr val="1A1A1A"/>
                </a:solidFill>
                <a:latin typeface="Arial"/>
              </a:rPr>
              <a:t>(in Höhe des Kreditbetrags, Bezugsrecht Bank) – R+V-Angebot einholen; bei Finanzierungen ab 200.000 EUR Pflichtpunkt in der Beratungsdokumentation - [ ] 17.…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4.6 Reflexionsfragen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M07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4.6 Reflexionsfragen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457200" cy="41148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1887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Arial"/>
              </a:rPr>
              <a:t>Welche drei Informationen fehlen Ihnen typischerweise beim ersten Gespräch mit einem Heilberufe-Kunden, und wie würden Sie diese strukturiert erfragen?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920240"/>
            <a:ext cx="457200" cy="41148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9202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9202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Arial"/>
              </a:rPr>
              <a:t>Ein Arzt zeigt eine EÜR mit 500.000 EUR Betriebseinnahmen und 350.000 EUR Betriebsausgaben. Was müssen Sie zusätzlich zum Jahresüberschuss wissen, um eine fundierte Kreditentscheidung treffen zu können?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651760"/>
            <a:ext cx="457200" cy="41148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65176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51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Arial"/>
              </a:rPr>
              <a:t>Wo liegt der wesentliche Unterschied zwischen der Finanzierung einer Zahnarztpraxis und der Finanzierung eines KMU-Betriebs? Was bedeutet das für Ihre Sicherheitenstrategie?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47472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D6F0"/>
                </a:solidFill>
                <a:latin typeface="Arial"/>
              </a:rPr>
              <a:t>PRAXISTRANSFER &amp; NÄCHSTE SCHRITTE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031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Bewerten Sie Ihre Fortschritte ehrlich.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Nächste Module: M09, M21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M07 · Branchenvertiefung Heilberufe  ·  v0.3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