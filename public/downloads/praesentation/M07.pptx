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3175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11582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B7FA0"/>
                </a:solidFill>
                <a:latin typeface="Courier New"/>
              </a:rPr>
              <a:t>M07  ·  v0.3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048000"/>
            <a:ext cx="10972800" cy="215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0" i="0">
                <a:solidFill>
                  <a:srgbClr val="191D2E"/>
                </a:solidFill>
                <a:latin typeface="Georgia"/>
              </a:rPr>
              <a:t>Branchenvertiefung Heilberufe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53340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5461000"/>
            <a:ext cx="5207000" cy="8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4D5270"/>
                </a:solidFill>
                <a:latin typeface="Georgia"/>
              </a:rPr>
              <a:t>Arztpraxen, Apotheken und Heilberufe als Firmenkundensegment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2500" y="5461000"/>
            <a:ext cx="22860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spc="100">
                <a:solidFill>
                  <a:srgbClr val="7B7FA0"/>
                </a:solidFill>
                <a:latin typeface="Courier New"/>
              </a:rPr>
              <a:t>ZIELSTUFE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2500" y="5664200"/>
            <a:ext cx="2286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91D2E"/>
                </a:solidFill>
                <a:latin typeface="Georgia"/>
              </a:rPr>
              <a:t>Sparringspartner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0" y="5461000"/>
            <a:ext cx="25400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spc="100">
                <a:solidFill>
                  <a:srgbClr val="7B7FA0"/>
                </a:solidFill>
                <a:latin typeface="Courier New"/>
              </a:rPr>
              <a:t>DAUER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0" y="5664200"/>
            <a:ext cx="2540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91D2E"/>
                </a:solidFill>
                <a:latin typeface="Georgia"/>
              </a:rPr>
              <a:t>3,5–4 Stunden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254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11582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spc="100">
                <a:solidFill>
                  <a:srgbClr val="7B7FA0"/>
                </a:solidFill>
                <a:latin typeface="Courier New"/>
              </a:rPr>
              <a:t>§ 00 — LERNZIELE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350000"/>
            <a:ext cx="508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B7FA0"/>
                </a:solidFill>
                <a:latin typeface="Courier New"/>
              </a:rPr>
              <a:t>v0.3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350000"/>
            <a:ext cx="1158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7B7FA0"/>
                </a:solidFill>
                <a:latin typeface="Courier New"/>
              </a:rPr>
              <a:t>02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270000"/>
            <a:ext cx="36830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0" i="1">
                <a:solidFill>
                  <a:srgbClr val="1F2B56"/>
                </a:solidFill>
                <a:latin typeface="Georgia"/>
              </a:rPr>
              <a:t>Inhalt.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1333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1333500"/>
            <a:ext cx="70104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384300"/>
            <a:ext cx="571500" cy="71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1">
                <a:solidFill>
                  <a:srgbClr val="1F2B56"/>
                </a:solidFill>
                <a:latin typeface="Georgia"/>
              </a:rPr>
              <a:t>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70500" y="1409700"/>
            <a:ext cx="6223000" cy="71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91D2E"/>
                </a:solidFill>
                <a:latin typeface="Georgia"/>
              </a:rPr>
              <a:t>Heilberufsgruppen nach ihrer rechtlichen Einordnung als Freie Berufe gemäß § 18 EStG differenzieren und von Gewerbebetrieben abgrenzen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2095499"/>
            <a:ext cx="70104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146300"/>
            <a:ext cx="571500" cy="71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1">
                <a:solidFill>
                  <a:srgbClr val="1F2B56"/>
                </a:solidFill>
                <a:latin typeface="Georgia"/>
              </a:rPr>
              <a:t>II.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70500" y="2171700"/>
            <a:ext cx="6223000" cy="71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91D2E"/>
                </a:solidFill>
                <a:latin typeface="Georgia"/>
              </a:rPr>
              <a:t>Eine Einnahmen-Überschuss-Rechnung (EÜR) eines Heilberufe-Kunden auf Schuldendienstfähigkeit analysieren und Besonderheiten gegenüber einer handelsrechtlichen…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2857500"/>
            <a:ext cx="70104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908300"/>
            <a:ext cx="571500" cy="71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1">
                <a:solidFill>
                  <a:srgbClr val="1F2B56"/>
                </a:solidFill>
                <a:latin typeface="Georgia"/>
              </a:rPr>
              <a:t>III.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0500" y="2933700"/>
            <a:ext cx="6223000" cy="71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91D2E"/>
                </a:solidFill>
                <a:latin typeface="Georgia"/>
              </a:rPr>
              <a:t>Den Goodwill einer Arzt- oder Zahnarztpraxis nach der modifizierten Ertragswertmethode (IDW S5) berechnen und eine tragfähige Finanzierungsstruktur ableiten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3619500"/>
            <a:ext cx="70104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3670300"/>
            <a:ext cx="571500" cy="71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1">
                <a:solidFill>
                  <a:srgbClr val="1F2B56"/>
                </a:solidFill>
                <a:latin typeface="Georgia"/>
              </a:rPr>
              <a:t>IV.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70500" y="3695700"/>
            <a:ext cx="6223000" cy="71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91D2E"/>
                </a:solidFill>
                <a:latin typeface="Georgia"/>
              </a:rPr>
              <a:t>Das branchenspezifische Risikoprofil eines Heilberufe-Kunden (Zulassungsrisiken, Regressrisiken, Versorgungswerk-Effekte) bewerten und ein passendes…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254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8F8FA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11582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spc="100">
                <a:solidFill>
                  <a:srgbClr val="F8F8FA"/>
                </a:solidFill>
                <a:latin typeface="Courier New"/>
              </a:rPr>
              <a:t>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50000"/>
            <a:ext cx="1158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606070"/>
                </a:solidFill>
                <a:latin typeface="Courier New"/>
              </a:rPr>
              <a:t>03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25500"/>
            <a:ext cx="5715000" cy="495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0" b="0" i="1">
                <a:solidFill>
                  <a:srgbClr val="D9BF7A"/>
                </a:solidFill>
                <a:latin typeface="Georgia"/>
              </a:rPr>
              <a:t>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5000" y="3683000"/>
            <a:ext cx="459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B7FA0"/>
                </a:solidFill>
                <a:latin typeface="Courier New"/>
              </a:rPr>
              <a:t>MODULINHALTE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4000500"/>
            <a:ext cx="459740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600" b="0" i="0">
                <a:solidFill>
                  <a:srgbClr val="F8F8FA"/>
                </a:solidFill>
                <a:latin typeface="Georgia"/>
              </a:rPr>
              <a:t>Modulinhalte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5524500"/>
            <a:ext cx="45974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 i="1">
                <a:solidFill>
                  <a:srgbClr val="7B7FA0"/>
                </a:solidFill>
                <a:latin typeface="Georgia"/>
              </a:rPr>
              <a:t>4.1 Theorie-Input 1: Freie Berufe – rechtliche und wirtschaftliche Grundlagen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254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11582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spc="100">
                <a:solidFill>
                  <a:srgbClr val="7B7FA0"/>
                </a:solidFill>
                <a:latin typeface="Courier New"/>
              </a:rPr>
              <a:t>§ I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50000"/>
            <a:ext cx="1158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7B7FA0"/>
                </a:solidFill>
                <a:latin typeface="Courier New"/>
              </a:rPr>
              <a:t>04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016000"/>
            <a:ext cx="4953000" cy="20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0" i="0">
                <a:solidFill>
                  <a:srgbClr val="191D2E"/>
                </a:solidFill>
                <a:latin typeface="Georgia"/>
              </a:rPr>
              <a:t>4.1 Theorie-Input 1: Freie Berufe – rechtliche und wirtschaftliche Grundlagen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175000"/>
            <a:ext cx="49530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D5270"/>
                </a:solidFill>
                <a:latin typeface="Georgia"/>
              </a:rPr>
              <a:t>Abgrenzung: Freier Beruf vs. Gewerbe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96000" y="1016000"/>
          <a:ext cx="65024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/>
                <a:gridCol w="1625600"/>
                <a:gridCol w="1625600"/>
                <a:gridCol w="1625600"/>
              </a:tblGrid>
              <a:tr h="27214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8FA"/>
                          </a:solidFill>
                          <a:latin typeface="Courier New"/>
                        </a:rPr>
                        <a:t>Merkmal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8FA"/>
                          </a:solidFill>
                          <a:latin typeface="Courier New"/>
                        </a:rPr>
                        <a:t>Freier Beruf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8FA"/>
                          </a:solidFill>
                          <a:latin typeface="Courier New"/>
                        </a:rPr>
                        <a:t>Gewerbebetrieb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8FA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</a:tr>
              <a:tr h="272142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Gewerbesteuer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nein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ja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272142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Buchführungspflicht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nein (EÜR bis 600.000 EUR Umsatz möglich)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ab 800.000 EUR Umsatz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272142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Jahresabschluss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EÜR (Anlage EÜR)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Bilanz + GuV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272142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IHK-Mitgliedschaft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nein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ja (Pflichtmitglied)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272142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Betriebsaufgabe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kein Veräußerungsgewinn bei Praxisübergabe (i.d.R.)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Gewerbesteuer auf Veräußerungsgewinn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272142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Kammerzugehörigkeit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Ärztekammer, Rechtsanwaltskammer etc.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keine Pflichtmitgliedschaft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272142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Merkmal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Einzelpraxis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BAG / Gemeinschaftspraxis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MVZ (GmbH)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272142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Rechtsform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Keine Gesellschaft (Einzelunternehmen)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GbR oder PartGmbB (bei Ärztepartnern)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GmbH (§ 95 SGB V)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272142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Jahresabschluss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EÜR (bis 600.000 EUR Umsatz)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EÜR (bei GbR) oder Bilanz (ab Bilanzierungspflicht)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Handelsrechtliche Bilanz (Pflicht)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272142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Inhaberabhängigkeit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Sehr hoch – Praxiswert an eine Person gebunden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Mittelhoch – Wert verteilt auf Partner; Ausscheiden eines Partners kann den Wert senken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Gering – mehrere angestellte Ärzte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272142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Haftung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Unbeschränkt persönlich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Bei GbR: gesamtschuldnerisch; bei PartGmbB: berufliche Fehler nur Haftung des handelnden Partners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Gesellschaft haftet; Gesellschafter begrenzt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272142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Kreditrelevanz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Bonitätsanalyse einer Person; DSCR aus persönlicher EÜR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Gesellschaftsvertrag anfordern; Bonitätsanalyse aller Partner; Gewinnverteilung prüfen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Unternehmensfinanzierung; Bilanzkennziffern, Gesellschafterstruktur, DSCR aus GuV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272154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Sicherheitenpool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Persönliches Vermögen des Inhabers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Gemeinschaftliches + privates Vermögen der Partner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Gesellschaftsvermögen + ggf. Gesellschafterbürgschaften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254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11582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spc="100">
                <a:solidFill>
                  <a:srgbClr val="7B7FA0"/>
                </a:solidFill>
                <a:latin typeface="Courier New"/>
              </a:rPr>
              <a:t>§ I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50000"/>
            <a:ext cx="1158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7B7FA0"/>
                </a:solidFill>
                <a:latin typeface="Courier New"/>
              </a:rPr>
              <a:t>05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89000"/>
            <a:ext cx="10972800" cy="139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0" i="0">
                <a:solidFill>
                  <a:srgbClr val="191D2E"/>
                </a:solidFill>
                <a:latin typeface="Georgia"/>
              </a:rPr>
              <a:t>Abgrenzung: Freier Beruf vs. Gewerbe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2438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413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Die steuerrechtliche Unterscheidung zwischen Freiem Beruf und Gewerbebetrieb ist für den Firmenkundenberater weit mehr als eine juristische Feinheit – sie bestimmt das gesamte wirtschaftliche…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073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3048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Gemäß § 18 Abs. 1 EStG sind Einkünfte aus selbstständiger Arbeit u.a. Einkünfte aus der Tätigkeit als Arzt, Zahnarzt, Tierarzt, Rechtsanwalt, Notar, Patentanwalt, Steuerberater, Architekt, Ingenieur…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708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3683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Die praktischen Konsequenzen für die Bankbeziehung: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343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6000" y="4318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Quellen: § 18 EStG; § 4 Abs. 3 EStG; Gumpert &amp; Kausch (2022)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254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11582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spc="100">
                <a:solidFill>
                  <a:srgbClr val="7B7FA0"/>
                </a:solidFill>
                <a:latin typeface="Courier New"/>
              </a:rPr>
              <a:t>§ I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50000"/>
            <a:ext cx="1158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7B7FA0"/>
                </a:solidFill>
                <a:latin typeface="Courier New"/>
              </a:rPr>
              <a:t>06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89000"/>
            <a:ext cx="10972800" cy="139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0" i="0">
                <a:solidFill>
                  <a:srgbClr val="191D2E"/>
                </a:solidFill>
                <a:latin typeface="Georgia"/>
              </a:rPr>
              <a:t>Praxisrelevanz: Einzelpraxis, Berufsausübungsgemeinschaft (BAG) und MVZ im Vergleich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2438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413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Einzelpraxis: Standardvorgehen gemäß M07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073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3048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BAG mit 2–3 Partnern: immer Gesellschaftsvertrag anfordern, Bonitätsprüfung aller Partner, Regelung bei Ausscheiden eines Partners klären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708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3683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MVZ: Spezialisten einbinden (DZ BANK Corporate Finance oder internen gewerblichen Spezialisten) – das ist keine klassische Freiberufler-Finanzierung mehr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254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11582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spc="100">
                <a:solidFill>
                  <a:srgbClr val="7B7FA0"/>
                </a:solidFill>
                <a:latin typeface="Courier New"/>
              </a:rPr>
              <a:t>§ I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50000"/>
            <a:ext cx="1158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7B7FA0"/>
                </a:solidFill>
                <a:latin typeface="Courier New"/>
              </a:rPr>
              <a:t>07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89000"/>
            <a:ext cx="10972800" cy="139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0" i="0">
                <a:solidFill>
                  <a:srgbClr val="191D2E"/>
                </a:solidFill>
                <a:latin typeface="Georgia"/>
              </a:rPr>
              <a:t>EÜR vs. Bilanz: Was der Berater wissen muss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2438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413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Die meisten niedergelassenen Ärzte, Zahnärzte und Apotheker erstellen keine handelsrechtliche Bilanz, sondern eine Einnahmen-Überschuss-Rechnung (EÜR) nach § 4 Abs. 3 EStG. Dies hat weitreichende…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073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3048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Zufluss-/Abflussprinzip statt Periodisierung: Einnahmen und Ausgaben werden im Jahr ihres Zahlungsflusses erfasst, nicht im Jahr ihrer wirtschaftlichen Zugehörigkeit. Ein Arzt, der im Dezember eine…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708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3683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Keine Rückstellungen: In der EÜR werden keine Rückstellungen gebildet. Regressforderungen oder drohende Regresse durch Krankenkassen erscheinen daher nicht in der EÜR – ein wesentlicher Risikoaspekt,…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343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6000" y="4318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Keine Abgrenzung von Anlagevermögen in der EÜR: Investitionen erscheinen als sofortiger Aufwand oder werden über AfA-Listen abgeschrieben; eine bilanzielle Kapitalstruktur fehlt.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978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6000" y="4953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Für die Schuldendienstfähigkeit gilt: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5613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6000" y="5588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` Schuldendienstfähigkeit (Jahresbasis): Betriebseinnahmen (brutto) EUR ___________ ./. Betriebsausgaben (ohne AfA) EUR ___________ ./. Private Steuern (Einkommensteuer, Kirchensteuer, Soli) EUR…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254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11582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spc="100">
                <a:solidFill>
                  <a:srgbClr val="7B7FA0"/>
                </a:solidFill>
                <a:latin typeface="Courier New"/>
              </a:rPr>
              <a:t>§ I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50000"/>
            <a:ext cx="1158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7B7FA0"/>
                </a:solidFill>
                <a:latin typeface="Courier New"/>
              </a:rPr>
              <a:t>08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89000"/>
            <a:ext cx="10972800" cy="139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0" i="0">
                <a:solidFill>
                  <a:srgbClr val="191D2E"/>
                </a:solidFill>
                <a:latin typeface="Georgia"/>
              </a:rPr>
              <a:t>Honorarstrukturen: KV, PKV und Apothekenmarge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2438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413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Keine KV-Mitgliedschaft: Physiotherapeuten sind keine Vertragsärzte und haben keine kassenärztliche Zulassung. Sie schließen stattdessen Zulassungsverträge mit den Krankenkassen (Zulassung nach § 124…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073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3048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Höheres Liquiditätsrisiko: Krankenkassen zahlen Heilmittelerbringern regelmäßig erst 4–6 Wochen nach Einreichung der Rezepte. Zudem werden Rezepte bei formalen Fehlern (fehlende Angaben, falsche…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708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3683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Deckelung durch Wirtschaftlichkeitsprüfung: Die Zahl abrechenbarer Behandlungseinheiten pro Patient und Quartal ist durch die Heilmittelrichtlinie begrenzt. Physiotherapeuten können nicht unbegrenzt…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343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6000" y="4318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Praxisrelevanz Kreditanalyse: Die Umsatzplanung einer Physiotherapiepraxis ist damit wesentlich von der lokalen Verordnungsmengen-Entwicklung und der Qualität der kooperierenden Arztpraxen abhängig.…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254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11582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spc="100">
                <a:solidFill>
                  <a:srgbClr val="7B7FA0"/>
                </a:solidFill>
                <a:latin typeface="Courier New"/>
              </a:rPr>
              <a:t>§ I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50000"/>
            <a:ext cx="1158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7B7FA0"/>
                </a:solidFill>
                <a:latin typeface="Courier New"/>
              </a:rPr>
              <a:t>09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016000"/>
            <a:ext cx="4953000" cy="20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0" i="0">
                <a:solidFill>
                  <a:srgbClr val="191D2E"/>
                </a:solidFill>
                <a:latin typeface="Georgia"/>
              </a:rPr>
              <a:t>4.2 Theorie-Input 2: Praxisbewertung und Finanzierungsstruktur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175000"/>
            <a:ext cx="49530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D5270"/>
                </a:solidFill>
                <a:latin typeface="Georgia"/>
              </a:rPr>
              <a:t>Praxisübernahme vs. Praxisgründung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96000" y="1016000"/>
          <a:ext cx="65024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/>
                <a:gridCol w="1625600"/>
                <a:gridCol w="1625600"/>
                <a:gridCol w="1625600"/>
              </a:tblGrid>
              <a:tr h="27214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8FA"/>
                          </a:solidFill>
                          <a:latin typeface="Courier New"/>
                        </a:rPr>
                        <a:t>Investitionsanlass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8FA"/>
                          </a:solidFill>
                          <a:latin typeface="Courier New"/>
                        </a:rPr>
                        <a:t>Typisches Volumen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8FA"/>
                          </a:solidFill>
                          <a:latin typeface="Courier New"/>
                        </a:rPr>
                        <a:t>Finanzierungsinstrument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8FA"/>
                          </a:solidFill>
                          <a:latin typeface="Courier New"/>
                        </a:rPr>
                        <a:t>Förderoption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</a:tr>
              <a:tr h="272142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Praxisgründung (Neubau)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200.000–600.000 EUR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Investitionskredit (10–15 J.)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KfW-Unternehmerkredit 037; ERP-Gründerkredit 058/059; L-Bank/LfA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272142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Praxisübernahme (Goodwill + Substanz)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100.000–400.000 EUR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Investitionskredit (7–10 J.)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ERP-Kapital für Gründung 058 (Nachrangdarlehen); KfW 037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272142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Praxisimmobilie (Erwerb/Bau)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300.000–1.500.000 EUR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Annuitätendarlehen; Tilgungsaussetzung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Schwäbisch Hall (Bausparvertrag als Tilgungsersatz); KfW Energieeffizienz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272142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Geräteausstattung (CT, MRT-Beteiligung)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50.000–500.000 EUR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Leasing oder Investitionskredit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KfW-Unternehmerkredit 037 ab 25 TEUR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272142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TI-Anbindung/Digitalisierung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10.000–50.000 EUR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Betriebsmittelkredit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KfW-Digitalisierung; L-Bank Digital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272142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Praxissoftware (TIS, DS-Win)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5.000–30.000 EUR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Betriebsmittelkredit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–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272142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Apothekenwarenlager (Erstausstattung)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150.000–300.000 EUR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Kontokorrent/Betriebsmittel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KfW 037 für Anlauffinanzierung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272142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Filialapotheke (Übernahme)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200.000–500.000 EUR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Investitionskredit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KfW-Unternehmerkredit 037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272142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Phase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Zeitraum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Beratungsthemen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272142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Frühphase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5–8 Jahre vor Abgabe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Nachfolgeplanung, Praxisbewertung IDW S5, steuerliche Optimierung Betriebsvermögen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272142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Vorbereitungsphase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1–3 Jahre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Käufersuche (KV, Kammern, Praxisbörsen), Kaufpreisverhandlung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272142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Abschlussphase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12–18 Monate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Notarvertrag, Übergangsbegleitung, Kaufpreiszahlung, Anlage des Veräußerungserlöses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272154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Nachphase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0–5 Jahre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Rentenergänzung aus Versorgungswerk + Kapitalanlage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254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11582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spc="100">
                <a:solidFill>
                  <a:srgbClr val="7B7FA0"/>
                </a:solidFill>
                <a:latin typeface="Courier New"/>
              </a:rPr>
              <a:t>§ I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50000"/>
            <a:ext cx="1158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7B7FA0"/>
                </a:solidFill>
                <a:latin typeface="Courier New"/>
              </a:rPr>
              <a:t>10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89000"/>
            <a:ext cx="10972800" cy="139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0" i="0">
                <a:solidFill>
                  <a:srgbClr val="191D2E"/>
                </a:solidFill>
                <a:latin typeface="Georgia"/>
              </a:rPr>
              <a:t>Praxisübernahme vs. Praxisgründung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2438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413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Die Übernahme einer bestehenden Praxis ist die häufigere und aus Bankperspektive komplexere Finanzierungssituation. Entscheidend ist die Bewertungsmethode – denn der zu finanzierende Goodwill muss…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073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3048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Bewertungsverfahren nach IDW S5: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708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3683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Der IDW Standard S5 „Grundsätze zur Bewertung von Arzt- und Zahnarztpraxen sowie psychotherapeutischen Praxen" (Institut der Wirtschaftsprüfer in Deutschland [IDW], 2021) ist der anerkannte…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343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6000" y="4318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Substanzwert: Zeitwert aller materiellen Wirtschaftsgüter (Praxiseinrichtung, Medizintechnik, IT, Vorräte). Dieser Anteil ist relativ unproblematisch zu finanzieren und gut beleihbar.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978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6000" y="4953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Ideeller Praxiswert (Goodwill): Der Mehrwert über den Substanzwert hinaus, der durch den Patientenstamm, die Lage, die Praxisorganisation und den Ruf entsteht. Der Goodwill wird als Ertragswert…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5613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6000" y="5588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` Modifizierte Ertragswertmethode (IDW S5): 1. Durchschnittlicher Jahresüberschuss (Ø 3 Jahre) EUR ___________ 2. ./. Unternehmerlohn (arztspezifischer Fixbetrag) EUR ___________ 3. ./.…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254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11582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spc="100">
                <a:solidFill>
                  <a:srgbClr val="7B7FA0"/>
                </a:solidFill>
                <a:latin typeface="Courier New"/>
              </a:rPr>
              <a:t>§ I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50000"/>
            <a:ext cx="1158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7B7FA0"/>
                </a:solidFill>
                <a:latin typeface="Courier New"/>
              </a:rPr>
              <a:t>11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89000"/>
            <a:ext cx="10972800" cy="139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0" i="0">
                <a:solidFill>
                  <a:srgbClr val="191D2E"/>
                </a:solidFill>
                <a:latin typeface="Georgia"/>
              </a:rPr>
              <a:t>Typische Investitionsanlässe im Überblick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2438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413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&gt; Förder-Grundsatz: Bei Heilberufe-Finanzierungen ab 50.000 EUR immer KfW-Durchleitungskredit prüfen. Die Kombination Hausbankkredit + KfW-Tranche ist in der Praxis der Regelfall – und das zentrale…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073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3048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Medizinische Versorgungszentren (MVZ): MVZ als GmbH sind nach § 95 SGB V zugelassene Träger, die Ärzte anstellen. Die Finanzierung von MVZ-Anteilen (häufig durch Krankenhäuser oder Investoren)…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708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3683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&gt; Selbsteinschätzung für Berater: MVZ-Finanzierungen sind in der Regel keine klassischen Praxisfinanzierungen mehr – sie sind Unternehmensfinanzierungen mit Bilanzen, Gesellschafterstrukturen und…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254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11582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spc="100">
                <a:solidFill>
                  <a:srgbClr val="7B7FA0"/>
                </a:solidFill>
                <a:latin typeface="Courier New"/>
              </a:rPr>
              <a:t>§ I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50000"/>
            <a:ext cx="1158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7B7FA0"/>
                </a:solidFill>
                <a:latin typeface="Courier New"/>
              </a:rPr>
              <a:t>12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89000"/>
            <a:ext cx="10972800" cy="139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0" i="0">
                <a:solidFill>
                  <a:srgbClr val="191D2E"/>
                </a:solidFill>
                <a:latin typeface="Georgia"/>
              </a:rPr>
              <a:t>Praxisabgabe aus Verkäuferperspektive: Die unterschätzte Beratungschance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2438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413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Veräußerungsgewinne aus dem Verkauf einer freiberuflichen Praxis sind steuerpflichtig, unterliegen aber dem Freibetrag nach § 16 Abs. 4 EStG (bis zu 45.000 EUR ab Vollendung des 55. Lebensjahres,…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073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3048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Alternativ: Ermäßigter Steuersatz nach § 34 EStG (sog. Fünftelregelung oder halber Steuersatz)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708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3683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Bei der Analyse: Steuerberater des Kunden einbinden; für den FK-Berater reicht das Grundwissen zur Gesprächsführung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343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6000" y="4318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Der Kaufpreis einer Praxis (typisch 200.000–600.000 EUR) fließt dem Abgeber als Einmalbetrag zu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978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6000" y="4953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Zusammen mit dem Versorgungswerk ergibt sich oft ein substanzielles Altersvorsorgepolster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5613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6000" y="5588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Union Investment ist der natürliche Ansprechpartner für die Anlage dieses Erlöses (ETF-Portfolios, Entnahmepläne, Fondsdepots)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254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11582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spc="100">
                <a:solidFill>
                  <a:srgbClr val="7B7FA0"/>
                </a:solidFill>
                <a:latin typeface="Courier New"/>
              </a:rPr>
              <a:t>§ I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50000"/>
            <a:ext cx="1158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7B7FA0"/>
                </a:solidFill>
                <a:latin typeface="Courier New"/>
              </a:rPr>
              <a:t>13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016000"/>
            <a:ext cx="4953000" cy="20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0" i="0">
                <a:solidFill>
                  <a:srgbClr val="191D2E"/>
                </a:solidFill>
                <a:latin typeface="Georgia"/>
              </a:rPr>
              <a:t>4.3 Theorie-Input 3: Risikoprofil und Sicherheitenkonzept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175000"/>
            <a:ext cx="49530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D5270"/>
                </a:solidFill>
                <a:latin typeface="Georgia"/>
              </a:rPr>
              <a:t>Spezifische Risiken bei Heilberufe-Kunden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96000" y="1016000"/>
          <a:ext cx="65024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7466"/>
                <a:gridCol w="2167466"/>
                <a:gridCol w="2167468"/>
              </a:tblGrid>
              <a:tr h="3175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8FA"/>
                          </a:solidFill>
                          <a:latin typeface="Courier New"/>
                        </a:rPr>
                        <a:t>Sicherheit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8FA"/>
                          </a:solidFill>
                          <a:latin typeface="Courier New"/>
                        </a:rPr>
                        <a:t>Bewertung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8FA"/>
                          </a:solidFill>
                          <a:latin typeface="Courier New"/>
                        </a:rPr>
                        <a:t>Besonderheit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</a:tr>
              <a:tr h="3175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Selbstgenutzte Praxisimmobilie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60–70 % des Verkehrswerts (BelWertV)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Günstigste Sicherheit; oft in GmbH oder Gemeinschaftspraxis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175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Praxiseinrichtung/Medizintechnik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30–40 % des Zeitwerts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Schnelle Entwertung, eingeschränkte Verwertbarkeit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175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Privates Wohneigentum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60–70 % des Verkehrswerts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Häufig vorhanden, oft belastet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175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Lebensversicherung/Kapitalanlage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Rückkaufswert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Einfach abtretbar; bei Versorgungswerk nicht möglich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175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Goodwill/Patientenstamm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nicht beleihbar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Kein anerkannter Sicherheitenwert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175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Bürgschaft Ehepartner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abhängig von eigenem Einkommen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AGB-rechtlich sorgfältig dokumentieren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175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Schritt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Inhalt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175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1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Vorauszahlung: VR-Bank gewährt endfälliges Vorfinanzierungsdarlehen (nur Zinsen, keine Tilgung)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175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2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Gleichzeitig: SHB-Bausparvertrag über gleiche Summe wird bespart (monatliche Sparrate)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175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3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Nach Zuteilung (typisch 7–12 Jahre): Bauspardarlehen löst das Vorfinanzierungsdarlehen ab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175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4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Restlaufzeit: Tilgung über Bauspardarlehen (fester Zinssatz, planbare Rate)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254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11582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spc="100">
                <a:solidFill>
                  <a:srgbClr val="7B7FA0"/>
                </a:solidFill>
                <a:latin typeface="Courier New"/>
              </a:rPr>
              <a:t>§ I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50000"/>
            <a:ext cx="1158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7B7FA0"/>
                </a:solidFill>
                <a:latin typeface="Courier New"/>
              </a:rPr>
              <a:t>14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89000"/>
            <a:ext cx="10972800" cy="139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0" i="0">
                <a:solidFill>
                  <a:srgbClr val="191D2E"/>
                </a:solidFill>
                <a:latin typeface="Georgia"/>
              </a:rPr>
              <a:t>Spezifische Risiken bei Heilberufe-Kunden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2438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413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Zulassungsrisiko: Der wirtschaftliche Wert der Arztpraxis hängt primär an der kassenärztlichen Zulassung. Diese ist personengebunden und erlischt bei Berufsunfähigkeit oder Ruhesetzung. Die…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073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3048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Kassenarztzulassung und ihre Übertragbarkeit in der Nachfolge: Ein für die Praxisfinanzierung kritischer Punkt, der in der Beratungspraxis häufig unterschätzt wird: Die Kassenarztzulassung selbst ist…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708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3683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&gt; Praxistipp: Bei jeder Praxisübernahme als Standardfrage: „Ist der Vertragsarztsitz bereits auf Sie übergegangen, oder läuft das Nachbesetzungsverfahren noch?" Auszahlung des Kredits erst nach…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343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6000" y="4318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Regressrisiko: Krankenkassen können Regresse für unwirtschaftliche Verordnungen, Abrechnungsauffälligkeiten oder mangelhafte Leistungen geltend machen. Diese Regresse entstehen rückwirkend und können…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978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6000" y="4953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Inhaberabhängigkeit: Noch stärker als bei KMU-Unternehmen ist der Praxiswert an die Person des Inhabers gebunden. Berufsunfähigkeit, Tod oder ein schwerwiegender Fehler (Kunstfehler mit…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5613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6000" y="5588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Versorgungswerk statt gesetzliche Rentenversicherung: Ärzte, Zahnärzte, Apotheker und andere Kammerberufe sind Pflichtmitglieder in berufsständischen Versorgungswerken (§ 6 Abs. 1 Nr. 1 SGB VI). Dies…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254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11582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spc="100">
                <a:solidFill>
                  <a:srgbClr val="7B7FA0"/>
                </a:solidFill>
                <a:latin typeface="Courier New"/>
              </a:rPr>
              <a:t>§ I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50000"/>
            <a:ext cx="1158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7B7FA0"/>
                </a:solidFill>
                <a:latin typeface="Courier New"/>
              </a:rPr>
              <a:t>15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89000"/>
            <a:ext cx="10972800" cy="139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0" i="0">
                <a:solidFill>
                  <a:srgbClr val="191D2E"/>
                </a:solidFill>
                <a:latin typeface="Georgia"/>
              </a:rPr>
              <a:t>Sicherheitenkonzept bei Heilberufe-Finanzierungen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2438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413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§ 18 KWG (Offenlegungspflicht ab 750.000 EUR Kreditbetrag) ist zu beachten. Die gesamtschuldnerische Bonitätsanalyse bei Praxisübernahmen folgt MaRisk BTO 1.2.1.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254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11582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spc="100">
                <a:solidFill>
                  <a:srgbClr val="7B7FA0"/>
                </a:solidFill>
                <a:latin typeface="Courier New"/>
              </a:rPr>
              <a:t>§ I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50000"/>
            <a:ext cx="1158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7B7FA0"/>
                </a:solidFill>
                <a:latin typeface="Courier New"/>
              </a:rPr>
              <a:t>16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89000"/>
            <a:ext cx="10972800" cy="139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0" i="0">
                <a:solidFill>
                  <a:srgbClr val="191D2E"/>
                </a:solidFill>
                <a:latin typeface="Georgia"/>
              </a:rPr>
              <a:t>Verbundpartner Schwäbisch Hall: Praxisimmobilien und Tilgungsaussetzungsmodell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2438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413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Zinssicherheit für die gesamte Finanzierungsdauer (kein Prolongationsrisiko)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073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3048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Niedrigere monatliche Belastung in der Ansparphase (nur Zinsen + Sparrate)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708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3683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Planbarkeit für einen Selbstständigen ohne festes Gehalt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343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6000" y="4318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Schwäbisch Hall frühzeitig einbinden, sobald eine Praxisimmobilie Thema wird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978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6000" y="4953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Kombination KfW-Förderdarlehen + SHB-Bausparvertrag ist ein wettbewerbsstarkes Angebot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5613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6000" y="5588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Gesprächseinstieg: „Haben Sie schon darüber nachgedacht, das Praxisgebäude zu besitzen statt zu mieten? Bei Ihrem Einkommensniveau macht das steuerlich und wirtschaftlich oft erheblichen Sinn."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254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11582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spc="100">
                <a:solidFill>
                  <a:srgbClr val="7B7FA0"/>
                </a:solidFill>
                <a:latin typeface="Courier New"/>
              </a:rPr>
              <a:t>§ I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50000"/>
            <a:ext cx="1158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7B7FA0"/>
                </a:solidFill>
                <a:latin typeface="Courier New"/>
              </a:rPr>
              <a:t>17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016000"/>
            <a:ext cx="4953000" cy="20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0" i="0">
                <a:solidFill>
                  <a:srgbClr val="191D2E"/>
                </a:solidFill>
                <a:latin typeface="Georgia"/>
              </a:rPr>
              <a:t>4.4 Praxiscase: Dr. Mayer – Zahnarztpraxis-Übernahme in Ravensburg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175000"/>
            <a:ext cx="49530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D5270"/>
                </a:solidFill>
                <a:latin typeface="Georgia"/>
              </a:rPr>
              <a:t>Ausgangssituation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96000" y="1016000"/>
          <a:ext cx="65024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/>
                <a:gridCol w="1625600"/>
                <a:gridCol w="1625600"/>
                <a:gridCol w="1625600"/>
              </a:tblGrid>
              <a:tr h="346363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8FA"/>
                          </a:solidFill>
                          <a:latin typeface="Courier New"/>
                        </a:rPr>
                        <a:t>Jahr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8FA"/>
                          </a:solidFill>
                          <a:latin typeface="Courier New"/>
                        </a:rPr>
                        <a:t>Betriebseinnahmen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8FA"/>
                          </a:solidFill>
                          <a:latin typeface="Courier New"/>
                        </a:rPr>
                        <a:t>Betriebsausgaben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8FA"/>
                          </a:solidFill>
                          <a:latin typeface="Courier New"/>
                        </a:rPr>
                        <a:t>Jahresüberschuss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</a:tr>
              <a:tr h="346363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2023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680.000 EUR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390.000 EUR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290.000 EUR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46363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2024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710.000 EUR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400.000 EUR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310.000 EUR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46363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2025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700.000 EUR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390.000 EUR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310.000 EUR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46363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Position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Betrag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46363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Betriebseinnahmen (Prognose Jahr 1, 65 % von Dr. Schmidts Niveau)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455.000 EUR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46363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./. Betriebsausgaben (lfd. Praxiskosten ohne AfA, Prognose)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290.000 EUR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46363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./. Private Einkommensteuer + Soli (Schätzung, Einkommensstufe)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60.000 EUR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46363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./. Privatentnahmen Lebenshaltung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18.000 EUR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46363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./. Laufende ETW-Rate (12.000 EUR/Jahr)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12.000 EUR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4637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= Freier Cashflow vor Kapitaldienst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75.000 EUR p.a.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254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11582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spc="100">
                <a:solidFill>
                  <a:srgbClr val="7B7FA0"/>
                </a:solidFill>
                <a:latin typeface="Courier New"/>
              </a:rPr>
              <a:t>§ I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50000"/>
            <a:ext cx="1158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7B7FA0"/>
                </a:solidFill>
                <a:latin typeface="Courier New"/>
              </a:rPr>
              <a:t>18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89000"/>
            <a:ext cx="10972800" cy="139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0" i="0">
                <a:solidFill>
                  <a:srgbClr val="191D2E"/>
                </a:solidFill>
                <a:latin typeface="Georgia"/>
              </a:rPr>
              <a:t>Ausgangssituation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2438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413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Substanzwert (Einrichtung, Geräte): 160.000 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073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3048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Goodwill (vereinbart, auf Basis IDW S5): 220.000 EUR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708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3683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Gesamtkaufpreis: 380.000 EUR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343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6000" y="4318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Praxiskauf: 380.000 EUR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978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6000" y="4953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Betriebsmittel (Warenlager, Anlaufkosten): 30.000 EUR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5613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6000" y="5588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Modernisierung Röntgenanlage: 25.000 EUR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254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11582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spc="100">
                <a:solidFill>
                  <a:srgbClr val="7B7FA0"/>
                </a:solidFill>
                <a:latin typeface="Courier New"/>
              </a:rPr>
              <a:t>§ I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50000"/>
            <a:ext cx="1158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7B7FA0"/>
                </a:solidFill>
                <a:latin typeface="Courier New"/>
              </a:rPr>
              <a:t>19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89000"/>
            <a:ext cx="10972800" cy="139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0" i="0">
                <a:solidFill>
                  <a:srgbClr val="191D2E"/>
                </a:solidFill>
                <a:latin typeface="Georgia"/>
              </a:rPr>
              <a:t>Aufgaben für Gruppenarbeit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2438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413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Unternehmerlohn: 130.000 EUR p.a. (ortsüblicher Arztgehalt Anstellung)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073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3048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Risikoabschlag: 25 %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708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3683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Kapitalisierungsfaktor: 3,0 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343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6000" y="4318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Freier Cashflow vor Kapitaldienst: 75.000 EUR p.a.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978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6000" y="4953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Kapitaldienst (380.000 EUR bei 5,5 % Zins, 10 J. Tilgung, linear): ermitteln Sie Jahresrate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5613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6000" y="5588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Mindest-DSCR: 1,20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254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11582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spc="100">
                <a:solidFill>
                  <a:srgbClr val="7B7FA0"/>
                </a:solidFill>
                <a:latin typeface="Courier New"/>
              </a:rPr>
              <a:t>§ I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50000"/>
            <a:ext cx="1158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7B7FA0"/>
                </a:solidFill>
                <a:latin typeface="Courier New"/>
              </a:rPr>
              <a:t>20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89000"/>
            <a:ext cx="109728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0" i="0">
                <a:solidFill>
                  <a:srgbClr val="191D2E"/>
                </a:solidFill>
                <a:latin typeface="Georgia"/>
              </a:rPr>
              <a:t>4.5 Checkliste: Heilberufe-Erstgespräch (15 Punkte)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21590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2540000"/>
            <a:ext cx="406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2B56"/>
                </a:solidFill>
                <a:latin typeface="Courier New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600" y="2540000"/>
            <a:ext cx="44450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91D2E"/>
                </a:solidFill>
                <a:latin typeface="Georgia"/>
              </a:rPr>
              <a:t>[ ] 1. Zulassungsart: GKV-Zulassung, Privatarzt, MVZ-Anstellung?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3111500"/>
            <a:ext cx="50800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3175000"/>
            <a:ext cx="406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2B56"/>
                </a:solidFill>
                <a:latin typeface="Courier New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7600" y="3175000"/>
            <a:ext cx="44450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91D2E"/>
                </a:solidFill>
                <a:latin typeface="Georgia"/>
              </a:rPr>
              <a:t>[ ] 2. KV-Bezirk und Versorgungsgebiet – überversorgt oder Mangelgebiet?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3746500"/>
            <a:ext cx="50800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600" y="3810000"/>
            <a:ext cx="406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2B56"/>
                </a:solidFill>
                <a:latin typeface="Courier New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3810000"/>
            <a:ext cx="44450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91D2E"/>
                </a:solidFill>
                <a:latin typeface="Georgia"/>
              </a:rPr>
              <a:t>[ ] 3. Berufsbezeichnung und Kammerzugehörigkeit klären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4381500"/>
            <a:ext cx="50800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2400" y="2540000"/>
            <a:ext cx="406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2B56"/>
                </a:solidFill>
                <a:latin typeface="Courier New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400" y="2540000"/>
            <a:ext cx="44450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91D2E"/>
                </a:solidFill>
                <a:latin typeface="Georgia"/>
              </a:rPr>
              <a:t>[ ] 4. Einzelpraxis oder BAG/Gemeinschaftspraxis? → Bei Berufsausübungsgemeinschaft (BAG): Gesellschaftsvertrag anfordern; Sicherheitenkonzept und…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02400" y="3111500"/>
            <a:ext cx="50800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02400" y="3175000"/>
            <a:ext cx="406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2B56"/>
                </a:solidFill>
                <a:latin typeface="Courier New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0400" y="3175000"/>
            <a:ext cx="44450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91D2E"/>
                </a:solidFill>
                <a:latin typeface="Georgia"/>
              </a:rPr>
              <a:t>[ ] 5. Umsatzsteuer-Status klären (§ 4 Nr. 14 UStG: Heilbehandlungen grds. USt-frei; Ausnahmen: Gutachtertätigkeit, Schönheitschirurgie ohne Heilzweck →…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02400" y="3746500"/>
            <a:ext cx="50800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2400" y="3810000"/>
            <a:ext cx="406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2B56"/>
                </a:solidFill>
                <a:latin typeface="Courier New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0400" y="3810000"/>
            <a:ext cx="44450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91D2E"/>
                </a:solidFill>
                <a:latin typeface="Georgia"/>
              </a:rPr>
              <a:t>[ ] 6. Einnahmenquellen: GKV-Anteil / PKV-Anteil / Selbstzahler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02400" y="4381500"/>
            <a:ext cx="50800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254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11582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spc="100">
                <a:solidFill>
                  <a:srgbClr val="7B7FA0"/>
                </a:solidFill>
                <a:latin typeface="Courier New"/>
              </a:rPr>
              <a:t>§ I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50000"/>
            <a:ext cx="1158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7B7FA0"/>
                </a:solidFill>
                <a:latin typeface="Courier New"/>
              </a:rPr>
              <a:t>21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89000"/>
            <a:ext cx="10972800" cy="139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0" i="0">
                <a:solidFill>
                  <a:srgbClr val="191D2E"/>
                </a:solidFill>
                <a:latin typeface="Georgia"/>
              </a:rPr>
              <a:t>4.6 Reflexionsfragen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2438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413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1. Welche drei Informationen fehlen Ihnen typischerweise beim ersten Gespräch mit einem Heilberufe-Kunden, und wie würden Sie diese strukturiert erfragen?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073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3048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2. Ein Arzt zeigt eine EÜR mit 500.000 EUR Betriebseinnahmen und 350.000 EUR Betriebsausgaben. Was müssen Sie zusätzlich zum Jahresüberschuss wissen, um eine fundierte Kreditentscheidung treffen zu…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708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3683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3. Wo liegt der wesentliche Unterschied zwischen der Finanzierung einer Zahnarztpraxis und der Finanzierung eines KMU-Betriebs? Was bedeutet das für Ihre Sicherheitenstrategie?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254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8F8FA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11582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spc="100">
                <a:solidFill>
                  <a:srgbClr val="F8F8FA"/>
                </a:solidFill>
                <a:latin typeface="Courier New"/>
              </a:rPr>
              <a:t>PRAXISTRANSFER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50000"/>
            <a:ext cx="1158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606070"/>
                </a:solidFill>
                <a:latin typeface="Courier New"/>
              </a:rPr>
              <a:t>22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25500"/>
            <a:ext cx="5715000" cy="495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0" b="0" i="1">
                <a:solidFill>
                  <a:srgbClr val="D9BF7A"/>
                </a:solidFill>
                <a:latin typeface="Georgia"/>
              </a:rPr>
              <a:t>II.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5000" y="3683000"/>
            <a:ext cx="459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B7FA0"/>
                </a:solidFill>
                <a:latin typeface="Courier New"/>
              </a:rPr>
              <a:t>PRAXISTRANSFER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4000500"/>
            <a:ext cx="459740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600" b="0" i="0">
                <a:solidFill>
                  <a:srgbClr val="F8F8FA"/>
                </a:solidFill>
                <a:latin typeface="Georgia"/>
              </a:rPr>
              <a:t>Praxistransfer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5524500"/>
            <a:ext cx="45974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 i="1">
                <a:solidFill>
                  <a:srgbClr val="7B7FA0"/>
                </a:solidFill>
                <a:latin typeface="Georgia"/>
              </a:rPr>
              <a:t>5.1 Transferaufgabe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254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11582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spc="100">
                <a:solidFill>
                  <a:srgbClr val="7B7FA0"/>
                </a:solidFill>
                <a:latin typeface="Courier New"/>
              </a:rPr>
              <a:t>§ II · PRAXISTRANSFER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50000"/>
            <a:ext cx="1158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7B7FA0"/>
                </a:solidFill>
                <a:latin typeface="Courier New"/>
              </a:rPr>
              <a:t>23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89000"/>
            <a:ext cx="109728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0" i="0">
                <a:solidFill>
                  <a:srgbClr val="191D2E"/>
                </a:solidFill>
                <a:latin typeface="Georgia"/>
              </a:rPr>
              <a:t>5.1 Transferaufgabe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21590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2540000"/>
            <a:ext cx="406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2B56"/>
                </a:solidFill>
                <a:latin typeface="Courier New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600" y="2540000"/>
            <a:ext cx="44450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91D2E"/>
                </a:solidFill>
                <a:latin typeface="Georgia"/>
              </a:rPr>
              <a:t>Aufgabe: Wählen Sie innerhalb der nächsten 4 Wochen einen eigenen Heilberufe-Kunden aus Ihrem Bestand (oder vereinbaren Sie ein Akquisitionsgespräch).…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3111500"/>
            <a:ext cx="50800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3175000"/>
            <a:ext cx="406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2B56"/>
                </a:solidFill>
                <a:latin typeface="Courier New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7600" y="3175000"/>
            <a:ext cx="44450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91D2E"/>
                </a:solidFill>
                <a:latin typeface="Georgia"/>
              </a:rPr>
              <a:t>1. Welcher Heilberufe-Typ (Arzt, Zahnarzt, Apotheker, sonstiger Freier Beruf)? 2. Wie setzt sich das Einkommen zusammen (GKV/PKV/Selbstzahler)? 3. Welchen…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3746500"/>
            <a:ext cx="50800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2400" y="2540000"/>
            <a:ext cx="406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2B56"/>
                </a:solidFill>
                <a:latin typeface="Courier New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0400" y="2540000"/>
            <a:ext cx="44450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91D2E"/>
                </a:solidFill>
                <a:latin typeface="Georgia"/>
              </a:rPr>
              <a:t>Bringen Sie das Kurzprofil (anonymisiert, max. 1 Seite) zur nächsten Team-Fallbesprechung mit.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02400" y="3111500"/>
            <a:ext cx="50800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2400" y="3175000"/>
            <a:ext cx="406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2B56"/>
                </a:solidFill>
                <a:latin typeface="Courier New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400" y="3175000"/>
            <a:ext cx="44450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91D2E"/>
                </a:solidFill>
                <a:latin typeface="Georgia"/>
              </a:rPr>
              <a:t>Verbindlichkeit: Geben Sie das Kurzprofil bis spätestens 4 Wochen nach dem Seminar an Ihre Führungskraft weiter – entweder per E-Mail oder direkt im nächsten…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02400" y="3746500"/>
            <a:ext cx="50800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254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11582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spc="100">
                <a:solidFill>
                  <a:srgbClr val="7B7FA0"/>
                </a:solidFill>
                <a:latin typeface="Courier New"/>
              </a:rPr>
              <a:t>§ II · PRAXISTRANSFER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50000"/>
            <a:ext cx="1158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7B7FA0"/>
                </a:solidFill>
                <a:latin typeface="Courier New"/>
              </a:rPr>
              <a:t>24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89000"/>
            <a:ext cx="10972800" cy="139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0" i="0">
                <a:solidFill>
                  <a:srgbClr val="191D2E"/>
                </a:solidFill>
                <a:latin typeface="Georgia"/>
              </a:rPr>
              <a:t>5.2 Selbstcheck nach 4 Wochen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2438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413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Beantworten Sie nach 4 Wochen die folgenden Fragen ehrlich: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073400"/>
            <a:ext cx="304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F2B56"/>
                </a:solidFill>
                <a:latin typeface="Georgia"/>
              </a:rPr>
              <a:t>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3048000"/>
            <a:ext cx="990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91D2E"/>
                </a:solidFill>
                <a:latin typeface="Georgia"/>
              </a:rPr>
              <a:t>1. Habe ich den Unterschied zwischen EÜR und Bilanz meinem letzten Heilberufe-Kunden gegenüber aktiv als Gesprächsthema genutzt? 2. Habe ich bei einer Praxisbewertung die IDW S5-Logik angewendet oder…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254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11582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spc="100">
                <a:solidFill>
                  <a:srgbClr val="7B7FA0"/>
                </a:solidFill>
                <a:latin typeface="Courier New"/>
              </a:rPr>
              <a:t>§ II · PRAXISTRANSFER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50000"/>
            <a:ext cx="1158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7B7FA0"/>
                </a:solidFill>
                <a:latin typeface="Courier New"/>
              </a:rPr>
              <a:t>25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89000"/>
            <a:ext cx="109728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0" i="0">
                <a:solidFill>
                  <a:srgbClr val="191D2E"/>
                </a:solidFill>
                <a:latin typeface="Georgia"/>
              </a:rPr>
              <a:t>5.3 Empfohlene Vertiefungsliteratur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21590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2540000"/>
            <a:ext cx="406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2B56"/>
                </a:solidFill>
                <a:latin typeface="Courier New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600" y="2540000"/>
            <a:ext cx="44450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91D2E"/>
                </a:solidFill>
                <a:latin typeface="Georgia"/>
              </a:rPr>
              <a:t>Frodl, A. (2019). Management von Arztpraxen: Kosten senken, Effizienz steigern. Springer Gabler.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3111500"/>
            <a:ext cx="50800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3175000"/>
            <a:ext cx="406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2B56"/>
                </a:solidFill>
                <a:latin typeface="Courier New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7600" y="3175000"/>
            <a:ext cx="44450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91D2E"/>
                </a:solidFill>
                <a:latin typeface="Georgia"/>
              </a:rPr>
              <a:t>Gumpert, G. &amp; Kausch, M. (2022). Recht der freien Berufe (3. Aufl.). C.H. Beck.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3746500"/>
            <a:ext cx="50800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2400" y="2540000"/>
            <a:ext cx="406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2B56"/>
                </a:solidFill>
                <a:latin typeface="Courier New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0400" y="2540000"/>
            <a:ext cx="44450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91D2E"/>
                </a:solidFill>
                <a:latin typeface="Georgia"/>
              </a:rPr>
              <a:t>Institut der Wirtschaftsprüfer in Deutschland (IDW). (2021). IDW S5: Grundsätze zur Bewertung von Arzt- und Zahnarztpraxen sowie psychotherapeutischen Praxen.…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02400" y="3111500"/>
            <a:ext cx="50800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2400" y="3175000"/>
            <a:ext cx="406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2B56"/>
                </a:solidFill>
                <a:latin typeface="Courier New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400" y="3175000"/>
            <a:ext cx="44450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91D2E"/>
                </a:solidFill>
                <a:latin typeface="Georgia"/>
              </a:rPr>
              <a:t>Kassenärztliche Bundesvereinigung (KBV). (2024). Honorarbericht 2024. KBV.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02400" y="3746500"/>
            <a:ext cx="50800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254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8F8FA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11582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spc="100">
                <a:solidFill>
                  <a:srgbClr val="F8F8FA"/>
                </a:solidFill>
                <a:latin typeface="Courier New"/>
              </a:rPr>
              <a:t>QUELLENAPPARAT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50000"/>
            <a:ext cx="1158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606070"/>
                </a:solidFill>
                <a:latin typeface="Courier New"/>
              </a:rPr>
              <a:t>26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89000"/>
            <a:ext cx="508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spc="100">
                <a:solidFill>
                  <a:srgbClr val="7B7FA0"/>
                </a:solidFill>
                <a:latin typeface="Courier New"/>
              </a:rPr>
              <a:t>QUELLENAPPARAT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174750"/>
            <a:ext cx="1097280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0" i="0">
                <a:solidFill>
                  <a:srgbClr val="F8F8FA"/>
                </a:solidFill>
                <a:latin typeface="Georgia"/>
              </a:rPr>
              <a:t>Quellen­apparat.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286000"/>
            <a:ext cx="10972800" cy="6350"/>
          </a:xfrm>
          <a:prstGeom prst="rect">
            <a:avLst/>
          </a:prstGeom>
          <a:solidFill>
            <a:srgbClr val="404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2413000"/>
            <a:ext cx="508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4D8"/>
                </a:solidFill>
                <a:latin typeface="Courier New"/>
              </a:rPr>
              <a:t>Anderson, L. W. &amp; Krathwohl, D. R. (Hrsg.). (2001). A taxonomy for learning, teaching, and assessing: A revision of Bloom's taxonomy of educational objectives. Longman.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921000"/>
            <a:ext cx="508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4D8"/>
                </a:solidFill>
                <a:latin typeface="Courier New"/>
              </a:rPr>
              <a:t>Bundesanstalt für Finanzdienstleistungsaufsicht [BaFin]. (2017/2021). Mindestanforderungen an das Risikomanagement (MaRisk). BaFin.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429000"/>
            <a:ext cx="508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4D8"/>
                </a:solidFill>
                <a:latin typeface="Courier New"/>
              </a:rPr>
              <a:t>Kirkpatrick, D. L. (1994). Evaluating training programs: The four levels. Berrett-Koehler Publishers.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937000"/>
            <a:ext cx="508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4D8"/>
                </a:solidFill>
                <a:latin typeface="Courier New"/>
              </a:rPr>
              <a:t>Petersen, M. A. &amp; Rajan, R. G. (1994). The benefits of lending relationships: Evidence from small business data. Journal of Finance, 49(1), 3–37.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445000"/>
            <a:ext cx="508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4D8"/>
                </a:solidFill>
                <a:latin typeface="Courier New"/>
              </a:rPr>
              <a:t>Stiglitz, J. E. &amp; Weiss, A. (1981). Credit rationing in markets with imperfect information. American Economic Review, 71(3), 393–410.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953000"/>
            <a:ext cx="508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4D8"/>
                </a:solidFill>
                <a:latin typeface="Courier New"/>
              </a:rPr>
              <a:t>Bundesministerium der Finanzen [BMF]. (2023). Einkommensteuergesetz (EStG): § 18 Einkünfte aus selbstständiger Arbeit. Bundesministerium der Finanzen. Abgerufen von https://www.bundesfinanzministerium.de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5461000"/>
            <a:ext cx="508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4D8"/>
                </a:solidFill>
                <a:latin typeface="Courier New"/>
              </a:rPr>
              <a:t>Dreyfus, S. E. &amp; Dreyfus, H. L. (1986). Mind over machine: The power of human intuition and expertise in the era of the computer. Free Press.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0" y="2413000"/>
            <a:ext cx="508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4D8"/>
                </a:solidFill>
                <a:latin typeface="Courier New"/>
              </a:rPr>
              <a:t>Frodl, A. (2019). Management von Arztpraxen: Kosten senken, Effizienz steigern. Springer Gabler.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0" y="2921000"/>
            <a:ext cx="508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4D8"/>
                </a:solidFill>
                <a:latin typeface="Courier New"/>
              </a:rPr>
              <a:t>Gumpert, G. &amp; Kausch, M. (2022). Recht der freien Berufe (3. Aufl.). C.H. Beck.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0" y="3429000"/>
            <a:ext cx="508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4D8"/>
                </a:solidFill>
                <a:latin typeface="Courier New"/>
              </a:rPr>
              <a:t>Institut der Wirtschaftsprüfer in Deutschland [IDW]. (2021). IDW S5: Grundsätze zur Bewertung von Arzt- und Zahnarztpraxen sowie psychotherapeutischen Praxen. IDW Verlag.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0" y="3937000"/>
            <a:ext cx="508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4D8"/>
                </a:solidFill>
                <a:latin typeface="Courier New"/>
              </a:rPr>
              <a:t>Kassenärztliche Bundesvereinigung [KBV]. (2024). Honorarbericht 2024: Vergütungsstrukturen und Regelleistungsvolumina im GKV-System. KBV.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0" y="4445000"/>
            <a:ext cx="508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4D8"/>
                </a:solidFill>
                <a:latin typeface="Courier New"/>
              </a:rPr>
              <a:t>Kassenzahnärztliche Bundesvereinigung [KZBV]. (2023). KZBV Jahrbuch 2023: Statistische Basisdaten zur vertragszahnärztlichen Versorgung. KZBV.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0" y="4953000"/>
            <a:ext cx="508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4D8"/>
                </a:solidFill>
                <a:latin typeface="Courier New"/>
              </a:rPr>
              <a:t>ABDA – Bundesvereinigung Deutscher Apothekerverbände. (2023). Apothekenreport 2023: Wirtschaftliche Situation der deutschen Apotheken. ABDA.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508000"/>
            <a:ext cx="3175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46100"/>
            <a:ext cx="11582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B7FA0"/>
                </a:solidFill>
                <a:latin typeface="Courier New"/>
              </a:rPr>
              <a:t>Ende · v0.3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143000"/>
            <a:ext cx="10972800" cy="368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0" b="0" i="0">
                <a:solidFill>
                  <a:srgbClr val="191D2E"/>
                </a:solidFill>
                <a:latin typeface="Georgia"/>
              </a:rPr>
              <a:t>Danke.
Fragen?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5143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5270500"/>
            <a:ext cx="571500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191D2E"/>
                </a:solidFill>
                <a:latin typeface="Georgia"/>
              </a:rPr>
              <a:t>Das vollständige Modul «Branchenvertiefung Heilberufe» ist auf FKB Campus verfügbar — 4 Lernziele, Praxisfall und Quellenapparat.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0" y="5270500"/>
            <a:ext cx="2413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spc="100">
                <a:solidFill>
                  <a:srgbClr val="7B7FA0"/>
                </a:solidFill>
                <a:latin typeface="Courier New"/>
              </a:rPr>
              <a:t>Kontakt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0" y="5499100"/>
            <a:ext cx="2413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91D2E"/>
                </a:solidFill>
                <a:latin typeface="Georgia"/>
              </a:rPr>
              <a:t>info@benedikt-zoller.de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98000" y="5270500"/>
            <a:ext cx="2184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spc="100">
                <a:solidFill>
                  <a:srgbClr val="7B7FA0"/>
                </a:solidFill>
                <a:latin typeface="Courier New"/>
              </a:rPr>
              <a:t>Modul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98000" y="5499100"/>
            <a:ext cx="21844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91D2E"/>
                </a:solidFill>
                <a:latin typeface="Georgia"/>
              </a:rPr>
              <a:t>M07 · Sparringspartner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