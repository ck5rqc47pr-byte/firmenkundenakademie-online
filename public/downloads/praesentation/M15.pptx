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  <a:latin typeface="Arial"/>
              </a:rPr>
              <a:t>M15  ·  K-04 Vertrieb &amp; Ertragsoptimierung  ·  Zielstufe: Stratege  ·  1 Tag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Marktbearbeitungsstrategie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D6F0"/>
                </a:solidFill>
                <a:latin typeface="Arial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Trainer-Präsentation  ·  v0.4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804672"/>
            <a:ext cx="1161288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Das Marktpotenzial in einem selbstgewählten Zielsegment analysieren und adressierbare Neukunden-Opportunitäten schätzen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Wettbewerbsposition der eigenen Bank im Zielsegment anhand von Stärken, Schwächen und Differenzierungspotenzialen bewerten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Eine Marktbearbeitungsstrategie mit Zielkunden-Kriterien, Wertversprechen und Anspracheansatz entwickeln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Eignung verschiedener Neukundenansprache-Kanäle für das Zielsegment bewerten und die zwei effektivsten wählen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Einen strukturierten Jahresplan mit Zielgrößen, Maßnahmen und Meilensteinen erstellen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Vom reaktiven zum strategischen Vertrieb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M15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Vom reaktiven zum strategischen Vertrieb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explizite, schriftlich dokumentierte: </a:t>
            </a:r>
            <a:r>
              <a:rPr sz="1700">
                <a:solidFill>
                  <a:srgbClr val="1A1A1A"/>
                </a:solidFill>
                <a:latin typeface="Arial"/>
              </a:rPr>
              <a:t>Strategie für ihr Zielsegment. Viele weitere arbeiten implizit strategisch – z. B. durch fokussierte Maßnahmenpläne in Vertriebsplanungsgesprächen – ohne dies formell als…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Marktbearbeitungsstrategie: </a:t>
            </a:r>
            <a:r>
              <a:rPr sz="1700">
                <a:solidFill>
                  <a:srgbClr val="1A1A1A"/>
                </a:solidFill>
                <a:latin typeface="Arial"/>
              </a:rPr>
              <a:t>beantwortet vier Fragen: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Wen?: </a:t>
            </a:r>
            <a:r>
              <a:rPr sz="1700">
                <a:solidFill>
                  <a:srgbClr val="1A1A1A"/>
                </a:solidFill>
                <a:latin typeface="Arial"/>
              </a:rPr>
              <a:t>– Welches Kundensegment bearbeite ich mit Priorität? 2.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Womit?: </a:t>
            </a:r>
            <a:r>
              <a:rPr sz="1700">
                <a:solidFill>
                  <a:srgbClr val="1A1A1A"/>
                </a:solidFill>
                <a:latin typeface="Arial"/>
              </a:rPr>
              <a:t>– Was ist mein Wertversprechen für dieses Segment? 3.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Wie?: </a:t>
            </a:r>
            <a:r>
              <a:rPr sz="1700">
                <a:solidFill>
                  <a:srgbClr val="1A1A1A"/>
                </a:solidFill>
                <a:latin typeface="Arial"/>
              </a:rPr>
              <a:t>– Über welche Kanäle und Maßnahmen erreiche ich diese Kunden? 4.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Wann?: </a:t>
            </a:r>
            <a:r>
              <a:rPr sz="1700">
                <a:solidFill>
                  <a:srgbClr val="1A1A1A"/>
                </a:solidFill>
                <a:latin typeface="Arial"/>
              </a:rPr>
              <a:t>– Welche Meilensteine und Zielgrößen setze ich uns?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Segmentierungskriterien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M15 · 4.2 Marktsegmentierung im Firmenkundengeschäft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Segmentierungskriterien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Ausprägung (Beispiele)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Umsatzgröße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Micro (&lt; 500k), Klein (500k–2M), Mittel (2–10M), Groß (&gt; 10M) (Richtwerte – Ihre Bank hat ggf. eigene BVR-konforme Größenklassen; bitte mit Ihrer Vertriebssteuerung abgleichen)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Branche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Verarbeitendes Gewerbe, Bau/Handwerk, Landwirtschaft, Handel, Dienstleistung, Heilberufe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Region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Kerngeschäftsgebiet, Randzone, Nachbarregion Wettbewerb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Lebenszyklus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Gründer, Wachstum, Konsolidierung, Nachfolge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Bankbeziehung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Hauptbankverbindung (uns), Nebenbankverbindung, Neukunde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Strategisches Profil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Kapitalbedarf hoch, Investitionsbereitschaft hoch, Verbundpotenzial hoch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Das Scoring-Modell zur Segmentpriorisierung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M15 · 4.2 Marktsegmentierung im Firmenkundengeschäft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Das Scoring-Modell zur Segmentpriorisierung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Gewichtung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A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B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C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Marktgröße (Anzahl Unternehmen in Region)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Durchschnittlicher Ertragspotenzial (DB)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30 %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Eigene Expertise/Stärke in diesem Segment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Wettbewerbsintensität (gering = gut)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Gesamtscore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Wie groß ist mein adressierbarer Markt?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M15 · 4.3 Marktpotenzialanalyse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Wie groß ist mein adressierbarer Markt?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Quelle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Information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Destatis / Statistisches Landesamt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Unternehmensanzahl nach Branche, Größe, Region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IHK / HWK Konjunkturbericht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Branchendaten, Investitionsklima, Mitgliederzahlen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agree CRM-Auswertung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Bestehende Firmenkunden nach Segment – wer fehlt noch?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BVR Regionalstatistik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Marktanteile und Segmentdaten nach Bundesland/Region (Verbund-Intranet)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Unternehmensregister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Neugründungen, Inhaberwechsel, Insolvenzaustritte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Verbandsmitgliederlisten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Zielunternehmen in Branchenverbänden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SWOT im Firmenkundensegment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M15 · 4.4 Strategische Positionierung: Stärken-Schwächen vs. 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SWOT im Firmenkundensegment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Intern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Extern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Positiv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Stärken: Regionalpräsenz, Verbundpartner-Breite, Kundennähe, Entscheidungsschnelligkeit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Chancen: Digitalisierungsbedarf Mittelstand, Nachfolgewelle, Transformationsfinanzierungen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Negativ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Schwächen: Teils geringere Produkttiefe als Großbanken, begrenzte Spezialisten-Ressourcen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Risiken: Direktbanken, Fintechs, überregionale Spezialfinanzierer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Wertversprechen formulieren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M15 · 4.4 Strategische Positionierung: Stärken-Schwächen vs. 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Wertversprechen formulieren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Spezifisch: </a:t>
            </a:r>
            <a:r>
              <a:rPr sz="1700">
                <a:solidFill>
                  <a:srgbClr val="1A1A1A"/>
                </a:solidFill>
                <a:latin typeface="Arial"/>
              </a:rPr>
              <a:t>(nicht „wir sind die beste Bank"): „Für Handwerksbetriebe in der Region sind wir der Partner, der Finanzierungsentscheidungen in 48 Stunden trifft."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Belegbar: </a:t>
            </a:r>
            <a:r>
              <a:rPr sz="1700">
                <a:solidFill>
                  <a:srgbClr val="1A1A1A"/>
                </a:solidFill>
                <a:latin typeface="Arial"/>
              </a:rPr>
              <a:t>Konkrete Referenzen, Bearbeitungszeiten, Verbundpartner-Einbindung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Differenzierend: </a:t>
            </a:r>
            <a:r>
              <a:rPr sz="1700">
                <a:solidFill>
                  <a:srgbClr val="1A1A1A"/>
                </a:solidFill>
                <a:latin typeface="Arial"/>
              </a:rPr>
              <a:t>Was kann ich, was die Sparkasse oder Commerzbank nicht kann?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Welche Kanäle funktionieren wirklich?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M15 · 4.5 Neukundenansprache: Kanäle und Maßnahmen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Welche Kanäle funktionieren wirklich?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Kanal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Beschreibung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Typische Konversionsrate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Stärke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Aufwand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Persönliche Empfehlung (Bestandskunde, StB)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Bestandskunde oder Steuerberater empfiehlt aktiv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20–30 %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Vertrauen bereits vorhanden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IHK / Kammer / Verband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Netzwerkveranstaltungen, Mitgliederlisten, Gemeinschaftsaktionen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10–20 %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Breite Zielgruppe, Glaubwürdigkeit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Hoch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Messe / Fachveranstaltung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Direkte Ansprache an Branchenveranstaltungen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5–15 %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Direkt und persönlich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Hoch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Kaltakquise (Telefon/Brief)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Unaufgeforderter Erstkontakt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1–5 %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Skalierbar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Niedrig – ⚠️ rechtl. Grenzen beachten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Digitale Kampagne (Social, Website)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Online-Präsenz, LinkedIn, Website-Content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1–3 %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Reichweite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Partnervertrieb (Verbundpartner-Empfehlung)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Co-Akquise mit R+V, Union Investment, Schwäbisch Hall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15–25 %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Qualifizierter Lead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Niedrig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Anlass-Brief / persönliches Schreiben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Persönlicher Brief mit konkretem fachlichen Mehrwert (Branchenentwicklung, Förderprogramm, Veranstaltungseinladung)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~5–10 %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Rechtssicher, persönlich, skalierbar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Empfehlungsmanagement systematisieren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M15 · 4.5 Neukundenansprache: Kanäle und Maßnahmen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Empfehlungsmanagement systematisieren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Identifizieren: </a:t>
            </a:r>
            <a:r>
              <a:rPr sz="1700">
                <a:solidFill>
                  <a:srgbClr val="1A1A1A"/>
                </a:solidFill>
                <a:latin typeface="Arial"/>
              </a:rPr>
              <a:t>Welche meiner Bestandskunden sind Meinungsführer in ihrem Branchenumfeld? 2.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Beziehung vertiefen: </a:t>
            </a:r>
            <a:r>
              <a:rPr sz="1700">
                <a:solidFill>
                  <a:srgbClr val="1A1A1A"/>
                </a:solidFill>
                <a:latin typeface="Arial"/>
              </a:rPr>
              <a:t>Diese Kunden erhalten besondere Aufmerksamkeit – nicht wegen der Empfehlung, sondern wegen ihres Werts. 3.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Aktiv bitten: </a:t>
            </a:r>
            <a:r>
              <a:rPr sz="1700">
                <a:solidFill>
                  <a:srgbClr val="1A1A1A"/>
                </a:solidFill>
                <a:latin typeface="Arial"/>
              </a:rPr>
              <a:t>Am Ende eines erfolgreichen Gesprächs: „Gibt es Unternehmen in Ihrem Umfeld, die unsere Zusammenarbeit kennenlernen sollten?" 4.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Danken und schließen: </a:t>
            </a:r>
            <a:r>
              <a:rPr sz="1700">
                <a:solidFill>
                  <a:srgbClr val="1A1A1A"/>
                </a:solidFill>
                <a:latin typeface="Arial"/>
              </a:rPr>
              <a:t>Rückmeldung geben, ob der Kontakt erfolgreich war.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Arbeitsblatt A: Segmentpriorisierung – Scoring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M15 · 4.9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Arbeitsblatt A: Segmentpriorisierung – Scoring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Gewichtung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1: _____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2: _____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3: _____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Marktgröße in Region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Ertragspotenzial (DB)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30 %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Eigene Stärke/Expertise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Wettbewerbsintensität (inv.)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20 %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Gesamtscore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Arbeitsblatt B: Marktbearbeitungs-Jahresplan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M15 · 4.9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Arbeitsblatt B: Marktbearbeitungs-Jahresplan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Quartal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Maßnahme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Kanal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Messgröße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D6F0"/>
                </a:solidFill>
                <a:latin typeface="Arial"/>
              </a:rPr>
              <a:t>PRAXISTRANSFER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Bewerten Sie Ihre Fortschritte ehrlich.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Nächste Module: M16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M15 · Marktbearbeitungsstrategie  ·  v0.4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