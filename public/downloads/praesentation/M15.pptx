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JetBrains Mono"/>
              </a:rPr>
              <a:t>FKB CAMPUS  ·  FIRMENKUNDENAKADEMIE  ·  M15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ource Serif 4"/>
              </a:rPr>
              <a:t>Marktbearbeitungsstrategie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Source Serif 4"/>
              </a:rPr>
              <a:t>Zielsegmente definieren, Marktpotenziale analysieren und eine eigene Vertriebsstrategie entwickeln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K-04 Vertrieb &amp; Ertragsoptimierung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v0.4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JetBrains Mono"/>
              </a:rPr>
              <a:t>Benedikt Zoller Coaching  ·  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JetBrains Mono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LERNZIELE  ·  M15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Source Serif 4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Marktpotenzial in einem selbstgewählten Zielsegment analysieren und adressierbare Neukunden-Opportunitäten schätzen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Wettbewerbsposition der eigenen Bank im Zielsegment anhand von Stärken, Schwächen und Differenzierungspotenzialen bewerten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Marktbearbeitungsstrategie mit Zielkunden-Kriterien, Wertversprechen und Anspracheansatz entwickeln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Eignung verschiedener Neukundenansprache-Kanäle für das Zielsegment bewerten und die zwei effektivsten wählen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strukturierten Jahresplan mit Zielgrößen, Maßnahmen und Meilensteinen erstellen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Vom reaktiven zum strategischen Vertrieb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Eine Marktbearbeitungsstrategie beantwortet vier Fragen: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Wen? – Welches Kundensegment bearbeite ich mit Priorität?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Womit? – Was ist mein Wertversprechen für dieses Segment?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Wie? – Über welche Kanäle und Maßnahmen erreiche ich diese Kunden?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Wann? – Welche Meilensteine und Zielgrößen setze ich uns?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## 4.2 Marktsegmentierung im Firmenkundengeschäft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Source Serif 4"/>
              </a:rPr>
              <a:t>Strategie-Landkarte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JetBrains Mono"/>
              </a:rPr>
              <a:t>Schaubild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Segmentierungskriterien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Nicht jeder Firmenkunde ist gleich attraktiv. Eine sinnvolle Segmentierung kombiniert mehrere Kriterien: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Empfehlung: Wählen Sie maximal zwei Primärsegmente. Breite schlägt Tiefe nur in sehr seltenen Fällen.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Das Scoring-Modell zur Segmentpriorisierung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Ein einfaches Scoring-Modell hilft bei der Auswahl des Primärsegments: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Bewertung je Kriterium: 1 (schwach) bis 5 (sehr stark).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## 4.3 Marktpotenzialanalyse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Wie groß ist mein adressierbarer Markt?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Vor dem strategischen Einstieg in ein Segment steht die Potenzialschätzung. Die Frage: Wie viele Unternehmen im Zielsegment gibt es in meiner Region, und wie viele davon betreuen wir noch nicht?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Datenquellen für die Potenzialschätzung: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Vereinfachte Potenzialrechnung: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Zielunternehmen in Region: 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Davon bereits Kunden: 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Adressierbares Neukundenpotenzial: X − 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Realistisch erreichbar in 12 Monaten (Marktdurchdringungsrate 2–5 %): Z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Praxistipp: Unterschätzen Sie die bestehenden Daten in agree nicht. Eine saubere Branchencodierung und ein aktuelles CRM sind die Basis jeder Potenzialanalyse.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## 4.4 Strategische Positionierung: Stärken-Schwächen vs. Wettbewerb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SWOT im Firmenkundensegment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Wertversprechen formulieren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Das Wertversprechen (Value Proposition) beantwortet: Warum sollte ein Unternehmen aus meinem Zielsegment zu uns wechseln – oder bleiben?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Ein wirksames Wertversprechen im Firmenkundengeschäft ist: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Spezifisch (nicht „wir sind die beste Bank"): „Für Handwerksbetriebe in der Region sind wir der Partner, der Finanzierungsentscheidungen in 48 Stunden trifft."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Belegbar: Konkrete Referenzen, Bearbeitungszeiten, Verbundpartner-Einbindung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Differenzierend: Was kann ich, was die Sparkasse oder Commerzbank nicht kann?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## 4.5 Neukundenansprache: Kanäle und Maßnahmen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Welche Kanäle funktionieren wirklich?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Empfehlungsmanagement systematisieren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Empfehlungen entstehen nicht zufällig. Ein aktives Empfehlungsmanagement umfasst: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Identifizieren: Welche meiner Bestandskunden sind Meinungsführer in ihrem Branchenumfeld?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Beziehung vertiefen: Diese Kunden erhalten besondere Aufmerksamkeit – nicht wegen der Empfehlung, sondern wegen ihres Werts.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Aktiv bitten: Am Ende eines erfolgreichen Gesprächs: „Gibt es Unternehmen in Ihrem Umfeld, die unsere Zusammenarbeit kennenlernen sollten?"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Danken und schließen: Rückmeldung geben, ob der Kontakt erfolgreich war.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## 4.6 Praxiscase: Thomas Gruber entwickelt seine Strategie für den Agrar-Markt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Ausgangssituation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Thomas entwickelt seine Marktbearbeitungsstrategie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Schritt 1: Segmentpriorisierung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Schritt 2: Marktpotenzial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Schritt 3: Wertversprechen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„Für landwirtschaftliche Betriebe in [Region] sind wir der Agrar-Spezialist der VR-Bank: schnelle Investitionsfinanzierungen, GAP-Expertise und ein Netzwerk in die wichtigsten Branchenverbände."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Arbeitsblatt A: Segmentpriorisierung –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Meine drei Kandidatensegmente: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Mein Primärsegment: 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Arbeitsblatt B: Marktbearbeitungs-Jahresplan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Zielsegment: ___________________________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Marktpotenzial: ___ Zielbetriebe – ___ bestehende Kunden = ___ Neukunden-Potenzial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Mein Wertversprechen (in einem Satz):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___________________________________________________________________________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Jahreszielsetzung: ___ Neukunden / ___ EUR Neuvolumen / ___ % Wallet-Share-Steigerung Bestand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Abstimmung mit Führungskraft: ○ Ja, abgestimmt am: ______ ○ Noch ausstehend bis: 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# 5. PRAXISTRANSFER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