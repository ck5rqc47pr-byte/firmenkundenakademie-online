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M15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Marktbearbeitungsstrategie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 Tag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Das Marktpotenzial in einem selbstgewählten Zielsegment analysieren und adressierbare Neukunden-Opportunitäten schätzen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Wettbewerbsposition der eigenen Bank im Zielsegment anhand von Stärken, Schwächen und Differenzierungspotenzialen bewerten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 Marktbearbeitungsstrategie mit Zielkunden-Kriterien, Wertversprechen und Anspracheansatz entwickeln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Eignung verschiedener Neukundenansprache-Kanäle für das Zielsegment bewerten und die zwei effektivsten wählen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Einen strukturierten Jahresplan mit Zielgrößen, Maßnahmen und Meilensteinen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Vom reaktiven zum strategischen Vertrieb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Vom reaktiven zum strategischen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Die zeb-Firmenkundenstudie (2020) zeigt: VR-Banken gewinnen die meisten Neukunden im Firmenkundensegment noch immer durch Zufallskontakte, Empfehlungen ohne…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Das Potenzial liegt weniger darin, Intuition durch Dokumente zu ersetzen, als vielmehr darin, die eigene strategische Logik sichtbar zu machen – für sich…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Eine Marktbearbeitungsstrategie beantwortet vier Fragen: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1. Wen? – Welches Kundensegment bearbeite ich mit Priorität? 2. Womit? – Was ist mein Wertversprechen für dieses Segment? 3. Wie? – Über welche Kanäle und…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Porter (1980; 1985) unterscheidet drei grundlegende Wettbewerbsstrategien: Kostenführerschaft, Differenzierung und Fokussierung. Im Firmenkundengeschäft einer…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MARKTSEGMENTIERUNG IM FIRMENKUNDENGESCHÄFT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Marktsegmentierung im Firmenkundengeschäft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Segmentierungskriterien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Segmentierungskriterien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Nicht jeder Firmenkunde ist gleich attraktiv. Eine sinnvolle Segmentierung kombiniert mehrere Kriterien: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Ausprägung (Beispiele)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Umsatzgröße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Micro (&lt; 500k), Klein (500k–2M), Mittel (2–10M), Groß (&gt; 10M) (Richtwerte – Ihre Bank hat ggf. eigene BVR-konforme Größenklassen; bitte mit Ihrer Vertriebssteuerung abgleichen)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Verarbeitendes Gewerbe, Bau/Handwerk, Landwirtschaft, Handel, Dienstleistung, Heilberufe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Kerngeschäftsgebiet, Randzone, Nachbarregion Wettbewerb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Lebenszyklus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Gründer, Wachstum, Konsolidierung,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Hauptbankverbindung (uns), Nebenbankverbindung, Neukunde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Strategisches Profil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Kapitalbedarf hoch, Investitionsbereitschaft hoch, Verbundpotenzial 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Das Scoring-Modell zur Segmentpriorisierung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Ein einfaches Scoring-Modell hilft bei der Auswahl des Primärsegments: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Segment 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Segment 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Segment C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Marktgröße (Anzahl Unternehmen in Region)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Durchschnittlicher Ertragspotenzial (DB)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Eigene Expertise/Stärke in diesem Segment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Wettbewerbsintensität (gering = gut)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Gesamtscore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MARKTPOTENZIALANALYSE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Marktpotenzialanalyse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Wie groß ist mein adressierbarer Markt?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Wie groß ist mein adressierbarer Markt?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Information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Destatis / Statistisches Landesamt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Unternehmensanzahl nach Branche, Größe,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IHK / HWK Konjunkturbericht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Branchendaten, Investitionsklima, Mitgliederzahlen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CRM-Auswertung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Bestehende Firmenkunden nach Segment – wer fehlt noch?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BVR Regionalstatistik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Marktanteile und Segmentdaten nach Bundesland/Region (Verbund-Intranet)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Unternehmensregister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Neugründungen, Inhaberwechsel, Insolvenzaustritte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Verbandsmitgliederlisten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Zielunternehmen in Branchenverbänden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STRATEGISCHE POSITIONIERUNG: STÄRKEN-SCHWÄCHEN VS. WETTBEWERB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Strategische Positionierung: Stärken-Schwächen vs. Wettbewerb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SWOT im Firmenkundensegment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SWOT im Firmenkundensegment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Schreyögg &amp; Koch (2020) betonen, dass strategische Positionierung nur gelingt, wenn man die eigenen Stärken realistisch einschätzt und den Wettbewerb kennt. Eine segmentbezogene SWOT-Analyse liefert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Intern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Extern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Positiv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Stärken: Regionalpräsenz, Verbundpartner-Breite, Kundennähe, Entscheidungsschnelligkeit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Chancen: Digitalisierungsbedarf Mittelstand, Nachfolgewelle, Transformationsfinanzierungen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Negativ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Schwächen: Teils geringere Produkttiefe als Großbanken, begrenzte Spezialisten-Ressourcen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Risiken: Direktbanken, Fintechs, überregionale Spezialfinanzierer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Wertversprechen formulieren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Spezifisch (nicht „wir sind die beste Bank"): „Für Handwerksbetriebe in der Region sind wir der Partner, der Finanzierungsentscheidungen in 48 Stunden trifft."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Belegbar: Konkrete Referenzen, Bearbeitungszeiten, Verbundpartner-Einbindung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Differenzierend: Was kann ich, was die Sparkasse oder Commerzbank nicht kann?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NEUKUNDENANSPRACHE: KANÄLE UND MASSNAHMEN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Neukundenansprache: Kanäle und Maßnahmen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Welche Kanäle funktionieren wirklich?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Welche Kanäle funktionieren wirklich?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Roland Berger (2024) zeigt: Im Mittelstandssegment sind persönliche Empfehlungen (Steuerberater, Unternehmerkreis) mit Abstand der effektivste Kanal für Neukundengewinnung. Digitale Kanäle gewinnen 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Typische Konversionsrate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Stärke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Aufwand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Empfehlung (Bestandskunde, StB)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Bestandskunde oder Steuerberater empfiehlt aktiv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20–30 %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Vertrauen bereits vorhanden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IHK / Kammer / Verband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Netzwerkveranstaltungen, Mitgliederlisten, Gemeinschaftsaktionen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Breite Zielgruppe, Glaubwürdigkeit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Messe / Fachveranstaltung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Direkte Ansprache an Branchenveranstaltungen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5–15 %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Direkt und persönlich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Kaltakquise (Telefon/Brief)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Unaufgeforderter Erstkontakt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Skalierbar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⚠️ rechtl. Grenzen beachten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Digitale Kampagne (Social, Website)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Online-Präsenz, LinkedIn, Website-Content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1–3 %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Reichweite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Partnervertrieb (Verbundpartner-Empfehlung)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Co-Akquise mit R+V, Union Investment, Schwäbisch Hall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15–25 %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Qualifizierter Lead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Anlass-Brief / persönliches Schreiben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Persönlicher Brief mit konkretem fachlichen Mehrwert (Branchenentwicklung, Förderprogramm, Veranstaltungseinladung)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~5–10 %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Rechtssicher, persönlich, skalierbar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Empfehlungsmanagement systematisieren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Empfehlungen entstehen nicht zufällig. Ein aktives Empfehlungsmanagement umfasst: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Identifizieren: Welche meiner Bestandskunden sind Meinungsführer in ihrem Branchenumfeld? 2. Beziehung vertiefen: Diese Kunden erhalten besondere Aufmerksamkeit – nicht wegen der Empfehlung,…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PRAXISCASE: THOMAS GRUBER ENTWICKELT SEINE STRATEGIE FÜR DEN AGRAR-MARKT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PRAXISCASE: THOMAS GRUBER ENTWICKELT SEINE STRATEGIE FÜR DEN AGRAR-MARKT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Praxiscase: Thomas Gruber entwickelt seine Strategie für den Agrar-Markt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4.7 TEAMKOORDINATION: DOPPELBEARBEITUNG VERMEIDEN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4.7 TEAMKOORDINATION: DOPPELBEARBEITUNG VERMEIDEN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4.7 Teamkoordination: Doppelbearbeitung vermeiden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4.9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4.9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Segmentpriorisierung – Scoring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VIII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Segmentpriorisierung –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Meine drei Kandidatensegmente: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Segment 1: _____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Segment 2: _____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Segment 3: _____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Marktgröße in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Ertragspotenzial (DB)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Eigene Stärke/Expertise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Wettbewerbsintensität (inv.)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Gesamtscore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VIII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B: Marktbearbeitungs-Jahresplan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Zielsegment: ___________________________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Quartal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Messgröße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Strategie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Porter, M.E. (1985): Competitive Advantage – Kapitel 1–3: Grundlagen der Wettbewerbsstrategie und Differenzierung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Schreyögg, G. &amp; Koch, J. (2020): Management – Grundlagen der Unternehmensführung – Strategiekapitel, SWOT-Methodik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zeb consulting (2020): Firmenkundenstudie 8.0 – Segmentierungsdaten, Marktdurchdringung VR-Banken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Roland Berger (2024): KMU-Banking: Firmenkundenberater 2.0 – Neukundenakquise-Effektivität, Kanalvergleich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agree CRM-Handbuch: Segmentierung und Potenzialauswertungen im Firmenkundensegment (Atruvia Intranet)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BVR Vertriebsleitfaden: Marktbearbeitungsstrategien für Volksbanken und Raiffeisenbanken (Verbund-Intranet)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STRATEGIE &amp;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STRATEGIE &amp;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Strategie &amp; Management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 Roland Berger.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«Marktbearbeitungsstrategie»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M15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