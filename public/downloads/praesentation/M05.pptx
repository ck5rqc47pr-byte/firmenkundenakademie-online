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M05  ·  K-01 Finanzanalyse &amp; Kreditexpertise  ·  Strategischer Partner  ·  1 Tag (8 Stunden)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Branchenspezifische Risikosysteme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Systematische Branchenrisikoanalyse als Basis für differenzierte Kreditentscheidungen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v0.3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Branchenspezifische Risikotreiber anhand von Finanzkennzahlen und Marktdaten analysieren und gegenüber gesamtwirtschaftlichen Trends einordnen (Bloom 4)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Das Gesamtrisikoprofil eines KMU durch kritische Gegenüberstellung von Branchencharakteristiken mit unternehmensspezifischen Kennzahlen bewerten (Bloom 5)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Kreditanträge branchenübergreifend vergleichend beurteilen und Chancen wie Risiken transparent kommunizieren (Bloom 5)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Ein individualisiertes Branchenrisiko-Scoring-Modell für die eigene Geschäftsregion entwickeln (Bloom 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4.1.1 Porter's Five Forces als Analysegerüst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Kreditrelevanz: Hohe Markteintrittsbarrieren → geringeres Überangebot → stabilere Margen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Kreditrelevanz: Konzentrierte Lieferanten → Rohstoffpreisrisiko → Margenvolatilität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Kreditrelevanz: Wenige Großkunden → Konzentrationsrisiko → erhöhte Insolvenzwahrscheinlichkeit bei Kundenverlust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Kreditrelevanz: Digitalisierung, E-Commerce, New Work können traditionelle Branchen destabilisieren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Kreditrelevanz: Hohe Rivalität → Margendruck → Kreditfähigkeitsrisiko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4.1.2 WZ-Klassifikation und ihre Bedeutung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Baugewerbe (WZ 41–43): Erhöhtes Gewicht auf Auftragspolster, Baupreisindex, Fertigstellungsgrad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Einzelhandel (WZ 47): Erhöhtes Gewicht auf Flächenumsatz, Lagerumschlag, Online-Penetrationsquote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Verarbeitendes Gewerbe (WZ 10–32): Erhöhtes Gewicht auf Auslastungsgrad, Rohstoffkosten, Exportquote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4.1.3 Zyklizität: Prozyklische vs. Antizyklische Sektoren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Baugewerbe (stark abhängig von Zinsen und Kaufkraft)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Automobilzulieferer und Maschinenbau (Auftragseingänge folgen der Konjunktur)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Luxushandel und Gastgewerbe (diskretionäre Ausgaben)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Lebensmittelhandel (konstante Grundnachfrage)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Gesundheitswesen und Apotheken (versicherungsfinanziert, kaum einkommensabhängig)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4.1.4 Regulatorische Verankerung: MaRisk BTO 1.2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Mindestanforderungen an das Risikomanagement (MaRisk) der BaFin verpflichten alle Kreditinstitute,…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„Die Geschäftsarten, Regionen und Branchen sind nach fachlich begründeten Kriterien einzuordnen, wobei Entwicklungen am…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Das Risikoklassifizierungssystem einer Bank muss dokumentieren, dass die Branchenwahl explizit berücksichtigt wird und…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4.2.1 Baugewerbe und Bauträger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Projektgebundenheit: Jedes Objekt ist ein Einzelprojekt mit eigenen Fertigstellungs- und Kostenrisiken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Bauhandwerk: Umsätze 300.000–3 Mio. €, Eigenkapitalquote 10–20 %; Bauträger: Umsätze 1–20 Mio. €, EK-Quote oft 15–30 % (aber volumenabhängig)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Saisonalität: Wintermonate schwächer, Frühjahr/Sommer stärker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EBIT-Marge: 3–6 % (branchentypisch niedrig wg. Wettbewerbsintensität)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Eigenkapitalquote: 12–18 %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Kapitalumschlag: 0,8–1,2x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4.2.2 Einzelhandel und Handel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Hohe Disruption durch E-Commerce und Digitalisierung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Flächen- und Mietgebundenheit: Mietverträge mit langer Laufzeit, Kostenflexibilität begrenzt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Lagerbestandsrisiko bei saisonalen Produkten (Mode, Spielzeug, Möbel)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Typische Größenordnung: 1–3 Filialen mit Umsatz 800.000–2,5 Mio. €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EBIT-Marge: 2–4 %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Eigenkapitalquote: 15–25 %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4.2.3 Gastronomie und Hotel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Hohe Personalkosten: typisch 32–40 % des Umsatzes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Standortbindung: Wechsel schwierig und kostenintensiv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COVID-19-Nachwirkungen: Marktkonsolidierung, veränderte Gästemuster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Saisonalität: Tourismusstandorte stark saisonal, Stadtgastronomie stabiler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Typische Größenordnung: 1–3 Betriebe, Umsatz 300.000–1,5 Mio. €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EBIT-Marge: 5–10 % (gute Standorte bis 12 %)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4.2.4 Verarbeitendes Gewerbe und Produktion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Kapitalintensiv: Maschinen und Anlagen erfordern regelmäßige Ersatzinvestitionen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Auslastungsabhängigkeit: Fixkostendegression erheblich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Rohstoffpreisrisiken: Input-Volatilität kann 10–20 % der Marge ausmachen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Exportabhängigkeit: Währungsrisiken und Lieferkettenstörungen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Typische Größenordnung: 20–150 MA, Umsatz 2–15 Mio. €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EBIT-Marge: 6–12 % (prozyklisch: in Rezessionen deutlich darunter)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4.2.5 Heilberufe (Ärzte, Zahnärzte, Apotheken)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Kassenzulassung als Geschäftsmodell-Grundlage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Überwiegend Einzelunternehmer oder kleine Partnerschaftspraxen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Hohe regulatorische Anforderungen (Datenschutz, Standesordnung)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Ausgeprägte Nachfolgeproblematik: Großteil der Praxen bis 2030 übergabefällig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Typische Größenordnung: Umsatz 300.000–2,5 Mio. €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EBIT-Marge: 15–25 % (antizyklisch stabil)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4.2.6 Landwirtschaft und landwirtschaftliche Betriebe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Starke Abhängigkeit von Witterung, Ernteertrag und EU-Subventionspolitik (GAP-Direktzahlungen)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Kapitalintensive Betriebsmittel: Maschinen, Gebäude, Flächen; langer Kapitalbindungszyklus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Biologische Produktionszyklen bedingen saisonal stark schwankende Liquidität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Zunehmende Diversifikation: Biogas, Direktvermarktung, Agrotourismus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Typische Größenordnung: Familienbetriebe 50–300 ha, Umsatz 200.000–2 Mio. €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EBIT-Marge: 5–15 % (stark witterungsabhängig; Biogasanlagen können Marge stabilisieren)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4.2.7 Ergänzende Kurzprofile: Kfz-Gewerbe und Holzverarbeitung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Kfz-Gewerbe (WZ 45): Zentralrisiken: Markenabhängigkeit von Hersteller-Händlerverträgen (Kündbarkeit!), Fahrzeugbestand…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Holzverarbeitung/Sägewerke (WZ 16): Zentralrisiken: Rohholzpreisvolatilität (Borkenkäfer, Extremwetterereignisse),…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4.3.1 Aufbau des VR-Ratings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Rentabilitätskennzahlen (EBIT-Marge, Eigenkapitalrentabilität)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Liquiditätskennzahlen (Liquiditätsgrade, Cash-Flow-Relationen)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Verschuldungskennzahlen (Eigenkapitalquote, Verschuldungsgrad, Zinsdeckungsquote)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Trendindikatoren (Entwicklung über 3 Jahre)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Unternehmerqualität und Management-Kompetenz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Branchenrisiko (Kerngegenstand dieses Moduls)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4.3.2 Branchen-Adjustments im Rating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Moderne Ratingmodelle passen Kennzahl-Schwellen nach Branche an, da unterschiedliche Branchen strukturell andere…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Beispiel: Eigenkapitalquote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Praxisimplikation: Ein KMU mit 18 % Eigenkapitalquote ist im Einzelhandel ein Warnsignal, im Dienstleistungsbereich…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4.3.3 Externe Datenquellen für die Branchenanalyse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Creditreform Branchenberichte Vierteljährlich aktualisiert, Daten zu ca. 90 Branchen. Enthält Insolvenzquoten,…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BVR-Branchenblätter Spezialisiert auf KMU- und mittelständische Branchen; kostenfrei für Mitgliedsbanken; enthält…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ifo Geschäftsklimaindex Monatlich differenziert nach Branche, Region und Größenklasse; Führindikator für…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Statistisches Bundesamt (Destatis) Unternehmensdemografie: Gründungen, Insolvenzquoten, Branchenzahlen;…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Branchenverbände und Fachmedien Handwerkskammer-Berichte, IHK-Konjunkturberichte, Fachzeitschriften (die bank,…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4.3.4 Altman Z-Score als ergänzendes Analysetool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Z &gt; 2,99: Sichere Zone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1,81 &lt; Z &lt; 2,99: Grauzone (Vorsicht geboten)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Z &lt; 1,81: Kritische Zone (erhöhte Insolvenzwahrscheinlichkeit)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4.4.2 Finanzielle Situation (Jahresabschluss 2024, Auszüge)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Bilanzauszug: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Gewinn- und Verlustrechnung 2024: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Kapitalflussrechnung 2024 (vereinfacht):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4.4.3 Kreditanfrage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Anlass: Investition in neue Backstube Kempten-Süd (170.000 €) + Filialmodernisierung Sonthofen (80.000 €)…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4.4.4 Gesprächsverlauf: Branchenrisikoanalyse (BER = Berater, GF = Geschäftsführerin)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Session 1 – Erstgespräch Branchenrisiko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BER: „Frau Hofmann, bevor wir die Finanzierung strukturieren, möchte ich das Branchenumfeld mit Ihnen durchgehen. Die…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GF: „Das stimmt. Discounter haben günstiges Backwerk im Sortiment, und viele Kunden kaufen dort. Wir haben das bisher…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BER: „Das ist eine gute Positionierung. Trotzdem muss ich die Kostenstruktur genauer ansehen. Ihre Materialkosten…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GF: „Wir konnten die Preise nur um etwa 8–10 % erhöhen, ohne Kunden zu verlieren. Das hat die Marge deutlich gedrückt."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BER: „Das zeigt das strukturelle Risiko: Bei einem Rohstoffanteil von 43 % und begrenzter Preisweitergabe ist Ihre…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4.5 Arbeitsblatt: Branchenrisiko-Analyse-Template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5.1 Transferaufgabe (Arbeitsalltag nach Seminarende)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M05 · Branchenspezifische Risikosysteme  ·  v0.3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