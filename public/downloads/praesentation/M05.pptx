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M05  ·  K-01 Finanzanalyse &amp; Kreditexpertise  ·  Zielstufe: Strategischer Partner  ·  1 Tag (8 Stunden)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Systematische Branchenrisikoanalyse als Basis für differenzierte Kreditentscheidungen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Branchenspezifische Risikotreiber anhand von Finanzkennzahlen und Marktdaten analysieren und gegenüber gesamtwirtschaftlichen Trends einordnen (Bloom 4)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Gesamtrisikoprofil eines KMU durch kritische Gegenüberstellung von Branchencharakteristiken mit unternehmensspezifischen Kennzahlen bewerten (Bloom 5)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Kreditanträge branchenübergreifend vergleichend beurteilen und Chancen wie Risiken transparent kommunizieren (Bloom 5)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 individualisiertes Branchenrisiko-Scoring-Modell für die eigene Geschäftsregion entwickeln (Bloom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4.1 Theorie-Input: Branchenstruktur und Risikoklassifikation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4.1.1 Porter's Five Forces als Analysegerüst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Five Forces nach Michael E. Porter: </a:t>
            </a:r>
            <a:r>
              <a:rPr sz="1700">
                <a:solidFill>
                  <a:srgbClr val="1A1A1A"/>
                </a:solidFill>
                <a:latin typeface="Arial"/>
              </a:rPr>
              <a:t>bilden ein anerkanntes Modell zur systematischen Analyse von Branchenattraktivität und Wettbewerbsintensität. Im Kontext der Kreditvergabe dienen die Five Forces dazu, das…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1. Bedrohung durch neue Konkurrenten: </a:t>
            </a:r>
            <a:r>
              <a:rPr sz="1700">
                <a:solidFill>
                  <a:srgbClr val="1A1A1A"/>
                </a:solidFill>
                <a:latin typeface="Arial"/>
              </a:rPr>
              <a:t>Wie hoch sind Markteintrittsbarrieren? (Kapitalintensität, Skalenerfordernisse, Markenzugang) - Kreditrelevanz: Hohe Markteintrittsbarrieren → geringeres Überangebot → stabilere…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2. Verhandlungsmacht der Lieferanten: </a:t>
            </a:r>
            <a:r>
              <a:rPr sz="1700">
                <a:solidFill>
                  <a:srgbClr val="1A1A1A"/>
                </a:solidFill>
                <a:latin typeface="Arial"/>
              </a:rPr>
              <a:t>Wie konzentriert ist der Liefermarkt? - Kreditrelevanz: Konzentrierte Lieferanten → Rohstoffpreisrisiko → Margenvolatilität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3. Verhandlungsmacht der Abnehmer: </a:t>
            </a:r>
            <a:r>
              <a:rPr sz="1700">
                <a:solidFill>
                  <a:srgbClr val="1A1A1A"/>
                </a:solidFill>
                <a:latin typeface="Arial"/>
              </a:rPr>
              <a:t>Wie konzentriert ist der Kundenmarkt? - Kreditrelevanz: Wenige Großkunden → Konzentrationsrisiko → erhöhte Insolvenzwahrscheinlichkeit bei Kundenverlust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4. Bedrohung durch Substitute: </a:t>
            </a:r>
            <a:r>
              <a:rPr sz="1700">
                <a:solidFill>
                  <a:srgbClr val="1A1A1A"/>
                </a:solidFill>
                <a:latin typeface="Arial"/>
              </a:rPr>
              <a:t>Welche alternativen Lösungen existieren? - Kreditrelevanz: Digitalisierung, E-Commerce, New Work können traditionelle Branchen destabilisieren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4.1.1 Porter's Five Forces als Analysegerüst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5. Rivalität unter bestehenden Wettbewerbern: </a:t>
            </a:r>
            <a:r>
              <a:rPr sz="1700">
                <a:solidFill>
                  <a:srgbClr val="1A1A1A"/>
                </a:solidFill>
                <a:latin typeface="Arial"/>
              </a:rPr>
              <a:t>Wie intensiv ist der Preiswettbewerb? - Kreditrelevanz: Hohe Rivalität → Margendruck → Kreditfähigkeitsrisiko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Praktische Anwendung im Kreditgeschäft (MaRisk BTO 1.2): </a:t>
            </a:r>
            <a:r>
              <a:rPr sz="1700">
                <a:solidFill>
                  <a:srgbClr val="1A1A1A"/>
                </a:solidFill>
                <a:latin typeface="Arial"/>
              </a:rPr>
              <a:t>Gem. MaRisk müssen Banken ihre Risikoklassifizierung auf Branchenebene systematisch durchführen. Die Analyse der Five Forces hilft,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strukturelle Branchenrisiken: </a:t>
            </a:r>
            <a:r>
              <a:rPr sz="1700">
                <a:solidFill>
                  <a:srgbClr val="1A1A1A"/>
                </a:solidFill>
                <a:latin typeface="Arial"/>
              </a:rPr>
              <a:t>unabhängig von der Konjunktur zu identifizieren und Ratinganpassungen zu rechtfertigen.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4.1.2 WZ-Klassifikation und ihre Bedeutung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Rating-Systeme nutzen branchenspezifische Gewichtungen: </a:t>
            </a:r>
            <a:r>
              <a:rPr sz="1700">
                <a:solidFill>
                  <a:srgbClr val="1A1A1A"/>
                </a:solidFill>
                <a:latin typeface="Arial"/>
              </a:rPr>
              <a:t>Das VR-Rating und alle Basel-III-konformen Ratingmodelle passen ihre Kennzahl-Schwellen nach WZ-Klasse an 2.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Regulatorische Risiko-Kennzahlen: </a:t>
            </a:r>
            <a:r>
              <a:rPr sz="1700">
                <a:solidFill>
                  <a:srgbClr val="1A1A1A"/>
                </a:solidFill>
                <a:latin typeface="Arial"/>
              </a:rPr>
              <a:t>BaFin-Statistiken nutzen WZ für Branchenstandardisierung 3.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Externe Vergleichsdaten: </a:t>
            </a:r>
            <a:r>
              <a:rPr sz="1700">
                <a:solidFill>
                  <a:srgbClr val="1A1A1A"/>
                </a:solidFill>
                <a:latin typeface="Arial"/>
              </a:rPr>
              <a:t>Creditreform, BVR und ifo-Institut veröffentlichen Branchendaten nach WZ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Baugewerbe (WZ 41–43): </a:t>
            </a:r>
            <a:r>
              <a:rPr sz="1700">
                <a:solidFill>
                  <a:srgbClr val="1A1A1A"/>
                </a:solidFill>
                <a:latin typeface="Arial"/>
              </a:rPr>
              <a:t>Erhöhtes Gewicht auf Auftragspolster, Baupreisindex, Fertigstellungsgrad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Einzelhandel (WZ 47): </a:t>
            </a:r>
            <a:r>
              <a:rPr sz="1700">
                <a:solidFill>
                  <a:srgbClr val="1A1A1A"/>
                </a:solidFill>
                <a:latin typeface="Arial"/>
              </a:rPr>
              <a:t>Erhöhtes Gewicht auf Flächenumsatz, Lagerumschlag, Online-Penetrationsquote 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4.1.2 WZ-Klassifikation und ihre Bedeutung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Verarbeitendes Gewerbe (WZ 10–32): </a:t>
            </a:r>
            <a:r>
              <a:rPr sz="1700">
                <a:solidFill>
                  <a:srgbClr val="1A1A1A"/>
                </a:solidFill>
                <a:latin typeface="Arial"/>
              </a:rPr>
              <a:t>Erhöhtes Gewicht auf Auslastungsgrad, Rohstoffkosten, Exportquote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4.1.3 Zyklizität: Prozyklische vs. Antizyklische Sektoren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Prozyklische Branchen: </a:t>
            </a:r>
            <a:r>
              <a:rPr sz="1700">
                <a:solidFill>
                  <a:srgbClr val="1A1A1A"/>
                </a:solidFill>
                <a:latin typeface="Arial"/>
              </a:rPr>
              <a:t>verstärken konjunkturelle Schwankungen: - Baugewerbe (stark abhängig von Zinsen und Kaufkraft) - Automobilzulieferer und Maschinenbau (Auftragseingänge folgen der Konjunktur) 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Antizyklische Branchen: </a:t>
            </a:r>
            <a:r>
              <a:rPr sz="1700">
                <a:solidFill>
                  <a:srgbClr val="1A1A1A"/>
                </a:solidFill>
                <a:latin typeface="Arial"/>
              </a:rPr>
              <a:t>zeigen schwächere Korrelation zur Konjunktur: - Lebensmittelhandel (konstante Grundnachfrage) - Gesundheitswesen und Apotheken (versicherungsfinanziert, kaum einkommensabhängig)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Kreditrelevanz: </a:t>
            </a:r>
            <a:r>
              <a:rPr sz="1700">
                <a:solidFill>
                  <a:srgbClr val="1A1A1A"/>
                </a:solidFill>
                <a:latin typeface="Arial"/>
              </a:rPr>
              <a:t>Bei der Planung von Kreditlaufzeiten und Tilgungsplänen muss berücksichtigt werden, ob ein Unternehmen in einer pro- oder antizyklischen Branche tätig ist. Prozyklische Branchen…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ifo Geschäftsklimaindex: </a:t>
            </a:r>
            <a:r>
              <a:rPr sz="1700">
                <a:solidFill>
                  <a:srgbClr val="1A1A1A"/>
                </a:solidFill>
                <a:latin typeface="Arial"/>
              </a:rPr>
              <a:t>veröffentlicht monatlich Branchenindizes, die diese Zyklusabhängigkeit dokumentieren.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4.1.4 Regulatorische Verankerung: MaRisk BTO 1.2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Mindestanforderungen an das Risikomanagement (MaRisk): </a:t>
            </a:r>
            <a:r>
              <a:rPr sz="1700">
                <a:solidFill>
                  <a:srgbClr val="1A1A1A"/>
                </a:solidFill>
                <a:latin typeface="Arial"/>
              </a:rPr>
              <a:t>der BaFin verpflichten alle Kreditinstitute, Geschäftsvorfälle einer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angemessenen Risikoklasse: </a:t>
            </a:r>
            <a:r>
              <a:rPr sz="1700">
                <a:solidFill>
                  <a:srgbClr val="1A1A1A"/>
                </a:solidFill>
                <a:latin typeface="Arial"/>
              </a:rPr>
              <a:t>zuzuordnen (BTO 1.2). Diese Klassifizierung muss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branchenspezifische Aspekte: </a:t>
            </a:r>
            <a:r>
              <a:rPr sz="1700">
                <a:solidFill>
                  <a:srgbClr val="1A1A1A"/>
                </a:solidFill>
                <a:latin typeface="Arial"/>
              </a:rPr>
              <a:t>berücksichtigen: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4.2 Theorie-Input: Branchenspezifische Risikoklassen im KMU-Segment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4.2.1 Baugewerbe und Bauträger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Wichtige Unterscheidung: </a:t>
            </a:r>
            <a:r>
              <a:rPr sz="1700">
                <a:solidFill>
                  <a:srgbClr val="1A1A1A"/>
                </a:solidFill>
                <a:latin typeface="Arial"/>
              </a:rPr>
              <a:t>**Bauhandwerk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(Handwerksbetriebe, WZ 43) und **Bauträger: </a:t>
            </a:r>
            <a:r>
              <a:rPr sz="1700">
                <a:solidFill>
                  <a:srgbClr val="1A1A1A"/>
                </a:solidFill>
                <a:latin typeface="Arial"/>
              </a:rPr>
              <a:t>(WZ 41) sind zwei grundlegend verschiedene Risikoklassen. Bauhandwerker führen Aufträge aus und tragen Fertigstellungsrisiken; ihr Kapitalbedarf ist werkzeug- und…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Charakteristika: </a:t>
            </a:r>
            <a:r>
              <a:rPr sz="1700">
                <a:solidFill>
                  <a:srgbClr val="1A1A1A"/>
                </a:solidFill>
                <a:latin typeface="Arial"/>
              </a:rPr>
              <a:t>- Projektgebundenheit: Jedes Objekt ist ein Einzelprojekt mit eigenen Fertigstellungs- und Kostenrisiken - Bauhandwerk: Umsätze 300.000–3 Mio. €, Eigenkapitalquote 10–20 %;…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Kennzahlen (Benchmark Baugewerbe): </a:t>
            </a:r>
            <a:r>
              <a:rPr sz="1700">
                <a:solidFill>
                  <a:srgbClr val="1A1A1A"/>
                </a:solidFill>
                <a:latin typeface="Arial"/>
              </a:rPr>
              <a:t>- EBIT-Marge: 3–6 % (branchentypisch niedrig wg. Wettbewerbsintensität) - Eigenkapitalquote: 12–18 % - Kapitalumschlag: 0,8–1,2x - Forderungslaufzeit: 45–60 Tage…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Kritische Frühwarnindikatoren: </a:t>
            </a:r>
            <a:r>
              <a:rPr sz="1700">
                <a:solidFill>
                  <a:srgbClr val="1A1A1A"/>
                </a:solidFill>
                <a:latin typeface="Arial"/>
              </a:rPr>
              <a:t>1. Steigende Fertigstellungsverzögerungen ohne Umsatzwachstum (Qualitätsprobleme, Nacharbeiten) 2. Sinkender Auftragsbestand (Auftragsrückgang sichtbar ca. 6 Monate vor…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4.2.1 Baugewerbe und Bauträger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VR-Rating-spezifische Aspekte: </a:t>
            </a:r>
            <a:r>
              <a:rPr sz="1700">
                <a:solidFill>
                  <a:srgbClr val="1A1A1A"/>
                </a:solidFill>
                <a:latin typeface="Arial"/>
              </a:rPr>
              <a:t>- Baupreisindex-Entwicklung (monatlich vom Statistischen Bundesamt) - Auftragspolster in Monaten (Sicherheitspuffer: mindestens 3 Monate empfohlen) - Nachunternehmer-Abhängigkeit…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Kreditauflagen: </a:t>
            </a:r>
            <a:r>
              <a:rPr sz="1700">
                <a:solidFill>
                  <a:srgbClr val="1A1A1A"/>
                </a:solidFill>
                <a:latin typeface="Arial"/>
              </a:rPr>
              <a:t>- Vierteljährliche Fertigstellungsmeldungen - Zweitrangiges Pfandrecht auf Grundstücke - Umsatz-Covenants (z. B. nicht unter 80 % der Planung)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4.2.2 Einzelhandel und Handel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Charakteristika: </a:t>
            </a:r>
            <a:r>
              <a:rPr sz="1700">
                <a:solidFill>
                  <a:srgbClr val="1A1A1A"/>
                </a:solidFill>
                <a:latin typeface="Arial"/>
              </a:rPr>
              <a:t>- Hohe Disruption durch E-Commerce und Digitalisierung - Flächen- und Mietgebundenheit: Mietverträge mit langer Laufzeit, Kostenflexibilität begrenzt - Lagerbestandsrisiko bei…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Kennzahlen (Benchmark Einzelhandel): </a:t>
            </a:r>
            <a:r>
              <a:rPr sz="1700">
                <a:solidFill>
                  <a:srgbClr val="1A1A1A"/>
                </a:solidFill>
                <a:latin typeface="Arial"/>
              </a:rPr>
              <a:t>- EBIT-Marge: 2–4 % - Eigenkapitalquote: 15–25 % - Flächenumsatz: 600–1.200 €/qm p. a. - Lagerumschlag: 4–8x p. a.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Kritische Frühwarnindikatoren: </a:t>
            </a:r>
            <a:r>
              <a:rPr sz="1700">
                <a:solidFill>
                  <a:srgbClr val="1A1A1A"/>
                </a:solidFill>
                <a:latin typeface="Arial"/>
              </a:rPr>
              <a:t>1. Sinkender Flächenumsatz ohne Mietsenkung (Warnschwelle: ca. 10 % Rückgang) 2. Erhöhter Lagerbestand ohne Nachfragesteigerung (Liquiditätsrisiko) 3. Mietvertrag läuft in &lt;12…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VR-Rating-spezifische Aspekte: </a:t>
            </a:r>
            <a:r>
              <a:rPr sz="1700">
                <a:solidFill>
                  <a:srgbClr val="1A1A1A"/>
                </a:solidFill>
                <a:latin typeface="Arial"/>
              </a:rPr>
              <a:t>- Mietquote als % des Umsatzes (Warnung ab &gt;15 %) - Flächenzustand und -alter (Sanierungsrückstau) - E-Commerce-Kompetenz des Unternehmers (Omnichannel, Digital-Strategie)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Kreditauflagen: </a:t>
            </a:r>
            <a:r>
              <a:rPr sz="1700">
                <a:solidFill>
                  <a:srgbClr val="1A1A1A"/>
                </a:solidFill>
                <a:latin typeface="Arial"/>
              </a:rPr>
              <a:t>- Monatliche Umsatzmeldungen - Warenbestand-Versicherung als Sicherheit - Zinsdeckungsklausel (Warnung bei Unterschreitung von 2,5x)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4.2.3 Gastronomie und Hotel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Charakteristika: </a:t>
            </a:r>
            <a:r>
              <a:rPr sz="1700">
                <a:solidFill>
                  <a:srgbClr val="1A1A1A"/>
                </a:solidFill>
                <a:latin typeface="Arial"/>
              </a:rPr>
              <a:t>- Hohe Personalkosten: typisch 32–40 % des Umsatzes - Standortbindung: Wechsel schwierig und kostenintensiv - COVID-19-Nachwirkungen: Marktkonsolidierung, veränderte Gästemuster 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Kennzahlen (Benchmark Gastronomie): </a:t>
            </a:r>
            <a:r>
              <a:rPr sz="1700">
                <a:solidFill>
                  <a:srgbClr val="1A1A1A"/>
                </a:solidFill>
                <a:latin typeface="Arial"/>
              </a:rPr>
              <a:t>- EBIT-Marge: 5–10 % (gute Standorte bis 12 %) - Personalkosten/Umsatz: 32–38 % - Eigenkapitalquote: 10–20 % - Mietquote: 6–12 % des Umsatzes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Kritische Frühwarnindikatoren: </a:t>
            </a:r>
            <a:r>
              <a:rPr sz="1700">
                <a:solidFill>
                  <a:srgbClr val="1A1A1A"/>
                </a:solidFill>
                <a:latin typeface="Arial"/>
              </a:rPr>
              <a:t>1. Sinkende Gästezahlen ohne Preisanpassung 2. Personalfluktuation über 30 % p. a. (Qualitätsverlust, Servicerückgang) 3. Betriebsalter über 25 Jahre ohne Modernisierung…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VR-Rating-spezifische Aspekte: </a:t>
            </a:r>
            <a:r>
              <a:rPr sz="1700">
                <a:solidFill>
                  <a:srgbClr val="1A1A1A"/>
                </a:solidFill>
                <a:latin typeface="Arial"/>
              </a:rPr>
              <a:t>- Mietvertrags-Restlaufzeit und Indexierungsklauseln - Nachfolgeplanung (Gastronom-Ausbildung vorhanden?) - Konjunkturabhängigkeit der Kundschaft (Businessgäste vs. Freizeitgäste)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Kreditauflagen: </a:t>
            </a:r>
            <a:r>
              <a:rPr sz="1700">
                <a:solidFill>
                  <a:srgbClr val="1A1A1A"/>
                </a:solidFill>
                <a:latin typeface="Arial"/>
              </a:rPr>
              <a:t>- Monatliche Umsatz- und Gästezahlmeldungen - Zinsdeckungsquote mindestens 2,5x - Betriebshaftpflicht-Versicherung mit Banknachweis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4.2.4 Verarbeitendes Gewerbe und Produktion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Charakteristika: </a:t>
            </a:r>
            <a:r>
              <a:rPr sz="1700">
                <a:solidFill>
                  <a:srgbClr val="1A1A1A"/>
                </a:solidFill>
                <a:latin typeface="Arial"/>
              </a:rPr>
              <a:t>- Kapitalintensiv: Maschinen und Anlagen erfordern regelmäßige Ersatzinvestitionen - Auslastungsabhängigkeit: Fixkostendegression erheblich - Rohstoffpreisrisiken: Input-…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Kennzahlen (Benchmark Verarbeitendes Gewerbe): </a:t>
            </a:r>
            <a:r>
              <a:rPr sz="1700">
                <a:solidFill>
                  <a:srgbClr val="1A1A1A"/>
                </a:solidFill>
                <a:latin typeface="Arial"/>
              </a:rPr>
              <a:t>- EBIT-Marge: 6–12 % (prozyklisch: in Rezessionen deutlich darunter) - Eigenkapitalquote: 20–35 % - Auslastungsgrad: &gt;75 % empfohlen; &lt;60 % kritisch - Kapitalumschlag: 1,5–2,5x 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Kritische Frühwarnindikatoren: </a:t>
            </a:r>
            <a:r>
              <a:rPr sz="1700">
                <a:solidFill>
                  <a:srgbClr val="1A1A1A"/>
                </a:solidFill>
                <a:latin typeface="Arial"/>
              </a:rPr>
              <a:t>1. Sinkende Auftragseingänge (Vorlaufindikator 6–12 Wochen vor Umsatzrückgang) 2. Lagerbestandssteigerung ohne Nachfragewachstum 3. Steigende Rohstoffpreise ohne Möglichkeit zur…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VR-Rating-spezifische Aspekte: </a:t>
            </a:r>
            <a:r>
              <a:rPr sz="1700">
                <a:solidFill>
                  <a:srgbClr val="1A1A1A"/>
                </a:solidFill>
                <a:latin typeface="Arial"/>
              </a:rPr>
              <a:t>- Exportquote und Währungs-Sicherungsquote - Kundenbasis-Konzentration - Maschinen-Alter und geplante Ersatzinvestitionen - Fachkräftemangel (besonders relevant in Baden-…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Kreditauflagen: </a:t>
            </a:r>
            <a:r>
              <a:rPr sz="1700">
                <a:solidFill>
                  <a:srgbClr val="1A1A1A"/>
                </a:solidFill>
                <a:latin typeface="Arial"/>
              </a:rPr>
              <a:t>- Halbjährliche Jahresabschlussvorlage - Zinsdeckungsquote mindestens 2,5x - Investitionsplan für Folgejahre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4.2.5 Heilberufe (Ärzte, Zahnärzte, Apotheken)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Charakteristika: </a:t>
            </a:r>
            <a:r>
              <a:rPr sz="1700">
                <a:solidFill>
                  <a:srgbClr val="1A1A1A"/>
                </a:solidFill>
                <a:latin typeface="Arial"/>
              </a:rPr>
              <a:t>- Kassenzulassung als Geschäftsmodell-Grundlage - Überwiegend Einzelunternehmer oder kleine Partnerschaftspraxen - Hohe regulatorische Anforderungen (Datenschutz, Standesordnung)…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Kennzahlen (Benchmark Heilberufe): </a:t>
            </a:r>
            <a:r>
              <a:rPr sz="1700">
                <a:solidFill>
                  <a:srgbClr val="1A1A1A"/>
                </a:solidFill>
                <a:latin typeface="Arial"/>
              </a:rPr>
              <a:t>- EBIT-Marge: 15–25 % (antizyklisch stabil) - Eigenkapitalquote: 30–50 % - Personalkosten/Umsatz: 25–35 % - Forderungsquote niedrig (GKV-Abrechnungsquoten stabil)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Kritische Frühwarnindikatoren: </a:t>
            </a:r>
            <a:r>
              <a:rPr sz="1700">
                <a:solidFill>
                  <a:srgbClr val="1A1A1A"/>
                </a:solidFill>
                <a:latin typeface="Arial"/>
              </a:rPr>
              <a:t>1. Rückgang der Patientenzahlen (erfassbar über GKV-Abrechnungszahlen) 2. Kassenzulassung gefährdet oder Regelaltersgrenze naht 3. Keine Nachfolgeplanung trotz Inhaberalter &gt;60…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VR-Rating-spezifische Aspekte: </a:t>
            </a:r>
            <a:r>
              <a:rPr sz="1700">
                <a:solidFill>
                  <a:srgbClr val="1A1A1A"/>
                </a:solidFill>
                <a:latin typeface="Arial"/>
              </a:rPr>
              <a:t>- Patientenzahlen und GKV-/Privat-Verhältnis - Fachgruppe und Marktausblick (Über- oder Unterangebot) - Altersstruktur und Nachfolgeplanung - Berufsunfähigkeitsabsicherung (bei…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Kreditauflagen: </a:t>
            </a:r>
            <a:r>
              <a:rPr sz="1700">
                <a:solidFill>
                  <a:srgbClr val="1A1A1A"/>
                </a:solidFill>
                <a:latin typeface="Arial"/>
              </a:rPr>
              <a:t>- Jährliche Ertragsprognosen - Zinsdeckungsquote mindestens 2,0x - Nachweis Berufsunfähigkeitsversicherung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4.2.6 Landwirtschaft und landwirtschaftliche Betriebe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Charakteristika: </a:t>
            </a:r>
            <a:r>
              <a:rPr sz="1700">
                <a:solidFill>
                  <a:srgbClr val="1A1A1A"/>
                </a:solidFill>
                <a:latin typeface="Arial"/>
              </a:rPr>
              <a:t>- Starke Abhängigkeit von Witterung, Ernteertrag und EU-Subventionspolitik (GAP-Direktzahlungen) - Kapitalintensive Betriebsmittel: Maschinen, Gebäude, Flächen; langer…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Kennzahlen (Benchmark Landwirtschaft): </a:t>
            </a:r>
            <a:r>
              <a:rPr sz="1700">
                <a:solidFill>
                  <a:srgbClr val="1A1A1A"/>
                </a:solidFill>
                <a:latin typeface="Arial"/>
              </a:rPr>
              <a:t>- EBIT-Marge: 5–15 % (stark witterungsabhängig; Biogasanlagen können Marge stabilisieren) - Eigenkapitalquote: 40–65 % (Eigenland schafft hohe Substanzwerte) - Kapitalumschlag:…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Kritische Frühwarnindikatoren: </a:t>
            </a:r>
            <a:r>
              <a:rPr sz="1700">
                <a:solidFill>
                  <a:srgbClr val="1A1A1A"/>
                </a:solidFill>
                <a:latin typeface="Arial"/>
              </a:rPr>
              <a:t>1. Ertragsrückgang durch Trockenheit/Extremwetter (Ernteversicherungsdeckung prüfen!) 2. GAP-Subventionsänderungen (EU-Agrarpolitik: Kürzungen bei Direktzahlungen) 3.…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VR-Rating-spezifische Aspekte: </a:t>
            </a:r>
            <a:r>
              <a:rPr sz="1700">
                <a:solidFill>
                  <a:srgbClr val="1A1A1A"/>
                </a:solidFill>
                <a:latin typeface="Arial"/>
              </a:rPr>
              <a:t>- Eigenland vs. Pachtland (Sicherheitenpotenzial, Kostenflexibilität) - Diversifikationsgrad des Betriebs (Monokultur vs. Mischbetrieb) - Subventionsanteil am Umsatz (bei &gt;30 %…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Kreditauflagen: </a:t>
            </a:r>
            <a:r>
              <a:rPr sz="1700">
                <a:solidFill>
                  <a:srgbClr val="1A1A1A"/>
                </a:solidFill>
                <a:latin typeface="Arial"/>
              </a:rPr>
              <a:t>- Ernteversicherungsnachweis (bei wetterabhängigen Betrieben Pflicht) - Jährliche Vorlage Anbauplan und Betriebsplanung - Sicherheitenabtretung Direktzahlungsansprüche (EU-GAP) -…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4.2.7 Ergänzende Kurzprofile: Kfz-Gewerbe und Holzverarbeitung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Kfz-Gewerbe (WZ 45): Zentralrisiken: Markenabhängigkeit von Hersteller-Händlerverträgen (Kündbarkeit!), Fahrzeugbestand als Liquiditätsrisiko,…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Holzverarbeitung/Sägewerke (WZ 16): Zentralrisiken: Rohholzpreisvolatilität (Borkenkäfer, Extremwetterereignisse), Export- und Währungsabhängigkeit,…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 Theorie-Input: VR-Rating und branchenspezifische Ratingfaktoren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4.3.1 Aufbau des VR-Ratings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VR-Rating kombiniert quantitative und qualitative Komponenten: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Quantitativ (ca. 60–70 % Gewicht): - Rentabilitätskennzahlen (EBIT-Marge, Eigenkapitalrentabilität) - Liquiditätskennzahlen (Liquiditätsgrade, Cash-Flow-…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Qualitativ (ca. 30–40 % Gewicht): - Unternehmerqualität und Management-Kompetenz - Branchenrisiko (Kerngegenstand dieses Moduls) - Marktposition und…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4.3.2 Branchen-Adjustments im 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Mindest-EK-Quote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Verarbeitendes Gewerbe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≥ 25 %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Kapitalintensiv, Ausgleichspuffer nötig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Dienstleistung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≥ 15 %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Weniger kapitalintensiv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Einzelhandel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≥ 15–18 %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Niedrige Margen, hohe Diskontobligationen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Gastronomie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≥ 12–15 %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Hohe Standortrisiken, Volatilität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4.3.4 Altman Z-Score als ergänzendes Analysetool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Variable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Bedeutung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X₁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Betriebskapital / Gesamtvermögen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Kurzfristige Liquidität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X₂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Gewinnrücklagen / Gesamtvermögen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Langfristige Rentabilität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X₃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 / Gesamtvermögen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Operative Rentabilität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X₄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Marktwert EK / Gesamtverbindlichkeiten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Kapitalstruktur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X₅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 / Gesamtvermögen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Kapitaleffizienz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4.4 Praxiscase: Bäckerei &amp; Konditorei Hofmann GmbH (Stuttgart, fiktiv)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4.4.1 Unternehmensprofil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191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Ausprägung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Bäckerei &amp; Konditorei Hofmann GmbH (fiktiv)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Rechtsform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GmbH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Gründung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Generation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3. Generation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Standorte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Kempten (Allgäu) und umliegende Gemeinden (Sonthofen, Immenstadt)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Filialen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 (1 Backstube/Hauptstandort, 3 Verkaufsläden)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24 (4 Backstube, 20 Verkauf)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Jahresumsatz 2024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1.400.000 €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74.000 € (EBIT-Marge 5,3 %)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 (31.12.2024)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193.000 € (EK-Quote 16,2 %)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Gesamtvermögen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1.193.000 €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4.4.2 Finanzielle Situation (Jahresabschluss 2024, Auszüge)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167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Vermögen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 (€)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 (€)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Umlaufvermögen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193.000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davon Forderungen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28.000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Rückstellungen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40.000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davon Vorräte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Bankverbindlichkeiten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davon Kasse/Bank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312.000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Lieferantenverbindlichkeiten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327.000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Anlagevermögen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793.000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Sonstige Verbindlichkeiten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33.000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davon Grundstück Backstube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400.000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davon Maschinen/Einrichtung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327.000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davon Fahrzeuge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66.000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1.193.000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1.193.000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Betrag (€)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Umsatzerlöse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1.400.000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Materialkosten (Mehl, Butter, Zutaten)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−602.000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Bruttogewinn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798.000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Personalkosten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−560.000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Raumkosten (Mieten)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−84.000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Energiekosten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−52.000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Sonstiges (Marketing, Fahrzeuge, Versicherung)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−28.000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74.000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Zinsen auf Kredite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−24.000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50.000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Steuern (ca. 30 %)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Jahresgewinn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35.000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Betrag (€)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Operativer Cashflow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+55.000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Investitionsausgaben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−20.000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Freier Cashflow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+35.000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Schuldentilgung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−23.000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Privatentnahmen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−12.000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67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Kassenveränderung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4.4.3 Kreditanfrage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Anlass: Investition in neue Backstube Kempten-Süd (170.000 €) + Filialmodernisierung Sonthofen (80.000 €) Gesamtkreditbedarf: 250.000 € | Eigenanteil: 30.000 €…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4.4.4 Gesprächsverlauf: Branchenrisikoanalyse (BER = Berater, GF = Geschäftsführerin)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Auflage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Monatliche Umsatzmeldung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Früherkennung von Absatzrückgängen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Quartalmeldung Rohstoffkosten und Personalstand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Monitoring der zwei größten Risikotreiber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Erstrangige Grundschuld auf Backstube Kempten-Süd (Beleihungswert ca. 90.000 €)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Primäre Sicherheit für die Spezialimmobilie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Zweitrangiges Pfandrecht auf Filialinventar Sonthofen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Ergänzende Sicherheit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Zinsdeckungsquoten-Covenant: Warnung &lt;2,5x, Kündigung &lt;2,0x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Risikosteuerung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Freier Cashflow-Covenant: mindestens 25.000 €/Jahr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Schuldendienstfähigkeit sicherstellen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Nachfolgeplanung bis Ende 2027 dokumentieren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Langfristiges Unternehmensrisiko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4.4.5 Porter's Five Forces: Bäckerei &amp; Konditorei Hofmann GmbH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Rating (1–5)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Bedrohung durch neue Konkurrenten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Markteintrittsbarrieren mittel (Handwerk, Standortsuche)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Hohe Rohstoffabhängigkeit, wenig Alternativen, Preisvolatilität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Lokale Kundentreue, aber wachsende Substitution durch Discounter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Discounter-Backwaren, Online-Lieferdienste, Eigenbacken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Rivalität unter Wettbewerbern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Intensive Preiskonkurrenz in der Backwaren-Kategorie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Branchenrisiko gesamt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Hohes strukturelles Branchenrisiko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4.5 Arbeitsblatt: Branchenrisiko-Analyse-Template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4.5 Arbeitsblatt: Branchenrisiko-Analyse-Template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2011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Feld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Ausfüllung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WZ-Code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01–03 Landwirtschaft ☐ 10–33 Verarbeitendes Gewerbe ☐ 41–43 Bau ☐ 45–47 Handel ☐ 55–56 Gastgewerbe ☐ 68 Grundstücks-/Wohnungswesen ☐ 86–88 Gesundheit ☐ Sonstiges: 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Branchenbeschreibung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 gem. BVR-Klassifizierung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Baugewerbe ☐ Einzelhandel ☐ Gastronomie ☐ Verarbeitendes Gewerbe ☐ Heilberufe ☐ Landwirtschaft ☐ Sonstiges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Zyklizität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Prozyklisch ☐ Antizyklisch ☐ Neutral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Bedrohung durch neue Konkurrenten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Rivalität unter Wettbewerbern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Gesamt-Branchenrisiko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Niedrig (∅ 1–2) ☐ Mittel (∅ 2,5–3,5) ☐ Hoch (∅ 4–5)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KMU-Wert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Branchenbenchmark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Kapitalumschlag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Personalkosten/Umsatz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Rohstoffkosten/Umsatz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Einschätzung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Branchenrisiko-Faktor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Niedrig (−1 bis −2 Pkt.) ☐ Mittel (0 Pkt.) ☐ Erhöht (+1 bis +2 Pkt.) ☐ Hoch (+3 bis +4 Pkt.)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Empfohlene Rating-Anpassung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 Punkte ggü. Basis-Rating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Zinsanpassung wegen Branchenrisiko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+____% p. a.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Laufzeit-Empfehlung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Standard (5–10 Jahre) ☐ Verkürzt (3–5 Jahre)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Besicherungs-Anforderung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 Standard ☐ Erhöht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M05 · Branchenspezifische Risikosysteme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