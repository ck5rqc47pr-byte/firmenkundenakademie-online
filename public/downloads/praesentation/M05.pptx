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M05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Branchenspezifische Risikosysteme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Strategischer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 (8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Branchenspezifische Risikotreiber anhand von Finanzkennzahlen und Marktdaten analysieren und gegenüber gesamtwirtschaftlichen Trends einordnen (Bloom 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Das Gesamtrisikoprofil eines KMU durch kritische Gegenüberstellung von Branchencharakteristiken mit unternehmensspezifischen Kennzahlen bewerten (Bloom 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Kreditanträge branchenübergreifend vergleichend beurteilen und Chancen wie Risiken transparent kommunizieren (Bloom 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Theorie-Input: Branchenstruktur und Risikoklassifikation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4.1 Theorie-Input: Branchenstruktur und Risikoklassifikation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4.1.1 Porter's Five Forces als Analysegerüst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Kreditrelevanz: Hohe Markteintrittsbarrieren → geringeres Überangebot → stabilere Margen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Kreditrelevanz: Konzentrierte Lieferanten → Rohstoffpreisrisiko → Margenvolatilität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Kreditrelevanz: Wenige Großkunden → Konzentrationsrisiko → erhöhte Insolvenzwahrscheinlichkeit bei Kundenverlust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Kreditrelevanz: Digitalisierung, E-Commerce, New Work können traditionelle Branchen destabilisieren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Kreditrelevanz: Hohe Rivalität → Margendruck → Kreditfähigkeitsrisiko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4.1.2 WZ-Klassifikation und ihre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Baugewerbe (WZ 41–43): Erhöhtes Gewicht auf Auftragspolster, Baupreisindex, Fertigstellungsgrad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Einzelhandel (WZ 47): Erhöhtes Gewicht auf Flächenumsatz, Lagerumschlag, Online-Penetrationsquote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Verarbeitendes Gewerbe (WZ 10–32): Erhöhtes Gewicht auf Auslastungsgrad, Rohstoffkosten, Exportquote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4.1.3 Zyklizität: Prozyklische vs. Antizyklische Sektoren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Baugewerbe (stark abhängig von Zinsen und Kaufkraft)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Automobilzulieferer und Maschinenbau (Auftragseingänge folgen der Konjunktur)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Luxushandel und Gastgewerbe (diskretionäre Ausgaben)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Lebensmittelhandel (konstante Grundnachfrage)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Gesundheitswesen und Apotheken (versicherungsfinanziert, kaum einkommensabhängig)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4.1.4 Regulatorische Verankerung: MaRisk BTO 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Mindestanforderungen an das Risikomanagement (MaRisk) der BaFin verpflichten alle Kreditinstitute, Geschäftsvorfälle einer angemessenen Risikoklasse zuzuordnen (BTO 1.2). Diese Klassifizierung…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„Die Geschäftsarten, Regionen und Branchen sind nach fachlich begründeten Kriterien einzuordnen, wobei Entwicklungen am Markt zu berücksichtigen sind." 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Risikoklassifizierungssystem einer Bank muss dokumentieren, dass die Branchenwahl explizit berücksichtigt wird und dass diese Einordnung auf Basis nachvollziehbarer Marktdaten (Branchenberichte,…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4.2 Theorie-Input: Branchenspezifische Risikoklassen im KMU-Segment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4.2.1 Baugewerbe und Bauträger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Projektgebundenheit: Jedes Objekt ist ein Einzelprojekt mit eigenen Fertigstellungs- und Kostenrisiken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Bauhandwerk: Umsätze 300.000–3 Mio. €, Eigenkapitalquote 10–20 %; Bauträger: Umsätze 1–20 Mio. €, EK-Quote oft 15–30 % (aber volumenabhängig)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Saisonalität: Wintermonate schwächer, Frühjahr/Sommer stärker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3–6 % (branchentypisch niedrig wg. Wettbewerbsintensität)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Eigenkapitalquote: 12–18 %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Kapitalumschlag: 0,8–1,2x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4.2.2 Einzelhandel und Handel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Hohe Disruption durch E-Commerce und Digitalisierung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Flächen- und Mietgebundenheit: Mietverträge mit langer Laufzeit, Kostenflexibilität begrenzt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Lagerbestandsrisiko bei saisonalen Produkten (Mode, Spielzeug, Möbel)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Größenordnung: 1–3 Filialen mit Umsatz 800.000–2,5 Mio.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2–4 %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Eigenkapitalquote: 15–25 %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4.2.3 Gastronomie und Hotel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Hohe Personalkosten: typisch 32–40 % des Umsatzes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Standortbindung: Wechsel schwierig und kostenintensiv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COVID-19-Nachwirkungen: Marktkonsolidierung, veränderte Gästemuster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Saisonalität: Tourismusstandorte stark saisonal, Stadtgastronomie stabiler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Größenordnung: 1–3 Betriebe, Umsatz 300.000–1,5 Mio.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5–10 % (gute Standorte bis 12 %)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4.2.4 Verarbeitendes Gewerbe und Produktion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Kapitalintensiv: Maschinen und Anlagen erfordern regelmäßige Ersatzinvestitionen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Auslastungsabhängigkeit: Fixkostendegression erheblich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Rohstoffpreisrisiken: Input-Volatilität kann 10–20 % der Marge ausmachen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Exportabhängigkeit: Währungsrisiken und Lieferkettenstörungen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Größenordnung: 20–150 MA, Umsatz 2–15 Mio.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6–12 % (prozyklisch: in Rezessionen deutlich darunter)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4.2.5 Heilberufe (Ärzte, Zahnärzte, Apotheken)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Kassenzulassung als Geschäftsmodell-Grundlage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Überwiegend Einzelunternehmer oder kleine Partnerschaftspraxen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Hohe regulatorische Anforderungen (Datenschutz, Standesordnung)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Ausgeprägte Nachfolgeproblematik: Großteil der Praxen bis 2030 übergabefällig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Größenordnung: Umsatz 300.000–2,5 Mio.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15–25 % (antizyklisch stabil)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4.2.6 Landwirtschaft und landwirtschaftliche Betriebe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Starke Abhängigkeit von Witterung, Ernteertrag und EU-Subventionspolitik (GAP-Direktzahlungen)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Kapitalintensive Betriebsmittel: Maschinen, Gebäude, Flächen; langer Kapitalbindungszyklus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Biologische Produktionszyklen bedingen saisonal stark schwankende Liquidität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Zunehmende Diversifikation: Biogas, Direktvermarktung, Agrotourismus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Größenordnung: Familienbetriebe 50–300 ha, Umsatz 200.000–2 Mio.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EBIT-Marge: 5–15 % (stark witterungsabhängig; Biogasanlagen können Marge stabilisieren)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4.2.7 Ergänzende Kurzprofile: Kfz-Gewerbe und Holzverarbeitung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Kfz-Gewerbe (WZ 45): Zentralrisiken: Markenabhängigkeit von Hersteller-Händlerverträgen (Kündbarkeit!), Fahrzeugbestand als Liquiditätsrisiko, Elektromobilitätsdruck auf Werkstatt-Kompetenz.…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Holzverarbeitung/Sägewerke (WZ 16): Zentralrisiken: Rohholzpreisvolatilität (Borkenkäfer, Extremwetterereignisse), Export- und Währungsabhängigkeit, Kapitalintensität durch Maschinen. Benchmark EBIT-…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 Theorie-Input: VR-Rating und branchenspezifische Ratingfaktoren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4.3.1 Aufbau des VR-Ratings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34636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Mindest-EK-Quote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≥ 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Kapitalintensiv, Ausgleichspuffer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≥ 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Weniger kapitalintensiv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≥ 15–18 %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 Margen, hohe Diskontobligationen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Gastronomie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≥ 12–15 %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 Standortrisiken, 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Variable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X₁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Betriebskapital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Kurzfristige Liquidität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X₂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Gewinnrücklagen / 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X₃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Operative Rentabilität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X₄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Marktwert EK / Gesamtverbindlichkeiten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7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X₅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Kapitaleffizienz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4.3.1 Aufbau des VR-Ratings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Rentabilitätskennzahlen (EBIT-Marge, Eigenkapitalrentabilität)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Liquiditätskennzahlen (Liquiditätsgrade, Cash-Flow-Relationen)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Verschuldungskennzahlen (Eigenkapitalquote, Verschuldungsgrad, Zinsdeckungsquote)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Trendindikatoren (Entwicklung über 3 Jahre)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Unternehmerqualität und Management-Kompetenz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Branchenrisiko (Kerngegenstand dieses Moduls)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4.3.2 Branchen-Adjustments im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Moderne Ratingmodelle passen Kennzahl-Schwellen nach Branche an, da unterschiedliche Branchen strukturell andere absolute Werte zulassen: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Beispiel: Eigenkapitalquote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Praxisimplikation: Ein KMU mit 18 % Eigenkapitalquote ist im Einzelhandel ein Warnsignal, im Dienstleistungsbereich aber akzeptabel.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4.3.3 Externe Datenquellen für die Branchenanalyse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Creditreform Branchenberichte Vierteljährlich aktualisiert, Daten zu ca. 90 Branchen. Enthält Insolvenzquoten, Kennzahlen-Benchmarks, Personalentwicklung. Für VR-Banken oft über Atruvia lizenziert.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BVR-Branchenblätter Spezialisiert auf KMU- und mittelständische Branchen; kostenfrei für Mitgliedsbanken; enthält Ratingierungshilfen und Schwellenwerte.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ifo Geschäftsklimaindex Monatlich differenziert nach Branche, Region und Größenklasse; Führindikator für Konjunkturtrends. Frei verfügbar unter www.ifo.de.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Statistisches Bundesamt (Destatis) Unternehmensdemografie: Gründungen, Insolvenzquoten, Branchenzahlen; Branchenausfallquoten für externe Risikomodelle nutzbar.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Branchenverbände und Fachmedien Handwerkskammer-Berichte, IHK-Konjunkturberichte, Fachzeitschriften (die bank, Zeitschrift für das gesamte Kreditwesen).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4.3.4 Altman Z-Score als ergänzendes Analysetool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 &gt; 2,99: Sichere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1,81 &lt; Z &lt; 2,99: Grauzone (Vorsicht geboten)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 &lt; 1,81: Kritische Zone (erhöhte Insolvenzwahrscheinlichkeit)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4.4 Praxiscase: Bäckerei &amp; Konditorei Hofmann GmbH (Stuttgart, fiktiv)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4.4.1 Unternehmensprofil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6684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Ausprägung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Bäckerei &amp; Konditorei Hofmann GmbH (fiktiv)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GmbH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1978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Standorte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Kempten (Allgäu) und umliegende Gemeinden (Sonthofen, Immenstadt)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Filialen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 (1 Backstube/Hauptstandort, 3 Verkaufsläden)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24 (4 Backstube, 20 Verkauf)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 2024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1.400.000 €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 2024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74.000 € (EBIT-Marge 5,3 %)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 (31.12.2024)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193.000 € (EK-Quote 16,2 %)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1.193.000 €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Umlaufvermögen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28.000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Kasse/Bank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Lieferantenverbindlichkeiten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Anlagevermögen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Sonstige 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Grundstück Backstube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Maschinen/Einrichtung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Fahrzeuge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66.000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Umsatzerlöse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Materialkosten (Mehl, Butter, Zutaten)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−602.000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Bruttogewinn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798.000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−560.000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Raumkosten (Mieten)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−84.000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Energiekosten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−52.000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Sonstiges (Marketing, Fahrzeuge, Versicherung)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−28.000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74.000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Zinsen auf Kredite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−24.000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Steuern (ca. 30 %)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−15.000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Operativer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+55.000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Investitionsausgaben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−20.000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+35.000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Schuldentilgung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−23.000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Privatentnahmen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Kassenveränderung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Auflage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Absatzrückgängen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Quartalmeldung Rohstoffkosten und Personalstand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Monitoring der zwei größten Risikotreiber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Erstrangige Grundschuld auf Backstube Kempten-Süd (Beleihungswert ca. 90.000 €)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Primäre Sicherheit für die Spezialimmobilie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Zweitrangiges Pfandrecht auf Filialinventar Sonthofen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Ergänzende Sicherheit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Zinsdeckungsquoten-Covenant: Warnung &lt;2,5x, Kündigung &lt;2,0x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Risikosteuerung 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Cashflow-Covenant: mindestens 25.000 €/Jahr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Schuldendienstfähigkeit sicherstellen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bis Ende 2027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Langfristiges Unternehmensrisiko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 (1–5)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Markteintrittsbarrieren mittel (Handwerk, Standortsuche)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 Rohstoffabhängigkeit, wenig Alternativen, Preisvolatilität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Lokale Kundentreue, aber wachsende Substitution durch Discounter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Discounter-Backwaren, Online-Lieferdienste, Eigenbacken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668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Intensive Preiskonkurrenz in der Backwaren-Kategorie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6684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 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Hohes strukturelles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4.4.2 Finanzielle Situation (Jahresabschluss 2024, Auszüge)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Gewinn- und Verlustrechnung 2024: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Kapitalflussrechnung 2024 (vereinfacht):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4.4.3 Kreditanfrage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Anlass: Investition in neue Backstube Kempten-Süd (170.000 €) + Filialmodernisierung Sonthofen (80.000 €) Gesamtkreditbedarf: 250.000 € | Eigenanteil: 30.000 € | Kreditwunsch: 250.000 €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4.4.4 Gesprächsverlauf: Branchenrisikoanalyse (BER = Berater, GF = Geschäftsführerin)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Session 1 – Erstgespräch Branchenrisiko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BER: „Frau Hofmann, bevor wir die Finanzierung strukturieren, möchte ich das Branchenumfeld mit Ihnen durchgehen. Die Bäckerei-Branche steht unter erheblichem Druck. Laut Creditreform sind die…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GF: „Das stimmt. Discounter haben günstiges Backwerk im Sortiment, und viele Kunden kaufen dort. Wir haben das bisher durch Qualität und Kundentreue kompensiert – handwerkliche Produkte, persönlicher…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BER: „Das ist eine gute Positionierung. Trotzdem muss ich die Kostenstruktur genauer ansehen. Ihre Materialkosten liegen bei ca. 43 % des Umsatzes. 2022 sind Mehl und Butter um 25–30 % gestiegen. Wie…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GF: „Wir konnten die Preise nur um etwa 8–10 % erhöhen, ohne Kunden zu verlieren. Das hat die Marge deutlich gedrückt."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BER: „Das zeigt das strukturelle Risiko: Bei einem Rohstoffanteil von 43 % und begrenzter Preisweitergabe ist Ihre Marge bei Rohstoffschocks stark gefährdet. Haben Sie Festpreisvereinbarungen mit…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4.5 Arbeitsblatt: Branchenrisiko-Analyse-Template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ARBEITSBLATT: BRANCHENRISIKO-ANALYSE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152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Ausfüllung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WZ-Code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01–03 Landwirtschaft ☐ 10–33 Verarbeitendes Gewerbe ☐ 41–43 Bau ☐ 45–47 Handel ☐ 55–56 Gastgewerbe ☐ 68 Grundstücks-/Wohnungswesen ☐ 86–88 Gesundheit ☐ Sonstiges: 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 gem. BVR-Klassifizierung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Baugewerbe ☐ Einzelhandel ☐ Gastronomie ☐ Verarbeitendes Gewerbe ☐ Heilberufe ☐ Landwirtschaft ☐ Sonstiges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Zyklizität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Prozyklisch ☐ Antizyklisch ☐ Neutral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Gesamt-Branchenrisiko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(∅ 1–2) ☐ Mittel (∅ 2,5–3,5) ☐ Hoch (∅ 4–5)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KMU-Wert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Branchenbenchmark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Kapitalumschlag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Rohstoffkosten/Umsatz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Branchenrisiko-Faktor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(−1 bis −2 Pkt.) ☐ Mittel (0 Pkt.) ☐ Erhöht (+1 bis +2 Pkt.) ☐ Hoch (+3 bis +4 Pkt.)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Empfohlene Rating-Anpassung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 Punkte ggü. Basis-Rating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Zinsanpassung wegen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+____% p. 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Laufzeit-Empfehlung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(5–10 Jahre) ☐ Verkürzt (3–5 Jahre)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52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Besicherungs-Anforderung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☐ Erhöht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 (Arbeitsalltag nach Seminarende)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5.1 Transferaufgabe (Arbeitsalltag nach Seminarende)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Eigenkapitalquote-Benchmark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EBIT-Marge-Benchmark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Insolvenzquote im Jahresvergleich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Ist der Kunde strukturell besser oder schlechter als die Branche positioniert?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Hat das aktuelle Rating den Branchenrisikofaktor angemessen berücksichtigt?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Welche neuen Auflagen oder Monitoring-Maßnahmen würdest du empfehlen?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Reflexionsfragen zur Selbstbewertung (nicht für Akademie-Reporting):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1. Branchenanalyse-Kompetenz (Bloom 4: Analysieren) Kannst du die Five Forces nach Porter spontan anwenden, um eine neue Branche zu bewerten? ☐ Ja, souverän ☐…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2. Benchmark-Nutzung (Bloom 4: Analysieren &amp; Vergleichen) Hast du seit dem Seminar Kundenkennzahlen mindestens einmal gegen Branchenbenchmarks abgeglichen? ☐…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3. Risikogewichtung (Bloom 5: Bewerten) Kannst du argumentieren, warum ein KMU eine branchengerechte Ratinganpassung (+1 bis +3 Punkte) verdient? ☐ Ja, ich…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4. Scoring-Entwicklung (Bloom 6: Erschaffen) Hast du überlegt, ein branchenspezifisches Scoring-Modell für deine Filiale zu entwickeln? ☐ Ja, aktiv angefangen…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5. Gesprächsqualität (Gesamtevaluation) Hat das Modul deine Gespräche mit Unternehmern verändert (tiefere Branchenfragen, strukturierte Risikodialoge)? ☐ Ja,…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30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5.3 Empfohlene Vertiefungsliteratur und Ressourcen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Porter, M. E. (1980/2008). Competitive Strategy. Free Press. (Kap. 1–3 für Five Forces)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Schierenbeck, H., Lister, M., &amp; Kirmße, S. (2014). Ertragsorientiertes Bankmanagement (Bd. 2). Springer Gabler. (Kreditrisikomodelle und Branchenanalyse)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Becker, H. P. (2019). Investition und Finanzierung (8. Aufl.). Springer Gabler. (KMU-Finanzierung, Kapitalbedarf nach Branche)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ifo Institut (www.ifo.de) – Kostenloser monatlicher Geschäftsklimaindex nach Branche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Destatis (www.destatis.de) – Unternehmensdemografie, Insolvenzstatistiken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Creditreform – Branchenreporte (über Atruvia-Lizenz)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31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Altman, E. I. (1968). Financial ratios, discriminant analysis and the prediction of corporate bankruptcy. The Journal of Finance, 23(4), 589–609. https://doi.org/10.1111/j.1540-6261.1968.tb00843.x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W., &amp; Krathwohl, D. R. (Hrsg.). (2001). A taxonomy for learning, teaching, and assessing: A revision of Bloom's taxonomy of educational objectives (Complete Edition). Longman.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Becker, H. P. (2019). Investition und Finanzierung: Grundlagen der betrieblichen Finanzwirtschaft (8. Aufl.). Springer Gabler.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Bundesanstalt für Finanzdienstleistungsaufsicht. (2023). Mindestanforderungen an das Risikomanagement (MaRisk): Rundschreiben 10/2012 (BA) in der Fassung vom 29.06.2023. BaFin.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BVR – Bundesverband der Deutschen Volksbanken und Raiffeisenbanken. (laufend). BVR-Branchenblätter: Branchenanalysen für das Firmenkundengeschäft. BVR.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Creditreform Wirtschaftsforschung. (laufend). Creditreform Branchenberichte: Vierteljährliche Branchenanalysen für ca. 90 Branchen. Creditreform.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 L., &amp; Dreyfus, S. E. (1980). A five-stage model of the mental activities involved in directed skill acquisition. Operations Research Center, University of California, Berkeley.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Porter, M. E. (1980). Competitive strategy: Techniques for analyzing industries and competitors. Free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Schierenbeck, H., Lister, M., &amp; Kirmße, S. (2014). Ertragsorientiertes Bankmanagement: Band 2: Risiko-Controlling und integrierte Rendite-/Risikosteuerung (9. Aufl.). Springer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Statistisches Bundesamt [Destatis]. (laufend). Unternehmensregister und Insolvenzstatistik: Branchendaten nach Wirtschaftszweigen. Destatis. https://www.destatis.de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«Branchenspezifische Risikosysteme» ist auf FKB Campus verfügbar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M05 · Strategischer 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