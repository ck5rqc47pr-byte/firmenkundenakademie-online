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M19  ·  K-06 Führung &amp; Entwicklung  ·  Zielstufe: Sparringspartner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Explizites von implizitem Wissen unterscheiden und ungenutzte Transferbereiche identifizieren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Mindestens zwei Wissenstransfer-Methoden auf den eigenen Teamkontext anwenden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Transferbarrieren analysieren und Gegenmaßnahmen ableiten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geeignete Wissenstransfer-Routine für den Teamkontext auswählen und die Wahl anhand von Transferbarrieren begründen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Nutzen des Teams als Community of Practice bewerten und konkrete Stärkungsschritte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Methode 1: Tandem-Kundenbesuch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Methode 1: Tandem-Kundenbesuch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Was: </a:t>
            </a:r>
            <a:r>
              <a:rPr sz="1700">
                <a:solidFill>
                  <a:srgbClr val="1A1A1A"/>
                </a:solidFill>
                <a:latin typeface="Arial"/>
              </a:rPr>
              <a:t>Zwei Berater besuchen gemeinsam einen Kunden – einer führt, einer beobachtet.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Wann: </a:t>
            </a:r>
            <a:r>
              <a:rPr sz="1700">
                <a:solidFill>
                  <a:srgbClr val="1A1A1A"/>
                </a:solidFill>
                <a:latin typeface="Arial"/>
              </a:rPr>
              <a:t>Bei speziellem Branchenwissen oder neuem Kundensegment.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Ablauf: </a:t>
            </a:r>
            <a:r>
              <a:rPr sz="1700">
                <a:solidFill>
                  <a:srgbClr val="1A1A1A"/>
                </a:solidFill>
                <a:latin typeface="Arial"/>
              </a:rPr>
              <a:t>1. Kurze Vorbesprechung (10 Min.): Wer übernimmt welche Rolle? Welche Beobachtungsaufgabe hat der Gast? 2. Kundenbesuch (gemeinsam, einer führt) 3. Nachbesprechung (15 Min.):…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Qualitätsfaktor: </a:t>
            </a:r>
            <a:r>
              <a:rPr sz="1700">
                <a:solidFill>
                  <a:srgbClr val="1A1A1A"/>
                </a:solidFill>
                <a:latin typeface="Arial"/>
              </a:rPr>
              <a:t>Der Beobachter hat vorab eine konkrete Beobachtungsaufgabe (z.B. „achte auf, wie der Kollege das Thema Nachfolge einführt").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Kundenakzeptanz sichern: </a:t>
            </a:r>
            <a:r>
              <a:rPr sz="1700">
                <a:solidFill>
                  <a:srgbClr val="1A1A1A"/>
                </a:solidFill>
                <a:latin typeface="Arial"/>
              </a:rPr>
              <a:t>Kunden fragen regelmäßig, warum plötzlich zwei Berater kommen – das wirkt manchmal wie eine Ablösung oder wie ein Warnsignal. Klare Ansage vorab: „Mein Kollege ist Spezialist für…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Methode 2: Strukturierte Fallbesprechung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Methode 2: Strukturierte Fallbesprechung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Inhalt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Falldarstellung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Berater beschreibt Situation, Ziel, bisherige Schritte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Verständnisfragen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Min.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Nur klärende Fragen – keine Ratschläge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Stille Reflexion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Alle notieren: Was fällt mir auf? Was würde ich tun?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Offene Diskussion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 Min.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Verschiedene Perspektiven – moderiert durch Teamleiter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Erkenntnisse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nehmen wir als Prinzip mit? Wer trägt es ins Team?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Dokumentation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Min.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Kurzprotokoll in gemeinsamer Wissensablage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Methode 3: Wissenslandkarte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Methode 3: Wissenslandkarte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Was: </a:t>
            </a:r>
            <a:r>
              <a:rPr sz="1700">
                <a:solidFill>
                  <a:srgbClr val="1A1A1A"/>
                </a:solidFill>
                <a:latin typeface="Arial"/>
              </a:rPr>
              <a:t>Visualisierung, wer im Team über welches Spezialwissen verfügt.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Wann: </a:t>
            </a:r>
            <a:r>
              <a:rPr sz="1700">
                <a:solidFill>
                  <a:srgbClr val="1A1A1A"/>
                </a:solidFill>
                <a:latin typeface="Arial"/>
              </a:rPr>
              <a:t>Einmalig erstellen, halbjährlich aktualisieren.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Inhalt: </a:t>
            </a:r>
            <a:r>
              <a:rPr sz="1700">
                <a:solidFill>
                  <a:srgbClr val="1A1A1A"/>
                </a:solidFill>
                <a:latin typeface="Arial"/>
              </a:rPr>
              <a:t>Pro Berater: Branchenexpertise, Sonderwissen (z.B. Nachfolge, Landwirtschaft, Heilberufe), bevorzugte Methoden, Kontaktnetzwerk.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Nutzen: </a:t>
            </a:r>
            <a:r>
              <a:rPr sz="1700">
                <a:solidFill>
                  <a:srgbClr val="1A1A1A"/>
                </a:solidFill>
                <a:latin typeface="Arial"/>
              </a:rPr>
              <a:t>Neue Berater wissen sofort, wen sie bei welchem Thema fragen sollen. Der Teamleiter erkennt Wissensinseln und -lücken.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Verantwortlichkeit (entscheidend): </a:t>
            </a:r>
            <a:r>
              <a:rPr sz="1700">
                <a:solidFill>
                  <a:srgbClr val="1A1A1A"/>
                </a:solidFill>
                <a:latin typeface="Arial"/>
              </a:rPr>
              <a:t>Eine Wissenslandkarte, die niemand pflegt, ist nach 6 Monaten wertlos. Benennen Sie explizit, wer für die halbjährliche Aktualisierung zuständig ist – Teamleiter oder rotierender…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Medium: </a:t>
            </a:r>
            <a:r>
              <a:rPr sz="1700">
                <a:solidFill>
                  <a:srgbClr val="1A1A1A"/>
                </a:solidFill>
                <a:latin typeface="Arial"/>
              </a:rPr>
              <a:t>Eine physische Pinnwand im Teamraum ist in der Praxis wirkungsvoller als ein SharePoint-Dokument, das niemand öffnet – sie ist sichtbar, ohne dass man sie aufrufen muss.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Methode 4: Lunch-and-Learn (15 Minuten)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Methode 4: Lunch-and-Learn (15 Minuten)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Was: </a:t>
            </a:r>
            <a:r>
              <a:rPr sz="1700">
                <a:solidFill>
                  <a:srgbClr val="1A1A1A"/>
                </a:solidFill>
                <a:latin typeface="Arial"/>
              </a:rPr>
              <a:t>Kurzes, informelles Wissensformat – ein Berater erklärt an einem konkreten Beispiel eine Technik oder ein Konzept.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Wann: </a:t>
            </a:r>
            <a:r>
              <a:rPr sz="1700">
                <a:solidFill>
                  <a:srgbClr val="1A1A1A"/>
                </a:solidFill>
                <a:latin typeface="Arial"/>
              </a:rPr>
              <a:t>Spontan oder geplant, 1–2× pro Monat.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Beispielthemen: </a:t>
            </a:r>
            <a:r>
              <a:rPr sz="1700">
                <a:solidFill>
                  <a:srgbClr val="1A1A1A"/>
                </a:solidFill>
                <a:latin typeface="Arial"/>
              </a:rPr>
              <a:t>„Wie ich eine Nachfolgesituation erkannt habe, bevor der Kunde es angesprochen hat" | „Meine Erfahrungen mit §18 KWG-Gesprächen in der Landwirtschaft" | „agree-Trick: Kombinierte…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Qualitätsfaktor: </a:t>
            </a:r>
            <a:r>
              <a:rPr sz="1700">
                <a:solidFill>
                  <a:srgbClr val="1A1A1A"/>
                </a:solidFill>
                <a:latin typeface="Arial"/>
              </a:rPr>
              <a:t>Keine Präsentation, keine Vorbereitung – nur Erzählen + Fragen.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Hinweis: Hybride und standortverteilte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Hinweis: Hybride und standortverteilte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Präsenz-Variante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Digital-/Hybrid-Variante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Tandem-Besuch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Physisch beim Kunden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Nur bei physischen Kundenterminen; Nachbesprechung per MS Teams möglich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Fallbesprechung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Gemeinsamer Raum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MS-Teams-Videocall, 45 Min., Whiteboard-Funktion für stille Reflexionsphase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Pinnwand im Teamraum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Teams-Kanal mit fixiertem Beitrags-Thread oder SharePoint-OneNote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Informell im Büro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 Min. MS Teams – auch asynchron als aufgezeichnetes Kurzvideo (5 Min.)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Methode 5: Reverse Mentoring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Methode 5: Reverse Mentoring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Was: </a:t>
            </a:r>
            <a:r>
              <a:rPr sz="1700">
                <a:solidFill>
                  <a:srgbClr val="1A1A1A"/>
                </a:solidFill>
                <a:latin typeface="Arial"/>
              </a:rPr>
              <a:t>Jüngere/neuere Berater unterweisen erfahrene Berater in Digitalthemen oder neuen Systemfunktionen.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Wann: </a:t>
            </a:r>
            <a:r>
              <a:rPr sz="1700">
                <a:solidFill>
                  <a:srgbClr val="1A1A1A"/>
                </a:solidFill>
                <a:latin typeface="Arial"/>
              </a:rPr>
              <a:t>Bei Einführung neuer Tools (z.B. agree-Updates, CRM-Erweiterungen).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Nutzen: </a:t>
            </a:r>
            <a:r>
              <a:rPr sz="1700">
                <a:solidFill>
                  <a:srgbClr val="1A1A1A"/>
                </a:solidFill>
                <a:latin typeface="Arial"/>
              </a:rPr>
              <a:t>Durchbricht die Hierarchie als Wissensbarriere; wertet beide Seiten auf.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1: Wissenslandkarte – eigener Steckbrief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1: Wissenslandkarte – eigener Steckbrief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2: Fallbesprechung vorbereiten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2: Fallbesprechung vorbereiten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Punkt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Notizen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Worum geht es (1 Satz)?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ist mein Ziel/meine Frage an das Team?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habe ich bereits versucht?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ist der Kontext (Branche, Unternehmensgröße, Beziehungshistorie)?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wäre für mich ein gutes Ergebnis dieser Besprechung?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3: Wissenstransfer-Maßnahmenplan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M19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3: Wissenstransfer-Maßnahmenplan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M19 · Wissenstransfer im Team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